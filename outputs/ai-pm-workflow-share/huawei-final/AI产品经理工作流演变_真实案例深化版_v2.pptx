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6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4c38f3bf45431f" /><Relationship Type="http://schemas.openxmlformats.org/officeDocument/2006/relationships/extended-properties" Target="/docProps/app.xml" Id="Rea2fcb7289d34dd7" /><Relationship Type="http://schemas.openxmlformats.org/officeDocument/2006/relationships/officeDocument" Target="/ppt/presentation.xml" Id="R02c7ff38169b4b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430e693ff641c8"/>
    <p:sldMasterId xmlns:r="http://schemas.openxmlformats.org/officeDocument/2006/relationships" id="2147483653" r:id="Re1bc9af23a9b4393"/>
    <p:sldMasterId xmlns:r="http://schemas.openxmlformats.org/officeDocument/2006/relationships" id="2147483655" r:id="Rd96a4243a188468d"/>
    <p:sldMasterId xmlns:r="http://schemas.openxmlformats.org/officeDocument/2006/relationships" id="2147483657" r:id="Rdbdb363655074326"/>
  </p:sldMasterIdLst>
  <p:notesMasterIdLst>
    <p:notesMasterId xmlns:r="http://schemas.openxmlformats.org/officeDocument/2006/relationships" r:id="R8302c01a97db45fa"/>
  </p:notesMasterIdLst>
  <p:sldIdLst>
    <p:sldId xmlns:r="http://schemas.openxmlformats.org/officeDocument/2006/relationships" id="256" r:id="R7b04981861c54e05"/>
    <p:sldId xmlns:r="http://schemas.openxmlformats.org/officeDocument/2006/relationships" id="257" r:id="Re31564515e454748"/>
    <p:sldId xmlns:r="http://schemas.openxmlformats.org/officeDocument/2006/relationships" id="258" r:id="R884f126eb22e4b6a"/>
    <p:sldId xmlns:r="http://schemas.openxmlformats.org/officeDocument/2006/relationships" id="259" r:id="R9af294a0ac424739"/>
    <p:sldId xmlns:r="http://schemas.openxmlformats.org/officeDocument/2006/relationships" id="260" r:id="Ra8f73a8ca7584f27"/>
    <p:sldId xmlns:r="http://schemas.openxmlformats.org/officeDocument/2006/relationships" id="261" r:id="R272196fba90d4f17"/>
    <p:sldId xmlns:r="http://schemas.openxmlformats.org/officeDocument/2006/relationships" id="262" r:id="R461f4f04d8134f9b"/>
    <p:sldId xmlns:r="http://schemas.openxmlformats.org/officeDocument/2006/relationships" id="263" r:id="R3df1672580984b8d"/>
    <p:sldId xmlns:r="http://schemas.openxmlformats.org/officeDocument/2006/relationships" id="264" r:id="Rf6483175e5284f43"/>
    <p:sldId xmlns:r="http://schemas.openxmlformats.org/officeDocument/2006/relationships" id="265" r:id="R939131dbd1dd4200"/>
    <p:sldId xmlns:r="http://schemas.openxmlformats.org/officeDocument/2006/relationships" id="266" r:id="R53337f87c9a6418b"/>
    <p:sldId xmlns:r="http://schemas.openxmlformats.org/officeDocument/2006/relationships" id="267" r:id="R8622421e7c8044e8"/>
    <p:sldId xmlns:r="http://schemas.openxmlformats.org/officeDocument/2006/relationships" id="268" r:id="Rf3d78c561a4442dd"/>
    <p:sldId xmlns:r="http://schemas.openxmlformats.org/officeDocument/2006/relationships" id="269" r:id="Rb170b55b0ff74ed7"/>
    <p:sldId xmlns:r="http://schemas.openxmlformats.org/officeDocument/2006/relationships" id="270" r:id="R3a470575d5714921"/>
    <p:sldId xmlns:r="http://schemas.openxmlformats.org/officeDocument/2006/relationships" id="271" r:id="Rf6f8ee09fc824045"/>
    <p:sldId xmlns:r="http://schemas.openxmlformats.org/officeDocument/2006/relationships" id="272" r:id="Rb6900b2377954c4e"/>
    <p:sldId xmlns:r="http://schemas.openxmlformats.org/officeDocument/2006/relationships" id="273" r:id="R12cccde1b55e48b0"/>
    <p:sldId xmlns:r="http://schemas.openxmlformats.org/officeDocument/2006/relationships" id="274" r:id="Rbb0e775920fc43c4"/>
    <p:sldId xmlns:r="http://schemas.openxmlformats.org/officeDocument/2006/relationships" id="275" r:id="Reb92f3d6723c4cb5"/>
  </p:sldIdLst>
  <p:sldSz cx="12196763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8d6662950240a9" /><Relationship Type="http://schemas.openxmlformats.org/officeDocument/2006/relationships/slideMaster" Target="/ppt/slideMasters/slideMaster1.xml" Id="Re4430e693ff641c8" /><Relationship Type="http://schemas.openxmlformats.org/officeDocument/2006/relationships/slideMaster" Target="/ppt/slideMasters/slideMaster2.xml" Id="Re1bc9af23a9b4393" /><Relationship Type="http://schemas.openxmlformats.org/officeDocument/2006/relationships/slideMaster" Target="/ppt/slideMasters/slideMaster3.xml" Id="Rd96a4243a188468d" /><Relationship Type="http://schemas.openxmlformats.org/officeDocument/2006/relationships/slideMaster" Target="/ppt/slideMasters/slideMaster4.xml" Id="Rdbdb363655074326" /><Relationship Type="http://schemas.openxmlformats.org/officeDocument/2006/relationships/notesMaster" Target="/ppt/notesMasters/notesMaster1.xml" Id="R8302c01a97db45fa" /><Relationship Type="http://schemas.openxmlformats.org/officeDocument/2006/relationships/presProps" Target="/ppt/presProps.xml" Id="Rc0289727e3014ad8" /><Relationship Type="http://schemas.openxmlformats.org/officeDocument/2006/relationships/viewProps" Target="/ppt/viewProps.xml" Id="R729d7078e8e94e6a" /><Relationship Type="http://schemas.openxmlformats.org/officeDocument/2006/relationships/tableStyles" Target="/ppt/tableStyles.xml" Id="R482caca59372464b" /><Relationship Type="http://schemas.openxmlformats.org/officeDocument/2006/relationships/slide" Target="/ppt/slides/slide1.xml" Id="R7b04981861c54e05" /><Relationship Type="http://schemas.openxmlformats.org/officeDocument/2006/relationships/slide" Target="/ppt/slides/slide2.xml" Id="Re31564515e454748" /><Relationship Type="http://schemas.openxmlformats.org/officeDocument/2006/relationships/slide" Target="/ppt/slides/slide3.xml" Id="R884f126eb22e4b6a" /><Relationship Type="http://schemas.openxmlformats.org/officeDocument/2006/relationships/slide" Target="/ppt/slides/slide4.xml" Id="R9af294a0ac424739" /><Relationship Type="http://schemas.openxmlformats.org/officeDocument/2006/relationships/slide" Target="/ppt/slides/slide5.xml" Id="Ra8f73a8ca7584f27" /><Relationship Type="http://schemas.openxmlformats.org/officeDocument/2006/relationships/slide" Target="/ppt/slides/slide6.xml" Id="R272196fba90d4f17" /><Relationship Type="http://schemas.openxmlformats.org/officeDocument/2006/relationships/slide" Target="/ppt/slides/slide7.xml" Id="R461f4f04d8134f9b" /><Relationship Type="http://schemas.openxmlformats.org/officeDocument/2006/relationships/slide" Target="/ppt/slides/slide8.xml" Id="R3df1672580984b8d" /><Relationship Type="http://schemas.openxmlformats.org/officeDocument/2006/relationships/slide" Target="/ppt/slides/slide9.xml" Id="Rf6483175e5284f43" /><Relationship Type="http://schemas.openxmlformats.org/officeDocument/2006/relationships/slide" Target="/ppt/slides/slide10.xml" Id="R939131dbd1dd4200" /><Relationship Type="http://schemas.openxmlformats.org/officeDocument/2006/relationships/slide" Target="/ppt/slides/slide11.xml" Id="R53337f87c9a6418b" /><Relationship Type="http://schemas.openxmlformats.org/officeDocument/2006/relationships/slide" Target="/ppt/slides/slide12.xml" Id="R8622421e7c8044e8" /><Relationship Type="http://schemas.openxmlformats.org/officeDocument/2006/relationships/slide" Target="/ppt/slides/slide13.xml" Id="Rf3d78c561a4442dd" /><Relationship Type="http://schemas.openxmlformats.org/officeDocument/2006/relationships/slide" Target="/ppt/slides/slide14.xml" Id="Rb170b55b0ff74ed7" /><Relationship Type="http://schemas.openxmlformats.org/officeDocument/2006/relationships/slide" Target="/ppt/slides/slide15.xml" Id="R3a470575d5714921" /><Relationship Type="http://schemas.openxmlformats.org/officeDocument/2006/relationships/slide" Target="/ppt/slides/slide16.xml" Id="Rf6f8ee09fc824045" /><Relationship Type="http://schemas.openxmlformats.org/officeDocument/2006/relationships/slide" Target="/ppt/slides/slide17.xml" Id="Rb6900b2377954c4e" /><Relationship Type="http://schemas.openxmlformats.org/officeDocument/2006/relationships/slide" Target="/ppt/slides/slide18.xml" Id="R12cccde1b55e48b0" /><Relationship Type="http://schemas.openxmlformats.org/officeDocument/2006/relationships/slide" Target="/ppt/slides/slide19.xml" Id="Rbb0e775920fc43c4" /><Relationship Type="http://schemas.openxmlformats.org/officeDocument/2006/relationships/slide" Target="/ppt/slides/slide20.xml" Id="Reb92f3d6723c4c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6.xml" Id="R9864689377b047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6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2210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8ff892581f40b8" /><Relationship Type="http://schemas.openxmlformats.org/officeDocument/2006/relationships/notesMaster" Target="/ppt/notesMasters/notesMaster1.xml" Id="Rf8d577f9c3104f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f8c34ec64c4548" /><Relationship Type="http://schemas.openxmlformats.org/officeDocument/2006/relationships/notesMaster" Target="/ppt/notesMasters/notesMaster1.xml" Id="Re755d3355f7f4e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5a454b60084842" /><Relationship Type="http://schemas.openxmlformats.org/officeDocument/2006/relationships/notesMaster" Target="/ppt/notesMasters/notesMaster1.xml" Id="R5c4c0a5e7b1b48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1802bff76c4994" /><Relationship Type="http://schemas.openxmlformats.org/officeDocument/2006/relationships/notesMaster" Target="/ppt/notesMasters/notesMaster1.xml" Id="R1558faef1cb14e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45493db42541ea" /><Relationship Type="http://schemas.openxmlformats.org/officeDocument/2006/relationships/notesMaster" Target="/ppt/notesMasters/notesMaster1.xml" Id="R67e2dc58360b46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5bca1386844bca" /><Relationship Type="http://schemas.openxmlformats.org/officeDocument/2006/relationships/notesMaster" Target="/ppt/notesMasters/notesMaster1.xml" Id="Rddd10d7b38a84d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f13b63e9da4795" /><Relationship Type="http://schemas.openxmlformats.org/officeDocument/2006/relationships/notesMaster" Target="/ppt/notesMasters/notesMaster1.xml" Id="Rfac7ca03aac448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294996b4175446f" /><Relationship Type="http://schemas.openxmlformats.org/officeDocument/2006/relationships/notesMaster" Target="/ppt/notesMasters/notesMaster1.xml" Id="R61b32acf38994d6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cdb3426e44e404a" /><Relationship Type="http://schemas.openxmlformats.org/officeDocument/2006/relationships/notesMaster" Target="/ppt/notesMasters/notesMaster1.xml" Id="Rcae9c73243b942c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94f5edd12af43df" /><Relationship Type="http://schemas.openxmlformats.org/officeDocument/2006/relationships/notesMaster" Target="/ppt/notesMasters/notesMaster1.xml" Id="R5cf841b2f47a4cf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2324707da544b19" /><Relationship Type="http://schemas.openxmlformats.org/officeDocument/2006/relationships/notesMaster" Target="/ppt/notesMasters/notesMaster1.xml" Id="Rc1ede0a17a7347c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b32f5fbc14f44a3" /><Relationship Type="http://schemas.openxmlformats.org/officeDocument/2006/relationships/notesMaster" Target="/ppt/notesMasters/notesMaster1.xml" Id="Rbaecd22a5861412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6a72c8236fa4f36" /><Relationship Type="http://schemas.openxmlformats.org/officeDocument/2006/relationships/notesMaster" Target="/ppt/notesMasters/notesMaster1.xml" Id="R91f80ed0f5be481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0b0c1ee99a04960" /><Relationship Type="http://schemas.openxmlformats.org/officeDocument/2006/relationships/notesMaster" Target="/ppt/notesMasters/notesMaster1.xml" Id="Ra700c323b032471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2a1ddcaf8dc4862" /><Relationship Type="http://schemas.openxmlformats.org/officeDocument/2006/relationships/notesMaster" Target="/ppt/notesMasters/notesMaster1.xml" Id="R8a3b4a3cd6cf4b6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d0d0db8bf634aa8" /><Relationship Type="http://schemas.openxmlformats.org/officeDocument/2006/relationships/notesMaster" Target="/ppt/notesMasters/notesMaster1.xml" Id="Rbb0e1c85e830435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a56242bae7b4e71" /><Relationship Type="http://schemas.openxmlformats.org/officeDocument/2006/relationships/notesMaster" Target="/ppt/notesMasters/notesMaster1.xml" Id="Rf77c2ee66706416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509868628764128" /><Relationship Type="http://schemas.openxmlformats.org/officeDocument/2006/relationships/notesMaster" Target="/ppt/notesMasters/notesMaster1.xml" Id="R03cac3f2c023400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920c531be684fa9" /><Relationship Type="http://schemas.openxmlformats.org/officeDocument/2006/relationships/notesMaster" Target="/ppt/notesMasters/notesMaster1.xml" Id="R107b73becfe3491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1dfdc4932df41b7" /><Relationship Type="http://schemas.openxmlformats.org/officeDocument/2006/relationships/notesMaster" Target="/ppt/notesMasters/notesMaster1.xml" Id="R60025085d9574b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 分钟</a:t>
            </a:r>
          </a:p>
          <a:p xmlns:a="http://schemas.openxmlformats.org/drawingml/2006/main">
            <a:r>
              <a:t>开场不要从模型或工具名讲起。直接给结论：过去的 AI 工作流帮我写得更快；现在的工作流开始帮我更早暴露错误、更清楚地做取舍，并把结论交给下游继续执行。今天用两个真实交付物证明这一点。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本地文件：workspace/华为PPT模板-浅色版.pptx</a:t>
            </a:r>
          </a:p>
          <a:p xmlns:a="http://schemas.openxmlformats.org/drawingml/2006/main">
            <a:r>
              <a:t>- 本地案例：手机图库 AI 功能需求问卷；鸿蒙图库一句话清理图片产品方案决策汇报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 分钟</a:t>
            </a:r>
          </a:p>
          <a:p xmlns:a="http://schemas.openxmlformats.org/drawingml/2006/main">
            <a:r>
              <a:t>这四类风险是全场的导航。后面每个案例不比较‘AI 写得快不快’，而是看它是否改变了产品决策：是否避免了错误事实、是否把优先级规则写清、是否让研究和方案能继续被下游使用、是否设置了退出条件。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本地工作区案例归纳；不包含外部市场数据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</a:t>
            </a:r>
          </a:p>
          <a:p xmlns:a="http://schemas.openxmlformats.org/drawingml/2006/main">
            <a:r>
              <a:t>不要把这张图讲成四代产品史。讲控制权：Prompt 只控制一次回答；Context 控制模型能看到什么；Agent 控制能做什么；Harness 控制在什么权限、状态和验证条件下完成。PM 的能力也从写提示词，升级到设计任务、证据和验收系统。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基于本次工作流实践的阶段归纳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 分钟</a:t>
            </a:r>
          </a:p>
          <a:p xmlns:a="http://schemas.openxmlformats.org/drawingml/2006/main">
            <a:r>
              <a:t>工具演变只讲一条线：从回答、检索、工具调用到工作区执行。到 Harness 阶段，Agent 不只是会用浏览器或写文件，而是知道输入输出契约、权限边界、失败停止、恢复方式和验收门槛。这才对应产品经理真正可托付的任务。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基于对话式、检索式、工具调用与工作区 Agent 的能力抽象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建议用时：0.5 分钟</a:t>
            </a:r>
          </a:p>
          <a:p xmlns:a="http://schemas.openxmlformats.org/drawingml/2006/main">
            <a:r>
              <a:t>第一部分只回答一个问题：为什么问卷不是让 AI 多写一些题，而是让产品经理把要做的决策、需要的证据和题目顺序事先写清。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pm-user-research/用户调研/20260913手机图库AI功能需求/questionnaire.md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建议用时：2.5 分钟</a:t>
            </a:r>
          </a:p>
          <a:p xmlns:a="http://schemas.openxmlformats.org/drawingml/2006/main">
            <a:r>
              <a:t>这页先把业务问题讲透。直接问偏好会得到每个功能都有人选，无法支持资源取舍。真正需要回答四件事：是否真实发生、问题是否够痛、只能做一个时选谁、体验风险会如何改变方案。Skill 的第一价值不是写题，而是阻止研究目标继续含糊。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pm-user-research/用户调研/20260913手机图库AI功能需求/questionnaire.md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</a:t>
            </a:r>
          </a:p>
          <a:p xmlns:a="http://schemas.openxmlformats.org/drawingml/2006/main">
            <a:r>
              <a:t>逐行讲，不要快速掠过。强调问卷的设计顺序：先写产品决策，再写需要看到的证据，最后才写题。比如 Q7/Q8 不是为了丰富报告，而是判断到底该提升识别效果，还是先解决误删、撤销与信任问题。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pm-user-research/skills/ur-design-survey/SKILL.md</a:t>
            </a:r>
          </a:p>
          <a:p xmlns:a="http://schemas.openxmlformats.org/drawingml/2006/main">
            <a:r>
              <a:t>- pm-user-research/用户调研/20260913手机图库AI功能需求/questionnaire.md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</a:t>
            </a:r>
          </a:p>
          <a:p xmlns:a="http://schemas.openxmlformats.org/drawingml/2006/main">
            <a:r>
              <a:t>这页讲问卷逻辑里最容易被生成式 AI 忽略的地方：没有使用过的人，没有资格回答最近一次体验。Q4 负责路由；有经历者进入 Q5–Q8 的行为链，无经历者只回答未来诉求。这样可以避免把想象当体验证据。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pm-user-research/用户调研/20260913手机图库AI功能需求/questionnaire.md</a:t>
            </a:r>
          </a:p>
          <a:p xmlns:a="http://schemas.openxmlformats.org/drawingml/2006/main">
            <a:r>
              <a:t>- pm-user-research/skills/ur-design-survey/references/questionnaire-logic-checklist.md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</a:t>
            </a:r>
          </a:p>
          <a:p xmlns:a="http://schemas.openxmlformats.org/drawingml/2006/main">
            <a:r>
              <a:t>这里一定说明：这些不是问卷结果，而是发放前写好的解释规则。预注册的好处是减少看到数据后随意讲故事。示例一：如果优先项是清理，原因是步骤复杂，场景是空间不足，才支持验证更短的清理链路。示例二：如果误删担忧直接造成信任下降，方案边界就必须改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pm-user-research/用户调研/20260913手机图库AI功能需求/questionnaire.md；本页为基于题目结构设计的分析规则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建议用时：2.5 分钟</a:t>
            </a:r>
          </a:p>
          <a:p xmlns:a="http://schemas.openxmlformats.org/drawingml/2006/main">
            <a:r>
              <a:t>交付物不是三个各自维护的文档。questionnaire.md 是事实源，HTML 用于评审，UserClub 文本用于配置。脚本对真实问卷给出的结果是 12 题、0 个结构风险信号、通过。但我会明确说，Lint 只能检查可确定的结构问题，不能替代研究效度判断。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pm-user-research/用户调研/20260913手机图库AI功能需求/questionnaire.md</a:t>
            </a:r>
          </a:p>
          <a:p xmlns:a="http://schemas.openxmlformats.org/drawingml/2006/main">
            <a:r>
              <a:t>- pm-user-research/skills/ur-design-survey/scripts/lint_questionnaire.py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建议用时：2.5 分钟</a:t>
            </a:r>
          </a:p>
          <a:p xmlns:a="http://schemas.openxmlformats.org/drawingml/2006/main">
            <a:r>
              <a:t>这是最重要的失败案例。43 项测试里 15 项失败，原因不是内容质量，而是画像生成脚本没有实现测试规定的三个参数。若没有 Harness，系统可能继续往下生成答卷和报告，最终让团队讨论一份不可复现的结果。门禁在这里替 PM 做的是阻断，而不是润色。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pm-user-research/tests/test_project.py</a:t>
            </a:r>
          </a:p>
          <a:p xmlns:a="http://schemas.openxmlformats.org/drawingml/2006/main">
            <a:r>
              <a:t>- pm-user-research/skills/ur-generate-personas/scripts/generate_personas.py</a:t>
            </a:r>
          </a:p>
          <a:p xmlns:a="http://schemas.openxmlformats.org/drawingml/2006/main">
            <a:r>
              <a:t>- 本地测试结果：43 tests / 28 pass / 15 fail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建议用时：0.5 分钟</a:t>
            </a:r>
          </a:p>
          <a:p xmlns:a="http://schemas.openxmlformats.org/drawingml/2006/main">
            <a:r>
              <a:t>第二部分换一个视角：Agent 不只是加速研究，它也能帮助产品经理把一句卖点拆成责任边界、风险等级、异常状态和退出条件。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workspace/鸿蒙图库_一句话清理图片_产品方案决策汇报.pptx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</a:t>
            </a:r>
          </a:p>
          <a:p xmlns:a="http://schemas.openxmlformats.org/drawingml/2006/main">
            <a:r>
              <a:t>先展示真实交付物，而不是重讲整份方案。最关键的产品判断是：不做一句话直接删除。系统只承担可解释候选生成，最终删除仍需用户确认，并默认进入回收站。这样既保留效率价值，也限制了 AI 承担不了的责任。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workspace/鸿蒙图库_一句话清理图片_产品方案决策汇报.pptx，第 2 页；其中机制与阈值为待验证产品假设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</a:t>
            </a:r>
          </a:p>
          <a:p xmlns:a="http://schemas.openxmlformats.org/drawingml/2006/main">
            <a:r>
              <a:t>竞品分析最危险的不是漏一个功能，而是把搜索不到写成对方不支持，或把旧版本、其他地区的能力当成当前基线。Skill 把每个竞品和 Feature 变成 ResearchUnit，再要求 EvidenceRecord 记录来源、版本、地区、支持方向和置信度。未知就是未知，不强行填满矩阵。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pm-competitor-analysis/pm-system-app-competitor-matrix/SKILL.md</a:t>
            </a:r>
          </a:p>
          <a:p xmlns:a="http://schemas.openxmlformats.org/drawingml/2006/main">
            <a:r>
              <a:t>- pm-competitor-analysis/pm-system-app-competitor-matrix/references/research-evidence.md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</a:t>
            </a:r>
          </a:p>
          <a:p xmlns:a="http://schemas.openxmlformats.org/drawingml/2006/main">
            <a:r>
              <a:t>这一页要讲具体砍法。六类自然语言请求并不是都放进 MVP：时间和明确类型可进入预览确认；模糊、重复等质量语义必须解释理由；人物、票据、私密和事件语义只返回筛选结果。产品经理真正增加的不是功能数，而是对执行权的分层。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workspace/鸿蒙图库_一句话清理图片_产品方案决策汇报.pptx，第 3、6、8 页；属于待验证范围设计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</a:t>
            </a:r>
          </a:p>
          <a:p xmlns:a="http://schemas.openxmlformats.org/drawingml/2006/main">
            <a:r>
              <a:t>这就是我希望 AI 帮忙生成的 PRD 核心，不是更多页面描述，而是一张 Requirement Ledger。每行从证据或风险假设出发，落到产品规则、状态异常和可观察验收。例如解析不完整时必须追问；高风险对象没有删除按钮；任何异常都不能绕过确认。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workspace/鸿蒙图库_一句话清理图片_产品方案决策汇报.pptx，第 4、5、6 页；本页为可追踪 PRD 账本重构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</a:t>
            </a:r>
          </a:p>
          <a:p xmlns:a="http://schemas.openxmlformats.org/drawingml/2006/main">
            <a:r>
              <a:t>讲原型时不要只放高保真图。原型的任务是把不确定性显性化：系统理解了什么、候选为什么被选中、执行会发生什么、失败后如何恢复。至少要画四类异常状态，并用任务测试验证用户能否复述范围、排除误选、理解降级、找到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workspace/鸿蒙图库_一句话清理图片_产品方案决策汇报.pptx，第 4 页；本页为原型状态测试清单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建议用时：2.5 分钟</a:t>
            </a:r>
          </a:p>
          <a:p xmlns:a="http://schemas.openxmlformats.org/drawingml/2006/main">
            <a:r>
              <a:t>这页体现方案汇报的产品价值：本次不是批准完整开发，而是批准下一阶段资源。P0 输出可评审，P1 验证用户是否理解，P2 验证端侧和隐私，只有都通过才进 P3。退出条件必须提前写：误选不可控、无法理解、性能不达标或隐私不过线时停止立项。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workspace/鸿蒙图库_一句话清理图片_产品方案决策汇报.pptx，第 11 页；阶段门为方案建议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</a:t>
            </a:r>
          </a:p>
          <a:p xmlns:a="http://schemas.openxmlformats.org/drawingml/2006/main">
            <a:r>
              <a:t>最后讲开发方法。Skill 不是把长提示词保存起来，而是先定义触发和输入契约，再拆步骤与停止条件，把知识放到 references，把格式放到 templates，把可确定判断交给 scripts，最后用真实案例做 eval。Command 只是入口，真正的可复用性来自后面的契约和门禁。其他 Skill 不逐个介绍，而是沿产品生命周期组合。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pm-user-research/skills/ur-design-survey/SKILL.md</a:t>
            </a:r>
          </a:p>
          <a:p xmlns:a="http://schemas.openxmlformats.org/drawingml/2006/main">
            <a:r>
              <a:t>- pm-competitor-analysis/pm-system-app-competitor-matrix/SKILL.md</a:t>
            </a:r>
          </a:p>
          <a:p xmlns:a="http://schemas.openxmlformats.org/drawingml/2006/main">
            <a:r>
              <a:t>-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建议用时：0.5 分钟 + Q&amp;A</a:t>
            </a:r>
            <a:endParaRPr/>
          </a:p>
          <a:p xmlns:a="http://schemas.openxmlformats.org/drawingml/2006/main">
            <a:r>
              <a:t>收束到三条可执行建议。不要从“做一个万能 Agent”开始；先选高频、跨人协作、返工昂贵、质量可检查的任务。把自己的判断写成契约，再决定哪些部分交给模型、工具和脚本。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本次分享两个案例的总结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369da42daf4b9b" /><Relationship Type="http://schemas.openxmlformats.org/officeDocument/2006/relationships/image" Target="/ppt/media/image3.png" Id="Re5f0744b800b4da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eed54b106f4b3f" /><Relationship Type="http://schemas.openxmlformats.org/officeDocument/2006/relationships/image" Target="/ppt/media/image.jpeg" Id="Re990a4b25dd94bc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397ae2e9574f81" /><Relationship Type="http://schemas.openxmlformats.org/officeDocument/2006/relationships/image" Target="/ppt/media/image2.jpeg" Id="R5a416f886d3e435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b16741114f49c6" /><Relationship Type="http://schemas.openxmlformats.org/officeDocument/2006/relationships/image" Target="/ppt/media/image3.jpeg" Id="Rff0e21c5fd4e438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105bc41076c4a8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99346c9a90e46c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d436f5de4bc74852" /></Relationships>
</file>

<file path=ppt/slideLayouts/slideLayout1.xml><?xml version="1.0" encoding="utf-8"?>
<p:sldLayout xmlns:p="http://schemas.openxmlformats.org/presentationml/2006/main" preserve="1" userDrawn="1">
  <p:cSld name="探索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图片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5f0744b800b4da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" y="0"/>
            <a:ext cx="12196763" cy="5602265"/>
          </a:xfrm>
          <a:prstGeom xmlns:a="http://schemas.openxmlformats.org/drawingml/2006/main" prst="rect">
            <a:avLst/>
          </a:prstGeom>
        </p:spPr>
      </p:pic>
      <p:sp>
        <p:nvSpPr>
          <p:cNvPr id="7" name="L 形 6">
            <a:extLst xmlns:a="http://schemas.openxmlformats.org/drawingml/2006/main">
              <a:ext uri="{FF2B5EF4-FFF2-40B4-BE49-F238E27FC236}">
                <a16:creationId xmlns:a16="http://schemas.microsoft.com/office/drawing/2014/main" id="{17E1CF40-FB38-446A-8397-0670A5CC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853942" y="2130562"/>
            <a:ext cx="701032" cy="717936"/>
          </a:xfrm>
          <a:prstGeom xmlns:a="http://schemas.openxmlformats.org/drawingml/2006/main" prst="corner">
            <a:avLst>
              <a:gd name="adj1" fmla="val 3243"/>
              <a:gd name="adj2" fmla="val 3048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900"/>
          </a:p>
        </p:txBody>
      </p:sp>
      <p:sp>
        <p:nvSpPr>
          <p:cNvPr id="10" name="Title 1">
            <a:extLst xmlns:a="http://schemas.openxmlformats.org/drawingml/2006/main">
              <a:ext uri="{FF2B5EF4-FFF2-40B4-BE49-F238E27FC236}">
                <a16:creationId xmlns:a16="http://schemas.microsoft.com/office/drawing/2014/main" id="{8227DEE9-8BE9-0D49-BF96-9E83C5312E00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898996" y="907092"/>
            <a:ext cx="6559809" cy="69025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  <a:prstDash val="dash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buNone/>
              <a:defRPr sz="3200" b="0" i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 xmlns:a="http://schemas.openxmlformats.org/drawingml/2006/main">
            <a:r>
              <a:t>单击此处添加标题</a:t>
            </a:r>
            <a:endParaRPr/>
          </a:p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2F43DA98-D48D-6947-95EF-BA3B05E68822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29260" y="1949372"/>
            <a:ext cx="6535842" cy="643926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单击此处添加文本</a:t>
            </a: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图片 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990a4b25dd94bc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" y="0"/>
            <a:ext cx="12196763" cy="5602265"/>
          </a:xfrm>
          <a:prstGeom xmlns:a="http://schemas.openxmlformats.org/drawingml/2006/main" prst="rect">
            <a:avLst/>
          </a:prstGeom>
        </p:spPr>
      </p:pic>
      <p:sp>
        <p:nvSpPr>
          <p:cNvPr id="18" name="L 形 17">
            <a:extLst xmlns:a="http://schemas.openxmlformats.org/drawingml/2006/main">
              <a:ext uri="{FF2B5EF4-FFF2-40B4-BE49-F238E27FC236}">
                <a16:creationId xmlns:a16="http://schemas.microsoft.com/office/drawing/2014/main" id="{55110478-33F3-4D2A-B327-B3BFA0D9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824025" y="2568635"/>
            <a:ext cx="701032" cy="717936"/>
          </a:xfrm>
          <a:prstGeom xmlns:a="http://schemas.openxmlformats.org/drawingml/2006/main" prst="corner">
            <a:avLst>
              <a:gd name="adj1" fmla="val 3243"/>
              <a:gd name="adj2" fmla="val 3048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900"/>
          </a:p>
        </p:txBody>
      </p:sp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62AA4863-E1EF-3342-A8CB-ECD4FD06CEB7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898996" y="907092"/>
            <a:ext cx="6559809" cy="6902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buNone/>
              <a:defRPr sz="3200" b="0" i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 xmlns:a="http://schemas.openxmlformats.org/drawingml/2006/main">
            <a:r>
              <a:t>单击此处添加标题</a:t>
            </a:r>
            <a:endParaRPr/>
          </a:p>
        </p:txBody>
      </p:sp>
      <p:sp>
        <p:nvSpPr>
          <p:cNvPr id="5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195303EA-8491-464F-99A0-67F948701C12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29260" y="1949372"/>
            <a:ext cx="6535842" cy="643926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单击此处添加文本</a:t>
            </a: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图片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a416f886d3e4358"/>
          <a:srcRect xmlns:a="http://schemas.openxmlformats.org/drawingml/2006/main" l="0" t="13825" r="2034" b="5607"/>
          <a:stretch xmlns:a="http://schemas.openxmlformats.org/drawingml/2006/main"/>
        </p:blipFill>
        <p:spPr>
          <a:xfrm xmlns:a="http://schemas.openxmlformats.org/drawingml/2006/main">
            <a:off x="1" y="-36206"/>
            <a:ext cx="12196763" cy="5638471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BF8096-C34C-4155-ACF1-4267B9EC0779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898996" y="907092"/>
            <a:ext cx="6559809" cy="6902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buNone/>
              <a:defRPr sz="3200" b="0" i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 xmlns:a="http://schemas.openxmlformats.org/drawingml/2006/main">
            <a:r>
              <a:t>单击此处添加标题</a:t>
            </a:r>
            <a:endParaRPr/>
          </a:p>
        </p:txBody>
      </p:sp>
      <p:sp>
        <p:nvSpPr>
          <p:cNvPr id="8" name="L 形 7">
            <a:extLst xmlns:a="http://schemas.openxmlformats.org/drawingml/2006/main">
              <a:ext uri="{FF2B5EF4-FFF2-40B4-BE49-F238E27FC236}">
                <a16:creationId xmlns:a16="http://schemas.microsoft.com/office/drawing/2014/main" id="{4E235408-0DC7-4EB1-B5EE-27B5B83B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929967" y="1657555"/>
            <a:ext cx="701032" cy="717936"/>
          </a:xfrm>
          <a:prstGeom xmlns:a="http://schemas.openxmlformats.org/drawingml/2006/main" prst="corner">
            <a:avLst>
              <a:gd name="adj1" fmla="val 3243"/>
              <a:gd name="adj2" fmla="val 3048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900"/>
          </a:p>
        </p:txBody>
      </p:sp>
      <p:sp>
        <p:nvSpPr>
          <p:cNvPr id="5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6BB7B2F8-0AF7-D04F-81DD-52FDB6B7326C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29260" y="1949372"/>
            <a:ext cx="6535842" cy="643926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单击此处添加文本</a:t>
            </a: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灯塔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图片 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f0e21c5fd4e438d"/>
          <a:srcRect xmlns:a="http://schemas.openxmlformats.org/drawingml/2006/main" l="1538" t="7030" r="0" b="11599"/>
          <a:stretch xmlns:a="http://schemas.openxmlformats.org/drawingml/2006/main"/>
        </p:blipFill>
        <p:spPr>
          <a:xfrm xmlns:a="http://schemas.openxmlformats.org/drawingml/2006/main">
            <a:off x="0" y="0"/>
            <a:ext cx="12196763" cy="5602265"/>
          </a:xfrm>
          <a:prstGeom xmlns:a="http://schemas.openxmlformats.org/drawingml/2006/main" prst="rect">
            <a:avLst/>
          </a:prstGeom>
        </p:spPr>
      </p:pic>
      <p:sp>
        <p:nvSpPr>
          <p:cNvPr id="13" name="L 形 12">
            <a:extLst xmlns:a="http://schemas.openxmlformats.org/drawingml/2006/main">
              <a:ext uri="{FF2B5EF4-FFF2-40B4-BE49-F238E27FC236}">
                <a16:creationId xmlns:a16="http://schemas.microsoft.com/office/drawing/2014/main" id="{D9C13A00-1073-4DDB-80E9-15487508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945516" y="2323519"/>
            <a:ext cx="701032" cy="717936"/>
          </a:xfrm>
          <a:prstGeom xmlns:a="http://schemas.openxmlformats.org/drawingml/2006/main" prst="corner">
            <a:avLst>
              <a:gd name="adj1" fmla="val 3243"/>
              <a:gd name="adj2" fmla="val 3048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900"/>
          </a:p>
        </p:txBody>
      </p:sp>
      <p:sp>
        <p:nvSpPr>
          <p:cNvPr id="11" name="Title 1">
            <a:extLst xmlns:a="http://schemas.openxmlformats.org/drawingml/2006/main">
              <a:ext uri="{FF2B5EF4-FFF2-40B4-BE49-F238E27FC236}">
                <a16:creationId xmlns:a16="http://schemas.microsoft.com/office/drawing/2014/main" id="{C897A368-8F39-4049-9BB0-AEB315EB7E0D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898996" y="907092"/>
            <a:ext cx="6559809" cy="6902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buNone/>
              <a:defRPr sz="3200" b="0" i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 xmlns:a="http://schemas.openxmlformats.org/drawingml/2006/main">
            <a:r>
              <a:t>单击此处添加标题</a:t>
            </a:r>
            <a:endParaRPr/>
          </a:p>
        </p:txBody>
      </p:sp>
      <p:sp>
        <p:nvSpPr>
          <p:cNvPr id="5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12621051-E1A4-A049-BF21-61B18B348315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29260" y="1949372"/>
            <a:ext cx="6535842" cy="643926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单击此处添加文本</a:t>
            </a:r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userDrawn="1">
  <p:cSld name="1_Contents page">
    <p:bg>
      <p:bgPr>
        <a:solidFill xmlns:a="http://schemas.openxmlformats.org/drawingml/2006/main">
          <a:srgbClr val="EBEB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20F7C7B5-0135-F749-B910-7325E96AE705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033620" y="1843088"/>
            <a:ext cx="10122060" cy="3013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tIns="90000" bIns="90000"/>
          <a:lstStyle xmlns:a="http://schemas.openxmlformats.org/drawingml/2006/main">
            <a:lvl1pPr marL="412750" indent="-398463">
              <a:lnSpc>
                <a:spcPct val="70000"/>
              </a:lnSpc>
              <a:buFont typeface="+mj-lt"/>
              <a:buAutoNum type="arabicPeriod"/>
              <a:defRPr sz="220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  <a:lvl2pPr marL="412750" indent="-398463">
              <a:buFont typeface="+mj-lt"/>
              <a:buAutoNum type="arabicPeriod"/>
              <a:defRPr/>
            </a:lvl2pPr>
            <a:lvl3pPr marL="14287" indent="0">
              <a:buFont typeface="+mj-lt"/>
              <a:buNone/>
              <a:defRPr sz="2200">
                <a:latin typeface="Microsoft YaHei"/>
                <a:ea typeface="Microsoft YaHei"/>
                <a:cs typeface="Microsoft YaHei"/>
              </a:defRPr>
            </a:lvl3pPr>
            <a:lvl4pPr marL="14287" indent="0">
              <a:buFont typeface="+mj-lt"/>
              <a:buNone/>
              <a:defRPr sz="2200">
                <a:latin typeface="Microsoft YaHei"/>
                <a:ea typeface="Microsoft YaHei"/>
                <a:cs typeface="Microsoft YaHei"/>
              </a:defRPr>
            </a:lvl4pPr>
            <a:lvl5pPr marL="14287" indent="0">
              <a:buFont typeface="+mj-lt"/>
              <a:buNone/>
              <a:defRPr sz="2200">
                <a:latin typeface="Microsoft YaHei"/>
                <a:ea typeface="Microsoft YaHei"/>
                <a:cs typeface="Microsoft YaHei"/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单击此处添加文本</a:t>
            </a:r>
            <a:endParaRPr/>
          </a:p>
        </p:txBody>
      </p:sp>
      <p:sp>
        <p:nvSpPr>
          <p:cNvPr id="3" name="直线连接符 14">
            <a:extLst xmlns:a="http://schemas.openxmlformats.org/drawingml/2006/main">
              <a:ext uri="{FF2B5EF4-FFF2-40B4-BE49-F238E27FC236}">
                <a16:creationId xmlns:a16="http://schemas.microsoft.com/office/drawing/2014/main" id="{9E18D993-2752-4662-B3D8-E375DFF7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29918" y="1349255"/>
            <a:ext cx="885967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7000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16" y="630373"/>
            <a:ext cx="1147485" cy="6535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36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729175" y="456134"/>
            <a:ext cx="10740640" cy="99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 xmlns:a="http://schemas.openxmlformats.org/drawingml/2006/main">
            <a:r>
              <a:t>单击此处添加标题</a:t>
            </a:r>
            <a:endParaRPr/>
          </a:p>
        </p:txBody>
      </p:sp>
      <p:sp>
        <p:nvSpPr>
          <p:cNvPr id="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A4EAA63-3827-DA40-B921-C01084B9DA87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736908" y="1501989"/>
            <a:ext cx="10733557" cy="46904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12373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20" algn="ctr"/>
              </a:tabLst>
              <a:defRPr sz="1800" baseline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  <a:lvl2pPr marL="525850" indent="-171159">
              <a:buFont typeface="Arial"/>
              <a:buChar char="•"/>
              <a:tabLst>
                <a:tab pos="1208420" algn="ctr"/>
              </a:tabLst>
              <a:defRPr sz="1299" baseline="0"/>
            </a:lvl2pPr>
            <a:lvl3pPr marL="525850" indent="-171159">
              <a:buFont typeface="Arial"/>
              <a:buChar char="•"/>
              <a:tabLst>
                <a:tab pos="1208420" algn="ctr"/>
              </a:tabLst>
              <a:defRPr sz="1299" baseline="0"/>
            </a:lvl3pPr>
            <a:lvl4pPr marL="525850" indent="-171159">
              <a:buFont typeface="Arial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/>
              <a:buChar char="•"/>
              <a:tabLst>
                <a:tab pos="1208420" algn="ctr"/>
              </a:tabLst>
              <a:defRPr sz="1299" baseline="0"/>
            </a:lvl5pPr>
          </a:lstStyle>
          <a:p xmlns:a="http://schemas.openxmlformats.org/drawingml/2006/main">
            <a:pPr lvl="0">
              <a:buNone/>
            </a:pPr>
            <a:r>
              <a:t>单击此处添加文本</a:t>
            </a: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End page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2AF307D-40F4-EC4C-9108-79E94800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486" y="1402064"/>
            <a:ext cx="3921034" cy="8547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940">
                <a:solidFill>
                  <a:schemeClr val="tx1"/>
                </a:solidFill>
              </a:rPr>
              <a:t>Thank you.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bf0301e846d745aa" /><Relationship Type="http://schemas.openxmlformats.org/officeDocument/2006/relationships/theme" Target="/ppt/slideMasters/theme/theme2.xml" Id="R9319df88d3ef470b" /><Relationship Type="http://schemas.openxmlformats.org/officeDocument/2006/relationships/slideLayout" Target="/ppt/slideLayouts/slideLayout1.xml" Id="R0df53a707c82465c" /><Relationship Type="http://schemas.openxmlformats.org/officeDocument/2006/relationships/slideLayout" Target="/ppt/slideLayouts/slideLayout2.xml" Id="R7796ff40926b4597" /><Relationship Type="http://schemas.openxmlformats.org/officeDocument/2006/relationships/slideLayout" Target="/ppt/slideLayouts/slideLayout3.xml" Id="R33ee548428314551" /><Relationship Type="http://schemas.openxmlformats.org/officeDocument/2006/relationships/slideLayout" Target="/ppt/slideLayouts/slideLayout4.xml" Id="Rcaff6fdc57a742f4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8104197d5ab94228" /><Relationship Type="http://schemas.openxmlformats.org/officeDocument/2006/relationships/slideLayout" Target="/ppt/slideLayouts/slideLayout5.xml" Id="Ra0903f2d0679404e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image" Target="/ppt/media/image2.png" Id="Ree200df8d6f44ce2" /><Relationship Type="http://schemas.openxmlformats.org/officeDocument/2006/relationships/theme" Target="/ppt/slideMasters/theme/theme4.xml" Id="R22e826bab2b8492c" /><Relationship Type="http://schemas.openxmlformats.org/officeDocument/2006/relationships/slideLayout" Target="/ppt/slideLayouts/slideLayout6.xml" Id="Rae661a30b8384875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image" Target="/ppt/media/image.png" Id="R8f420188236c46f9" /><Relationship Type="http://schemas.openxmlformats.org/officeDocument/2006/relationships/theme" Target="/ppt/slideMasters/theme/theme5.xml" Id="R46d05c8a36864cb6" /><Relationship Type="http://schemas.openxmlformats.org/officeDocument/2006/relationships/slideLayout" Target="/ppt/slideLayouts/slideLayout7.xml" Id="R6a4cefdc6fdb4cb0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AF72FAD7-C8C3-754A-A498-D3A7EC29AB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09309" y="6270651"/>
            <a:ext cx="1982316" cy="1536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00"/>
              <a:t>Security Level:</a:t>
            </a:r>
            <a:endParaRPr sz="1000"/>
          </a:p>
        </p:txBody>
      </p:sp>
      <p:pic>
        <p:nvPicPr>
          <p:cNvPr id="18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0301e846d745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06684" y="5976168"/>
            <a:ext cx="2258389" cy="482533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f53a707c82465c"/>
    <p:sldLayoutId xmlns:r="http://schemas.openxmlformats.org/officeDocument/2006/relationships" id="2147483650" r:id="R7796ff40926b4597"/>
    <p:sldLayoutId xmlns:r="http://schemas.openxmlformats.org/officeDocument/2006/relationships" id="2147483651" r:id="R33ee548428314551"/>
    <p:sldLayoutId xmlns:r="http://schemas.openxmlformats.org/officeDocument/2006/relationships" id="2147483652" r:id="Rcaff6fdc57a742f4"/>
  </p:sldLayoutIdLst>
  <p:hf hdr="0" ftr="0" dt="0"/>
  <p:txStyles>
    <p:titleStyle>
      <a:lvl1pPr xmlns:a="http://schemas.openxmlformats.org/drawingml/2006/main" algn="l" defTabSz="914400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 xmlns:a="http://schemas.openxmlformats.org/drawingml/2006/main" marL="0" indent="0" algn="l" defTabSz="914400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/>
          <a:ea typeface="Arial"/>
          <a:cs typeface="Arial"/>
        </a:defRPr>
      </a:lvl1pPr>
      <a:lvl2pPr xmlns:a="http://schemas.openxmlformats.org/drawingml/2006/main" marL="457200" indent="0" algn="l" defTabSz="914400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indent="0" algn="l" defTabSz="914400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indent="0" algn="l" defTabSz="914400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indent="0" algn="l" defTabSz="914400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59" userDrawn="1">
          <p15:clr>
            <a:srgbClr xmlns:a="http://schemas.openxmlformats.org/drawingml/2006/main" val="F26B43"/>
          </p15:clr>
        </p15:guide>
        <p15:guide id="2" pos="3841" userDrawn="1">
          <p15:clr>
            <a:srgbClr xmlns:a="http://schemas.openxmlformats.org/drawingml/2006/main" val="F26B43"/>
          </p15:clr>
        </p15:guide>
        <p15:guide id="3" pos="565" userDrawn="1">
          <p15:clr>
            <a:srgbClr xmlns:a="http://schemas.openxmlformats.org/drawingml/2006/main" val="F26B43"/>
          </p15:clr>
        </p15:guide>
        <p15:guide id="4" orient="horz" pos="4007" userDrawn="1">
          <p15:clr>
            <a:srgbClr xmlns:a="http://schemas.openxmlformats.org/drawingml/2006/main" val="F26B43"/>
          </p15:clr>
        </p15:guide>
        <p15:guide id="5" orient="horz" pos="1235" userDrawn="1">
          <p15:clr>
            <a:srgbClr xmlns:a="http://schemas.openxmlformats.org/drawingml/2006/main" val="F26B43"/>
          </p15:clr>
        </p15:guide>
        <p15:guide id="6" orient="horz" pos="553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4" r:id="Ra0903f2d0679404e"/>
  </p:sldLayoutIdLst>
  <p:hf hdr="0" ftr="0" dt="0"/>
  <p:txStyles>
    <p:titleStyle>
      <a:lvl1pPr xmlns:a="http://schemas.openxmlformats.org/drawingml/2006/main" algn="l" defTabSz="1187798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96950" indent="-296950" algn="l" defTabSz="1187798">
        <a:lnSpc>
          <a:spcPct val="90000"/>
        </a:lnSpc>
        <a:spcBef>
          <a:spcPts val="1299"/>
        </a:spcBef>
        <a:buFont typeface="Arial"/>
        <a:buChar char="•"/>
        <a:defRPr sz="3636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890849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3118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484748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598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2078648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672547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266447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860346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454245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5048144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93900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87798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781699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375598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969497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63396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57297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751195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 userDrawn="1">
          <p15:clr>
            <a:srgbClr xmlns:a="http://schemas.openxmlformats.org/drawingml/2006/main" val="F26B43"/>
          </p15:clr>
        </p15:guide>
        <p15:guide id="2" pos="3842" userDrawn="1">
          <p15:clr>
            <a:srgbClr xmlns:a="http://schemas.openxmlformats.org/drawingml/2006/main" val="F26B43"/>
          </p15:clr>
        </p15:guide>
        <p15:guide id="3" pos="458" userDrawn="1">
          <p15:clr>
            <a:srgbClr xmlns:a="http://schemas.openxmlformats.org/drawingml/2006/main" val="F26B43"/>
          </p15:clr>
        </p15:guide>
        <p15:guide id="4" pos="7225" userDrawn="1">
          <p15:clr>
            <a:srgbClr xmlns:a="http://schemas.openxmlformats.org/drawingml/2006/main" val="F26B43"/>
          </p15:clr>
        </p15:guide>
        <p15:guide id="5" orient="horz" pos="4100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467" y="6356939"/>
            <a:ext cx="1463467" cy="2428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974" b="0">
                <a:solidFill>
                  <a:srgbClr val="1D1D1B"/>
                </a:solidFill>
                <a:latin typeface="Arial"/>
                <a:ea typeface="Arial"/>
                <a:cs typeface="Arial"/>
              </a:rPr>
              <a:t>Huawei Confidential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31" y="6402806"/>
            <a:ext cx="499729" cy="1502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89084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C3837181-38C6-AD4F-B8BA-B444770388BB}" type="slidenum">
              <a:rPr sz="974">
                <a:solidFill>
                  <a:srgbClr val="1D1D1B"/>
                </a:solidFill>
                <a:latin typeface="Arial"/>
                <a:ea typeface="Arial"/>
                <a:cs typeface="Arial"/>
              </a:rPr>
              <a:t>‹#›</a:t>
            </a:fld>
            <a:endParaRPr sz="974">
              <a:solidFill>
                <a:srgbClr val="1D1D1B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0" name="图片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200df8d6f44c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95999" y="6319870"/>
            <a:ext cx="1269075" cy="271153"/>
          </a:xfrm>
          <a:prstGeom xmlns:a="http://schemas.openxmlformats.org/drawingml/2006/main" prst="rect">
            <a:avLst/>
          </a:prstGeom>
        </p:spPr>
      </p:pic>
      <p:sp>
        <p:nvSpPr>
          <p:cNvPr id="44" name="矩形 5">
            <a:extLst xmlns:a="http://schemas.openxmlformats.org/drawingml/2006/main">
              <a:ext uri="{FF2B5EF4-FFF2-40B4-BE49-F238E27FC236}">
                <a16:creationId xmlns:a16="http://schemas.microsoft.com/office/drawing/2014/main" id="{3B0B5EC2-EA55-CC45-A9D0-D5EA5D76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15635" y="3097895"/>
            <a:ext cx="911019" cy="4259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P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ANTONE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186C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 200/16/46</a:t>
            </a:r>
          </a:p>
        </p:txBody>
      </p:sp>
      <p:sp>
        <p:nvSpPr>
          <p:cNvPr id="45" name="矩形 9">
            <a:extLst xmlns:a="http://schemas.openxmlformats.org/drawingml/2006/main">
              <a:ext uri="{FF2B5EF4-FFF2-40B4-BE49-F238E27FC236}">
                <a16:creationId xmlns:a16="http://schemas.microsoft.com/office/drawing/2014/main" id="{992224C5-04A6-C041-B257-13137945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175" y="3097895"/>
            <a:ext cx="911019" cy="4259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P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ANTONE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185C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 199/0/11</a:t>
            </a:r>
          </a:p>
        </p:txBody>
      </p:sp>
      <p:sp>
        <p:nvSpPr>
          <p:cNvPr id="46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58918196-0639-EE4B-AFC2-315BE045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26898" y="2931937"/>
            <a:ext cx="384721" cy="131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rPr>
              <a:t>品牌色</a:t>
            </a:r>
          </a:p>
        </p:txBody>
      </p:sp>
      <p:sp>
        <p:nvSpPr>
          <p:cNvPr id="28" name="矩形 12">
            <a:extLst xmlns:a="http://schemas.openxmlformats.org/drawingml/2006/main">
              <a:ext uri="{FF2B5EF4-FFF2-40B4-BE49-F238E27FC236}">
                <a16:creationId xmlns:a16="http://schemas.microsoft.com/office/drawing/2014/main" id="{DCA8B73C-0B87-284F-805F-752EBF20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15640" y="4233909"/>
            <a:ext cx="885201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A4F"/>
          </a:solidFill>
          <a:ln xmlns:a="http://schemas.openxmlformats.org/drawingml/2006/main">
            <a:solidFill>
              <a:srgbClr val="EA5A4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234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90/79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矩形 13">
            <a:extLst xmlns:a="http://schemas.openxmlformats.org/drawingml/2006/main">
              <a:ext uri="{FF2B5EF4-FFF2-40B4-BE49-F238E27FC236}">
                <a16:creationId xmlns:a16="http://schemas.microsoft.com/office/drawing/2014/main" id="{138A39A8-BB4E-CD4E-9201-F1785C87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15640" y="3783828"/>
            <a:ext cx="885201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120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0/15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8F53C07A-1022-C740-8F8D-97538E17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16278" y="3631294"/>
            <a:ext cx="569387" cy="131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rPr>
              <a:t>辅助色</a:t>
            </a:r>
          </a:p>
        </p:txBody>
      </p:sp>
      <p:sp>
        <p:nvSpPr>
          <p:cNvPr id="31" name="矩形 16">
            <a:extLst xmlns:a="http://schemas.openxmlformats.org/drawingml/2006/main">
              <a:ext uri="{FF2B5EF4-FFF2-40B4-BE49-F238E27FC236}">
                <a16:creationId xmlns:a16="http://schemas.microsoft.com/office/drawing/2014/main" id="{306A7598-C00D-994F-82DA-B39F3C2E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15640" y="5131937"/>
            <a:ext cx="885201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53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248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181/60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矩形 17">
            <a:extLst xmlns:a="http://schemas.openxmlformats.org/drawingml/2006/main">
              <a:ext uri="{FF2B5EF4-FFF2-40B4-BE49-F238E27FC236}">
                <a16:creationId xmlns:a16="http://schemas.microsoft.com/office/drawing/2014/main" id="{C1423292-FF2F-A74C-943E-1C3C4753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15640" y="4689671"/>
            <a:ext cx="885201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5C0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235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92/1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矩形 18">
            <a:extLst xmlns:a="http://schemas.openxmlformats.org/drawingml/2006/main">
              <a:ext uri="{FF2B5EF4-FFF2-40B4-BE49-F238E27FC236}">
                <a16:creationId xmlns:a16="http://schemas.microsoft.com/office/drawing/2014/main" id="{2A29AF15-F5C4-A842-A63B-5DBA549C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15636" y="6023709"/>
            <a:ext cx="911019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137/137/137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矩形 19">
            <a:extLst xmlns:a="http://schemas.openxmlformats.org/drawingml/2006/main">
              <a:ext uri="{FF2B5EF4-FFF2-40B4-BE49-F238E27FC236}">
                <a16:creationId xmlns:a16="http://schemas.microsoft.com/office/drawing/2014/main" id="{E9EA970A-4D36-BC41-B8BE-40DF5533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15636" y="5581443"/>
            <a:ext cx="911019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181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35/24/21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矩形 22">
            <a:extLst xmlns:a="http://schemas.openxmlformats.org/drawingml/2006/main">
              <a:ext uri="{FF2B5EF4-FFF2-40B4-BE49-F238E27FC236}">
                <a16:creationId xmlns:a16="http://schemas.microsoft.com/office/drawing/2014/main" id="{14EE21FB-1D92-0241-ABA5-5E9A6AEE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15636" y="6471222"/>
            <a:ext cx="911019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 221</a:t>
            </a: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221/221</a:t>
            </a:r>
            <a:endParaRPr sz="700" b="1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矩形 12">
            <a:extLst xmlns:a="http://schemas.openxmlformats.org/drawingml/2006/main">
              <a:ext uri="{FF2B5EF4-FFF2-40B4-BE49-F238E27FC236}">
                <a16:creationId xmlns:a16="http://schemas.microsoft.com/office/drawing/2014/main" id="{883734A3-2645-434A-9DCC-1416B6C6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175" y="4233909"/>
            <a:ext cx="885201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8C8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233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140/128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矩形 13">
            <a:extLst xmlns:a="http://schemas.openxmlformats.org/drawingml/2006/main">
              <a:ext uri="{FF2B5EF4-FFF2-40B4-BE49-F238E27FC236}">
                <a16:creationId xmlns:a16="http://schemas.microsoft.com/office/drawing/2014/main" id="{1FF13552-FB3D-134A-A80A-6CFB35DF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175" y="3783828"/>
            <a:ext cx="885201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2126"/>
          </a:solidFill>
          <a:ln xmlns:a="http://schemas.openxmlformats.org/drawingml/2006/main">
            <a:solidFill>
              <a:srgbClr val="9F000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159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0/1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矩形 16">
            <a:extLst xmlns:a="http://schemas.openxmlformats.org/drawingml/2006/main">
              <a:ext uri="{FF2B5EF4-FFF2-40B4-BE49-F238E27FC236}">
                <a16:creationId xmlns:a16="http://schemas.microsoft.com/office/drawing/2014/main" id="{0A96471B-CB12-1443-B01F-C14C9112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175" y="5131937"/>
            <a:ext cx="885201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C5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 245</a:t>
            </a: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220/87</a:t>
            </a:r>
            <a:endParaRPr sz="700" b="1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矩形 17">
            <a:extLst xmlns:a="http://schemas.openxmlformats.org/drawingml/2006/main">
              <a:ext uri="{FF2B5EF4-FFF2-40B4-BE49-F238E27FC236}">
                <a16:creationId xmlns:a16="http://schemas.microsoft.com/office/drawing/2014/main" id="{61890D59-CF8B-1449-A836-3A304EC9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175" y="4689671"/>
            <a:ext cx="885201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85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240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133/0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矩形 18">
            <a:extLst xmlns:a="http://schemas.openxmlformats.org/drawingml/2006/main">
              <a:ext uri="{FF2B5EF4-FFF2-40B4-BE49-F238E27FC236}">
                <a16:creationId xmlns:a16="http://schemas.microsoft.com/office/drawing/2014/main" id="{0466A1E1-E7C7-FD49-9880-9E44BED1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171" y="6023709"/>
            <a:ext cx="911019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5B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181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181/181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矩形 19">
            <a:extLst xmlns:a="http://schemas.openxmlformats.org/drawingml/2006/main">
              <a:ext uri="{FF2B5EF4-FFF2-40B4-BE49-F238E27FC236}">
                <a16:creationId xmlns:a16="http://schemas.microsoft.com/office/drawing/2014/main" id="{B21AD6AC-1275-0142-A9EA-D77B26CB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171" y="5581443"/>
            <a:ext cx="911019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75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89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87/87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矩形 22">
            <a:extLst xmlns:a="http://schemas.openxmlformats.org/drawingml/2006/main">
              <a:ext uri="{FF2B5EF4-FFF2-40B4-BE49-F238E27FC236}">
                <a16:creationId xmlns:a16="http://schemas.microsoft.com/office/drawing/2014/main" id="{238BAC2A-AE09-A84D-875D-8472236D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171" y="6471222"/>
            <a:ext cx="911019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chemeClr val="bg1">
                <a:lumMod val="10000"/>
                <a:lumOff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 255</a:t>
            </a: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255/255</a:t>
            </a:r>
            <a:endParaRPr sz="700" b="1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ae661a30b8384875"/>
  </p:sldLayoutIdLst>
  <p:hf hdr="0" ftr="0" dt="0"/>
  <p:txStyles>
    <p:titleStyle>
      <a:lvl1pPr xmlns:a="http://schemas.openxmlformats.org/drawingml/2006/main" algn="l" defTabSz="1187798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96950" indent="-296950" algn="l" defTabSz="1187798">
        <a:lnSpc>
          <a:spcPct val="90000"/>
        </a:lnSpc>
        <a:spcBef>
          <a:spcPts val="1299"/>
        </a:spcBef>
        <a:buFont typeface="Arial"/>
        <a:buChar char="•"/>
        <a:defRPr sz="3636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890849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3118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484748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598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2078648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672547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266447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860346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454245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5048144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93900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87798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781699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375598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969497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63396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57297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751195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 userDrawn="1">
          <p15:clr>
            <a:srgbClr xmlns:a="http://schemas.openxmlformats.org/drawingml/2006/main" val="F26B43"/>
          </p15:clr>
        </p15:guide>
        <p15:guide id="2" pos="3842" userDrawn="1">
          <p15:clr>
            <a:srgbClr xmlns:a="http://schemas.openxmlformats.org/drawingml/2006/main" val="F26B43"/>
          </p15:clr>
        </p15:guide>
        <p15:guide id="3" pos="458" userDrawn="1">
          <p15:clr>
            <a:srgbClr xmlns:a="http://schemas.openxmlformats.org/drawingml/2006/main" val="F26B43"/>
          </p15:clr>
        </p15:guide>
        <p15:guide id="4" pos="7225" userDrawn="1">
          <p15:clr>
            <a:srgbClr xmlns:a="http://schemas.openxmlformats.org/drawingml/2006/main" val="F26B43"/>
          </p15:clr>
        </p15:guide>
        <p15:guide id="5" orient="horz" pos="4100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slideMaster4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145F1158-B1AA-8F41-AF0A-FEA0EC1874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6573" y="1474269"/>
            <a:ext cx="3984232" cy="2816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F8FC7CCD-75EB-9C44-BC7D-29679334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9357" y="2794960"/>
            <a:ext cx="3225168" cy="20299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400" kern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ts val="1065"/>
              </a:lnSpc>
              <a:buNone/>
            </a:pPr>
            <a:r>
              <a:rPr sz="850" b="1">
                <a:solidFill>
                  <a:srgbClr val="1D1D1B"/>
                </a:solidFill>
                <a:latin typeface="+mj-lt"/>
                <a:ea typeface="+mj-lt"/>
                <a:cs typeface="+mj-lt"/>
              </a:rPr>
              <a:t>Copyright©2021 </a:t>
            </a:r>
            <a:r>
              <a:rPr sz="850" b="1">
                <a:solidFill>
                  <a:srgbClr val="1D1D1B"/>
                </a:solidFill>
                <a:latin typeface="+mj-lt"/>
                <a:ea typeface="+mj-lt"/>
                <a:cs typeface="+mj-lt"/>
              </a:rPr>
              <a:t>Huawei Technologies Co., Ltd.</a:t>
            </a:r>
            <a:br/>
            <a:r>
              <a:rPr sz="850" b="1">
                <a:solidFill>
                  <a:srgbClr val="1D1D1B"/>
                </a:solidFill>
                <a:latin typeface="+mj-lt"/>
                <a:ea typeface="+mj-lt"/>
                <a:cs typeface="+mj-lt"/>
              </a:rPr>
              <a:t>All Rights Reserved.</a:t>
            </a:r>
            <a:r>
              <a:rPr sz="779">
                <a:solidFill>
                  <a:srgbClr val="1D1D1B"/>
                </a:solidFill>
                <a:latin typeface="+mn-lt"/>
                <a:ea typeface="+mn-lt"/>
                <a:cs typeface="+mn-lt"/>
              </a:rPr>
              <a:t/>
            </a:r>
            <a:br/>
            <a:r>
              <a:rPr sz="779">
                <a:solidFill>
                  <a:srgbClr val="1D1D1B"/>
                </a:solidFill>
                <a:latin typeface="+mn-lt"/>
                <a:ea typeface="+mn-lt"/>
                <a:cs typeface="+mn-lt"/>
              </a:rPr>
              <a:t/>
            </a:r>
            <a:br/>
            <a: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The information in this document may contain predictive </a:t>
            </a:r>
            <a:br/>
            <a: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statements including, without limitation, statements regarding </a:t>
            </a:r>
            <a:br/>
            <a: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the future financial and operating results, future product </a:t>
            </a:r>
            <a:br/>
            <a: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portfolio, new technology, etc. There are a number of factors that </a:t>
            </a:r>
            <a:br/>
            <a: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could cause actual results and developments to differ materially </a:t>
            </a:r>
            <a:br/>
            <a: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from those expressed or implied in the predictive statements. </a:t>
            </a:r>
            <a:br/>
            <a: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Therefore, such information is provided for reference purpose </a:t>
            </a:r>
            <a:br/>
            <a: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only and constitutes neither an offer nor an acceptance. Huawei </a:t>
            </a:r>
            <a:br/>
            <a: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may change the information at any time without notice. </a:t>
            </a:r>
          </a:p>
          <a:p xmlns:a="http://schemas.openxmlformats.org/drawingml/2006/main">
            <a:pPr>
              <a:lnSpc>
                <a:spcPts val="1065"/>
              </a:lnSpc>
              <a:buNone/>
            </a:pPr>
            <a:endParaRPr sz="779">
              <a:solidFill>
                <a:srgbClr val="1D1D1B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6" name="Subtitle 6">
            <a:extLst xmlns:a="http://schemas.openxmlformats.org/drawingml/2006/main">
              <a:ext uri="{FF2B5EF4-FFF2-40B4-BE49-F238E27FC236}">
                <a16:creationId xmlns:a16="http://schemas.microsoft.com/office/drawing/2014/main" id="{12B8F806-ABD5-064C-8793-5E22C725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7276" y="1631849"/>
            <a:ext cx="3477701" cy="4911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400" kern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ts val="1681"/>
              </a:lnSpc>
              <a:spcBef>
                <a:spcPts val="0"/>
              </a:spcBef>
              <a:buNone/>
            </a:pPr>
            <a:r>
              <a:rPr sz="1300">
                <a:solidFill>
                  <a:srgbClr val="1D1D1B"/>
                </a:solidFill>
                <a:latin typeface="Microsoft YaHei"/>
                <a:ea typeface="Microsoft YaHei"/>
                <a:cs typeface="Microsoft YaHei"/>
              </a:rPr>
              <a:t>把数字世界带入每个人、每个家庭、</a:t>
            </a:r>
            <a:r>
              <a:rPr sz="1300">
                <a:solidFill>
                  <a:srgbClr val="1D1D1B"/>
                </a:solidFill>
                <a:latin typeface="Microsoft YaHei"/>
                <a:ea typeface="Microsoft YaHei"/>
                <a:cs typeface="Microsoft YaHei"/>
              </a:rPr>
              <a:t/>
            </a:r>
            <a:br/>
            <a:r>
              <a:rPr sz="1300">
                <a:solidFill>
                  <a:srgbClr val="1D1D1B"/>
                </a:solidFill>
                <a:latin typeface="Microsoft YaHei"/>
                <a:ea typeface="Microsoft YaHei"/>
                <a:cs typeface="Microsoft YaHei"/>
              </a:rPr>
              <a:t>每个组织，构建万物互联的智能世界。</a:t>
            </a:r>
          </a:p>
        </p:txBody>
      </p:sp>
      <p:sp>
        <p:nvSpPr>
          <p:cNvPr id="7" name="Subtitle 6">
            <a:extLst xmlns:a="http://schemas.openxmlformats.org/drawingml/2006/main">
              <a:ext uri="{FF2B5EF4-FFF2-40B4-BE49-F238E27FC236}">
                <a16:creationId xmlns:a16="http://schemas.microsoft.com/office/drawing/2014/main" id="{F1235B6F-D691-2C40-93D4-EC5427AD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7672" y="2106124"/>
            <a:ext cx="3481833" cy="5828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400" kern="120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ts val="1294"/>
              </a:lnSpc>
              <a:buNone/>
            </a:pPr>
            <a:r>
              <a:rPr sz="120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Bring digital to every person, home, and </a:t>
            </a:r>
            <a:br/>
            <a:r>
              <a:rPr sz="120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organization for a fully connected, </a:t>
            </a:r>
            <a:br/>
            <a:r>
              <a:rPr sz="120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intelligent world.</a:t>
            </a:r>
            <a:endParaRPr sz="1200">
              <a:solidFill>
                <a:srgbClr val="1D1D1B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13" name="图片 9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420188236c46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75497" y="5251150"/>
            <a:ext cx="1869596" cy="399462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8" r:id="R6a4cefdc6fdb4cb0"/>
  </p:sldLayoutIdLst>
  <p:hf hdr="0" ftr="0" dt="0"/>
  <p:txStyles>
    <p:titleStyle>
      <a:lvl1pPr xmlns:a="http://schemas.openxmlformats.org/drawingml/2006/main" algn="l" defTabSz="1187798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0" indent="0" algn="l" defTabSz="1187798">
        <a:lnSpc>
          <a:spcPct val="90000"/>
        </a:lnSpc>
        <a:spcBef>
          <a:spcPts val="1299"/>
        </a:spcBef>
        <a:buFont typeface="Arial"/>
        <a:buNone/>
        <a:defRPr sz="1819" kern="1200">
          <a:solidFill>
            <a:srgbClr val="FFFFFF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593900" indent="0" algn="l" defTabSz="1187798">
        <a:lnSpc>
          <a:spcPct val="90000"/>
        </a:lnSpc>
        <a:spcBef>
          <a:spcPts val="650"/>
        </a:spcBef>
        <a:buFont typeface="Arial"/>
        <a:buNone/>
        <a:defRPr sz="3118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87798" indent="0" algn="l" defTabSz="1187798">
        <a:lnSpc>
          <a:spcPct val="90000"/>
        </a:lnSpc>
        <a:spcBef>
          <a:spcPts val="650"/>
        </a:spcBef>
        <a:buFont typeface="Arial"/>
        <a:buNone/>
        <a:defRPr sz="2598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781699" indent="0" algn="l" defTabSz="1187798">
        <a:lnSpc>
          <a:spcPct val="90000"/>
        </a:lnSpc>
        <a:spcBef>
          <a:spcPts val="650"/>
        </a:spcBef>
        <a:buFont typeface="Arial"/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375598" indent="0" algn="l" defTabSz="1187798">
        <a:lnSpc>
          <a:spcPct val="90000"/>
        </a:lnSpc>
        <a:spcBef>
          <a:spcPts val="650"/>
        </a:spcBef>
        <a:buFont typeface="Arial"/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266447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860346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454245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5048144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93900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87798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781699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375598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969497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63396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57297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751195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 userDrawn="1">
          <p15:clr>
            <a:srgbClr xmlns:a="http://schemas.openxmlformats.org/drawingml/2006/main" val="F26B43"/>
          </p15:clr>
        </p15:guide>
        <p15:guide id="2" pos="3842" userDrawn="1">
          <p15:clr>
            <a:srgbClr xmlns:a="http://schemas.openxmlformats.org/drawingml/2006/main" val="F26B43"/>
          </p15:clr>
        </p15:guide>
        <p15:guide id="3" pos="458" userDrawn="1">
          <p15:clr>
            <a:srgbClr xmlns:a="http://schemas.openxmlformats.org/drawingml/2006/main" val="F26B43"/>
          </p15:clr>
        </p15:guide>
        <p15:guide id="4" pos="7216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2210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updated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ustom 2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5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2210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f55293741f4c6e" /><Relationship Type="http://schemas.openxmlformats.org/officeDocument/2006/relationships/notesSlide" Target="/ppt/notesSlides/notesSlide1.xml" Id="R134fba71c1864d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870dd6405b4e7e" /><Relationship Type="http://schemas.openxmlformats.org/officeDocument/2006/relationships/notesSlide" Target="/ppt/notesSlides/notesSlide2.xml" Id="Ra4dfd4773b244c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3478c91e5941a7" /><Relationship Type="http://schemas.openxmlformats.org/officeDocument/2006/relationships/notesSlide" Target="/ppt/notesSlides/notesSlide3.xml" Id="Rc9173877d5ad43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470ff6bed84af3" /><Relationship Type="http://schemas.openxmlformats.org/officeDocument/2006/relationships/notesSlide" Target="/ppt/notesSlides/notesSlide4.xml" Id="Rdcd678ab889e49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6a888095cfd4ed9" /><Relationship Type="http://schemas.openxmlformats.org/officeDocument/2006/relationships/notesSlide" Target="/ppt/notesSlides/notesSlide5.xml" Id="Rc814b2229a6043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3eec780a31473c" /><Relationship Type="http://schemas.openxmlformats.org/officeDocument/2006/relationships/notesSlide" Target="/ppt/notesSlides/notesSlide6.xml" Id="Rf9c6e1b7b52c487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61c2f29c8b4854" /><Relationship Type="http://schemas.openxmlformats.org/officeDocument/2006/relationships/notesSlide" Target="/ppt/notesSlides/notesSlide7.xml" Id="R3931b9f1dfe3427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d63c84460f4dd5" /><Relationship Type="http://schemas.openxmlformats.org/officeDocument/2006/relationships/notesSlide" Target="/ppt/notesSlides/notesSlide8.xml" Id="R88f13862188f4fb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84bb7c9eae4a82" /><Relationship Type="http://schemas.openxmlformats.org/officeDocument/2006/relationships/notesSlide" Target="/ppt/notesSlides/notesSlide9.xml" Id="R5c741c6e9a074ee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09b71aaf064232" /><Relationship Type="http://schemas.openxmlformats.org/officeDocument/2006/relationships/notesSlide" Target="/ppt/notesSlides/notesSlide10.xml" Id="R1554427293ed4fc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5068d8c63b49b0" /><Relationship Type="http://schemas.openxmlformats.org/officeDocument/2006/relationships/notesSlide" Target="/ppt/notesSlides/notesSlide11.xml" Id="R1f15e9b3323d498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e77b8406c9649bd" /><Relationship Type="http://schemas.openxmlformats.org/officeDocument/2006/relationships/notesSlide" Target="/ppt/notesSlides/notesSlide12.xml" Id="Rdbf577ea827b4e5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e6d28b19e443ff" /><Relationship Type="http://schemas.openxmlformats.org/officeDocument/2006/relationships/image" Target="/ppt/media/image4.png" Id="Ra6b792dad9d745a6" /><Relationship Type="http://schemas.openxmlformats.org/officeDocument/2006/relationships/notesSlide" Target="/ppt/notesSlides/notesSlide13.xml" Id="R2a73da2686d24e4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d10cf029a94ed8" /><Relationship Type="http://schemas.openxmlformats.org/officeDocument/2006/relationships/notesSlide" Target="/ppt/notesSlides/notesSlide14.xml" Id="Rd425651d8f2347b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839da6ba754794" /><Relationship Type="http://schemas.openxmlformats.org/officeDocument/2006/relationships/notesSlide" Target="/ppt/notesSlides/notesSlide15.xml" Id="R68ba0ab854de487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0f663d0d7e403a" /><Relationship Type="http://schemas.openxmlformats.org/officeDocument/2006/relationships/notesSlide" Target="/ppt/notesSlides/notesSlide16.xml" Id="R7167ed643ac2469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2e84270b514aca" /><Relationship Type="http://schemas.openxmlformats.org/officeDocument/2006/relationships/notesSlide" Target="/ppt/notesSlides/notesSlide17.xml" Id="R39520e8ac5dc4e7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8d28794dfb44ac" /><Relationship Type="http://schemas.openxmlformats.org/officeDocument/2006/relationships/image" Target="/ppt/media/image5.png" Id="Rd08e37348f48431a" /><Relationship Type="http://schemas.openxmlformats.org/officeDocument/2006/relationships/notesSlide" Target="/ppt/notesSlides/notesSlide18.xml" Id="R7cf13d96a65f40a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1f7791fe12400e" /><Relationship Type="http://schemas.openxmlformats.org/officeDocument/2006/relationships/notesSlide" Target="/ppt/notesSlides/notesSlide19.xml" Id="Ra6b5a6240327474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2fc6cf401de4e55" /><Relationship Type="http://schemas.openxmlformats.org/officeDocument/2006/relationships/notesSlide" Target="/ppt/notesSlides/notesSlide20.xml" Id="Rd47166a096d042b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98B74FAB-8648-4B69-B3A1-51B0FD2BA4D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7F3DB8AC-5DE9-5548-8697-C9055F7FFCCB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F19B9EA-773D-FD4C-8380-847E27C6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808" y="6264112"/>
            <a:ext cx="2606870" cy="1366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algn="l" defTabSz="9144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40" algn="l" defTabSz="9144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78" algn="l" defTabSz="9144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718" algn="l" defTabSz="9144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957" algn="l" defTabSz="9144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196" algn="l" defTabSz="9144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435" algn="l" defTabSz="9144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675" algn="l" defTabSz="9144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913" algn="l" defTabSz="9144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00"/>
              <a:t>Security Level:</a:t>
            </a:r>
            <a:endParaRPr sz="1000"/>
          </a:p>
        </p:txBody>
      </p:sp>
      <p:sp>
        <p:nvSpPr>
          <p:cNvPr id="7" name="cover-text-backdrop">
            <a:extLst xmlns:a="http://schemas.openxmlformats.org/drawingml/2006/main">
              <a:ext uri="{FF2B5EF4-FFF2-40B4-BE49-F238E27FC236}">
                <a16:creationId xmlns:a16="http://schemas.microsoft.com/office/drawing/2014/main" id="{838B00C6-EBBD-42CD-88EF-129E98E9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"/>
            <a:ext cx="69532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2000"/>
            </a:srgbClr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D9ADF5-5A59-463B-B7D9-80939C11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38200"/>
            <a:ext cx="647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从“会聊天”到“能承担决策”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B12177-C244-429F-B48C-99E84F66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636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我的 AI 产品经理工作系统：Prompt → Context → Agent → Harness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9B0DFA-39F3-474D-830C-AD70F578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47900"/>
            <a:ext cx="636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用研 × 竞品 × PRD × 原型｜两个真实工作案例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C84714-BF20-4DAF-83F5-3F3BC408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产品经理团队分享  /  45 min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F37D8A-B55D-44B0-A07A-E54D713B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2579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63295233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24AA6268-1409-4243-A1C8-6B663F52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FE28A58-20E4-409C-BC1B-184BD614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AI 工作流的收益来自四类风险被前置控制</a:t>
            </a:r>
          </a:p>
        </p:txBody>
      </p:sp>
      <p:sp>
        <p:nvSpPr>
          <p:cNvPr id="11" name="slide-lead">
            <a:extLst xmlns:a="http://schemas.openxmlformats.org/drawingml/2006/main">
              <a:ext uri="{FF2B5EF4-FFF2-40B4-BE49-F238E27FC236}">
                <a16:creationId xmlns:a16="http://schemas.microsoft.com/office/drawing/2014/main" id="{DF8F6D33-2619-470F-A445-C77D10B9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不是更快生成四份文档，而是更早阻止四次错误决策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B8E6C5-BDED-446F-BE48-15B92536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15C8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A4F4F8-ED0B-4ADD-BB34-B1946914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2266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425F3F-8372-404F-9470-7C7E811B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事实风险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C4DE6A-FC6F-4BB3-B2A5-9CE0EE8D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15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15C88"/>
                </a:solidFill>
                <a:latin typeface="Microsoft YaHei"/>
                <a:ea typeface="Microsoft YaHei"/>
                <a:cs typeface="Microsoft YaHei"/>
              </a:rPr>
              <a:t>证据与版本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6CB0E7-B5EB-4619-A6E4-F3DF1172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2266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不再把“没搜到”写成“不支持”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F40EA3-6F95-40F2-A691-53453494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657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5C4F65-0F09-49A0-B44D-1974117D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019300"/>
            <a:ext cx="2266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E22B31-2278-470A-986A-A325F245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1717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决策风险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129073-DA1D-44B0-A512-676139AE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6479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规则与取舍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8D017C-DA0E-49BE-8D78-CA15F0F3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048000"/>
            <a:ext cx="2266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每个结论必须回答做不做、先做什么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AB396B-67FA-4872-AD62-3237D7F6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57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BA3FE0-03B8-451C-ACB1-69E3C19E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19300"/>
            <a:ext cx="2266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650572-069B-4860-926E-419A8325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交接风险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058532-343C-468B-9C79-D51761E0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479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rPr>
              <a:t>文件与状态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B66FA5-C48B-43D4-8E2E-085345A6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48000"/>
            <a:ext cx="2266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下游读取确定产物，不依赖上轮聊天记忆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26C584-E618-4743-A60A-11AA9D5C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1657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7B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47B0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09F6CD-35A8-432C-928D-7F0463A6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019300"/>
            <a:ext cx="2266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C5D139-5B55-4E67-B228-6A14E997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1717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上线风险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162B36-4725-4B72-AAF1-D049F099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6479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47B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47B00"/>
                </a:solidFill>
                <a:latin typeface="Microsoft YaHei"/>
                <a:ea typeface="Microsoft YaHei"/>
                <a:cs typeface="Microsoft YaHei"/>
              </a:rPr>
              <a:t>门禁与退出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F57E5B-6F2D-4281-BDC5-83635BB8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048000"/>
            <a:ext cx="2266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先验证误选、理解、性能、隐私，再立项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81A074-62AB-40A0-BC2E-53CF14AB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106299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B5F078-A802-44EC-8C2A-3419E707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625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产品经理的核心产出，从“文档”升级为“可验证的决策系统”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CBEA3F-918F-48B2-B9E6-51BE4B08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197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  <a:cs typeface="Microsoft YaHei"/>
              </a:rPr>
              <a:t>证据可追溯  ·  范围可解释  ·  异常可恢复  ·  失败可停损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8579FDF8-1922-4ED4-9B91-E66F8CB1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2F4DDB9-BCEE-498C-A2C0-27D5DF92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四次演变，本质是把控制权逐层移出聊天框</a:t>
            </a:r>
          </a:p>
        </p:txBody>
      </p:sp>
      <p:sp>
        <p:nvSpPr>
          <p:cNvPr id="11" name="slide-lead">
            <a:extLst xmlns:a="http://schemas.openxmlformats.org/drawingml/2006/main">
              <a:ext uri="{FF2B5EF4-FFF2-40B4-BE49-F238E27FC236}">
                <a16:creationId xmlns:a16="http://schemas.microsoft.com/office/drawing/2014/main" id="{4127A8A2-9C5A-4923-82E4-AD27E3F7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每一层保留上一层能力，同时补上新的交付契约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A9849F-FDD8-41FB-A485-F3E4547B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2343150" cy="285750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79372B-CD36-48CB-AE61-C6EFF6D5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431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Prompt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BB5AA0-8D49-4364-A711-5D565F22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5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15C88"/>
                </a:solidFill>
                <a:latin typeface="Microsoft YaHei"/>
                <a:ea typeface="Microsoft YaHei"/>
                <a:cs typeface="Microsoft YaHei"/>
              </a:rPr>
              <a:t>回答契约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D09908-8DEB-4984-8DB6-51191B2A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43200"/>
            <a:ext cx="2000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5DF4FD-EA0C-452F-88C4-B8D80C02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意图、角色、格式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3005A2-9615-4C2E-B4BF-A7999CFC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仍依赖模型临场记忆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882112-0306-471E-A164-FDD8F338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PM：会提问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8772CF-7199-4553-A54C-4EDB4C7D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52750"/>
            <a:ext cx="266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F2EFB8-24A1-4B94-AFF0-2FFDB6F2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790700"/>
            <a:ext cx="2343150" cy="285750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53B763-E17A-4758-B8A2-56A97050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19431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Context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DFAE91-4E2E-4C40-B09B-1BC99BA5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3812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5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15C88"/>
                </a:solidFill>
                <a:latin typeface="Microsoft YaHei"/>
                <a:ea typeface="Microsoft YaHei"/>
                <a:cs typeface="Microsoft YaHei"/>
              </a:rPr>
              <a:t>证据契约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ECFF4D-018E-4CC0-AB65-9A5FB8B6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743200"/>
            <a:ext cx="2000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08B964-00D4-4A52-9798-28BB156B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85750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资料、版本、状态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48F87E-A1FF-431E-BAC8-C4319824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5242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知道事实但不能行动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B8DA63-AF2F-4C1C-BE33-930FEAB5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210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PM：会组织证据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8468C8-79BF-476D-A9D7-F0AC7ACE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952750"/>
            <a:ext cx="266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6C4914-497E-4982-8877-EAD92E01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90700"/>
            <a:ext cx="2343150" cy="285750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0B82ED-78E8-4D7E-8372-B528F229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431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E1A3B9-7E7E-4B65-A944-7E5F0DC4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812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5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15C88"/>
                </a:solidFill>
                <a:latin typeface="Microsoft YaHei"/>
                <a:ea typeface="Microsoft YaHei"/>
                <a:cs typeface="Microsoft YaHei"/>
              </a:rPr>
              <a:t>行动契约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550BAF-DE85-4979-B07E-B2204396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43200"/>
            <a:ext cx="2000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DC8ED6-7546-4919-95C9-5399E99F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工具选择与循环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18E469-BDEE-4270-9925-1603794B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能行动但可能失控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5A2869-7DE2-47B2-9F1D-BFF1F3FC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10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PM：会委派与验收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61BBC0-3849-468A-BDD8-9C439374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52750"/>
            <a:ext cx="266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D6BFDC-A5FB-4394-B4CB-4EA4E9AA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1790700"/>
            <a:ext cx="2343150" cy="285750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CEBED"/>
          </a:solidFill>
          <a:ln xmlns:a="http://schemas.openxmlformats.org/drawingml/2006/main" w="19050">
            <a:solidFill>
              <a:srgbClr val="C7000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AC3ECD-A5A5-4195-9210-EBEBD2E4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9431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Harness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BC801AA-BF86-4546-B9B1-2ED15814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3812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交付契约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D49ADF2-B7E6-44D1-8CF4-EAACA719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743200"/>
            <a:ext cx="2000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A2AF9FC-FDE8-47CE-A977-CC532D0C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85750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权限、门禁、恢复、审计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FBE454C-769D-4412-A39B-BF8899B0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5242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需要持续治理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E4E1470-1B25-4AF7-9D6F-FA9DDE37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210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PM：会设计工作系统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601CA0F-C1C3-48AB-BB2F-66C0708B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10629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关键变化：上下文不再只是“喂资料”，而是把证据、任务状态和质量标准变成可被工具读取的外部对象。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97C9BE05-6940-4327-9D41-1E51519B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C4B35C-4C8D-491E-AC7F-9DC7F02A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Agent 工具从回答器演变为有门禁的执行环境</a:t>
            </a:r>
          </a:p>
        </p:txBody>
      </p:sp>
      <p:sp>
        <p:nvSpPr>
          <p:cNvPr id="11" name="slide-lead">
            <a:extLst xmlns:a="http://schemas.openxmlformats.org/drawingml/2006/main">
              <a:ext uri="{FF2B5EF4-FFF2-40B4-BE49-F238E27FC236}">
                <a16:creationId xmlns:a16="http://schemas.microsoft.com/office/drawing/2014/main" id="{85063C5D-FDEF-4192-BDF1-01AAA00A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真正的分水岭不是能否调用工具，而是任务是否可恢复、可验证、可审计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526740-055F-4066-A8E0-3EECA482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0"/>
            <a:ext cx="950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4D4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B3118C-6DA9-4D53-A555-C2CD093D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433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1919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E8F5C3-32BD-4F0B-98C1-303089AA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对话助手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205DB9-794F-420C-94F8-13F4BCD8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生成回答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6B9AE7-02F7-416F-8140-3B7EA713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9433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C8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9DC83B-513D-4AFD-86C9-FA7F4F0C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765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知识助手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049FB7-E26A-4ECF-802B-F0D06DFD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18135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检索资料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3C753D-9F4A-41E2-A12C-EF4B2CF4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7B0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EEE908-B435-411D-B0C3-6F1021BD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574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工具 Agent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46F1ED-3390-4263-A3A1-2B065B8E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6225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搜索/计算/写文件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E99362-2E41-4FF5-930C-EA43C2B7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433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7A53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13AA4F-F59C-4FA9-96A6-FEAEE673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383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工作区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69C83A-A8E2-40D6-8B26-6D114AF3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4315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跨文件执行与交接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9DCEC1-EA61-45E1-891E-FFEFED72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9433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2BFD6F-6E80-4459-B42D-AD7A8B7E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192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Harness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8125AC-8188-43D0-A622-DC3EC754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92405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权限/状态/门禁/恢复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FFB003-4A03-4D1A-BCA7-D41FE65D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958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自动化程度 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33A296-8F53-44D8-8A7D-205D83A7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PM 的价值变化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A97AAF-379D-4B3F-AF2C-4B5BDD71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720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写提示词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ECE70B-BB6A-47F6-A7E5-11F91A29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9720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组织证据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6FE787-4CFD-46D7-AB5B-9F539FA9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9720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定义动作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70CD19-0466-4921-A4E1-5AF7515F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720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设计门禁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17AB6C-7722-43C4-9938-BA25BE1E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29250"/>
            <a:ext cx="6877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← 单次内容质量                                      端到端任务可靠性 →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2D83681D-12EE-844E-8C09-E767231D897D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1033620" y="1843088"/>
            <a:ext cx="10045712" cy="30137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section-number-backdrop">
            <a:extLst xmlns:a="http://schemas.openxmlformats.org/drawingml/2006/main">
              <a:ext uri="{FF2B5EF4-FFF2-40B4-BE49-F238E27FC236}">
                <a16:creationId xmlns:a16="http://schemas.microsoft.com/office/drawing/2014/main" id="{66090840-6793-4153-A267-8315655B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09750"/>
            <a:ext cx="1714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FA1CCE-E19A-4A54-97E7-575F4B90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09750"/>
            <a:ext cx="1714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53E4DA-64B9-4023-A1D4-5442E536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480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4C8009-5172-4421-9B86-BB697287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575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用户研究：把意见收集改造成决策证据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4F3ADE-1299-4400-8039-F30D0C40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8953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真实案例：手机图库 AI 功能使用与需求调研｜12 题｜原始需求洞察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EC4E5F-0E32-4D42-9107-AFA1A34B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505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CASE 01 / USER RESEARCH</a:t>
            </a:r>
          </a:p>
        </p:txBody>
      </p:sp>
    </p:spTree>
    <p:extLst>
      <p:ext uri="{BB962C8B-B14F-4D97-AF65-F5344CB8AC3E}">
        <p14:creationId xmlns:p14="http://schemas.microsoft.com/office/powerpoint/2010/main" val="80222364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63591902-2030-47E4-8449-019401E7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374D64A-DD9C-4264-BE8D-653B9977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功能意愿不能直接支持图库 AI 的优先级决策</a:t>
            </a:r>
          </a:p>
        </p:txBody>
      </p:sp>
      <p:sp>
        <p:nvSpPr>
          <p:cNvPr id="11" name="slide-lead">
            <a:extLst xmlns:a="http://schemas.openxmlformats.org/drawingml/2006/main">
              <a:ext uri="{FF2B5EF4-FFF2-40B4-BE49-F238E27FC236}">
                <a16:creationId xmlns:a16="http://schemas.microsoft.com/office/drawing/2014/main" id="{A9E92FF2-6751-429F-BB97-C3101304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“你想要什么”只能得到愿望清单；优先级需要行为、问题、后果与强制取舍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8EB037-78C8-4590-901A-27284FF6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表面提问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EDE9E9-5748-4B99-81B8-FA8FFB8D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285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用户最想要哪些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图库 AI 功能？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939D10-C2A7-46A6-8C4B-27DF4337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62200"/>
            <a:ext cx="609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790DF1-C7C6-48DC-B793-6DCECCDE0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145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真正要支持的 4 个决策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08D72B-10E3-42A1-A68D-E69361FF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955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B24579-3C88-4282-B032-65453F9F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955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有没有真实发生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633E40-4098-4723-B562-90214B56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955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过去 3 个月是否使用，最近一次完成什么任务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78C748-2377-4021-8F89-2D67AF2D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0985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72082E-D444-44B3-8B8A-A07B2BAB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813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CB5DCA-430D-404A-A593-C5A85238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813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问题是否足够痛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878D79-F408-4FB1-B8CE-23B80612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813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遇到什么问题，造成返工、换工具还是放弃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8E8FC7-8D05-4EF4-8712-D2AF8D3E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9565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43157D-7112-41C5-9BA5-C9833794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671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F84509-3B95-4EC9-8A05-CD19354A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4671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只能做一个时选谁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9911AA-C0A8-4314-BD3B-AAE43789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671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功能广度之后强制 Top 1，并追问原因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010F68-9DDB-47FC-83E1-A1CB9305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8145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6D389D-7EE1-4618-A337-46791FAD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529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BCC57D-2AAE-477F-B271-E6EADF1D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1529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方案要加什么边界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3AA439-95C6-464F-B80A-3D1FF665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1529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误删、隐私、时延等问题怎样改变交互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9648BA-DF1C-4B42-B0A3-4AB09232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10629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BED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52E403-1D6B-4A11-AEF9-500B9D90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62550"/>
            <a:ext cx="1021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普通提示词最容易漏掉：非用户分流、互斥选项、题间关联、分析用途和“若结果出现 X，产品做什么”。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C24A6884-ADB4-4D40-BC1D-69DC2DE2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46AEA8-211C-40AF-91EF-FC6670A0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Skill 先建立决策—证据—题目映射，再允许写题</a:t>
            </a:r>
          </a:p>
        </p:txBody>
      </p:sp>
      <p:sp>
        <p:nvSpPr>
          <p:cNvPr id="11" name="slide-lead">
            <a:extLst xmlns:a="http://schemas.openxmlformats.org/drawingml/2006/main">
              <a:ext uri="{FF2B5EF4-FFF2-40B4-BE49-F238E27FC236}">
                <a16:creationId xmlns:a16="http://schemas.microsoft.com/office/drawing/2014/main" id="{83967900-60F7-4AD7-A94E-A5B14026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每道题都必须说明分析用途和可能触发的产品动作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E97371-49FC-4798-B952-C1CB5B32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产品决策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588D5F-4EE4-44CC-A42B-75D9C986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764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所需证据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C863B4-9EBC-42FB-82E1-C65E855C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676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题目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95031C-60E4-4F0B-8DED-9BE2CFD5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764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决策用途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84A6B8-C334-4E24-B7B3-8C3A0FD78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106299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D7F742-CA9B-4C15-87CB-D84D8FE4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是否存在真实需求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EA7B56-1514-45B1-B0CC-C0B8CB11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717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近期使用频率 + 最近一次任务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C478EB-56EC-4490-A6E1-D6CDBC76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717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Q4 / Q6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C105C8-2ADE-4CB4-AD8B-EBB1F11A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717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区分真实行为与概念兴趣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0A5C65-CFAC-48B2-8556-F450A686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106299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609990-3576-4C1F-BBFF-987C142A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问题是否值得解决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7B4FA4-F94E-4077-BE3B-4DA79B43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908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问题类型 + 后果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D1F64D-CE04-4597-801C-217665AB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908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Q7 / Q8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BB417A-F5E6-4E45-B0D8-C3855EED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908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识别效果问题还是信任问题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E05235-E8D6-490F-B0FD-7D903063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106299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CEBED"/>
          </a:solidFill>
          <a:ln xmlns:a="http://schemas.openxmlformats.org/drawingml/2006/main" w="9525">
            <a:solidFill>
              <a:srgbClr val="C7000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9905D5-696A-4524-BE51-69985FAE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优先做哪个功能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F66457-ACE2-490E-8496-35E50E04C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100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需求广度 + 强制 Top 1 + 原因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1FBA08-3479-4DD4-9995-C712BDC9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100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Q9 / Q10 / Q11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4369EF-859A-4224-AD84-92B8A375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8100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形成可解释的优先级假设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C15B7D-E9C2-441B-BA91-48115E4E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106299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9C731D-E96B-4635-BCFE-28CEBD5A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91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在哪个场景切入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6653B8-4337-45E9-A016-F92DE64D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291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任务发生的具体情境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660ED4-E87B-463D-98AF-D30A71CE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6291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Q12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93DDD1-C414-4265-91CF-9724909D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6291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确定入口、触发和 MVP 场景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35F9AD-C791-4F7E-8508-BA6C8E3B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0"/>
            <a:ext cx="1062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删除规则：无法说明决策用途的题目，不进入问卷。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1E11077B-0B42-4031-A9AA-B2EDEC6B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2D21C4A-77DE-45C5-A4BA-045BA4DD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行为先于概念，使用者分流避免把想象当经历</a:t>
            </a:r>
          </a:p>
        </p:txBody>
      </p:sp>
      <p:sp>
        <p:nvSpPr>
          <p:cNvPr id="11" name="slide-lead">
            <a:extLst xmlns:a="http://schemas.openxmlformats.org/drawingml/2006/main">
              <a:ext uri="{FF2B5EF4-FFF2-40B4-BE49-F238E27FC236}">
                <a16:creationId xmlns:a16="http://schemas.microsoft.com/office/drawing/2014/main" id="{E8BC4E75-FA70-4B6A-8418-68572C25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Q4 是关键路由：有经历的人谈最近任务，无经历的人直接进入未来诉求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B42D3C-5A7B-46F8-813F-7D39B9F7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1619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C6E1A4-E191-4407-AEF4-9666C9A9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859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Q1–Q3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EF4688-6B72-49C3-96E3-4DC7CB4C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基本分层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3CA59F-0ECA-4745-A4AE-9E0EB2F5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812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CB879D-565E-4660-B8A4-CC2843A2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52600"/>
            <a:ext cx="1809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CEBED"/>
          </a:solidFill>
          <a:ln xmlns:a="http://schemas.openxmlformats.org/drawingml/2006/main" w="19050">
            <a:solidFill>
              <a:srgbClr val="C7000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ADE206-5D23-4F5F-8C52-D38EB175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8859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Q4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CAD6A8-3E41-40B5-8CC4-F1D9C82B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1717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近 3 月使用频率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B748FC-4FE2-4A79-9A03-86F39441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7175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29612D-4DE6-4148-BF7D-520E8246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7175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E84577-52A7-4CFB-80B1-30479D0C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00400"/>
            <a:ext cx="348615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315C8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33BC34-9676-4BF8-95A3-41084C46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3337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15C88"/>
                </a:solidFill>
                <a:latin typeface="Microsoft YaHei"/>
                <a:ea typeface="Microsoft YaHei"/>
                <a:cs typeface="Microsoft YaHei"/>
              </a:rPr>
              <a:t>有近期使用经历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4F9D82-D6D7-46F4-B533-C07C68C8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14750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Q5 用过哪些功能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Q6 最近一次任务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Q7 遇到什么问题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Q8 问题造成什么后果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12616D-12EF-4CFC-993D-BBEDA971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00400"/>
            <a:ext cx="348615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3DC"/>
          </a:solidFill>
          <a:ln xmlns:a="http://schemas.openxmlformats.org/drawingml/2006/main" w="9525">
            <a:solidFill>
              <a:srgbClr val="C47B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D6B9F8-1C1A-4EDC-A8D2-BA8F1245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337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47B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47B00"/>
                </a:solidFill>
                <a:latin typeface="Microsoft YaHei"/>
                <a:ea typeface="Microsoft YaHei"/>
                <a:cs typeface="Microsoft YaHei"/>
              </a:rPr>
              <a:t>无近期经历 / 从未使用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A00063-FF0E-49B8-A6AE-96EB1DC2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9095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不要求评价实际体验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直接进入 Q9–Q12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只收集未来需求与发生场景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CBC076-528C-4F21-9777-AFEBE1D7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143500"/>
            <a:ext cx="680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↓ 两条路径最终汇合到需求广度、强制优先级、原因与场景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6FA270-7D79-44BE-ACE7-DFC95E93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57850"/>
            <a:ext cx="1062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PM 价值：避免让从未用过的人评价准确性、速度或撤销体验。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7C9D69CC-0340-49AE-8447-6B12D639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3771B40-64F7-46B2-BD6E-5CE5E2F6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四连问把“想要”转成可执行的优先级假设</a:t>
            </a:r>
          </a:p>
        </p:txBody>
      </p:sp>
      <p:sp>
        <p:nvSpPr>
          <p:cNvPr id="11" name="slide-lead">
            <a:extLst xmlns:a="http://schemas.openxmlformats.org/drawingml/2006/main">
              <a:ext uri="{FF2B5EF4-FFF2-40B4-BE49-F238E27FC236}">
                <a16:creationId xmlns:a16="http://schemas.microsoft.com/office/drawing/2014/main" id="{0A410E0B-0A1A-426D-9496-8A8D0293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这里展示的是预注册分析规则，不是尚未采集的用户结论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E27F71-C179-4652-B5C0-BB6CB834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15C88"/>
                </a:solidFill>
                <a:latin typeface="Microsoft YaHei"/>
                <a:ea typeface="Microsoft YaHei"/>
                <a:cs typeface="Microsoft YaHei"/>
              </a:rPr>
              <a:t>Q9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5103D9-9A9E-4431-AE8C-52F87772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226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需求广度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333106-430E-4333-94DB-442FED91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226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最多选 3 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780E1E-F16D-46FA-9A8F-A5D4A85B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1145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6A57F1-4C4D-4B7C-9D38-0ACD8551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7335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Q10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CAF4EF-CC7D-4033-B7ED-2AAF62B4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057400"/>
            <a:ext cx="226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强制取舍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EE17D2-01BE-4E71-83D3-525AB901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457450"/>
            <a:ext cx="226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只能优先 1 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326B41-37B0-4337-8119-ACD5C1D6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1145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6678B8-C704-43FE-9EBD-87E5BC14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35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7B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47B00"/>
                </a:solidFill>
                <a:latin typeface="Microsoft YaHei"/>
                <a:ea typeface="Microsoft YaHei"/>
                <a:cs typeface="Microsoft YaHei"/>
              </a:rPr>
              <a:t>Q11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B47B28-2E10-4687-BA28-E9D0F157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57400"/>
            <a:ext cx="226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选择原因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603CF3-61B4-440D-9892-FE56173D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57450"/>
            <a:ext cx="226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频率 / 耗时 / 复杂 / 无工具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23970E-8C85-4692-A022-D2EED62C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145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CC5722-DF50-4DBD-BDA0-4B057C03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17335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rPr>
              <a:t>Q12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AFE439-26D1-43F3-90D8-1C106C04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057400"/>
            <a:ext cx="226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发生场景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6FBCEA-CC0C-4638-BFBC-BA0932F1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457450"/>
            <a:ext cx="226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空间不足 / 大量整理 / 快速选片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76CF96-CED9-4606-B1D4-69D0FF37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10629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18F1B6-CB4B-4849-B645-69E1FF01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若结果组合出现……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388A4D-2CB6-4ACE-8260-0C240161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IF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30B496-97C5-4AE8-8A56-2BBFB3A3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766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清理无用照片 + 步骤复杂 + 存储不足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E38F48-24AC-48C8-8716-861015FA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766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THEN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7A315E-DF58-4490-A0C1-68B410ED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766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优先验证低步骤清理入口，而不是扩充 AI 效果库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8D94E3-30B9-4336-A97E-0DDBE4CB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IF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0D123D-6C98-4CD3-B78F-C7C91C39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053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误删/无法撤销 + 信任下降/放弃使用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359616-A911-4E1D-95F3-0FE79F47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30530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THEN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0D49B8-3285-4729-8FA2-FE70A7EC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053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PRD 必须增加候选预览、显式确认、回收站与恢复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B754B3-B0CA-4519-B18F-BC0ED3F2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339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IF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5D566C0-FB8C-4A81-A4DA-BA219FDF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339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识别不准 + 反复调整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49E37E-5109-4E65-AEEB-096E4AA1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9339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THEN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F29E63E-E193-4534-9826-00C6FED1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9339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先定义候选误选率与可解释理由，再谈一键执行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E6DD95F1-3DC8-4E6E-A293-868F997B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0F5F906-1951-49A9-9DF9-D9E2FB95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三份交付物和结构门禁让问卷成为协作资产</a:t>
            </a:r>
          </a:p>
        </p:txBody>
      </p:sp>
      <p:sp>
        <p:nvSpPr>
          <p:cNvPr id="11" name="slide-lead">
            <a:extLst xmlns:a="http://schemas.openxmlformats.org/drawingml/2006/main">
              <a:ext uri="{FF2B5EF4-FFF2-40B4-BE49-F238E27FC236}">
                <a16:creationId xmlns:a16="http://schemas.microsoft.com/office/drawing/2014/main" id="{552D06CF-8BB4-4886-8DB7-34DEC673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同一 Markdown 事实源派生评审、平台配置和校验结果，减少版本漂移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368DBF-58E3-4818-8385-E29986F8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937F5D-CDAB-47D4-A703-76D3350B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questionnaire.md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7713FF-CEB0-4534-B675-D5BAA160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事实源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3D321F-AADD-42F3-9C32-52B68C2B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题目、选项、分支和配置注记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316254-6A0A-4FCF-8702-12301591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6220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282EDD-35A1-4D87-BF9F-5A163B92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7526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38C8B2-4141-4DD2-9B8E-6088CB5F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764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questionnaire-design.html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24F3D4-9E72-4909-9BCB-596BCF78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574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评审版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FF9EBF-5B2B-4D76-8112-1F9DBAA0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8003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研究目标、题目逻辑与可视化浏览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3BFFBA-11CC-46AA-BA03-9E787F56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6220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AE81F9-AA78-4339-AE91-F99567C0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7526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E346E5-0458-4432-857C-E5CC4162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7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questionnaire_for_userclub.txt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9CA66C-92F7-418C-A964-C6A50F9C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574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配置版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739FB9-529F-48D6-8BE9-8D5645842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003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可直接交给问卷平台录入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A87CCA-AD55-4327-BF38-DBE2177D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106299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61E270-467C-415E-8EF7-CD4650AD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195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  <a:cs typeface="Microsoft YaHei"/>
              </a:rPr>
              <a:t>真实结构检查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DD0458-54B4-413C-974E-011BD977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6245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7E401B-75C0-4722-8302-1711C92E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533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825E00-E4BD-4A74-A507-96E53B5A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362450"/>
            <a:ext cx="114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E822AE-46F0-4611-9C56-1948B5E5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33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结构风险信号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B78490-6F26-4BE9-AC86-3E50F51B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1960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FD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5FD18A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66FA19-A88D-4073-9895-22A758EA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339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通过结构门禁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171719-FEB2-4B06-8812-A4B2EF96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48250"/>
            <a:ext cx="937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  <a:cs typeface="Microsoft YaHei"/>
              </a:rPr>
              <a:t>注意：通过结构检查 ≠ 问卷已证明效度；仍需研究员复核、认知访谈和小样本试填。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35042C83-B092-46FE-949F-5BB62FCE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9424D2-77FB-45D2-8E89-B9389935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Harness 在假洞察产生前暴露真实契约错误</a:t>
            </a:r>
          </a:p>
        </p:txBody>
      </p:sp>
      <p:sp>
        <p:nvSpPr>
          <p:cNvPr id="11" name="slide-lead">
            <a:extLst xmlns:a="http://schemas.openxmlformats.org/drawingml/2006/main">
              <a:ext uri="{FF2B5EF4-FFF2-40B4-BE49-F238E27FC236}">
                <a16:creationId xmlns:a16="http://schemas.microsoft.com/office/drawing/2014/main" id="{38B18BED-8671-462B-B917-AE7E254F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合成调研的正确用途是试跑逻辑与管线，而不是制造看似精确的市场比例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B2D58F-35F5-43E0-9BF5-D969FBC2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142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43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D93E7B-37B8-4D06-B4FE-BDF49739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0764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项测试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F5D488-E828-4038-A43E-B3EC0F036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33550"/>
            <a:ext cx="123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A7A251-449E-4F60-802E-9BE5ADBB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0764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E92FE0-5B06-4171-8269-153EBF49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733550"/>
            <a:ext cx="123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356D73-BCF0-4A35-B8D9-72448F17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764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失败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3EB1AE-5391-4AB2-A64C-BEFEF65D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669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不是模型答错，而是接口契约错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C7E616-579E-40E1-A52F-D478D38E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10629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9D973B-654C-42F3-8349-0D467268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测试要求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C21C4D-D43A-4635-B9D6-0F7AD435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908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画像生成命令支持 sample-size / seed / group-quota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7A579E-3EFA-4E6A-905E-FC1BAEE1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当前实现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90D582-2ABD-42EE-A145-D887C03C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195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generate_personas.py 未接受这些参数；Windows 中文错误输出还出现乱码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485EC7-8281-4A6C-8F4A-D6259382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若无门禁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E16493-03D4-4C57-9386-9874FB30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2481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样本配额不可复现，仍可能继续生成答卷和报告，形成“假稳定”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A9B2AC-1035-45B6-B719-5CBF249C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修复顺序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7FE7B0-9998-40F9-B9BA-174FD6C7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先统一 CLI 与文件契约 → 再重跑画像 → 再允许模拟与报告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EFC97F-4515-467C-BDC7-01C8222D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62600"/>
            <a:ext cx="1062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BED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4E61FA-8273-405B-B18E-12929A5C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197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PM 价值：阻断错误样本进入“漂亮报告”，把返工从结论阶段提前到接口阶段。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2D83681D-12EE-844E-8C09-E767231D897D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1033620" y="1843088"/>
            <a:ext cx="10045712" cy="30137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section-number-backdrop">
            <a:extLst xmlns:a="http://schemas.openxmlformats.org/drawingml/2006/main">
              <a:ext uri="{FF2B5EF4-FFF2-40B4-BE49-F238E27FC236}">
                <a16:creationId xmlns:a16="http://schemas.microsoft.com/office/drawing/2014/main" id="{DA83A705-E04F-442C-A316-CC3E26CF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09750"/>
            <a:ext cx="1714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6A6D40-C01E-4A8E-99D4-27C46AF6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09750"/>
            <a:ext cx="1714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6DE588-8036-488E-8F96-F1DDEE8A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480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A1EBEF-E19C-4C98-9377-24D04C03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575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产品方案：把自然语言能力收敛成可控决策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50143A-7887-4203-B818-D0C2783C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8953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真实案例：鸿蒙图库“一句话清理图片”｜竞品证据 × PRD × 原型 × 阶段门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A39DD8-A7C6-4E2C-8021-CA16FDC3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505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CASE 02 / PRODUCT DECISION</a:t>
            </a:r>
          </a:p>
        </p:txBody>
      </p:sp>
    </p:spTree>
    <p:extLst>
      <p:ext uri="{BB962C8B-B14F-4D97-AF65-F5344CB8AC3E}">
        <p14:creationId xmlns:p14="http://schemas.microsoft.com/office/powerpoint/2010/main" val="80222364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8C5859AE-0220-48D7-B679-C6426302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67ED7F-00EF-417F-ABBA-CFE31206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一句话删除被重构为责任可控的自动化决策</a:t>
            </a:r>
          </a:p>
        </p:txBody>
      </p:sp>
      <p:sp>
        <p:nvSpPr>
          <p:cNvPr id="11" name="slide-lead">
            <a:extLst xmlns:a="http://schemas.openxmlformats.org/drawingml/2006/main">
              <a:ext uri="{FF2B5EF4-FFF2-40B4-BE49-F238E27FC236}">
                <a16:creationId xmlns:a16="http://schemas.microsoft.com/office/drawing/2014/main" id="{CD2749AB-9267-40E5-A0A5-14EA3A21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系统负责生成可解释候选，用户保留最终删除责任，并获得恢复兜底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464F9E-AA47-49AE-88F6-2AEFE07B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原始卖点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740E1E-33A2-4BE7-ACD4-C5633A8C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“说完即完成”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91C6B5-5656-4DF1-A852-81A50102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自然语言一旦缺少对象、条件或范围，效率优势就会放大成误删责任。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78C51D-1417-48F2-815F-29A681D1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产品决策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153827-9250-40F8-939A-B8CFE100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76700"/>
            <a:ext cx="333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搜索 → 解释预览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 显式确认 → 可撤销执行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1ECDC4-59BB-4DD2-810D-49A91514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73EC9A-FFCB-4EF0-8175-ABEAF3ED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95900"/>
            <a:ext cx="302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只批准方向与验证资源，不批准工程立项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29AEFB-322B-4DB3-8D49-94E43B2E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76400"/>
            <a:ext cx="6953250" cy="4000500"/>
          </a:xfrm>
          <a:prstGeom xmlns:a="http://schemas.openxmlformats.org/drawingml/2006/main" prst="roundRect">
            <a:avLst>
              <a:gd name="adj" fmla="val 9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b792dad9d745a6"/>
          <a:stretch xmlns:a="http://schemas.openxmlformats.org/drawingml/2006/main"/>
        </p:blipFill>
        <p:spPr>
          <a:xfrm xmlns:a="http://schemas.openxmlformats.org/drawingml/2006/main">
            <a:off x="4581525" y="1790700"/>
            <a:ext cx="6705600" cy="3771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21744D22-9075-496C-B041-0A24AF5E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40D23D-045A-4407-9A4D-0F707841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竞品结论必须先成为证据记录，才能进入 PRD</a:t>
            </a:r>
          </a:p>
        </p:txBody>
      </p:sp>
      <p:sp>
        <p:nvSpPr>
          <p:cNvPr id="11" name="slide-lead">
            <a:extLst xmlns:a="http://schemas.openxmlformats.org/drawingml/2006/main">
              <a:ext uri="{FF2B5EF4-FFF2-40B4-BE49-F238E27FC236}">
                <a16:creationId xmlns:a16="http://schemas.microsoft.com/office/drawing/2014/main" id="{AB1FD569-22F9-43EA-9A3D-A6C340A7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“没找到”不等于“不支持”；未知与冲突也必须作为正式结果交付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A7803F-F2D6-4ECB-B682-2263CCF6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3142E5-2925-4FEE-9057-BF9A19F8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ResearchUnit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017C66-E4D9-466C-A342-E50C0557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竞品 × Feature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C15F95-3F68-4137-83A1-BABBD0E6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例：某图库 × 重复照片清理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145925-5100-4533-A062-E0F23F50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8600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7AEFF7-8D7E-4D55-BC05-14F3A240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714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D1EB89-2CFF-429C-9A36-5F3762B5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0383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EvidenceRecord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8277EE-291C-4E63-B3F5-EEFAD3D9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4193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主张 + 来源 + 版本 + 地区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D1D49A-7AD5-4D64-A50D-A623151D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8130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记录支持/反对方向与原文事实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94A7C0-1516-42AC-8D2A-4C12EE31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28600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3A87C0-65EC-4C3A-9B4E-59910AB6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1347EA-8133-416C-A6BC-5522DE73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383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AE60C2-CF22-484E-9593-CC47D319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193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A / B / 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1F25A6-E0D8-4ACD-BF09-BE2A4F61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官方直接证据优先；间接证据降级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397BFE-F18A-44E8-9ADB-DD869526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8600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2B3FBD-1D04-4911-9AF9-234A3B2D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1714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B48B9D-6125-4D9E-8C35-5FC0F092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0383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Decision Input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5BBCDA-E308-4D1A-B015-BC399B16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4193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事实 / 推断 / 建议分栏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AC7FA9-F17E-4374-8307-96933B97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78130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只有可追溯事实进入 PRD 基线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5647D0-6DCB-43C8-9C55-1D02A1CB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10629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C1D799-45BD-4E69-B3B5-39901C09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检索停止规则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77952F-95EE-47DA-BC84-4D409224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2857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3ED"/>
          </a:solidFill>
          <a:ln xmlns:a="http://schemas.openxmlformats.org/drawingml/2006/main" w="9525">
            <a:solidFill>
              <a:srgbClr val="267A5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5D02A4-60AA-45E4-8A39-547822F7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rPr>
              <a:t>Tier 1 当前版本直接证据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4AD00E-21A2-42C4-B7F3-FAB21653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00550"/>
            <a:ext cx="3181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315C8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818162-03F7-47C3-9617-88F86734C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429125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15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C88"/>
                </a:solidFill>
                <a:latin typeface="Microsoft YaHei"/>
                <a:ea typeface="Microsoft YaHei"/>
                <a:cs typeface="Microsoft YaHei"/>
              </a:rPr>
              <a:t>两条独立 Tier 2/3 证据一致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A851A2-2226-4B52-90A2-B82823F8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00550"/>
            <a:ext cx="3429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BED"/>
          </a:solidFill>
          <a:ln xmlns:a="http://schemas.openxmlformats.org/drawingml/2006/main" w="9525">
            <a:solidFill>
              <a:srgbClr val="C7000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D7750D-2A84-4E2E-8C30-EA55D24A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429125"/>
            <a:ext cx="327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达到上限仍冲突 → UNKNOWN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485E491-9ED8-4FD5-95F0-3C094561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10629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案例中的价值：若竞品撤销期限、端侧处理或人物语义没有直接证据，就不能被写成行业基线；它只能进入待核验清单。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63BCC38F-2887-494F-9980-D2EB5C22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A3F6FD-20AD-4C70-B57D-70494FAC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风险分层让六类请求收敛为低歧义 MVP</a:t>
            </a:r>
          </a:p>
        </p:txBody>
      </p:sp>
      <p:sp>
        <p:nvSpPr>
          <p:cNvPr id="11" name="slide-lead">
            <a:extLst xmlns:a="http://schemas.openxmlformats.org/drawingml/2006/main">
              <a:ext uri="{FF2B5EF4-FFF2-40B4-BE49-F238E27FC236}">
                <a16:creationId xmlns:a16="http://schemas.microsoft.com/office/drawing/2014/main" id="{52A936D2-051E-4AE2-899A-A6243E05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功能范围不按“能不能识别”划分，而按误删后果、可解释性和可恢复性划分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AE5F13-41D0-4F25-A7EB-1906C081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10629900" cy="8953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E8F3E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D370B9-A0AD-4434-8E13-893F0C5E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859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rPr>
              <a:t>低风险：进入确认执行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3CE800-26AB-4CB9-9E60-7355677C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85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时间 / 明确类型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418004-6D77-4755-9420-0AA1472E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66900"/>
            <a:ext cx="4610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删除上个月截图｜清理明确重复组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433706-50D3-4133-B055-9BC0BD64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10629900" cy="8953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3DC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508BB1-BA78-4128-9931-FA97B51D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99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47B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47B00"/>
                </a:solidFill>
                <a:latin typeface="Microsoft YaHei"/>
                <a:ea typeface="Microsoft YaHei"/>
                <a:cs typeface="Microsoft YaHei"/>
              </a:rPr>
              <a:t>中风险：解释后确认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C919F6-31C4-4D63-94C7-B3C508B3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099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质量 / 组合条件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589053-04E2-4BC9-849C-FDC7C06B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90850"/>
            <a:ext cx="4610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模糊判定需说明理由｜候选集过大需二次缩小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043A05-6B27-44AA-8C68-3B1CF48C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8953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CEBE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9E16DA-2932-40E8-A26F-3200A9FC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338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高风险：仅筛选不删除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20B978-470D-466C-992D-7C1F85E4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33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人物 / 票据 / 私密 / 事件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F93CF4-B9E7-4A83-9EEA-1945E768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14800"/>
            <a:ext cx="4610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不提供一句话直接执行；提示降级原因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20A12F-6809-4271-ABB5-B8FC3D95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砍掉的不是能力，而是未经验证的执行权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7F7514-2E37-4FE0-A361-BF0FD6E6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3530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MVP 先验证用户能否理解候选范围，再决定是否扩大自动化。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C8662966-5904-4E97-BA2B-9DA34795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6B42753-473A-48B9-A6BC-3416759E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PRD 是证据、规则、状态与验收的决策账本</a:t>
            </a:r>
          </a:p>
        </p:txBody>
      </p:sp>
      <p:sp>
        <p:nvSpPr>
          <p:cNvPr id="11" name="slide-lead">
            <a:extLst xmlns:a="http://schemas.openxmlformats.org/drawingml/2006/main">
              <a:ext uri="{FF2B5EF4-FFF2-40B4-BE49-F238E27FC236}">
                <a16:creationId xmlns:a16="http://schemas.microsoft.com/office/drawing/2014/main" id="{F82260A4-B636-4F13-A2B9-897CE988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每条需求都能追溯到风险假设，并明确异常状态与可观察验收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C509E4-E9CE-4EF4-AA65-6D036FCD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C0BED1-BFE4-4AEF-88F2-A3BF7DAD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5260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 / 假设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A26F66-6A6C-4115-BF40-E2031AF5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676400"/>
            <a:ext cx="2724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A79DDB-4BBE-427D-A335-64A72F80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752600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产品规则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C54140-C843-49F3-8E2B-251B634D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764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F9216A-0A9B-47D1-BD14-2E0C291A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5260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状态与异常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74B592-0CB4-48AE-AE23-633BBD1F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7640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4F3A9A-C534-4B2C-B6FE-08FF69C1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5260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验收口径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F0D9B4-2F87-4B1B-BF2E-AA6D6E83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2381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3E7BB6-FE63-4948-B83E-8A0296A8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90750"/>
            <a:ext cx="215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自然语言缺少对象/条件/范围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181226-1F72-4180-AD19-47174EE4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095500"/>
            <a:ext cx="2724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C0D5F2-AAF7-4F91-8566-32B07BFD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90750"/>
            <a:ext cx="2495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缺失项必须追问，不自动补全删除范围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8BA848-8DA1-41A3-BEDE-10FA0B26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095500"/>
            <a:ext cx="2381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62CC72-8E8E-4671-9DCA-F8CB53BD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90750"/>
            <a:ext cx="215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解析不完整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39C13B-8D7B-44D1-8D5A-DFBA86BD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143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CED6FA-BE75-4160-BFD6-6092FB50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2914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任何异常分支不绕过确认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00CFA2-D251-4A22-921D-3B72E716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2381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CF0014-3EF2-462B-B25B-C1173F37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215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用户难以核对系统选择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667364-279B-4D06-9495-8BF25C39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95600"/>
            <a:ext cx="2724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8B7DA8-EDA6-40BC-A4D2-E338321D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90850"/>
            <a:ext cx="2495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预览展示原词、条件、数量、分组与命中理由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650CF1-4470-4069-98E4-B19EC6F6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895600"/>
            <a:ext cx="2381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D8F899-87B5-4E5D-9151-74C92276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90850"/>
            <a:ext cx="215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正常 / 候选过大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772513-3603-4C90-A6B9-75C3B00F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95600"/>
            <a:ext cx="3143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03473C-2724-44B5-AD48-22746FCD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90850"/>
            <a:ext cx="2914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执行前用户可复述选择范围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3BEFA0-9B8C-4140-A242-9009D086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2381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79DF7BE-8215-463C-B181-1121D304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215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删除后果高且可能误选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29849E-93CA-430A-AC44-E9DA1947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695700"/>
            <a:ext cx="2724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F89C942-3C26-40A3-B610-864A1D6C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90950"/>
            <a:ext cx="2495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显式确认；默认进入回收站；保留稳定恢复入口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98B00B1-45B3-41F5-8BF1-222CB566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695700"/>
            <a:ext cx="2381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7C3DBC8-77D8-4C9F-A80E-AB6DA2BC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90950"/>
            <a:ext cx="215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确认 / 执行 / 撤销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C764AFF-7B42-423A-A3AF-3648792B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95700"/>
            <a:ext cx="3143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C6390E1-45D5-4426-A28F-4EEF8A5D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90950"/>
            <a:ext cx="2914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执行后可在稳定入口恢复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106BEA4-D73E-4665-B410-00A09C55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2381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9BF930E-5138-4F25-BCD6-EB025123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215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人物、票据等敏感对象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A381DE2-919D-4573-93B9-548F39FA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495800"/>
            <a:ext cx="2724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8620FEB-7C78-4BBF-9EEC-AE367A24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591050"/>
            <a:ext cx="2495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高风险请求降级为筛选，不出现执行按钮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7A06D53-43EB-496C-AB1F-B2769254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495800"/>
            <a:ext cx="2381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071040B-2C78-41C4-9EE6-40120211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91050"/>
            <a:ext cx="215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高风险降级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8C2DB5F-ED41-49F7-B62B-C67569A0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95800"/>
            <a:ext cx="3143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BDA45AC-248C-4607-A140-DD965868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91050"/>
            <a:ext cx="2914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不得以高置信度跳过确认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A70D17C-D01E-4591-BB6F-CFDBB279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48300"/>
            <a:ext cx="1062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这张账本让用研、体验、算法、工程和隐私评审讨论同一条可验证链路。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48EE93F3-47C7-49EE-9120-9850858C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1753D66-90D5-4B5A-8399-87F9843D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原型必须覆盖系统理解、执行后果与恢复入口</a:t>
            </a:r>
          </a:p>
        </p:txBody>
      </p:sp>
      <p:sp>
        <p:nvSpPr>
          <p:cNvPr id="11" name="slide-lead">
            <a:extLst xmlns:a="http://schemas.openxmlformats.org/drawingml/2006/main">
              <a:ext uri="{FF2B5EF4-FFF2-40B4-BE49-F238E27FC236}">
                <a16:creationId xmlns:a16="http://schemas.microsoft.com/office/drawing/2014/main" id="{4E0DCFEF-422D-4FA3-A5FC-5A1934ED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正常主链路只是 1 个状态；真正决定可信度的是异常如何降级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285000-AFE9-4491-96A7-5FE44961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146685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713081-5ABA-4730-BCB2-2443A776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50D6C4-7699-4679-A313-F1F75F10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526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输入意图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2F8AE9-BCDE-4735-B6BE-00AE919E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38350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05C526-5BDE-42AC-AC85-35009647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790700"/>
            <a:ext cx="146685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434F1D-A8DC-44D8-835A-00D60168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85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744055-8A7D-4EC9-865D-C33B7D92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526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结构化解析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7E5A40-6695-48D6-9887-E99AD712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038350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A7289C-127E-4F8E-AFD3-46010798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90700"/>
            <a:ext cx="146685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892EB0-A4F9-47DE-B726-CAA92FE6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85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1D6C47-4CAE-4314-988B-4C48DDCD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526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检索候选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47AF55-37A0-4438-A127-EB879FB0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38350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EF5C8A-7E45-4380-A407-ADA07867E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90700"/>
            <a:ext cx="146685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7A05D0-435E-4406-9539-DFC9CE22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85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596BB8-9B6C-4636-9B79-8156D557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526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解释预览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C0B720-FC3F-439C-A3F1-53AEE9CA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38350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8D2E61-F9A6-4818-AE07-01CD2C95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790700"/>
            <a:ext cx="146685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CEBED"/>
          </a:solidFill>
          <a:ln xmlns:a="http://schemas.openxmlformats.org/drawingml/2006/main" w="19050">
            <a:solidFill>
              <a:srgbClr val="C7000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BA9EAA-49A0-4133-8887-55A74B26B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85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3215AC-AA9C-4A5E-91E5-C9D9B17B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526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显式确认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A20680-FE30-4712-BFEC-B0A2A56A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38350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82E398-8488-4242-BC69-14F3847F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790700"/>
            <a:ext cx="146685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B332D6-AFCF-4BE1-B994-FB816D79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885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003715-CC17-45C5-B946-9F4B956E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1526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执行与撤销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70B54E-10C2-461A-B58B-DB74A663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原型必须单独画出的 4 类状态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BB0DD7-708D-4E78-A570-9D8194C5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504825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94EF68-97ED-4BA0-A7E4-E3DA3420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解析不完整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3A4B854-38D6-42A3-8260-77970CB2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6195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返回可选条件，不擅自补全范围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48B73E3-B86B-4F12-BC1D-688AA08DE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43300"/>
            <a:ext cx="504825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889E419-DEE0-4172-9357-BFBF5B5C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385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候选集过大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792D69B-3129-4F32-AA4C-98BEB3DC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6195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按时间/来源/类型分组，要求二次缩小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9E9EBB9-9B0A-4012-80EF-65340398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504825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CEBED"/>
          </a:solidFill>
          <a:ln xmlns:a="http://schemas.openxmlformats.org/drawingml/2006/main" w="9525">
            <a:solidFill>
              <a:srgbClr val="C7000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AFF29F7-511A-445C-B540-25B33DAB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767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高风险对象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35D88B4-776B-4778-A873-704D373A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4577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仅提供筛选，并解释为什么不能直接执行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6F0393D-B236-4809-A18A-B90B2CD3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81500"/>
            <a:ext cx="504825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DFFA15E-4EAD-441D-A3CA-D4AE6510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767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执行失败/需恢复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2227F72-E34A-4E7C-A242-4E23A6A6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4577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展示结果、回收站期限和稳定恢复入口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0D89055-97D1-481E-8775-54C649FE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1062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原型测试的不是“看起来顺不顺”，而是用户能否解释范围、排除误选、理解降级并找到恢复。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51975CA2-D723-4883-8118-84FF4C3C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4F8BB1A-BAB4-4240-B590-4D50FA60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阶段门只批准下一步，阻止过早工程承诺</a:t>
            </a:r>
          </a:p>
        </p:txBody>
      </p:sp>
      <p:sp>
        <p:nvSpPr>
          <p:cNvPr id="11" name="slide-lead">
            <a:extLst xmlns:a="http://schemas.openxmlformats.org/drawingml/2006/main">
              <a:ext uri="{FF2B5EF4-FFF2-40B4-BE49-F238E27FC236}">
                <a16:creationId xmlns:a16="http://schemas.microsoft.com/office/drawing/2014/main" id="{667EF4F2-4B8A-400D-824B-10101ABB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方向、可用性、技术与隐私分别过门；任一红线失败即停止立项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FF6411-A45D-422B-8729-D6D321EB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6572250" cy="3714750"/>
          </a:xfrm>
          <a:prstGeom xmlns:a="http://schemas.openxmlformats.org/drawingml/2006/main" prst="roundRect">
            <a:avLst>
              <a:gd name="adj" fmla="val 10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8e37348f48431a"/>
          <a:stretch xmlns:a="http://schemas.openxmlformats.org/drawingml/2006/main"/>
        </p:blipFill>
        <p:spPr>
          <a:xfrm xmlns:a="http://schemas.openxmlformats.org/drawingml/2006/main">
            <a:off x="968375" y="1809750"/>
            <a:ext cx="6197600" cy="34861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47D02E-0BCB-456E-BBF9-EB3679E9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75260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P0 方案冻结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5D8CA3-FFD8-4464-B8E4-BAF061F0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5740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交互原型 / 意图词表 / 风险分级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949404-013E-4987-AC31-B81A0DBF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3365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P1 可用性验证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ECADB2-F2EA-48D1-A96C-0BC80DA8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3845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任务脚本 / 理解偏差 / 口径达标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92F903-EE8C-4411-9DC4-C1A0B063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31470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P2 技术预研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647B72-C6C9-4479-ABAB-81678C48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1950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端侧样机 / 索引能力 / 隐私红线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8137BE-7541-4DFF-A55C-51BBEB1A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09575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P3 工程立项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80CE27-D078-4538-A89A-D61614D2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40055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MVP / 灰度 / 监控 / 回滚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E5E2F3-3878-4001-8EE1-60B07A84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010150"/>
            <a:ext cx="3390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DD3E08-9CC5-4987-ACB3-CBDB6CDE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1054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退出条件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056DD5-0F46-4A78-98F1-E0905C5C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35305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误选不可控 / 不可理解 / 性能不达标 / 隐私不过线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14E6B5FA-3D3F-4F54-8071-26107D68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8297EB1-E03B-4CF2-9924-E5DD41E2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Skill 要通过契约、资源、校验与评估才可复用</a:t>
            </a:r>
          </a:p>
        </p:txBody>
      </p:sp>
      <p:sp>
        <p:nvSpPr>
          <p:cNvPr id="11" name="slide-lead">
            <a:extLst xmlns:a="http://schemas.openxmlformats.org/drawingml/2006/main">
              <a:ext uri="{FF2B5EF4-FFF2-40B4-BE49-F238E27FC236}">
                <a16:creationId xmlns:a16="http://schemas.microsoft.com/office/drawing/2014/main" id="{0E14F816-794F-4E53-BBDF-C2A86BCC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不是把长提示词保存起来，而是把判断方法拆成可维护的系统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5A492C-2504-43E4-B738-84501FD6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12573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1BB907-72A5-4220-94D9-F0092170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10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一次性提示词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8ACB06-9B12-446A-82BE-FBAADE10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82880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639001-2D92-49C2-AD00-E2C50B0D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714500"/>
            <a:ext cx="12573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AE10C6-563D-421A-A729-FFA7A45E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809750"/>
            <a:ext cx="110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触发与输入契约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2772B6-6460-4FC6-A559-0D074446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2880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0CC1E3-AD02-43DA-83EC-A417F0C1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714500"/>
            <a:ext cx="12573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29DE51-56C3-4746-A15D-CE86774E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809750"/>
            <a:ext cx="110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步骤与停止条件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CBA9B8-6B18-4B81-9742-1C43985E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2880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CACF3C-9460-47AC-B513-805FA1C6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714500"/>
            <a:ext cx="12573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0651E2-FF8B-48AF-BAB8-D69760337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809750"/>
            <a:ext cx="110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references / templates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8979F1-70BE-4E74-B702-8206654E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2880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FAA5D3-CE14-4330-9814-007E4D0C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14500"/>
            <a:ext cx="12573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CEBED"/>
          </a:solidFill>
          <a:ln xmlns:a="http://schemas.openxmlformats.org/drawingml/2006/main" w="9525">
            <a:solidFill>
              <a:srgbClr val="C7000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154071-2354-4ADF-844C-DBF5AFC8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809750"/>
            <a:ext cx="110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scripts 门禁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5828B3-497F-41DE-9C6F-15204502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2880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BB3681-793F-42D0-B22A-33927DB2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14500"/>
            <a:ext cx="12573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C5E442-76EC-4B1B-B0AA-ADF74464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110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真实案例 eval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1EBAEB-3288-4BF4-BB39-6DF008CA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82880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F7658A-40C6-4548-8FE3-381652DA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14500"/>
            <a:ext cx="12573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209FFD-33F7-4044-AF92-698DFD84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09750"/>
            <a:ext cx="110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版本与复盘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B416BE-CCC9-4499-972A-841AD02D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10629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BD8851-045C-4818-B044-2043E420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$ur-design-survey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E4EDCD-B593-4B7B-ACDE-1787EF69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输入：课题 / 目标 / 场景 / 约束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584E91-8CC3-4749-BC85-A12B7D60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方法：目标—证据—题目、分支与互斥规则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FCE7E8-2D13-4855-9615-56ADA3EC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门禁：12 题、0 风险信号；效度仍需人工验证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7970E4-39B3-4CC4-AC57-E8AA2964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813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$pm-system-app-competitor-matrix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C1D170F-9048-4D1F-BB70-DFD2A3F6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623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输入：研究问题 / 竞品 / FeatureSchema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1D85ED-DD04-49C4-93F7-84569DFF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861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方法：ResearchUnit、EvidenceRecord、停止规则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3FC1B29-8598-4B39-8092-856827DC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10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门禁：事实、冲突、未知分栏；证据等级保留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BEFF18F-D631-4EE6-AD65-D3CE5D0D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10629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727A701-B366-4BAA-AF84-E40D0322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Command 不是“魔法咒语”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66340D1-C6AB-4FAD-85B3-617209AF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476750"/>
            <a:ext cx="7391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  <a:cs typeface="Microsoft YaHei"/>
              </a:rPr>
              <a:t>$ur-design-survey 课题：手机图库 AI；目标：识别高频任务、问题与 Top 1；场景：原始需求洞察；≤12 题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4889EE0-7385-4163-A4FF-D5C87D37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10629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组合方式：机会洞察/竞品追踪 → 用户研究/竞品矩阵 → 产品方案/PRD/原型 → 功能命名/微文案 → 指标与反馈复盘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B62658-6820-4081-ACD0-7A4F3D01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628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5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把 AI 当同事之前，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25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先把自己的判断系统写出来。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BE114F-CE6D-4A00-BB1A-92E24BE4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685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1  先选一个高频、返工昂贵、质量可检查的任务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2  把输入、证据、状态、输出和停止条件写成契约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3  让脚本检查可确定的错误，让产品经理保留价值判断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D9CCE1-4DA3-41A7-BE5F-F2411F79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673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252022315"/>
      </p:ext>
    </p:extLst>
  </p:cSld>
</p:sld>
</file>

<file path=ppt/theme/theme1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2210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2026-09-14T14:19:10.2860000Z</dcterms:created>
  <dcterms:modified xsi:type="dcterms:W3CDTF">2026-09-14T14:19:10.2860000Z</dcterms:modified>
</coreProperties>
</file>