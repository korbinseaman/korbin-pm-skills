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6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1f47eb3ed64b8e" /><Relationship Type="http://schemas.openxmlformats.org/officeDocument/2006/relationships/extended-properties" Target="/docProps/app.xml" Id="R6bc651b2286b453c" /><Relationship Type="http://schemas.openxmlformats.org/officeDocument/2006/relationships/officeDocument" Target="/ppt/presentation.xml" Id="Ra0ba5c13958c45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1738db5d254755"/>
    <p:sldMasterId xmlns:r="http://schemas.openxmlformats.org/officeDocument/2006/relationships" id="2147483653" r:id="Rf2fd5a2570ee4e67"/>
    <p:sldMasterId xmlns:r="http://schemas.openxmlformats.org/officeDocument/2006/relationships" id="2147483655" r:id="R85fc2d732d744dbb"/>
    <p:sldMasterId xmlns:r="http://schemas.openxmlformats.org/officeDocument/2006/relationships" id="2147483657" r:id="Re4d4915f78524689"/>
  </p:sldMasterIdLst>
  <p:notesMasterIdLst>
    <p:notesMasterId xmlns:r="http://schemas.openxmlformats.org/officeDocument/2006/relationships" r:id="Rff524ca3560d45b6"/>
  </p:notesMasterIdLst>
  <p:sldIdLst>
    <p:sldId xmlns:r="http://schemas.openxmlformats.org/officeDocument/2006/relationships" id="256" r:id="Reef003793ed74605"/>
    <p:sldId xmlns:r="http://schemas.openxmlformats.org/officeDocument/2006/relationships" id="257" r:id="R951efacced794daa"/>
    <p:sldId xmlns:r="http://schemas.openxmlformats.org/officeDocument/2006/relationships" id="258" r:id="R6d15da948c1b4e5a"/>
    <p:sldId xmlns:r="http://schemas.openxmlformats.org/officeDocument/2006/relationships" id="259" r:id="R08c3681aeafd43e3"/>
    <p:sldId xmlns:r="http://schemas.openxmlformats.org/officeDocument/2006/relationships" id="260" r:id="R4eebb9d460424752"/>
    <p:sldId xmlns:r="http://schemas.openxmlformats.org/officeDocument/2006/relationships" id="261" r:id="R9c687e2cdf02400f"/>
    <p:sldId xmlns:r="http://schemas.openxmlformats.org/officeDocument/2006/relationships" id="262" r:id="R15fd23117dc04a13"/>
    <p:sldId xmlns:r="http://schemas.openxmlformats.org/officeDocument/2006/relationships" id="263" r:id="R0eced4d74b0649cc"/>
    <p:sldId xmlns:r="http://schemas.openxmlformats.org/officeDocument/2006/relationships" id="264" r:id="R06233993896f40b5"/>
    <p:sldId xmlns:r="http://schemas.openxmlformats.org/officeDocument/2006/relationships" id="265" r:id="R79311a99b8ba4872"/>
    <p:sldId xmlns:r="http://schemas.openxmlformats.org/officeDocument/2006/relationships" id="266" r:id="Reac91819ded74f7e"/>
    <p:sldId xmlns:r="http://schemas.openxmlformats.org/officeDocument/2006/relationships" id="267" r:id="Rbde39b47833a478c"/>
    <p:sldId xmlns:r="http://schemas.openxmlformats.org/officeDocument/2006/relationships" id="268" r:id="Rd71acc5e2d484dc7"/>
    <p:sldId xmlns:r="http://schemas.openxmlformats.org/officeDocument/2006/relationships" id="269" r:id="R6120f689c0924766"/>
    <p:sldId xmlns:r="http://schemas.openxmlformats.org/officeDocument/2006/relationships" id="270" r:id="Re5ae6327b608441c"/>
    <p:sldId xmlns:r="http://schemas.openxmlformats.org/officeDocument/2006/relationships" id="271" r:id="R33c5bfa122244f49"/>
    <p:sldId xmlns:r="http://schemas.openxmlformats.org/officeDocument/2006/relationships" id="272" r:id="Rdb59b0913a5e48cd"/>
    <p:sldId xmlns:r="http://schemas.openxmlformats.org/officeDocument/2006/relationships" id="273" r:id="R8599c085cae74d82"/>
    <p:sldId xmlns:r="http://schemas.openxmlformats.org/officeDocument/2006/relationships" id="274" r:id="Rf5afdadefa7e48c0"/>
    <p:sldId xmlns:r="http://schemas.openxmlformats.org/officeDocument/2006/relationships" id="275" r:id="R3ad6ea10fa4b4854"/>
  </p:sldIdLst>
  <p:sldSz cx="12196763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011e730fde42d9" /><Relationship Type="http://schemas.openxmlformats.org/officeDocument/2006/relationships/slideMaster" Target="/ppt/slideMasters/slideMaster1.xml" Id="Re41738db5d254755" /><Relationship Type="http://schemas.openxmlformats.org/officeDocument/2006/relationships/slideMaster" Target="/ppt/slideMasters/slideMaster2.xml" Id="Rf2fd5a2570ee4e67" /><Relationship Type="http://schemas.openxmlformats.org/officeDocument/2006/relationships/slideMaster" Target="/ppt/slideMasters/slideMaster3.xml" Id="R85fc2d732d744dbb" /><Relationship Type="http://schemas.openxmlformats.org/officeDocument/2006/relationships/slideMaster" Target="/ppt/slideMasters/slideMaster4.xml" Id="Re4d4915f78524689" /><Relationship Type="http://schemas.openxmlformats.org/officeDocument/2006/relationships/notesMaster" Target="/ppt/notesMasters/notesMaster1.xml" Id="Rff524ca3560d45b6" /><Relationship Type="http://schemas.openxmlformats.org/officeDocument/2006/relationships/presProps" Target="/ppt/presProps.xml" Id="Re619ea80db774937" /><Relationship Type="http://schemas.openxmlformats.org/officeDocument/2006/relationships/viewProps" Target="/ppt/viewProps.xml" Id="R867533eff2984ca5" /><Relationship Type="http://schemas.openxmlformats.org/officeDocument/2006/relationships/tableStyles" Target="/ppt/tableStyles.xml" Id="Rcc717834246d47d0" /><Relationship Type="http://schemas.openxmlformats.org/officeDocument/2006/relationships/slide" Target="/ppt/slides/slide1.xml" Id="Reef003793ed74605" /><Relationship Type="http://schemas.openxmlformats.org/officeDocument/2006/relationships/slide" Target="/ppt/slides/slide2.xml" Id="R951efacced794daa" /><Relationship Type="http://schemas.openxmlformats.org/officeDocument/2006/relationships/slide" Target="/ppt/slides/slide3.xml" Id="R6d15da948c1b4e5a" /><Relationship Type="http://schemas.openxmlformats.org/officeDocument/2006/relationships/slide" Target="/ppt/slides/slide4.xml" Id="R08c3681aeafd43e3" /><Relationship Type="http://schemas.openxmlformats.org/officeDocument/2006/relationships/slide" Target="/ppt/slides/slide5.xml" Id="R4eebb9d460424752" /><Relationship Type="http://schemas.openxmlformats.org/officeDocument/2006/relationships/slide" Target="/ppt/slides/slide6.xml" Id="R9c687e2cdf02400f" /><Relationship Type="http://schemas.openxmlformats.org/officeDocument/2006/relationships/slide" Target="/ppt/slides/slide7.xml" Id="R15fd23117dc04a13" /><Relationship Type="http://schemas.openxmlformats.org/officeDocument/2006/relationships/slide" Target="/ppt/slides/slide8.xml" Id="R0eced4d74b0649cc" /><Relationship Type="http://schemas.openxmlformats.org/officeDocument/2006/relationships/slide" Target="/ppt/slides/slide9.xml" Id="R06233993896f40b5" /><Relationship Type="http://schemas.openxmlformats.org/officeDocument/2006/relationships/slide" Target="/ppt/slides/slide10.xml" Id="R79311a99b8ba4872" /><Relationship Type="http://schemas.openxmlformats.org/officeDocument/2006/relationships/slide" Target="/ppt/slides/slide11.xml" Id="Reac91819ded74f7e" /><Relationship Type="http://schemas.openxmlformats.org/officeDocument/2006/relationships/slide" Target="/ppt/slides/slide12.xml" Id="Rbde39b47833a478c" /><Relationship Type="http://schemas.openxmlformats.org/officeDocument/2006/relationships/slide" Target="/ppt/slides/slide13.xml" Id="Rd71acc5e2d484dc7" /><Relationship Type="http://schemas.openxmlformats.org/officeDocument/2006/relationships/slide" Target="/ppt/slides/slide14.xml" Id="R6120f689c0924766" /><Relationship Type="http://schemas.openxmlformats.org/officeDocument/2006/relationships/slide" Target="/ppt/slides/slide15.xml" Id="Re5ae6327b608441c" /><Relationship Type="http://schemas.openxmlformats.org/officeDocument/2006/relationships/slide" Target="/ppt/slides/slide16.xml" Id="R33c5bfa122244f49" /><Relationship Type="http://schemas.openxmlformats.org/officeDocument/2006/relationships/slide" Target="/ppt/slides/slide17.xml" Id="Rdb59b0913a5e48cd" /><Relationship Type="http://schemas.openxmlformats.org/officeDocument/2006/relationships/slide" Target="/ppt/slides/slide18.xml" Id="R8599c085cae74d82" /><Relationship Type="http://schemas.openxmlformats.org/officeDocument/2006/relationships/slide" Target="/ppt/slides/slide19.xml" Id="Rf5afdadefa7e48c0" /><Relationship Type="http://schemas.openxmlformats.org/officeDocument/2006/relationships/slide" Target="/ppt/slides/slide20.xml" Id="R3ad6ea10fa4b48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6.xml" Id="Ra93693d7c7ad4e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6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2210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8b9b1a518f4af4" /><Relationship Type="http://schemas.openxmlformats.org/officeDocument/2006/relationships/notesMaster" Target="/ppt/notesMasters/notesMaster1.xml" Id="R182593e122384d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4571bddab24bfe" /><Relationship Type="http://schemas.openxmlformats.org/officeDocument/2006/relationships/notesMaster" Target="/ppt/notesMasters/notesMaster1.xml" Id="Rc6826b5da0134e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914930b56c46f0" /><Relationship Type="http://schemas.openxmlformats.org/officeDocument/2006/relationships/notesMaster" Target="/ppt/notesMasters/notesMaster1.xml" Id="Rcae65d02975342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2a76cd6608414f" /><Relationship Type="http://schemas.openxmlformats.org/officeDocument/2006/relationships/notesMaster" Target="/ppt/notesMasters/notesMaster1.xml" Id="Refaa39bc4e694a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91c7b47afd4d7f" /><Relationship Type="http://schemas.openxmlformats.org/officeDocument/2006/relationships/notesMaster" Target="/ppt/notesMasters/notesMaster1.xml" Id="Ree5e923141254c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62462f76e742c3" /><Relationship Type="http://schemas.openxmlformats.org/officeDocument/2006/relationships/notesMaster" Target="/ppt/notesMasters/notesMaster1.xml" Id="Ra93cc23b965d46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1731d2b1c84f9a" /><Relationship Type="http://schemas.openxmlformats.org/officeDocument/2006/relationships/notesMaster" Target="/ppt/notesMasters/notesMaster1.xml" Id="R8a58bb0ce63b4e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8f19e952cc48ce" /><Relationship Type="http://schemas.openxmlformats.org/officeDocument/2006/relationships/notesMaster" Target="/ppt/notesMasters/notesMaster1.xml" Id="R78f256835e9540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ce271483104942" /><Relationship Type="http://schemas.openxmlformats.org/officeDocument/2006/relationships/notesMaster" Target="/ppt/notesMasters/notesMaster1.xml" Id="R654e3f478aeb40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1760e4fb89b4e30" /><Relationship Type="http://schemas.openxmlformats.org/officeDocument/2006/relationships/notesMaster" Target="/ppt/notesMasters/notesMaster1.xml" Id="R7ae362e7a21d491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0daad90a9524840" /><Relationship Type="http://schemas.openxmlformats.org/officeDocument/2006/relationships/notesMaster" Target="/ppt/notesMasters/notesMaster1.xml" Id="R3a94bc2c7a734f7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e19bff8d99348e1" /><Relationship Type="http://schemas.openxmlformats.org/officeDocument/2006/relationships/notesMaster" Target="/ppt/notesMasters/notesMaster1.xml" Id="R6caa6dc955df47f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bfb7e85e9864557" /><Relationship Type="http://schemas.openxmlformats.org/officeDocument/2006/relationships/notesMaster" Target="/ppt/notesMasters/notesMaster1.xml" Id="R9270fefb6788438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02dc4f7173b4066" /><Relationship Type="http://schemas.openxmlformats.org/officeDocument/2006/relationships/notesMaster" Target="/ppt/notesMasters/notesMaster1.xml" Id="Rfc73f0a8347d417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e734beb6ba94768" /><Relationship Type="http://schemas.openxmlformats.org/officeDocument/2006/relationships/notesMaster" Target="/ppt/notesMasters/notesMaster1.xml" Id="R17bf38c85aa74f7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9a2703cc3a445f5" /><Relationship Type="http://schemas.openxmlformats.org/officeDocument/2006/relationships/notesMaster" Target="/ppt/notesMasters/notesMaster1.xml" Id="R9fc582e787574a5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c73e5d121a44609" /><Relationship Type="http://schemas.openxmlformats.org/officeDocument/2006/relationships/notesMaster" Target="/ppt/notesMasters/notesMaster1.xml" Id="Rd261e90aa82a4e3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8093ad110594d22" /><Relationship Type="http://schemas.openxmlformats.org/officeDocument/2006/relationships/notesMaster" Target="/ppt/notesMasters/notesMaster1.xml" Id="R26080480ed6c4ce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4154d83cb974aca" /><Relationship Type="http://schemas.openxmlformats.org/officeDocument/2006/relationships/notesMaster" Target="/ppt/notesMasters/notesMaster1.xml" Id="R43cac9209d87452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ed88aa75d284e58" /><Relationship Type="http://schemas.openxmlformats.org/officeDocument/2006/relationships/notesMaster" Target="/ppt/notesMasters/notesMaster1.xml" Id="R3c8cf201a97d47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 分钟</a:t>
            </a:r>
          </a:p>
          <a:p xmlns:a="http://schemas.openxmlformats.org/drawingml/2006/main">
            <a:r>
              <a:t>开场不要从模型或工具名讲起。直接给结论：过去的 AI 工作流帮我写得更快；现在的工作流开始帮我更早暴露错误、更清楚地做取舍，并把结论交给下游继续执行。今天用两个真实交付物证明这一点。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本地文件：workspace/华为PPT模板-浅色版.pptx</a:t>
            </a:r>
          </a:p>
          <a:p xmlns:a="http://schemas.openxmlformats.org/drawingml/2006/main">
            <a:r>
              <a:t>- 本地案例：手机图库 AI 功能需求问卷；鸿蒙图库一句话清理图片产品方案决策汇报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 分钟</a:t>
            </a:r>
          </a:p>
          <a:p xmlns:a="http://schemas.openxmlformats.org/drawingml/2006/main">
            <a:r>
              <a:t>这四类风险是全场的导航。后面每个案例不比较‘AI 写得快不快’，而是看它是否改变了产品决策：是否避免了错误事实、是否把优先级规则写清、是否让研究和方案能继续被下游使用、是否设置了退出条件。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本地工作区案例归纳；不包含外部市场数据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不要把这张图讲成四代产品史。讲控制权：Prompt 只控制一次回答；Context 控制模型能看到什么；Agent 控制能做什么；Harness 控制在什么权限、状态和验证条件下完成。PM 的能力也从写提示词，升级到设计任务、证据和验收系统。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基于本次工作流实践的阶段归纳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 分钟</a:t>
            </a:r>
          </a:p>
          <a:p xmlns:a="http://schemas.openxmlformats.org/drawingml/2006/main">
            <a:r>
              <a:t>工具演变只讲一条线：从回答、检索、工具调用到工作区执行。到 Harness 阶段，Agent 不只是会用浏览器或写文件，而是知道输入输出契约、权限边界、失败停止、恢复方式和验收门槛。这才对应产品经理真正可托付的任务。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基于对话式、检索式、工具调用与工作区 Agent 的能力抽象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建议用时：0.5 分钟</a:t>
            </a:r>
          </a:p>
          <a:p xmlns:a="http://schemas.openxmlformats.org/drawingml/2006/main">
            <a:r>
              <a:t>第一部分只回答一个问题：为什么问卷不是让 AI 多写一些题，而是让产品经理把要做的决策、需要的证据和题目顺序事先写清。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pm-user-research/用户调研/20260913手机图库AI功能需求/questionnaire.md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建议用时：2.5 分钟</a:t>
            </a:r>
          </a:p>
          <a:p xmlns:a="http://schemas.openxmlformats.org/drawingml/2006/main">
            <a:r>
              <a:t>这页先把业务问题讲透。直接问偏好会得到每个功能都有人选，无法支持资源取舍。真正需要回答四件事：是否真实发生、问题是否够痛、只能做一个时选谁、体验风险会如何改变方案。Skill 的第一价值不是写题，而是阻止研究目标继续含糊。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pm-user-research/用户调研/20260913手机图库AI功能需求/questionnaire.md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逐行讲，不要快速掠过。强调问卷的设计顺序：先写产品决策，再写需要看到的证据，最后才写题。比如 Q7/Q8 不是为了丰富报告，而是判断到底该提升识别效果，还是先解决误删、撤销与信任问题。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pm-user-research/skills/ur-design-survey/SKILL.md</a:t>
            </a:r>
          </a:p>
          <a:p xmlns:a="http://schemas.openxmlformats.org/drawingml/2006/main">
            <a:r>
              <a:t>- pm-user-research/用户调研/20260913手机图库AI功能需求/questionnaire.md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这页讲问卷逻辑里最容易被生成式 AI 忽略的地方：没有使用过的人，没有资格回答最近一次体验。Q4 负责路由；有经历者进入 Q5–Q8 的行为链，无经历者只回答未来诉求。这样可以避免把想象当体验证据。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pm-user-research/用户调研/20260913手机图库AI功能需求/questionnaire.md</a:t>
            </a:r>
          </a:p>
          <a:p xmlns:a="http://schemas.openxmlformats.org/drawingml/2006/main">
            <a:r>
              <a:t>- pm-user-research/skills/ur-design-survey/references/questionnaire-logic-checklist.md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这里一定说明：这些不是问卷结果，而是发放前写好的解释规则。预注册的好处是减少看到数据后随意讲故事。示例一：如果优先项是清理，原因是步骤复杂，场景是空间不足，才支持验证更短的清理链路。示例二：如果误删担忧直接造成信任下降，方案边界就必须改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pm-user-research/用户调研/20260913手机图库AI功能需求/questionnaire.md；本页为基于题目结构设计的分析规则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建议用时：2.5 分钟</a:t>
            </a:r>
          </a:p>
          <a:p xmlns:a="http://schemas.openxmlformats.org/drawingml/2006/main">
            <a:r>
              <a:t>交付物不是三个各自维护的文档。questionnaire.md 是事实源，HTML 用于评审，UserClub 文本用于配置。脚本对真实问卷给出的结果是 12 题、0 个结构风险信号、通过。但我会明确说，Lint 只能检查可确定的结构问题，不能替代研究效度判断。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pm-user-research/用户调研/20260913手机图库AI功能需求/questionnaire.md</a:t>
            </a:r>
          </a:p>
          <a:p xmlns:a="http://schemas.openxmlformats.org/drawingml/2006/main">
            <a:r>
              <a:t>- pm-user-research/skills/ur-design-survey/scripts/lint_questionnaire.py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建议用时：2.5 分钟</a:t>
            </a:r>
          </a:p>
          <a:p xmlns:a="http://schemas.openxmlformats.org/drawingml/2006/main">
            <a:r>
              <a:t>这是最重要的失败案例。43 项测试里 15 项失败，原因不是内容质量，而是画像生成脚本没有实现测试规定的三个参数。若没有 Harness，系统可能继续往下生成答卷和报告，最终让团队讨论一份不可复现的结果。门禁在这里替 PM 做的是阻断，而不是润色。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pm-user-research/tests/test_project.py</a:t>
            </a:r>
          </a:p>
          <a:p xmlns:a="http://schemas.openxmlformats.org/drawingml/2006/main">
            <a:r>
              <a:t>- pm-user-research/skills/ur-generate-personas/scripts/generate_personas.py</a:t>
            </a:r>
          </a:p>
          <a:p xmlns:a="http://schemas.openxmlformats.org/drawingml/2006/main">
            <a:r>
              <a:t>- 本地测试结果：43 tests / 28 pass / 15 fail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建议用时：0.5 分钟</a:t>
            </a:r>
          </a:p>
          <a:p xmlns:a="http://schemas.openxmlformats.org/drawingml/2006/main">
            <a:r>
              <a:t>第二部分换一个视角：Agent 不只是加速研究，它也能帮助产品经理把一句卖点拆成责任边界、风险等级、异常状态和退出条件。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workspace/鸿蒙图库_一句话清理图片_产品方案决策汇报.pptx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先展示真实交付物，而不是重讲整份方案。最关键的产品判断是：不做一句话直接删除。系统只承担可解释候选生成，最终删除仍需用户确认，并默认进入回收站。这样既保留效率价值，也限制了 AI 承担不了的责任。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workspace/鸿蒙图库_一句话清理图片_产品方案决策汇报.pptx，第 2 页；其中机制与阈值为待验证产品假设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竞品分析最危险的不是漏一个功能，而是把搜索不到写成对方不支持，或把旧版本、其他地区的能力当成当前基线。Skill 把每个竞品和 Feature 变成 ResearchUnit，再要求 EvidenceRecord 记录来源、版本、地区、支持方向和置信度。未知就是未知，不强行填满矩阵。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pm-competitor-analysis/pm-system-app-competitor-matrix/SKILL.md</a:t>
            </a:r>
          </a:p>
          <a:p xmlns:a="http://schemas.openxmlformats.org/drawingml/2006/main">
            <a:r>
              <a:t>- pm-competitor-analysis/pm-system-app-competitor-matrix/references/research-evidence.md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这一页要讲具体砍法。六类自然语言请求并不是都放进 MVP：时间和明确类型可进入预览确认；模糊、重复等质量语义必须解释理由；人物、票据、私密和事件语义只返回筛选结果。产品经理真正增加的不是功能数，而是对执行权的分层。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workspace/鸿蒙图库_一句话清理图片_产品方案决策汇报.pptx，第 3、6、8 页；属于待验证范围设计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这就是我希望 AI 帮忙生成的 PRD 核心，不是更多页面描述，而是一张 Requirement Ledger。每行从证据或风险假设出发，落到产品规则、状态异常和可观察验收。例如解析不完整时必须追问；高风险对象没有删除按钮；任何异常都不能绕过确认。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workspace/鸿蒙图库_一句话清理图片_产品方案决策汇报.pptx，第 4、5、6 页；本页为可追踪 PRD 账本重构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讲原型时不要只放高保真图。原型的任务是把不确定性显性化：系统理解了什么、候选为什么被选中、执行会发生什么、失败后如何恢复。至少要画四类异常状态，并用任务测试验证用户能否复述范围、排除误选、理解降级、找到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workspace/鸿蒙图库_一句话清理图片_产品方案决策汇报.pptx，第 4 页；本页为原型状态测试清单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建议用时：2.5 分钟</a:t>
            </a:r>
          </a:p>
          <a:p xmlns:a="http://schemas.openxmlformats.org/drawingml/2006/main">
            <a:r>
              <a:t>这页体现方案汇报的产品价值：本次不是批准完整开发，而是批准下一阶段资源。P0 输出可评审，P1 验证用户是否理解，P2 验证端侧和隐私，只有都通过才进 P3。退出条件必须提前写：误选不可控、无法理解、性能不达标或隐私不过线时停止立项。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workspace/鸿蒙图库_一句话清理图片_产品方案决策汇报.pptx，第 11 页；阶段门为方案建议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 分钟</a:t>
            </a:r>
          </a:p>
          <a:p xmlns:a="http://schemas.openxmlformats.org/drawingml/2006/main">
            <a:r>
              <a:t>最后讲开发方法。Skill 不是把长提示词保存起来，而是先定义触发和输入契约，再拆步骤与停止条件，把知识放到 references，把格式放到 templates，把可确定判断交给 scripts，最后用真实案例做 eval。Command 只是入口，真正的可复用性来自后面的契约和门禁。其他 Skill 不逐个介绍，而是沿产品生命周期组合。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pm-user-research/skills/ur-design-survey/SKILL.md</a:t>
            </a:r>
          </a:p>
          <a:p xmlns:a="http://schemas.openxmlformats.org/drawingml/2006/main">
            <a:r>
              <a:t>- pm-competitor-analysis/pm-system-app-competitor-matrix/SKILL.md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建议用时：0.5 分钟 + Q&amp;A</a:t>
            </a:r>
            <a:endParaRPr/>
          </a:p>
          <a:p xmlns:a="http://schemas.openxmlformats.org/drawingml/2006/main">
            <a:r>
              <a:t>收束到三条可执行建议。不要从“做一个万能 Agent”开始；先选高频、跨人协作、返工昂贵、质量可检查的任务。把自己的判断写成契约，再决定哪些部分交给模型、工具和脚本。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本次分享两个案例的总结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b9e48a49f0404d" /><Relationship Type="http://schemas.openxmlformats.org/officeDocument/2006/relationships/image" Target="/ppt/media/image3.png" Id="R9d10bb76fc3541d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669257d8014251" /><Relationship Type="http://schemas.openxmlformats.org/officeDocument/2006/relationships/image" Target="/ppt/media/image.jpeg" Id="R65d4cb7341924d8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c38de8a97c4562" /><Relationship Type="http://schemas.openxmlformats.org/officeDocument/2006/relationships/image" Target="/ppt/media/image2.jpeg" Id="R3c630d2e35b444b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93aea115bd45b9" /><Relationship Type="http://schemas.openxmlformats.org/officeDocument/2006/relationships/image" Target="/ppt/media/image3.jpeg" Id="Rd81bb16a347c404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fbcc769ee58455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c29b997373e47b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25829b3a9c5a48f4" /></Relationships>
</file>

<file path=ppt/slideLayouts/slideLayout1.xml><?xml version="1.0" encoding="utf-8"?>
<p:sldLayout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d10bb76fc3541d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" y="0"/>
            <a:ext cx="12196763" cy="5602265"/>
          </a:xfrm>
          <a:prstGeom xmlns:a="http://schemas.openxmlformats.org/drawingml/2006/main" prst="rect">
            <a:avLst/>
          </a:prstGeom>
        </p:spPr>
      </p:pic>
      <p:sp>
        <p:nvSpPr>
          <p:cNvPr id="7" name="L 形 6">
            <a:extLst xmlns:a="http://schemas.openxmlformats.org/drawingml/2006/main">
              <a:ext uri="{FF2B5EF4-FFF2-40B4-BE49-F238E27FC236}">
                <a16:creationId xmlns:a16="http://schemas.microsoft.com/office/drawing/2014/main" id="{466B1808-E13D-4E06-AC78-12BEB0C6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853942" y="2130562"/>
            <a:ext cx="701032" cy="717936"/>
          </a:xfrm>
          <a:prstGeom xmlns:a="http://schemas.openxmlformats.org/drawingml/2006/main" prst="corner">
            <a:avLst>
              <a:gd name="adj1" fmla="val 3243"/>
              <a:gd name="adj2" fmla="val 3048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900"/>
          </a:p>
        </p:txBody>
      </p:sp>
      <p:sp>
        <p:nvSpPr>
          <p:cNvPr id="10" name="Title 1">
            <a:extLst xmlns:a="http://schemas.openxmlformats.org/drawingml/2006/main"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98996" y="907092"/>
            <a:ext cx="6559809" cy="69025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  <a:prstDash val="dash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buNone/>
              <a:defRPr sz="3200" b="0" i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29260" y="1949372"/>
            <a:ext cx="6535842" cy="643926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图片 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5d4cb7341924d8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" y="0"/>
            <a:ext cx="12196763" cy="5602265"/>
          </a:xfrm>
          <a:prstGeom xmlns:a="http://schemas.openxmlformats.org/drawingml/2006/main" prst="rect">
            <a:avLst/>
          </a:prstGeom>
        </p:spPr>
      </p:pic>
      <p:sp>
        <p:nvSpPr>
          <p:cNvPr id="18" name="L 形 17">
            <a:extLst xmlns:a="http://schemas.openxmlformats.org/drawingml/2006/main">
              <a:ext uri="{FF2B5EF4-FFF2-40B4-BE49-F238E27FC236}">
                <a16:creationId xmlns:a16="http://schemas.microsoft.com/office/drawing/2014/main" id="{8201B1EA-B5EF-4883-9F2C-D9E720D1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24025" y="2568635"/>
            <a:ext cx="701032" cy="717936"/>
          </a:xfrm>
          <a:prstGeom xmlns:a="http://schemas.openxmlformats.org/drawingml/2006/main" prst="corner">
            <a:avLst>
              <a:gd name="adj1" fmla="val 3243"/>
              <a:gd name="adj2" fmla="val 3048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900"/>
          </a:p>
        </p:txBody>
      </p:sp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62AA4863-E1EF-3342-A8CB-ECD4FD06CEB7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98996" y="907092"/>
            <a:ext cx="6559809" cy="6902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buNone/>
              <a:defRPr sz="3200" b="0" i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5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195303EA-8491-464F-99A0-67F948701C12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29260" y="1949372"/>
            <a:ext cx="6535842" cy="643926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c630d2e35b444be"/>
          <a:srcRect xmlns:a="http://schemas.openxmlformats.org/drawingml/2006/main" l="0" t="13825" r="2034" b="5607"/>
          <a:stretch xmlns:a="http://schemas.openxmlformats.org/drawingml/2006/main"/>
        </p:blipFill>
        <p:spPr>
          <a:xfrm xmlns:a="http://schemas.openxmlformats.org/drawingml/2006/main">
            <a:off x="1" y="-36206"/>
            <a:ext cx="12196763" cy="5638471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EFAC552-04CE-44A4-8D5E-A625750C05C7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98996" y="907092"/>
            <a:ext cx="6559809" cy="6902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buNone/>
              <a:defRPr sz="3200" b="0" i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8" name="L 形 7">
            <a:extLst xmlns:a="http://schemas.openxmlformats.org/drawingml/2006/main">
              <a:ext uri="{FF2B5EF4-FFF2-40B4-BE49-F238E27FC236}">
                <a16:creationId xmlns:a16="http://schemas.microsoft.com/office/drawing/2014/main" id="{9874F9F8-368A-4214-8911-65A5ADF2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929967" y="1657555"/>
            <a:ext cx="701032" cy="717936"/>
          </a:xfrm>
          <a:prstGeom xmlns:a="http://schemas.openxmlformats.org/drawingml/2006/main" prst="corner">
            <a:avLst>
              <a:gd name="adj1" fmla="val 3243"/>
              <a:gd name="adj2" fmla="val 3048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900"/>
          </a:p>
        </p:txBody>
      </p:sp>
      <p:sp>
        <p:nvSpPr>
          <p:cNvPr id="5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6BB7B2F8-0AF7-D04F-81DD-52FDB6B7326C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29260" y="1949372"/>
            <a:ext cx="6535842" cy="643926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灯塔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图片 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81bb16a347c4048"/>
          <a:srcRect xmlns:a="http://schemas.openxmlformats.org/drawingml/2006/main" l="1538" t="7030" r="0" b="11599"/>
          <a:stretch xmlns:a="http://schemas.openxmlformats.org/drawingml/2006/main"/>
        </p:blipFill>
        <p:spPr>
          <a:xfrm xmlns:a="http://schemas.openxmlformats.org/drawingml/2006/main">
            <a:off x="0" y="0"/>
            <a:ext cx="12196763" cy="5602265"/>
          </a:xfrm>
          <a:prstGeom xmlns:a="http://schemas.openxmlformats.org/drawingml/2006/main" prst="rect">
            <a:avLst/>
          </a:prstGeom>
        </p:spPr>
      </p:pic>
      <p:sp>
        <p:nvSpPr>
          <p:cNvPr id="13" name="L 形 12">
            <a:extLst xmlns:a="http://schemas.openxmlformats.org/drawingml/2006/main">
              <a:ext uri="{FF2B5EF4-FFF2-40B4-BE49-F238E27FC236}">
                <a16:creationId xmlns:a16="http://schemas.microsoft.com/office/drawing/2014/main" id="{D9C13A00-1073-4DDB-80E9-15487508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45516" y="2323519"/>
            <a:ext cx="701032" cy="717936"/>
          </a:xfrm>
          <a:prstGeom xmlns:a="http://schemas.openxmlformats.org/drawingml/2006/main" prst="corner">
            <a:avLst>
              <a:gd name="adj1" fmla="val 3243"/>
              <a:gd name="adj2" fmla="val 3048"/>
            </a:avLst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900"/>
          </a:p>
        </p:txBody>
      </p:sp>
      <p:sp>
        <p:nvSpPr>
          <p:cNvPr id="11" name="Title 1">
            <a:extLst xmlns:a="http://schemas.openxmlformats.org/drawingml/2006/main">
              <a:ext uri="{FF2B5EF4-FFF2-40B4-BE49-F238E27FC236}">
                <a16:creationId xmlns:a16="http://schemas.microsoft.com/office/drawing/2014/main" id="{C897A368-8F39-4049-9BB0-AEB315EB7E0D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98996" y="907092"/>
            <a:ext cx="6559809" cy="6902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buNone/>
              <a:defRPr sz="3200" b="0" i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5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12621051-E1A4-A049-BF21-61B18B348315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929260" y="1949372"/>
            <a:ext cx="6535842" cy="643926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userDrawn="1">
  <p:cSld name="1_Contents page">
    <p:bg>
      <p:bgPr>
        <a:solidFill xmlns:a="http://schemas.openxmlformats.org/drawingml/2006/main">
          <a:srgbClr val="EBE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20F7C7B5-0135-F749-B910-7325E96AE705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033620" y="1843088"/>
            <a:ext cx="10122060" cy="3013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tIns="90000" bIns="90000"/>
          <a:lstStyle xmlns:a="http://schemas.openxmlformats.org/drawingml/2006/main">
            <a:lvl1pPr marL="412750" indent="-398463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412750" indent="-398463">
              <a:buFont typeface="+mj-lt"/>
              <a:buAutoNum type="arabicPeriod"/>
              <a:defRPr/>
            </a:lvl2pPr>
            <a:lvl3pPr marL="14287" indent="0">
              <a:buFont typeface="+mj-lt"/>
              <a:buNone/>
              <a:defRPr sz="2200">
                <a:latin typeface="Microsoft YaHei"/>
                <a:ea typeface="Microsoft YaHei"/>
                <a:cs typeface="Microsoft YaHei"/>
              </a:defRPr>
            </a:lvl3pPr>
            <a:lvl4pPr marL="14287" indent="0">
              <a:buFont typeface="+mj-lt"/>
              <a:buNone/>
              <a:defRPr sz="2200">
                <a:latin typeface="Microsoft YaHei"/>
                <a:ea typeface="Microsoft YaHei"/>
                <a:cs typeface="Microsoft YaHei"/>
              </a:defRPr>
            </a:lvl4pPr>
            <a:lvl5pPr marL="14287" indent="0">
              <a:buFont typeface="+mj-lt"/>
              <a:buNone/>
              <a:defRPr sz="2200">
                <a:latin typeface="Microsoft YaHei"/>
                <a:ea typeface="Microsoft YaHei"/>
                <a:cs typeface="Microsoft YaHei"/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  <p:sp>
        <p:nvSpPr>
          <p:cNvPr id="3" name="直线连接符 14">
            <a:extLst xmlns:a="http://schemas.openxmlformats.org/drawingml/2006/main">
              <a:ext uri="{FF2B5EF4-FFF2-40B4-BE49-F238E27FC236}">
                <a16:creationId xmlns:a16="http://schemas.microsoft.com/office/drawing/2014/main" id="{974DA378-697C-494A-80A6-864DF1A0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29918" y="1349255"/>
            <a:ext cx="885967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7000B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16" y="630373"/>
            <a:ext cx="1147485" cy="6535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36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729175" y="456134"/>
            <a:ext cx="10740640" cy="99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7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736908" y="1501989"/>
            <a:ext cx="10733557" cy="46904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 marL="12373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20" algn="ctr"/>
              </a:tabLst>
              <a:defRPr sz="1800" baseline="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525850" indent="-171159">
              <a:buFont typeface="Arial"/>
              <a:buChar char="•"/>
              <a:tabLst>
                <a:tab pos="1208420" algn="ctr"/>
              </a:tabLst>
              <a:defRPr sz="1299" baseline="0"/>
            </a:lvl2pPr>
            <a:lvl3pPr marL="525850" indent="-171159">
              <a:buFont typeface="Arial"/>
              <a:buChar char="•"/>
              <a:tabLst>
                <a:tab pos="1208420" algn="ctr"/>
              </a:tabLst>
              <a:defRPr sz="1299" baseline="0"/>
            </a:lvl3pPr>
            <a:lvl4pPr marL="525850" indent="-171159">
              <a:buFont typeface="Arial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/>
              <a:buChar char="•"/>
              <a:tabLst>
                <a:tab pos="1208420" algn="ctr"/>
              </a:tabLst>
              <a:defRPr sz="1299" baseline="0"/>
            </a:lvl5pPr>
          </a:lstStyle>
          <a:p xmlns:a="http://schemas.openxmlformats.org/drawingml/2006/main">
            <a:pPr lvl="0">
              <a:buNone/>
            </a:pPr>
            <a:r>
              <a:t>单击此处添加文本</a:t>
            </a: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End pag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2AF307D-40F4-EC4C-9108-79E94800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486" y="1402064"/>
            <a:ext cx="3921034" cy="8547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940">
                <a:solidFill>
                  <a:schemeClr val="tx1"/>
                </a:solidFill>
              </a:rPr>
              <a:t>Thank you.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37c1b6082779489b" /><Relationship Type="http://schemas.openxmlformats.org/officeDocument/2006/relationships/theme" Target="/ppt/slideMasters/theme/theme2.xml" Id="Rdad73eab214c481c" /><Relationship Type="http://schemas.openxmlformats.org/officeDocument/2006/relationships/slideLayout" Target="/ppt/slideLayouts/slideLayout1.xml" Id="R09fb28f94a724e32" /><Relationship Type="http://schemas.openxmlformats.org/officeDocument/2006/relationships/slideLayout" Target="/ppt/slideLayouts/slideLayout2.xml" Id="R66d66e96908b4567" /><Relationship Type="http://schemas.openxmlformats.org/officeDocument/2006/relationships/slideLayout" Target="/ppt/slideLayouts/slideLayout3.xml" Id="Rfbce3d41069b401f" /><Relationship Type="http://schemas.openxmlformats.org/officeDocument/2006/relationships/slideLayout" Target="/ppt/slideLayouts/slideLayout4.xml" Id="R916b0b72f8524285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7214162e0d914c28" /><Relationship Type="http://schemas.openxmlformats.org/officeDocument/2006/relationships/slideLayout" Target="/ppt/slideLayouts/slideLayout5.xml" Id="Rc6479c0674b245ca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image" Target="/ppt/media/image2.png" Id="R0dcccacbc7274eb8" /><Relationship Type="http://schemas.openxmlformats.org/officeDocument/2006/relationships/theme" Target="/ppt/slideMasters/theme/theme4.xml" Id="R7d480f46ca3d4794" /><Relationship Type="http://schemas.openxmlformats.org/officeDocument/2006/relationships/slideLayout" Target="/ppt/slideLayouts/slideLayout6.xml" Id="R2065e47819f74fae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image" Target="/ppt/media/image.png" Id="R7815976d181047d1" /><Relationship Type="http://schemas.openxmlformats.org/officeDocument/2006/relationships/theme" Target="/ppt/slideMasters/theme/theme5.xml" Id="R048b5d76a4a64bfb" /><Relationship Type="http://schemas.openxmlformats.org/officeDocument/2006/relationships/slideLayout" Target="/ppt/slideLayouts/slideLayout7.xml" Id="Rbb41eed4d6d44736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AF72FAD7-C8C3-754A-A498-D3A7EC29AB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09309" y="6270651"/>
            <a:ext cx="1982316" cy="1536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00"/>
              <a:t>Security Level:</a:t>
            </a:r>
            <a:endParaRPr sz="1000"/>
          </a:p>
        </p:txBody>
      </p:sp>
      <p:pic>
        <p:nvPicPr>
          <p:cNvPr id="18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c1b608277948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06684" y="5976168"/>
            <a:ext cx="2258389" cy="482533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fb28f94a724e32"/>
    <p:sldLayoutId xmlns:r="http://schemas.openxmlformats.org/officeDocument/2006/relationships" id="2147483650" r:id="R66d66e96908b4567"/>
    <p:sldLayoutId xmlns:r="http://schemas.openxmlformats.org/officeDocument/2006/relationships" id="2147483651" r:id="Rfbce3d41069b401f"/>
    <p:sldLayoutId xmlns:r="http://schemas.openxmlformats.org/officeDocument/2006/relationships" id="2147483652" r:id="R916b0b72f8524285"/>
  </p:sldLayoutIdLst>
  <p:hf hdr="0" ftr="0" dt="0"/>
  <p:txStyles>
    <p:titleStyle>
      <a:lvl1pPr xmlns:a="http://schemas.openxmlformats.org/drawingml/2006/main" algn="l" defTabSz="914400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xmlns:a="http://schemas.openxmlformats.org/drawingml/2006/main" marL="0" indent="0" algn="l" defTabSz="914400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/>
          <a:ea typeface="Arial"/>
          <a:cs typeface="Arial"/>
        </a:defRPr>
      </a:lvl1pPr>
      <a:lvl2pPr xmlns:a="http://schemas.openxmlformats.org/drawingml/2006/main" marL="457200" indent="0" algn="l" defTabSz="914400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indent="0" algn="l" defTabSz="914400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indent="0" algn="l" defTabSz="914400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indent="0" algn="l" defTabSz="914400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59" userDrawn="1">
          <p15:clr>
            <a:srgbClr xmlns:a="http://schemas.openxmlformats.org/drawingml/2006/main" val="F26B43"/>
          </p15:clr>
        </p15:guide>
        <p15:guide id="2" pos="3841" userDrawn="1">
          <p15:clr>
            <a:srgbClr xmlns:a="http://schemas.openxmlformats.org/drawingml/2006/main" val="F26B43"/>
          </p15:clr>
        </p15:guide>
        <p15:guide id="3" pos="565" userDrawn="1">
          <p15:clr>
            <a:srgbClr xmlns:a="http://schemas.openxmlformats.org/drawingml/2006/main" val="F26B43"/>
          </p15:clr>
        </p15:guide>
        <p15:guide id="4" orient="horz" pos="4007" userDrawn="1">
          <p15:clr>
            <a:srgbClr xmlns:a="http://schemas.openxmlformats.org/drawingml/2006/main" val="F26B43"/>
          </p15:clr>
        </p15:guide>
        <p15:guide id="5" orient="horz" pos="1235" userDrawn="1">
          <p15:clr>
            <a:srgbClr xmlns:a="http://schemas.openxmlformats.org/drawingml/2006/main" val="F26B43"/>
          </p15:clr>
        </p15:guide>
        <p15:guide id="6" orient="horz" pos="553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4" r:id="Rc6479c0674b245ca"/>
  </p:sldLayoutIdLst>
  <p:hf hdr="0" ftr="0" dt="0"/>
  <p:txStyles>
    <p:titleStyle>
      <a:lvl1pPr xmlns:a="http://schemas.openxmlformats.org/drawingml/2006/main" algn="l" defTabSz="1187798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96950" indent="-296950" algn="l" defTabSz="1187798">
        <a:lnSpc>
          <a:spcPct val="90000"/>
        </a:lnSpc>
        <a:spcBef>
          <a:spcPts val="1299"/>
        </a:spcBef>
        <a:buFont typeface="Arial"/>
        <a:buChar char="•"/>
        <a:defRPr sz="3636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90849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3118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484748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598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078648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672547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266447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860346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454245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048144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93900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87798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781699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375598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969497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3396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57297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751195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 userDrawn="1">
          <p15:clr>
            <a:srgbClr xmlns:a="http://schemas.openxmlformats.org/drawingml/2006/main" val="F26B43"/>
          </p15:clr>
        </p15:guide>
        <p15:guide id="2" pos="3842" userDrawn="1">
          <p15:clr>
            <a:srgbClr xmlns:a="http://schemas.openxmlformats.org/drawingml/2006/main" val="F26B43"/>
          </p15:clr>
        </p15:guide>
        <p15:guide id="3" pos="458" userDrawn="1">
          <p15:clr>
            <a:srgbClr xmlns:a="http://schemas.openxmlformats.org/drawingml/2006/main" val="F26B43"/>
          </p15:clr>
        </p15:guide>
        <p15:guide id="4" pos="7225" userDrawn="1">
          <p15:clr>
            <a:srgbClr xmlns:a="http://schemas.openxmlformats.org/drawingml/2006/main" val="F26B43"/>
          </p15:clr>
        </p15:guide>
        <p15:guide id="5" orient="horz" pos="4100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67" y="6356939"/>
            <a:ext cx="1463467" cy="2428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974" b="0">
                <a:solidFill>
                  <a:srgbClr val="1D1D1B"/>
                </a:solidFill>
                <a:latin typeface="Arial"/>
                <a:ea typeface="Arial"/>
                <a:cs typeface="Arial"/>
              </a:rPr>
              <a:t>Huawei Confidential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31" y="6402806"/>
            <a:ext cx="499729" cy="150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89084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3837181-38C6-AD4F-B8BA-B444770388BB}" type="slidenum">
              <a:rPr sz="974">
                <a:solidFill>
                  <a:srgbClr val="1D1D1B"/>
                </a:solidFill>
                <a:latin typeface="Arial"/>
                <a:ea typeface="Arial"/>
                <a:cs typeface="Arial"/>
              </a:rPr>
              <a:t>‹#›</a:t>
            </a:fld>
            <a:endParaRPr sz="974">
              <a:solidFill>
                <a:srgbClr val="1D1D1B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0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cccacbc7274e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95999" y="6319870"/>
            <a:ext cx="1269075" cy="271153"/>
          </a:xfrm>
          <a:prstGeom xmlns:a="http://schemas.openxmlformats.org/drawingml/2006/main" prst="rect">
            <a:avLst/>
          </a:prstGeom>
        </p:spPr>
      </p:pic>
      <p:sp>
        <p:nvSpPr>
          <p:cNvPr id="44" name="矩形 5">
            <a:extLst xmlns:a="http://schemas.openxmlformats.org/drawingml/2006/main">
              <a:ext uri="{FF2B5EF4-FFF2-40B4-BE49-F238E27FC236}">
                <a16:creationId xmlns:a16="http://schemas.microsoft.com/office/drawing/2014/main" id="{3B0B5EC2-EA55-CC45-A9D0-D5EA5D76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35" y="3097895"/>
            <a:ext cx="911019" cy="425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P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ANTONE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186C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 200/16/46</a:t>
            </a:r>
          </a:p>
        </p:txBody>
      </p:sp>
      <p:sp>
        <p:nvSpPr>
          <p:cNvPr id="45" name="矩形 9">
            <a:extLst xmlns:a="http://schemas.openxmlformats.org/drawingml/2006/main">
              <a:ext uri="{FF2B5EF4-FFF2-40B4-BE49-F238E27FC236}">
                <a16:creationId xmlns:a16="http://schemas.microsoft.com/office/drawing/2014/main" id="{992224C5-04A6-C041-B257-13137945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5" y="3097895"/>
            <a:ext cx="911019" cy="4259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P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ANTONE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185C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 199/0/11</a:t>
            </a:r>
          </a:p>
        </p:txBody>
      </p:sp>
      <p:sp>
        <p:nvSpPr>
          <p:cNvPr id="46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58918196-0639-EE4B-AFC2-315BE045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26898" y="2931937"/>
            <a:ext cx="384721" cy="131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品牌色</a:t>
            </a:r>
          </a:p>
        </p:txBody>
      </p:sp>
      <p:sp>
        <p:nvSpPr>
          <p:cNvPr id="28" name="矩形 12">
            <a:extLst xmlns:a="http://schemas.openxmlformats.org/drawingml/2006/main">
              <a:ext uri="{FF2B5EF4-FFF2-40B4-BE49-F238E27FC236}">
                <a16:creationId xmlns:a16="http://schemas.microsoft.com/office/drawing/2014/main" id="{DCA8B73C-0B87-284F-805F-752EBF20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40" y="4233909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A4F"/>
          </a:solidFill>
          <a:ln xmlns:a="http://schemas.openxmlformats.org/drawingml/2006/main">
            <a:solidFill>
              <a:srgbClr val="EA5A4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234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90/79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矩形 13">
            <a:extLst xmlns:a="http://schemas.openxmlformats.org/drawingml/2006/main">
              <a:ext uri="{FF2B5EF4-FFF2-40B4-BE49-F238E27FC236}">
                <a16:creationId xmlns:a16="http://schemas.microsoft.com/office/drawing/2014/main" id="{138A39A8-BB4E-CD4E-9201-F1785C87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40" y="3783828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120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0/15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8F53C07A-1022-C740-8F8D-97538E17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16278" y="3631294"/>
            <a:ext cx="569387" cy="1315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rPr>
              <a:t>辅助色</a:t>
            </a:r>
          </a:p>
        </p:txBody>
      </p:sp>
      <p:sp>
        <p:nvSpPr>
          <p:cNvPr id="31" name="矩形 16">
            <a:extLst xmlns:a="http://schemas.openxmlformats.org/drawingml/2006/main">
              <a:ext uri="{FF2B5EF4-FFF2-40B4-BE49-F238E27FC236}">
                <a16:creationId xmlns:a16="http://schemas.microsoft.com/office/drawing/2014/main" id="{306A7598-C00D-994F-82DA-B39F3C2E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40" y="5131937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53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248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181/60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矩形 17">
            <a:extLst xmlns:a="http://schemas.openxmlformats.org/drawingml/2006/main">
              <a:ext uri="{FF2B5EF4-FFF2-40B4-BE49-F238E27FC236}">
                <a16:creationId xmlns:a16="http://schemas.microsoft.com/office/drawing/2014/main" id="{C1423292-FF2F-A74C-943E-1C3C4753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40" y="4689671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5C0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235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92/1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矩形 18">
            <a:extLst xmlns:a="http://schemas.openxmlformats.org/drawingml/2006/main">
              <a:ext uri="{FF2B5EF4-FFF2-40B4-BE49-F238E27FC236}">
                <a16:creationId xmlns:a16="http://schemas.microsoft.com/office/drawing/2014/main" id="{2A29AF15-F5C4-A842-A63B-5DBA549C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36" y="6023709"/>
            <a:ext cx="911019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898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137/137/137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矩形 19">
            <a:extLst xmlns:a="http://schemas.openxmlformats.org/drawingml/2006/main">
              <a:ext uri="{FF2B5EF4-FFF2-40B4-BE49-F238E27FC236}">
                <a16:creationId xmlns:a16="http://schemas.microsoft.com/office/drawing/2014/main" id="{E9EA970A-4D36-BC41-B8BE-40DF55332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36" y="5581443"/>
            <a:ext cx="911019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181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35/24/21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矩形 22">
            <a:extLst xmlns:a="http://schemas.openxmlformats.org/drawingml/2006/main">
              <a:ext uri="{FF2B5EF4-FFF2-40B4-BE49-F238E27FC236}">
                <a16:creationId xmlns:a16="http://schemas.microsoft.com/office/drawing/2014/main" id="{14EE21FB-1D92-0241-ABA5-5E9A6AEE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15636" y="6471222"/>
            <a:ext cx="911019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 221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221/221</a:t>
            </a:r>
            <a:endParaRPr sz="700" b="1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矩形 12">
            <a:extLst xmlns:a="http://schemas.openxmlformats.org/drawingml/2006/main">
              <a:ext uri="{FF2B5EF4-FFF2-40B4-BE49-F238E27FC236}">
                <a16:creationId xmlns:a16="http://schemas.microsoft.com/office/drawing/2014/main" id="{883734A3-2645-434A-9DCC-1416B6C6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5" y="4233909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8C8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233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140/128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矩形 13">
            <a:extLst xmlns:a="http://schemas.openxmlformats.org/drawingml/2006/main">
              <a:ext uri="{FF2B5EF4-FFF2-40B4-BE49-F238E27FC236}">
                <a16:creationId xmlns:a16="http://schemas.microsoft.com/office/drawing/2014/main" id="{1FF13552-FB3D-134A-A80A-6CFB35DF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5" y="3783828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2126"/>
          </a:solidFill>
          <a:ln xmlns:a="http://schemas.openxmlformats.org/drawingml/2006/main">
            <a:solidFill>
              <a:srgbClr val="9F000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159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0/1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矩形 16">
            <a:extLst xmlns:a="http://schemas.openxmlformats.org/drawingml/2006/main">
              <a:ext uri="{FF2B5EF4-FFF2-40B4-BE49-F238E27FC236}">
                <a16:creationId xmlns:a16="http://schemas.microsoft.com/office/drawing/2014/main" id="{0A96471B-CB12-1443-B01F-C14C9112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5" y="5131937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C5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 245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220/87</a:t>
            </a:r>
            <a:endParaRPr sz="700" b="1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矩形 17">
            <a:extLst xmlns:a="http://schemas.openxmlformats.org/drawingml/2006/main">
              <a:ext uri="{FF2B5EF4-FFF2-40B4-BE49-F238E27FC236}">
                <a16:creationId xmlns:a16="http://schemas.microsoft.com/office/drawing/2014/main" id="{61890D59-CF8B-1449-A836-3A304EC9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5" y="4689671"/>
            <a:ext cx="885201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85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240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133/0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矩形 18">
            <a:extLst xmlns:a="http://schemas.openxmlformats.org/drawingml/2006/main">
              <a:ext uri="{FF2B5EF4-FFF2-40B4-BE49-F238E27FC236}">
                <a16:creationId xmlns:a16="http://schemas.microsoft.com/office/drawing/2014/main" id="{0466A1E1-E7C7-FD49-9880-9E44BED1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1" y="6023709"/>
            <a:ext cx="911019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B5B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181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181/181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矩形 19">
            <a:extLst xmlns:a="http://schemas.openxmlformats.org/drawingml/2006/main">
              <a:ext uri="{FF2B5EF4-FFF2-40B4-BE49-F238E27FC236}">
                <a16:creationId xmlns:a16="http://schemas.microsoft.com/office/drawing/2014/main" id="{B21AD6AC-1275-0142-A9EA-D77B26CB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1" y="5581443"/>
            <a:ext cx="911019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75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 89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87/87</a:t>
            </a:r>
            <a:endParaRPr sz="700" b="1">
              <a:solidFill>
                <a:schemeClr val="tx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矩形 22">
            <a:extLst xmlns:a="http://schemas.openxmlformats.org/drawingml/2006/main">
              <a:ext uri="{FF2B5EF4-FFF2-40B4-BE49-F238E27FC236}">
                <a16:creationId xmlns:a16="http://schemas.microsoft.com/office/drawing/2014/main" id="{238BAC2A-AE09-A84D-875D-8472236D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88171" y="6471222"/>
            <a:ext cx="911019" cy="3953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chemeClr val="bg1">
                <a:lumMod val="10000"/>
                <a:lumOff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RGB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 255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/</a:t>
            </a:r>
            <a:r>
              <a:rPr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255/255</a:t>
            </a:r>
            <a:endParaRPr sz="700" b="1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2065e47819f74fae"/>
  </p:sldLayoutIdLst>
  <p:hf hdr="0" ftr="0" dt="0"/>
  <p:txStyles>
    <p:titleStyle>
      <a:lvl1pPr xmlns:a="http://schemas.openxmlformats.org/drawingml/2006/main" algn="l" defTabSz="1187798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96950" indent="-296950" algn="l" defTabSz="1187798">
        <a:lnSpc>
          <a:spcPct val="90000"/>
        </a:lnSpc>
        <a:spcBef>
          <a:spcPts val="1299"/>
        </a:spcBef>
        <a:buFont typeface="Arial"/>
        <a:buChar char="•"/>
        <a:defRPr sz="3636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890849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3118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484748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598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078648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672547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266447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860346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454245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048144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93900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87798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781699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375598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969497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3396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57297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751195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 userDrawn="1">
          <p15:clr>
            <a:srgbClr xmlns:a="http://schemas.openxmlformats.org/drawingml/2006/main" val="F26B43"/>
          </p15:clr>
        </p15:guide>
        <p15:guide id="2" pos="3842" userDrawn="1">
          <p15:clr>
            <a:srgbClr xmlns:a="http://schemas.openxmlformats.org/drawingml/2006/main" val="F26B43"/>
          </p15:clr>
        </p15:guide>
        <p15:guide id="3" pos="458" userDrawn="1">
          <p15:clr>
            <a:srgbClr xmlns:a="http://schemas.openxmlformats.org/drawingml/2006/main" val="F26B43"/>
          </p15:clr>
        </p15:guide>
        <p15:guide id="4" pos="7225" userDrawn="1">
          <p15:clr>
            <a:srgbClr xmlns:a="http://schemas.openxmlformats.org/drawingml/2006/main" val="F26B43"/>
          </p15:clr>
        </p15:guide>
        <p15:guide id="5" orient="horz" pos="4100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slideMaster4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6573" y="1474269"/>
            <a:ext cx="3984232" cy="28160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F8FC7CCD-75EB-9C44-BC7D-29679334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9357" y="2794960"/>
            <a:ext cx="3225168" cy="20299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kern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ts val="1065"/>
              </a:lnSpc>
              <a:buNone/>
            </a:pPr>
            <a:r>
              <a:rPr sz="850" b="1">
                <a:solidFill>
                  <a:srgbClr val="1D1D1B"/>
                </a:solidFill>
                <a:latin typeface="+mj-lt"/>
                <a:ea typeface="+mj-lt"/>
                <a:cs typeface="+mj-lt"/>
              </a:rPr>
              <a:t>Copyright©2021 </a:t>
            </a:r>
            <a:r>
              <a:rPr sz="850" b="1">
                <a:solidFill>
                  <a:srgbClr val="1D1D1B"/>
                </a:solidFill>
                <a:latin typeface="+mj-lt"/>
                <a:ea typeface="+mj-lt"/>
                <a:cs typeface="+mj-lt"/>
              </a:rPr>
              <a:t>Huawei Technologies Co., Ltd.</a:t>
            </a:r>
            <a:br/>
            <a:r>
              <a:rPr sz="850" b="1">
                <a:solidFill>
                  <a:srgbClr val="1D1D1B"/>
                </a:solidFill>
                <a:latin typeface="+mj-lt"/>
                <a:ea typeface="+mj-lt"/>
                <a:cs typeface="+mj-lt"/>
              </a:rPr>
              <a:t>All Rights Reserved.</a:t>
            </a:r>
            <a:r>
              <a:rPr sz="779">
                <a:solidFill>
                  <a:srgbClr val="1D1D1B"/>
                </a:solidFill>
                <a:latin typeface="+mn-lt"/>
                <a:ea typeface="+mn-lt"/>
                <a:cs typeface="+mn-lt"/>
              </a:rPr>
              <a:t/>
            </a:r>
            <a:br/>
            <a:r>
              <a:rPr sz="779">
                <a:solidFill>
                  <a:srgbClr val="1D1D1B"/>
                </a:solidFill>
                <a:latin typeface="+mn-lt"/>
                <a:ea typeface="+mn-lt"/>
                <a:cs typeface="+mn-lt"/>
              </a:rPr>
              <a:t/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The information in this document may contain predictive </a:t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statements including, without limitation, statements regarding </a:t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the future financial and operating results, future product </a:t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portfolio, new technology, etc. There are a number of factors that </a:t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could cause actual results and developments to differ materially </a:t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from those expressed or implied in the predictive statements. </a:t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Therefore, such information is provided for reference purpose </a:t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only and constitutes neither an offer nor an acceptance. Huawei </a:t>
            </a:r>
            <a:br/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may change the information at any time without notice. </a:t>
            </a:r>
          </a:p>
          <a:p xmlns:a="http://schemas.openxmlformats.org/drawingml/2006/main">
            <a:pPr>
              <a:lnSpc>
                <a:spcPts val="1065"/>
              </a:lnSpc>
              <a:buNone/>
            </a:pPr>
            <a:endParaRPr sz="779">
              <a:solidFill>
                <a:srgbClr val="1D1D1B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6" name="Subtitle 6">
            <a:extLst xmlns:a="http://schemas.openxmlformats.org/drawingml/2006/main">
              <a:ext uri="{FF2B5EF4-FFF2-40B4-BE49-F238E27FC236}">
                <a16:creationId xmlns:a16="http://schemas.microsoft.com/office/drawing/2014/main" id="{12B8F806-ABD5-064C-8793-5E22C725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7276" y="1631849"/>
            <a:ext cx="3477701" cy="4911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kern="12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ts val="1681"/>
              </a:lnSpc>
              <a:spcBef>
                <a:spcPts val="0"/>
              </a:spcBef>
              <a:buNone/>
            </a:pPr>
            <a:r>
              <a:rPr sz="1300">
                <a:solidFill>
                  <a:srgbClr val="1D1D1B"/>
                </a:solidFill>
                <a:latin typeface="Microsoft YaHei"/>
                <a:ea typeface="Microsoft YaHei"/>
                <a:cs typeface="Microsoft YaHei"/>
              </a:rPr>
              <a:t>把数字世界带入每个人、每个家庭、</a:t>
            </a:r>
            <a:r>
              <a:rPr sz="1300">
                <a:solidFill>
                  <a:srgbClr val="1D1D1B"/>
                </a:solidFill>
                <a:latin typeface="Microsoft YaHei"/>
                <a:ea typeface="Microsoft YaHei"/>
                <a:cs typeface="Microsoft YaHei"/>
              </a:rPr>
              <a:t/>
            </a:r>
            <a:br/>
            <a:r>
              <a:rPr sz="1300">
                <a:solidFill>
                  <a:srgbClr val="1D1D1B"/>
                </a:solidFill>
                <a:latin typeface="Microsoft YaHei"/>
                <a:ea typeface="Microsoft YaHei"/>
                <a:cs typeface="Microsoft YaHei"/>
              </a:rPr>
              <a:t>每个组织，构建万物互联的智能世界。</a:t>
            </a:r>
          </a:p>
        </p:txBody>
      </p:sp>
      <p:sp>
        <p:nvSpPr>
          <p:cNvPr id="7" name="Subtitle 6">
            <a:extLst xmlns:a="http://schemas.openxmlformats.org/drawingml/2006/main">
              <a:ext uri="{FF2B5EF4-FFF2-40B4-BE49-F238E27FC236}">
                <a16:creationId xmlns:a16="http://schemas.microsoft.com/office/drawing/2014/main" id="{F1235B6F-D691-2C40-93D4-EC5427AD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7672" y="2106124"/>
            <a:ext cx="3481833" cy="5828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kern="1200">
                <a:solidFill>
                  <a:schemeClr val="tx1"/>
                </a:solidFill>
                <a:latin typeface="Microsoft YaHei"/>
                <a:ea typeface="Microsoft YaHei"/>
                <a:cs typeface="Microsoft YaHei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ts val="1294"/>
              </a:lnSpc>
              <a:buNone/>
            </a:pPr>
            <a:r>
              <a:rPr sz="120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Bring digital to every person, home, and </a:t>
            </a:r>
            <a:br/>
            <a:r>
              <a:rPr sz="120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organization for a fully connected, </a:t>
            </a:r>
            <a:br/>
            <a:r>
              <a:rPr sz="120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intelligent world.</a:t>
            </a:r>
            <a:endParaRPr sz="1200">
              <a:solidFill>
                <a:srgbClr val="1D1D1B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13" name="图片 9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15976d181047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75497" y="5251150"/>
            <a:ext cx="1869596" cy="399462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8" r:id="Rbb41eed4d6d44736"/>
  </p:sldLayoutIdLst>
  <p:hf hdr="0" ftr="0" dt="0"/>
  <p:txStyles>
    <p:titleStyle>
      <a:lvl1pPr xmlns:a="http://schemas.openxmlformats.org/drawingml/2006/main" algn="l" defTabSz="1187798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0" indent="0" algn="l" defTabSz="1187798">
        <a:lnSpc>
          <a:spcPct val="90000"/>
        </a:lnSpc>
        <a:spcBef>
          <a:spcPts val="1299"/>
        </a:spcBef>
        <a:buFont typeface="Arial"/>
        <a:buNone/>
        <a:defRPr sz="1819" kern="1200">
          <a:solidFill>
            <a:srgbClr val="FFFFFF"/>
          </a:solidFill>
          <a:latin typeface="Microsoft YaHei"/>
          <a:ea typeface="Microsoft YaHei"/>
          <a:cs typeface="Microsoft YaHei"/>
        </a:defRPr>
      </a:lvl1pPr>
      <a:lvl2pPr xmlns:a="http://schemas.openxmlformats.org/drawingml/2006/main" marL="593900" indent="0" algn="l" defTabSz="1187798">
        <a:lnSpc>
          <a:spcPct val="90000"/>
        </a:lnSpc>
        <a:spcBef>
          <a:spcPts val="650"/>
        </a:spcBef>
        <a:buFont typeface="Arial"/>
        <a:buNone/>
        <a:defRPr sz="3118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87798" indent="0" algn="l" defTabSz="1187798">
        <a:lnSpc>
          <a:spcPct val="90000"/>
        </a:lnSpc>
        <a:spcBef>
          <a:spcPts val="650"/>
        </a:spcBef>
        <a:buFont typeface="Arial"/>
        <a:buNone/>
        <a:defRPr sz="2598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781699" indent="0" algn="l" defTabSz="1187798">
        <a:lnSpc>
          <a:spcPct val="90000"/>
        </a:lnSpc>
        <a:spcBef>
          <a:spcPts val="650"/>
        </a:spcBef>
        <a:buFont typeface="Arial"/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375598" indent="0" algn="l" defTabSz="1187798">
        <a:lnSpc>
          <a:spcPct val="90000"/>
        </a:lnSpc>
        <a:spcBef>
          <a:spcPts val="650"/>
        </a:spcBef>
        <a:buFont typeface="Arial"/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266447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860346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454245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048144" indent="-296950" algn="l" defTabSz="1187798">
        <a:lnSpc>
          <a:spcPct val="90000"/>
        </a:lnSpc>
        <a:spcBef>
          <a:spcPts val="650"/>
        </a:spcBef>
        <a:buFont typeface="Arial"/>
        <a:buChar char="•"/>
        <a:defRPr sz="2338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93900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87798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781699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375598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969497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563396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157297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751195" algn="l" defTabSz="1187798">
        <a:buNone/>
        <a:defRPr sz="2338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 userDrawn="1">
          <p15:clr>
            <a:srgbClr xmlns:a="http://schemas.openxmlformats.org/drawingml/2006/main" val="F26B43"/>
          </p15:clr>
        </p15:guide>
        <p15:guide id="2" pos="3842" userDrawn="1">
          <p15:clr>
            <a:srgbClr xmlns:a="http://schemas.openxmlformats.org/drawingml/2006/main" val="F26B43"/>
          </p15:clr>
        </p15:guide>
        <p15:guide id="3" pos="458" userDrawn="1">
          <p15:clr>
            <a:srgbClr xmlns:a="http://schemas.openxmlformats.org/drawingml/2006/main" val="F26B43"/>
          </p15:clr>
        </p15:guide>
        <p15:guide id="4" pos="7216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2210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updated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ustom 2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5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2210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a6da28005f4d3f" /><Relationship Type="http://schemas.openxmlformats.org/officeDocument/2006/relationships/notesSlide" Target="/ppt/notesSlides/notesSlide1.xml" Id="Rcbcfe255071f40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fc380bcb174ced" /><Relationship Type="http://schemas.openxmlformats.org/officeDocument/2006/relationships/notesSlide" Target="/ppt/notesSlides/notesSlide2.xml" Id="R63718535f72446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9ccaaca67f468b" /><Relationship Type="http://schemas.openxmlformats.org/officeDocument/2006/relationships/notesSlide" Target="/ppt/notesSlides/notesSlide3.xml" Id="Ra8d247d698a74e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5fd6d612124f70" /><Relationship Type="http://schemas.openxmlformats.org/officeDocument/2006/relationships/notesSlide" Target="/ppt/notesSlides/notesSlide4.xml" Id="Rad07b6dc971840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7b60b88e6e74a4f" /><Relationship Type="http://schemas.openxmlformats.org/officeDocument/2006/relationships/notesSlide" Target="/ppt/notesSlides/notesSlide5.xml" Id="Rc709df000da249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7158b01a0145ed" /><Relationship Type="http://schemas.openxmlformats.org/officeDocument/2006/relationships/notesSlide" Target="/ppt/notesSlides/notesSlide6.xml" Id="Re3d26edc87b24d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99b0cd10c14554" /><Relationship Type="http://schemas.openxmlformats.org/officeDocument/2006/relationships/notesSlide" Target="/ppt/notesSlides/notesSlide7.xml" Id="Ra7a95809d41a4a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a6efe2d6ef4012" /><Relationship Type="http://schemas.openxmlformats.org/officeDocument/2006/relationships/notesSlide" Target="/ppt/notesSlides/notesSlide8.xml" Id="R1fc29906d50045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8114b0b31c477d" /><Relationship Type="http://schemas.openxmlformats.org/officeDocument/2006/relationships/notesSlide" Target="/ppt/notesSlides/notesSlide9.xml" Id="Rf149f7bf954e4c1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dd0992e9fc4992" /><Relationship Type="http://schemas.openxmlformats.org/officeDocument/2006/relationships/notesSlide" Target="/ppt/notesSlides/notesSlide10.xml" Id="R4e652701600b4bc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7fffd9624143ed" /><Relationship Type="http://schemas.openxmlformats.org/officeDocument/2006/relationships/notesSlide" Target="/ppt/notesSlides/notesSlide11.xml" Id="Ra34df4ee1083422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0f9172e54c14f41" /><Relationship Type="http://schemas.openxmlformats.org/officeDocument/2006/relationships/notesSlide" Target="/ppt/notesSlides/notesSlide12.xml" Id="R41a7b4e64c8a43c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118518ac8f4cc5" /><Relationship Type="http://schemas.openxmlformats.org/officeDocument/2006/relationships/image" Target="/ppt/media/image4.png" Id="R1c31345bc6a54288" /><Relationship Type="http://schemas.openxmlformats.org/officeDocument/2006/relationships/notesSlide" Target="/ppt/notesSlides/notesSlide13.xml" Id="Rd7b4969207d44b8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0a665f18194694" /><Relationship Type="http://schemas.openxmlformats.org/officeDocument/2006/relationships/notesSlide" Target="/ppt/notesSlides/notesSlide14.xml" Id="Rd6500e2b8f5249e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5a5d0a57084738" /><Relationship Type="http://schemas.openxmlformats.org/officeDocument/2006/relationships/notesSlide" Target="/ppt/notesSlides/notesSlide15.xml" Id="Rf09caae89117431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deba93f7164dcf" /><Relationship Type="http://schemas.openxmlformats.org/officeDocument/2006/relationships/notesSlide" Target="/ppt/notesSlides/notesSlide16.xml" Id="Rc79ea18671fc42c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7c5b18340c49fd" /><Relationship Type="http://schemas.openxmlformats.org/officeDocument/2006/relationships/notesSlide" Target="/ppt/notesSlides/notesSlide17.xml" Id="R213148e164e0444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4b5bb5dcdc4817" /><Relationship Type="http://schemas.openxmlformats.org/officeDocument/2006/relationships/image" Target="/ppt/media/image5.png" Id="Rc6bc27e137514eda" /><Relationship Type="http://schemas.openxmlformats.org/officeDocument/2006/relationships/notesSlide" Target="/ppt/notesSlides/notesSlide18.xml" Id="R8070b570d82b4a5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510993ed164d7e" /><Relationship Type="http://schemas.openxmlformats.org/officeDocument/2006/relationships/notesSlide" Target="/ppt/notesSlides/notesSlide19.xml" Id="Ra266dd7d08414c1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5aa9ac7725c4d58" /><Relationship Type="http://schemas.openxmlformats.org/officeDocument/2006/relationships/notesSlide" Target="/ppt/notesSlides/notesSlide20.xml" Id="R37146a31dbc44bb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3DAF629A-F799-4097-9900-7C14ACB31E2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6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7F3DB8AC-5DE9-5548-8697-C9055F7FFCC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F19B9EA-773D-FD4C-8380-847E27C6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808" y="6264112"/>
            <a:ext cx="2606870" cy="1366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40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78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718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957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196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435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675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913" algn="l" defTabSz="914478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000"/>
              <a:t>Security Level:</a:t>
            </a:r>
            <a:endParaRPr sz="1000"/>
          </a:p>
        </p:txBody>
      </p:sp>
      <p:sp>
        <p:nvSpPr>
          <p:cNvPr id="7" name="cover-text-backdrop">
            <a:extLst xmlns:a="http://schemas.openxmlformats.org/drawingml/2006/main">
              <a:ext uri="{FF2B5EF4-FFF2-40B4-BE49-F238E27FC236}">
                <a16:creationId xmlns:a16="http://schemas.microsoft.com/office/drawing/2014/main" id="{A5864D57-ADC8-402B-971A-F4392569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"/>
            <a:ext cx="69532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2000"/>
            </a:srgbClr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D16FC2-BF33-493E-927C-691E6A7C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38200"/>
            <a:ext cx="647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从“会聊天”到“能承担决策”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75D980-FEF4-49E6-AF88-16B0F23A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636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我的 AI 产品经理工作系统：Prompt → Context → Agent → Harness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90C7E1-CABC-4598-8299-72DBC7DD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636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用研 × 竞品 × PRD × 原型｜两个真实工作案例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ACC62B-58B8-4689-8F07-11701331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产品经理团队分享  /  45 min</a:t>
            </a:r>
          </a:p>
        </p:txBody>
      </p:sp>
    </p:spTree>
    <p:extLst>
      <p:ext uri="{BB962C8B-B14F-4D97-AF65-F5344CB8AC3E}">
        <p14:creationId xmlns:p14="http://schemas.microsoft.com/office/powerpoint/2010/main" val="363295233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51AE2041-530F-4331-BC12-1A14AAC9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B9B7E6-D8B3-4F3E-BE16-4572AE22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AI 工作流的收益来自四类风险被前置控制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3B7F3740-6519-4DF8-A73B-D6A951F4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不是更快生成四份文档，而是更早阻止四次错误决策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71EEBF-850D-4012-90D7-B5A47F57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1A8FAB-DD43-4BA4-87CD-0F469F63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2266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FDD9F9-96AB-439E-B80B-17B8C1B5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事实风险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BC3744-0C3B-4598-A768-61DA179A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rPr>
              <a:t>证据与版本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7B8F3B-8DAC-44C2-91ED-09B203DC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2266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不再把“没搜到”写成“不支持”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67BCDE-2DA7-49A5-876E-D499443A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657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3EFEDB-850E-4C39-9BC0-102A117A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019300"/>
            <a:ext cx="2266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61FC63-E6F4-42D4-8D4A-4D3283E2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1717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决策风险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146F64-903A-451F-B050-25235B8D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6479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规则与取舍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6AA62A-4A0B-4423-9DA9-A4D59696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048000"/>
            <a:ext cx="2266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每个结论必须回答做不做、先做什么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5BDA94-F684-457D-AA03-58D1438B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57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7541CF-CDBE-4D98-8D93-CA935DDA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19300"/>
            <a:ext cx="2266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3F9D79-E1EF-44B9-AC1D-BD2F6E2F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717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交接风险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0C8EB8-4AB2-4A1B-A34C-826A5DD0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479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rPr>
              <a:t>文件与状态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B4136B-A4BC-46A9-84E1-ABFF429C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2266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下游读取确定产物，不依赖上轮聊天记忆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77A164-2CBA-4F60-A9F3-662F6B5B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6573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7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47B0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C6C541-FA82-495B-B1B8-A172A5B9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019300"/>
            <a:ext cx="2266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0A8EF4-C698-4B97-BE85-454667D3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1717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上线风险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127435-30C7-4544-B149-76C84CA3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6479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47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47B00"/>
                </a:solidFill>
                <a:latin typeface="Microsoft YaHei"/>
                <a:ea typeface="Microsoft YaHei"/>
                <a:cs typeface="Microsoft YaHei"/>
              </a:rPr>
              <a:t>门禁与退出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D6550C-7E95-4EB3-B09D-238C7A83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048000"/>
            <a:ext cx="2266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先验证误选、理解、性能、隐私，再立项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E36481-061A-4700-87B8-142595C7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106299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EAA8CC-40C1-48EA-B919-5C6EAF32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625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产品经理的核心产出，从“文档”升级为“可验证的决策系统”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57920B-E386-4C96-8E78-1182799B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197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>
                    <a:alpha val="78000"/>
                  </a:srgbClr>
                </a:solidFill>
                <a:latin typeface="Microsoft YaHei"/>
                <a:ea typeface="Microsoft YaHei"/>
                <a:cs typeface="Microsoft YaHei"/>
              </a:rPr>
              <a:t>证据可追溯  ·  范围可解释  ·  异常可恢复  ·  失败可停损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44DC9C0-648E-4FC6-B01F-A03554BC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477D36-4AF5-4B89-9F38-4FB7C6D0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四次演变，本质是把控制权逐层移出聊天框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B61356D6-D157-4AEC-978E-9FD1ED8D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每一层保留上一层能力，同时补上新的交付契约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130859-25F2-43DF-999F-6E54EE09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2343150" cy="28575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7DCFEC-CDBF-4261-A2FE-3BD81667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431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Prompt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BE6FFE-F9DF-44D0-8F0C-B8775295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rPr>
              <a:t>回答契约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0A3224-429D-4CEE-B02E-2AA1161F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43200"/>
            <a:ext cx="2000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78D5F9-DCB2-4371-AD5E-9EE6D347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意图、角色、格式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97B5F9-67FF-4F40-8017-3CF2BCB3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仍依赖模型临场记忆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A809BF-E896-4AA6-82F4-AFE41A75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PM：会提问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43E39F-ECA4-4CE6-945B-2CAEE0BB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52750"/>
            <a:ext cx="266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B69D5C-2B6C-4FB0-8D30-89E534D2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790700"/>
            <a:ext cx="2343150" cy="28575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CE7125-4DCA-48B4-A069-1C780D4F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19431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Context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0BCD9E-1CAE-450B-B3F9-FC35DE88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3812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rPr>
              <a:t>证据契约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CE4807-548D-48C3-984D-B0E43907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743200"/>
            <a:ext cx="2000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2E5E37-C71A-4B29-9493-4646EE12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8575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资料、版本、状态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5B5E1C-13A5-4E7A-BEA1-F81D5927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5242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知道事实但不能行动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801403-9E00-4988-A42A-BE62BDFD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210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PM：会组织证据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1D6C52-C40B-4AB1-8054-EB6C70AD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952750"/>
            <a:ext cx="266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989A68-3A31-406B-B3F5-76A96687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2343150" cy="28575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598B45-6049-4B7B-9CC8-6E1BF7CF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431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09E8B4-A64E-4E75-9C86-F6741A1E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rPr>
              <a:t>行动契约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F8FF8E-5801-4496-BAB2-0B4CB015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43200"/>
            <a:ext cx="2000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24F049-7AD8-4864-B4F5-1091D1D3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工具选择与循环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902E97-FEDB-42EB-9941-E1BB7A7B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能行动但可能失控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BA45A2-7EE9-4B60-AB16-6FCD64F3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10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PM：会委派与验收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F33ACD-4E6D-4711-9E0C-468CDD12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52750"/>
            <a:ext cx="266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63B274-D804-4562-8E45-F42C4315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790700"/>
            <a:ext cx="2343150" cy="28575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19050">
            <a:solidFill>
              <a:srgbClr val="C7000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E44822-5C40-4F75-8C67-C525C6D4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9431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Harness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150D2D-A02A-4B54-8B91-06761B4C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3812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交付契约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02FB92-9AFF-42AA-9FF5-B9A6E864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743200"/>
            <a:ext cx="2000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453AFA-9BA5-486F-97D1-C81CC004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8575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权限、门禁、恢复、审计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C5942C-F9E0-4C29-B86F-935E8E4F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5242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需要持续治理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16EFEDE-8EEB-4293-A86C-6679EE61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210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PM：会设计工作系统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BD2DDA-8D51-4A92-8872-3E455225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10629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关键变化：上下文不再只是“喂资料”，而是把证据、任务状态和质量标准变成可被工具读取的外部对象。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5537FB4B-AD43-4BA5-9218-D72A7582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74B216-6563-4A86-9B9C-D55AC257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Agent 工具从回答器演变为有门禁的执行环境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455377B0-F9B9-401D-9B44-EBE6318A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真正的分水岭不是能否调用工具，而是任务是否可恢复、可验证、可审计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C08408-59DD-43F4-810B-58E183AA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0"/>
            <a:ext cx="950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4D4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358EC0-0F5C-42E2-80BB-35E73DBC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433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1919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070F7E-7963-4477-AE10-3F55B5B2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对话助手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1A938C-88D5-45D9-B75F-635C6AD0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生成回答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55CA24-C962-410D-842A-D7979D5E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9433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C8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6E4548-9E9E-4EED-B362-988C5115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765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知识助手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AB6AA8-06DE-47D0-B2DC-E1B7FD81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18135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检索资料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3428F2-88E8-4950-89F5-22267B74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47B0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F6886A-49EC-445D-9793-EDE9A253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574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工具 Agent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97DC89-C81B-4764-9329-1DB3EF41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搜索/计算/写文件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23EA2E-0B6A-469C-9106-85DF7836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433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67A5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8DB6E0-CC64-486F-A7D5-AB4F9B75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383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工作区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2B03E4-041B-4A77-B1B7-D11EC44B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4315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跨文件执行与交接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3E5511-6FDD-42FA-9DAA-D241F753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9433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8B96FC-E1EC-43DB-8796-319E6037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192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Harness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89832D-B4A5-4676-AF11-F7DE8D16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2405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权限/状态/门禁/恢复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06E92B-F6F0-4B89-8DC1-7C94B831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958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自动化程度 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EE1CEC-DB3D-4682-B9C4-9858BF7D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PM 的价值变化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80F8C1-13A9-488D-B307-E5CA7991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720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写提示词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2FCF21-8CC4-480E-9714-00E1E1E9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9720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组织证据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16785B-BC58-405C-8390-8E59F0F3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720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定义动作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AA588C-86C3-481E-8620-73BA5588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720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设计门禁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688694-ECDE-4DFE-A634-ADB236C9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29250"/>
            <a:ext cx="6877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← 单次内容质量                                      端到端任务可靠性 →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2D83681D-12EE-844E-8C09-E767231D897D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1033620" y="1843088"/>
            <a:ext cx="10045712" cy="30137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3E1D90-1366-4DBA-9E18-46771CA4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09750"/>
            <a:ext cx="1714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F16BF-DBFC-43B0-B83D-B66FC4B0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480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AC86C0-6D1A-4F51-B188-3716EBD2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575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用户研究：把意见收集改造成决策证据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D10D79-564F-4E6D-82E8-0FE3D769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895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真实案例：手机图库 AI 功能使用与需求调研｜12 题｜原始需求洞察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3D2262-1895-42D5-90D3-916B1F22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505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CASE 01 / USER RESEARCH</a:t>
            </a:r>
          </a:p>
        </p:txBody>
      </p:sp>
    </p:spTree>
    <p:extLst>
      <p:ext uri="{BB962C8B-B14F-4D97-AF65-F5344CB8AC3E}">
        <p14:creationId xmlns:p14="http://schemas.microsoft.com/office/powerpoint/2010/main" val="80222364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D28952D0-A249-450F-9DD9-7C30DE5C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41AAC6-A828-4FF0-8F3A-8A8F4372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功能意愿不能直接支持图库 AI 的优先级决策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C652B3C6-B276-48D2-9310-26E7FD6F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“你想要什么”只能得到愿望清单；优先级需要行为、问题、后果与强制取舍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2BBA08-B4A1-492C-B0F4-30C412B4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表面提问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443CBF-5BC8-4323-B3BE-C3F589C8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285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用户最想要哪些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图库 AI 功能？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89E670-0176-4019-AF7D-DD9FAE6F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62200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A947C4-3029-44B2-BDFE-89469D91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145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真正要支持的 4 个决策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117683-C499-4946-96DD-6397E29F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955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F334FD-E067-470A-9075-7EC96682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955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有没有真实发生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4B9BEF-93F8-4197-BFC8-FED77719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955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过去 3 个月是否使用，最近一次完成什么任务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B2A622-A5E1-48B3-B134-750720C5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098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35BABA-6D4A-4B1A-9E84-7AD3516B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813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96B44C-1661-48D2-8266-6F3B998C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813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问题是否足够痛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A8CFCC-56A8-4CDA-A8A2-C0A2E8C6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813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遇到什么问题，造成返工、换工具还是放弃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13FEFE-4C51-4450-8725-A2AB9B18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956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180A43-B4D4-47E0-838C-A3531386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671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719BFE-F1C4-4E4B-A3C2-E7ED9398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671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只能做一个时选谁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A0AFC8-D03B-4367-A076-46BAC968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671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功能广度之后强制 Top 1，并追问原因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4A8678-0342-444F-9E09-F225E187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814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40768A-B2B4-4045-A2A6-690A6CF1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529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732419-E0A5-4CF5-801A-4C86081A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1529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方案要加什么边界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DEF542-E1A1-4A25-909C-BE8645BD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529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误删、隐私、时延等问题怎样改变交互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EA3FBE-C5EC-4DD9-9B5C-4429F645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10629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ED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67B7D0-8ACB-4A16-A729-2F962FCD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62550"/>
            <a:ext cx="1021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普通提示词最容易漏掉：非用户分流、互斥选项、题间关联、分析用途和“若结果出现 X，产品做什么”。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D177F0B3-FD59-4BC5-9AD4-5755C0D0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F7C8E9-53ED-4CE4-B515-AE0978CB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Skill 先建立决策—证据—题目映射，再允许写题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3905599F-9B65-44CF-B810-A7AAB022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每道题都必须说明分析用途和可能触发的产品动作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BEE09A-48D2-43A7-9C4A-243999B6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产品决策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D02D9A-BFE7-4AD0-968E-F05F3F7F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所需证据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B5EFDA-D3A9-4084-A53D-C23CFAFD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676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题目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6FC5DA-A272-43BD-9AB9-FA560D20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76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决策用途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8FEFD0-131C-429C-9FC6-681E4339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106299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D50138-9E17-424F-B87F-ADD5CCAC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是否存在真实需求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18F939-A6D9-4474-AD21-686CC532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717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近期使用频率 + 最近一次任务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FCAE67-EF3A-4F09-8A1F-F5FD8DB7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717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Q4 / Q6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0E21BC-B250-4983-8642-67E9AA72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717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区分真实行为与概念兴趣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6A0AB8-4CFD-463E-A460-CAD31BB6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106299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7B3284-DFB6-4FDF-B0BA-25AB6BDB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问题是否值得解决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4BF2CE-5BFF-4A60-8FB0-58851DE9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908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问题类型 + 后果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A156E3-EDFF-437E-81BF-97443770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908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Q7 / Q8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41AB5E-9588-4AC3-93F0-B065766B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908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识别效果问题还是信任问题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1AD89E-AFE7-43F9-B097-1C2C8B78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106299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9525">
            <a:solidFill>
              <a:srgbClr val="C7000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69D336-B06B-4D02-9281-6D52CA83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优先做哪个功能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034FAB-4638-4C56-8E63-97815740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100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需求广度 + 强制 Top 1 + 原因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E6A8CE-EEF0-4FDD-B874-8183F42D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100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Q9 / Q10 / Q11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58A19C-C8EE-42DE-96BA-25612932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100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形成可解释的优先级假设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291BD8-A2FC-4B63-B61F-AE11E574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106299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A5E27E-4952-4382-9E56-6C1F86EF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在哪个场景切入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BEEBA0-D663-4481-9DC8-4A7F1C2A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291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任务发生的具体情境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1D6664-70BD-4EBC-BF3C-B5AA1B61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6291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Q12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92BCD5-59B9-4F12-AD9E-0F1A46D7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6291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确定入口、触发和 MVP 场景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E48519-63A9-43BA-90F8-DA30C576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1062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删除规则：无法说明决策用途的题目，不进入问卷。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833F6AF2-F33E-40F9-A3BA-40CCC4D8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8E5AE0-85B2-42B0-AEF2-9FFE1E4B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行为先于概念，使用者分流避免把想象当经历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C442030B-412B-4196-A99E-A0D77E1B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Q4 是关键路由：有经历的人谈最近任务，无经历的人直接进入未来诉求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EAE794-E99D-4269-9C73-FFAD320B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1619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009369-84E8-4DA3-81CC-37399222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Q1–Q3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9484DE-1D27-4FCE-B58F-4D193815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基本分层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A5F1BE-53BA-4016-8840-8D61CEBC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812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50E574-4EFF-44A8-85BC-1DDA7E1A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52600"/>
            <a:ext cx="1809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19050">
            <a:solidFill>
              <a:srgbClr val="C7000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29B6A0-2062-4D79-90EB-278A1711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885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ADC7DB-C46C-4F3B-8EF9-7F6F952F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717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近 3 月使用频率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59EB23-80A2-4986-8975-BBA61658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7175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031443-FAE5-4971-B249-54C30777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7175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105F12-81A3-4536-9167-4B0F1E27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00400"/>
            <a:ext cx="34861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315C8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FA51D8-0301-4247-A406-1052660C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337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rPr>
              <a:t>有近期使用经历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E1D8B5-B635-4520-AF88-8C9CF825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1475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Q5 用过哪些功能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Q6 最近一次任务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Q7 遇到什么问题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Q8 问题造成什么后果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11ACCD-6FB4-4597-B63C-E8E8AED8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00400"/>
            <a:ext cx="348615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3DC"/>
          </a:solidFill>
          <a:ln xmlns:a="http://schemas.openxmlformats.org/drawingml/2006/main" w="9525">
            <a:solidFill>
              <a:srgbClr val="C47B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333FB4-7546-4106-AA97-057AD27E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337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47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47B00"/>
                </a:solidFill>
                <a:latin typeface="Microsoft YaHei"/>
                <a:ea typeface="Microsoft YaHei"/>
                <a:cs typeface="Microsoft YaHei"/>
              </a:rPr>
              <a:t>无近期经历 / 从未使用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5DD36E-2ABF-474C-9BF9-406A172A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909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不要求评价实际体验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直接进入 Q9–Q12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只收集未来需求与发生场景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01FF88-9337-4652-9339-B668754B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143500"/>
            <a:ext cx="680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↓ 两条路径最终汇合到需求广度、强制优先级、原因与场景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3D0E11-B0BC-4459-B691-09A3AC36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57850"/>
            <a:ext cx="1062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PM 价值：避免让从未用过的人评价准确性、速度或撤销体验。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5FE6F3CB-81A4-43BB-A983-F46FCB73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58BB7AE-E8B6-46E1-9280-94400930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四连问把“想要”转成可执行的优先级假设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60B897AB-0AEC-4983-A63D-6336700A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这里展示的是预注册分析规则，不是尚未采集的用户结论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D71C5C-77C5-47B1-9C06-CA125EE9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rPr>
              <a:t>Q9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144255-8082-4FB4-8CD0-905FCF09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需求广度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60F8E3-0F2D-4818-86E3-5E4D8538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最多选 3 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2A8D98-E971-4222-8FB7-26EEC98F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145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948110-27BB-498D-A600-234D8EA1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733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BC0A52-5541-4A87-90B4-CE4A1F7A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057400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强制取舍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B78B1F-697B-4E6B-867D-07CC5AA0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45745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只能优先 1 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6E4378-1098-4C8C-8854-803BE9ED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1145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BEB713-F627-4624-94A1-00235773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33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7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47B00"/>
                </a:solidFill>
                <a:latin typeface="Microsoft YaHei"/>
                <a:ea typeface="Microsoft YaHei"/>
                <a:cs typeface="Microsoft YaHei"/>
              </a:rPr>
              <a:t>Q11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D6A254-2D2C-458B-9D3B-9480C1D3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57400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选择原因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878382-F527-4112-B2FF-7CEBC194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5745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频率 / 耗时 / 复杂 / 无工具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3481A5-7A57-4349-B048-9C9170F3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145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5D03EF-9B29-4E76-B47A-F1D056CF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733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rPr>
              <a:t>Q12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3A8821-F4FE-4E0F-B360-FF025779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057400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发生场景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63AF10-D549-446A-B856-2F4340A8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45745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空间不足 / 大量整理 / 快速选片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C7E2A7-6BCC-4CD5-BC61-A6E8C3F9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10629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055AFC-8E3C-4565-B8E1-A521CA3B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若结果组合出现……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143AD2-F79C-41E1-B76A-C96E62B4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IF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3987D9-959A-4625-B009-EDD00BDD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766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清理无用照片 + 步骤复杂 + 存储不足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50DE79-9D53-4A3E-9210-3ECED063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766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THEN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7B13CA-017E-490F-8BCC-2CEB5ACA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766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优先验证低步骤清理入口，而不是扩充 AI 效果库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6977D4-039C-4B4E-BA8C-B9D000B4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IF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3B22E3-8B2B-4045-8B52-980D99B0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053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误删/无法撤销 + 信任下降/放弃使用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E7FBD5-8397-40D6-8441-C47BEFF0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30530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THEN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CA7546-D053-4E4F-ADAA-0FA367C7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053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PRD 必须增加候选预览、显式确认、回收站与恢复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B30B3B-2648-43B3-950D-D87AE8F7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339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IF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1C84B2-ED02-48AD-9536-059279B2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339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识别不准 + 反复调整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D56CAE-9F04-41F0-A050-3FFC6152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9339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THEN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6B74D1-2EEE-41B8-9149-1AC06915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9339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先定义候选误选率与可解释理由，再谈一键执行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CB118C1E-1BD5-44F0-96A6-C04549C3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9F9276-7D8D-4707-AAAF-20C9EACD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三份交付物和结构门禁让问卷成为协作资产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D1B250DB-0CC5-458A-B247-AE92C769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同一 Markdown 事实源派生评审、平台配置和校验结果，减少版本漂移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F1CACA-3FC5-489C-A193-973B17F9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D27175-CC61-4FF6-837C-DE90E987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questionnaire.md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2A9F8B-1EBD-4A60-877D-B3AF4840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事实源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0921E3-CDBA-4B37-AA9D-03C3264F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题目、选项、分支和配置注记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057A66-C82A-4D64-8442-64F05A48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622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00EC88-D095-4FC3-B4C8-5A141E85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7526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423F19-0CC7-41D7-8BA7-6A15D75D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76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questionnaire-design.html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DBBF5E-51B9-4F34-8DAF-9AEAB6FE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574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评审版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3A1C3E-C1A9-4360-989A-8CE1E6C6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003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研究目标、题目逻辑与可视化浏览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2F1837-2458-4B0B-ADF6-F46CCDC7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622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B6F845-EA60-4C83-9047-6EEA0B95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7526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8F56E3-5F74-4C27-8F8A-6DC499F0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76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questionnaire_for_userclub.txt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751491-26A4-4F78-B4FE-D5E0AD75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574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配置版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8AE2E5-EC53-4E9C-8EEE-4721462C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003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可直接交给问卷平台录入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27EF21-A4AF-4E3A-8129-8C224DFA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106299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CA9FE2-8666-403C-AD3C-4B81E538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195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  <a:cs typeface="Microsoft YaHei"/>
              </a:rPr>
              <a:t>真实结构检查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3E48F2-3026-4F5A-9738-93177898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C3D450-9A3B-406E-9520-00CF3F80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33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A89F84-5EAA-4482-97D4-DD0D47FF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62450"/>
            <a:ext cx="114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A92D25-37C3-406A-87C8-E87CD6EF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33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结构风险信号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241C5F-DC9D-4DD0-A655-2C61B6F3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196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FD1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FD18A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EC8C43-235A-4B7A-8361-7DBC6B86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339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通过结构门禁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AFDF61-BD10-4056-89AE-C7F3AC28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48250"/>
            <a:ext cx="937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>
                    <a:alpha val="72000"/>
                  </a:srgbClr>
                </a:solidFill>
                <a:latin typeface="Microsoft YaHei"/>
                <a:ea typeface="Microsoft YaHei"/>
                <a:cs typeface="Microsoft YaHei"/>
              </a:rPr>
              <a:t>注意：通过结构检查 ≠ 问卷已证明效度；仍需研究员复核、认知访谈和小样本试填。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CE924B34-696F-49A4-932D-3D4D13D1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C6DFCF-6691-44A6-A5A8-CB123FB7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Harness 在假洞察产生前暴露真实契约错误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7FE111A2-D830-4E22-A62D-CFEAFBD7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合成调研的正确用途是试跑逻辑与管线，而不是制造看似精确的市场比例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425B2F-BA1B-49A1-9EAB-A7418373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142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43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644021-8D9F-44D7-A894-74C3C140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0764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项测试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F7A0A7-8BC6-4990-97FA-ACC78943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33550"/>
            <a:ext cx="123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263077-E598-4410-8616-96372E91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0764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8643AD-6A60-45C9-9F6C-2F14E15B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733550"/>
            <a:ext cx="123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038F58-2C85-4E98-847A-90C37185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764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失败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28B449-7CBC-441E-AC0E-972876B2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669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不是模型答错，而是接口契约错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B39A7D-BD24-4928-885F-32AEB9BD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10629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CF3984-F193-4F00-8F1C-B36F460E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测试要求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C964D7-1C8C-4926-A4E9-86219C07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908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画像生成命令支持 sample-size / seed / group-quota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96FB3F-9D3F-44EF-98DF-3BD13D9A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当前实现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AB1CAB-9408-4DCF-8A2C-F5B14CF5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195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generate_personas.py 未接受这些参数；Windows 中文错误输出还出现乱码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098537-5852-4984-B6A2-D998ED33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若无门禁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69F646-4576-41D4-ADAE-92714E8B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2481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样本配额不可复现，仍可能继续生成答卷和报告，形成“假稳定”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15A91E-73F8-4204-9E9E-082E1D62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修复顺序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5172E8-A8DE-47BF-A211-F0597569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先统一 CLI 与文件契约 → 再重跑画像 → 再允许模拟与报告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948E49-BB37-4174-AEAC-8DB539E0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1062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BED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536794-BA3D-4499-B122-51376C37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PM 价值：阻断错误样本进入“漂亮报告”，把返工从结论阶段提前到接口阶段。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2D83681D-12EE-844E-8C09-E767231D897D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1033620" y="1843088"/>
            <a:ext cx="10045712" cy="30137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122223-5E1D-44D5-9951-A0243F17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09750"/>
            <a:ext cx="1714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38AA66-4655-4402-A5BA-4406B55F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480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4E354-3432-4A45-BB6B-05ECE2AA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575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产品方案：把自然语言能力收敛成可控决策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DFA284-F843-4EB0-867B-4A512911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895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真实案例：鸿蒙图库“一句话清理图片”｜竞品证据 × PRD × 原型 × 阶段门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1255FB-9206-411F-93DD-8B1AF6A2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505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CASE 02 / PRODUCT DECISION</a:t>
            </a:r>
          </a:p>
        </p:txBody>
      </p:sp>
    </p:spTree>
    <p:extLst>
      <p:ext uri="{BB962C8B-B14F-4D97-AF65-F5344CB8AC3E}">
        <p14:creationId xmlns:p14="http://schemas.microsoft.com/office/powerpoint/2010/main" val="80222364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2AF22D5-6234-4F42-9AEA-CAF12639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219C7B-24B4-4FDA-B02A-FAC2A141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一句话删除被重构为责任可控的自动化决策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E350EB37-3CED-4BAC-9A69-D3002338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系统负责生成可解释候选，用户保留最终删除责任，并获得恢复兜底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485DF3-D8E3-47CD-9F74-3BB4FF23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19191"/>
                </a:solidFill>
                <a:latin typeface="Microsoft YaHei"/>
                <a:ea typeface="Microsoft YaHei"/>
                <a:cs typeface="Microsoft YaHei"/>
              </a:rPr>
              <a:t>原始卖点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CBCA55-65C7-4E23-A1F2-4F0C3397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“说完即完成”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BA8C9C-E8E7-498B-B115-0BC2AF2B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自然语言一旦缺少对象、条件或范围，效率优势就会放大成误删责任。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035556-295D-4875-8589-56512D81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产品决策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6AB336-84AC-4B9F-933C-6436F029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搜索 → 解释预览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 显式确认 → 可撤销执行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F9D06D-AA63-4DE1-BFF3-CAF3E411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3333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04479E-68EB-4E04-A12E-6B232503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95900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先批准方向与验证资源，不直接批准工程立项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7914E9-5212-4CA8-A468-A361C153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76400"/>
            <a:ext cx="6953250" cy="4000500"/>
          </a:xfrm>
          <a:prstGeom xmlns:a="http://schemas.openxmlformats.org/drawingml/2006/main" prst="roundRect">
            <a:avLst>
              <a:gd name="adj" fmla="val 9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31345bc6a54288"/>
          <a:stretch xmlns:a="http://schemas.openxmlformats.org/drawingml/2006/main"/>
        </p:blipFill>
        <p:spPr>
          <a:xfrm xmlns:a="http://schemas.openxmlformats.org/drawingml/2006/main">
            <a:off x="4581525" y="1790700"/>
            <a:ext cx="6705600" cy="3771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BB0D88F9-B37C-4F9F-AB54-A100B395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192985-C0DD-4A3A-983F-65611FAE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竞品结论必须先成为证据记录，才能进入 PRD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D9189093-8AFD-4C12-8E52-35625D30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“没找到”不等于“不支持”；未知与冲突也必须作为正式结果交付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AAE95D-4E00-4853-AFAE-F5A28048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2637C1-5921-4C2E-8846-1932B543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ResearchUnit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FFA781-223F-4CFF-93DE-944C8458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竞品 × Feature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BEEC9A-7C29-46C2-ADE3-78CE931F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例：某图库 × 重复照片清理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E364F0-9114-4CBE-BE3C-B58BDB6D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860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0F7D22-3933-4F4A-A303-AB340AC0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714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54C98F-7F81-4FDB-8B36-493B387D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0383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EvidenceRecord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2531A0-AA06-451A-9FFF-14560E03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4193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主张 + 来源 + 版本 + 地区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30FFEA-10B0-4C93-AFE8-FBCA2946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78130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记录支持/反对方向与原文事实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B6B98A-B435-4AF2-BD66-1BEECB7E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2860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3CF6D7-98EB-44C8-9566-B8B3FA4C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43820D-4E92-40BA-BEF0-72D125B4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099C0B-E3E7-4DFE-9676-64987BB6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193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A / B / 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739E34-07D7-4976-B72A-391A85DD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官方直接证据优先；间接证据降级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6AF622-A540-4D41-B47E-64F877ED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860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64F05C-274B-465E-981F-0E4A33C5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714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41B07E-5C79-49AA-B1F0-B8F2C46B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0383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Decision Input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C60B4D-4113-477D-AE2C-92EA5997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4193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事实 / 推断 / 建议分栏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512197-CE42-49F7-B3DB-1F22068B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78130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只有可追溯事实进入 PRD 基线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2EA390-A886-41EF-BB38-5CF5BE8F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0629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A7AA50-7F48-4324-8B97-F3EA9C1F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检索停止规则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AA1C8C-CDF5-49E7-A101-D1D7BEB6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2857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ED"/>
          </a:solidFill>
          <a:ln xmlns:a="http://schemas.openxmlformats.org/drawingml/2006/main" w="9525">
            <a:solidFill>
              <a:srgbClr val="267A5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63D805-BDEA-48DB-BFF0-652E93AC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rPr>
              <a:t>Tier 1 当前版本直接证据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37A4D8-7813-4B5C-9636-EF499691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00550"/>
            <a:ext cx="3181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315C8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A2EBDB-4A31-493B-A22C-6F95A253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429125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C88"/>
                </a:solidFill>
                <a:latin typeface="Microsoft YaHei"/>
                <a:ea typeface="Microsoft YaHei"/>
                <a:cs typeface="Microsoft YaHei"/>
              </a:rPr>
              <a:t>两条独立 Tier 2/3 证据一致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1BF3E6-32A8-4B17-A269-D836DF99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00550"/>
            <a:ext cx="3429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9525">
            <a:solidFill>
              <a:srgbClr val="C7000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E48583-BD4F-4683-9493-CDDE89C9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429125"/>
            <a:ext cx="327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达到上限仍冲突 → UNKNOWN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8D4561-5F33-41FB-AA62-2B8AC0B4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10629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案例中的价值：若竞品撤销期限、端侧处理或人物语义没有直接证据，就不能被写成行业基线；它只能进入待核验清单。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ADC57983-F60A-4BB1-8EC1-AD859AEB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37F8EF-81EE-41D9-ABA5-85A9799E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风险分层让六类请求收敛为低歧义 MVP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79E73F56-365C-4D9A-8F45-D10E1479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功能范围不按“能不能识别”划分，而按误删后果、可解释性和可恢复性划分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FA3980-5E40-4CF0-9F72-90987F41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10629900" cy="8953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E8F3E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3FEA89-BE6A-4F70-A3B1-D2B9798E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859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67A53"/>
                </a:solidFill>
                <a:latin typeface="Microsoft YaHei"/>
                <a:ea typeface="Microsoft YaHei"/>
                <a:cs typeface="Microsoft YaHei"/>
              </a:rPr>
              <a:t>低风险：进入确认执行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AB3B40-1199-4CC7-B105-81BB95B6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85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时间 / 明确类型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1EAD27-ABE1-46B3-86B4-35101296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66900"/>
            <a:ext cx="4610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删除上个月截图｜清理明确重复组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B07502-B251-435D-894B-F99CCA22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0629900" cy="8953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3D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7E6B37-5017-48DE-84D2-970782A0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99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47B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47B00"/>
                </a:solidFill>
                <a:latin typeface="Microsoft YaHei"/>
                <a:ea typeface="Microsoft YaHei"/>
                <a:cs typeface="Microsoft YaHei"/>
              </a:rPr>
              <a:t>中风险：解释后确认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F0B910-CE33-43B2-B91B-F95B18EF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09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质量 / 组合条件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B22A38-564C-4FFA-ABA3-8D04C648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90850"/>
            <a:ext cx="4610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模糊判定需说明理由｜候选集过大需二次缩小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866303-92FB-4A3C-AF42-DC066A12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8953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958E21-E05D-4077-8A90-961AB47D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338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高风险：仅筛选不删除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3D81C6-A726-4218-9800-E0BF6579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33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人物 / 票据 / 私密 / 事件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D486E9-FA29-4192-89E6-FAFDBEFD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14800"/>
            <a:ext cx="4610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不提供一句话直接执行；提示降级原因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C651DB-1777-452C-934A-966C4ECA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砍掉的不是能力，而是未经验证的执行权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7C6477-0D56-4E04-91BF-0AD0FB40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3530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MVP 先验证用户能否理解候选范围，再决定是否扩大自动化。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DEAEFE5D-3405-4C17-A29C-DA5BD506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E14481-1FD1-460D-85B9-6E76B131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PRD 是证据、规则、状态与验收的决策账本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D083BFE2-BF85-4D64-AC4E-866639B1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每条需求都能追溯到风险假设，并明确异常状态与可观察验收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3BBA42-0174-4100-940B-A3615434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F292E2-59D5-4611-9656-8F5A21A9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 / 假设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B8D53F-53A5-4996-8DBF-D686B0A3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76400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FCA1F2-630A-4F24-A623-F9CD0FCA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52600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产品规则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8A2CE0-BE45-4074-9DB5-D8D926AE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764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5614E3-D4F0-4B09-AB7C-9D9BD05E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5260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状态与异常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08894F-461C-4CB9-AFE5-98E52B4B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7640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93C0F4-F1EE-4C70-BC38-50614149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5260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验收口径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B43EBD-6DC3-4C1A-A401-77D3AD95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A033B8-FE37-4C0B-8480-015E03B9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自然语言缺少对象/条件/范围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747CD0-2BA2-482B-B42A-A5AEFD73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095500"/>
            <a:ext cx="2724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B48005-4B46-441D-A8AC-CF5A5A5D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90750"/>
            <a:ext cx="2495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缺失项必须追问，不自动补全删除范围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438D51-8CFB-42F8-A4BC-19FB8FE7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09550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854BFA-A988-47E0-902C-7E8E457A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90750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解析不完整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D37E07-536A-4D57-AEA7-5FBB06F0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3143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CDD41C-0883-4862-B69E-2AB7A2A8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2914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任何异常分支不绕过确认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A63077-C42B-4E52-BB54-74F71282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F91BEC-86D5-4548-8178-77FFD220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用户难以核对系统选择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477771-34B5-4447-A103-13487793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95600"/>
            <a:ext cx="2724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C090D9-F081-433B-9FD1-EA50A076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90850"/>
            <a:ext cx="2495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预览展示原词、条件、数量、分组与命中理由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87A385-EF4C-426F-83E3-C9C2D781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9560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26745D-ADE8-47A6-828D-8C258013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90850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正常 / 候选过大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9ECE1B-9250-4169-B1C8-5880DA73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95600"/>
            <a:ext cx="3143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B51601-7049-41F6-A067-4186C70F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90850"/>
            <a:ext cx="2914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执行前用户可复述选择范围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9869CA-6B96-444D-9D6C-8857DCEB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931F78-43D9-4564-A319-76DA2280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删除后果高且可能误选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624B67-215D-48A8-9789-69ADCFC6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95700"/>
            <a:ext cx="2724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14A537-C563-4359-841B-38F42EC6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90950"/>
            <a:ext cx="2495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显式确认；默认进入回收站；保留稳定恢复入口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EFF0F7-04A3-404B-8CBC-7C623EE2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69570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6FD2FA-5913-4846-A4C1-8F5C7726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90950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确认 / 执行 / 撤销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E8968E6-7EDC-4DD2-99E8-D651048B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95700"/>
            <a:ext cx="3143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2A102B6-0DE8-429B-BFDC-96B93950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90950"/>
            <a:ext cx="2914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执行后可在稳定入口恢复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454F051-806C-488D-B320-ED32D350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123E8B5-95ED-430A-A59D-DCC353C5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人物、票据等敏感对象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DE910CC-D431-471C-B992-74A2EF4A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495800"/>
            <a:ext cx="2724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7BE762A-71B2-4711-A64F-C2B737BD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591050"/>
            <a:ext cx="2495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高风险请求降级为筛选，不出现执行按钮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BB787B5-1BFD-44CC-85F9-6D2C56B1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49580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78624CF-3C4D-4A7C-8C56-20E69EDD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91050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高风险降级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1351FB1-EF3F-4DF2-9BF1-26ADF4EE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95800"/>
            <a:ext cx="3143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89B7D02-5232-43A9-8C21-A2B297B4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91050"/>
            <a:ext cx="2914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不得以高置信度跳过确认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2FFFBD8-BAAF-4647-8EE0-AB4A4942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48300"/>
            <a:ext cx="1062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这张账本让用研、体验、算法、工程和隐私评审讨论同一条可验证链路。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F1EAAAC8-7F1D-4B1E-A4AD-05986861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9123EA6-57AA-48D9-8822-E174CD59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原型必须覆盖系统理解、执行后果与恢复入口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FBCBA6E5-E609-4874-B2FA-7BDE8BC8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正常主链路只是 1 个状态；真正决定可信度的是异常如何降级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A0BA27-5D3C-4909-8C9B-DB83C1E2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146685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BAD86F-6EB9-4434-A0B7-83E5AE3D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2967BE-0693-47FD-A179-63B89B60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526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输入意图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A0D605-CB41-41C6-B9C2-9581F194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3835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EF3EE1-A273-4662-9B51-FBEFB619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790700"/>
            <a:ext cx="146685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7B6E73-03F5-4B14-AEEF-4D569E57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85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6AAF75-8A45-41A5-9E70-50F0085D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526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结构化解析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6485EA-FA2E-4596-A917-58E85609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03835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D157E3-B9C3-4B83-89D1-6E1D7990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90700"/>
            <a:ext cx="146685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48F286-7258-4001-85D3-46F53372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85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7C9013-9506-4288-A8B4-82B208DF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526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检索候选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0910CA-8876-487F-AF2B-8842B2BB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401AD8-98FC-46E8-9DD1-7F19B3B4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146685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69F974-68A5-4D88-BF6E-979247AF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85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EDD716-6ED2-4062-AB39-23A512D8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526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解释预览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5754BD-7430-418A-8041-8DAA7931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3835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6A8EFF-FE72-4D4E-9FC3-0216A590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790700"/>
            <a:ext cx="146685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19050">
            <a:solidFill>
              <a:srgbClr val="C7000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11F4B3-1044-4E94-ACCC-9D25C29F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85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626CE8-32A9-4648-8C37-4DB7A6D3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526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显式确认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3B9A52-63C9-4DEE-8B0E-2DC76984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38350"/>
            <a:ext cx="304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DAB8DE-DA1C-4F30-BECA-533706FF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790700"/>
            <a:ext cx="146685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BB3D6B-6D18-4418-9FB8-BB3508BB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885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99CAEF-2D03-4A3E-8324-3FB720AE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1526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执行与撤销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AC58C1-E78E-431A-A32D-9182C12A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原型必须单独画出的 4 类状态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0C9051-6735-4D37-AEC2-CF3F0B0E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504825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3DB9DD-EDBE-4AF1-81A5-A2005DE0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解析不完整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1D3FB8-4E3C-42F1-A8B3-7FC592D5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6195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返回可选条件，不擅自补全范围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8E9F29-09E7-46B1-BF56-7A19A797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43300"/>
            <a:ext cx="504825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81F27B-DF69-4CDF-8C4C-3F0BDE84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385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候选集过大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4607D8-4AFA-4D41-91FC-4B82466E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195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按时间/来源/类型分组，要求二次缩小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023D83B-0B04-46C9-B1FA-34113E3D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504825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9525">
            <a:solidFill>
              <a:srgbClr val="C7000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B8FABB7-DCB2-4610-8A94-359520DC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高风险对象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DEBCB05-295F-4008-BF6D-9B44E40A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4577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仅提供筛选，并解释为什么不能直接执行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2A2058A-57ED-495F-A814-73730CA4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81500"/>
            <a:ext cx="504825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D36A442-7B02-48B8-BF57-398FADEC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767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执行失败/需恢复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7EDDE13-6D88-457C-8ADF-8BAA88AB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577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展示结果、回收站期限和稳定恢复入口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633EFAF-01B9-486E-9FB1-6326C157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1062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原型测试的不是“看起来顺不顺”，而是用户能否解释范围、排除误选、理解降级并找到恢复。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C9559942-C2CD-490E-B5BD-44541228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0170E35-9826-4A65-9065-AD4C16FB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阶段门只批准下一步，阻止过早工程承诺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BA34613A-5CC2-46D7-B84B-B9A0ADDB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方向、可用性、技术与隐私分别过门；任一红线失败即停止立项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EB483C-A41C-4DE4-8829-B46A92E8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6572250" cy="3714750"/>
          </a:xfrm>
          <a:prstGeom xmlns:a="http://schemas.openxmlformats.org/drawingml/2006/main" prst="roundRect">
            <a:avLst>
              <a:gd name="adj" fmla="val 10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bc27e137514eda"/>
          <a:stretch xmlns:a="http://schemas.openxmlformats.org/drawingml/2006/main"/>
        </p:blipFill>
        <p:spPr>
          <a:xfrm xmlns:a="http://schemas.openxmlformats.org/drawingml/2006/main">
            <a:off x="968375" y="1809750"/>
            <a:ext cx="6197600" cy="3486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443778-4046-45CF-8747-82BFF954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75260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P0 方案冻结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9511DB-7753-45B5-9FA3-744D5E64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574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交互原型 / 意图词表 / 风险分级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977042-DA13-40F9-B634-B5BC946B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3365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P1 可用性验证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FCCF28-C3DA-4092-96D1-A1048CED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384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任务脚本 / 理解偏差 / 口径达标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E7E4D9-01CD-42AA-9923-A37D2347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1470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P2 技术预研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49F7CE-49D4-4604-B4C1-DF4DB2D8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1950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端侧样机 / 索引能力 / 隐私红线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AFBB2A-E48E-44CB-A7E0-85A8E023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9575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P3 工程立项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01CBD3-FDA6-4214-8281-1D4310F8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400550"/>
            <a:ext cx="339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MVP / 灰度 / 监控 / 回滚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BA3D09-D4B5-4800-AD64-0EFC96E7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010150"/>
            <a:ext cx="3390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EE4A48-5AFC-432F-B215-455F4E8E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1054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退出条件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B97B64-DCF2-400C-83C6-BBBBFCE6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35305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误选不可控 / 不可理解 / 性能不达标 / 隐私不过线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ubtitle 1">
            <a:extLst xmlns:a="http://schemas.openxmlformats.org/drawingml/2006/main">
              <a:ext uri="{FF2B5EF4-FFF2-40B4-BE49-F238E27FC236}">
                <a16:creationId xmlns:a16="http://schemas.microsoft.com/office/drawing/2014/main" id="{C6ADB1D9-336D-594D-9418-4BC486843D2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7B0514-4060-0E4B-809B-B1B2E3258AB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391" y="-1188720"/>
            <a:ext cx="184731" cy="52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440"/>
              </a:lnSpc>
              <a:buNone/>
            </a:pPr>
            <a:endParaRPr sz="32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8FE291B1-5221-42C5-81E9-052C373D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A"/>
          </a:solidFill>
          <a:ln xmlns:a="http://schemas.openxmlformats.org/drawingml/2006/main" w="0">
            <a:noFill/>
          </a:ln>
        </p:spPr>
      </p:sp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22C30D-538D-4A0F-B2C7-AD408158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062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Skill 要通过契约、资源、校验与评估才可复用</a:t>
            </a:r>
          </a:p>
        </p:txBody>
      </p:sp>
      <p:sp>
        <p:nvSpPr>
          <p:cNvPr id="11" name="slide-lead">
            <a:extLst xmlns:a="http://schemas.openxmlformats.org/drawingml/2006/main">
              <a:ext uri="{FF2B5EF4-FFF2-40B4-BE49-F238E27FC236}">
                <a16:creationId xmlns:a16="http://schemas.microsoft.com/office/drawing/2014/main" id="{D33F5278-B745-4309-B128-F91D8339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不是把长提示词保存起来，而是把判断方法拆成可维护的系统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EA7523-47F2-4101-A7CD-A0ECA8CB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12573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61BD6F-ADB4-435E-9908-867C4D7D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10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一次性提示词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7BBF03-84B7-4DB5-B27D-1FEFC810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82880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FF8F25-66D5-4ED1-AE84-0B35B0BC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714500"/>
            <a:ext cx="12573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ECE460-7EAE-459A-A44A-5845E037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809750"/>
            <a:ext cx="110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触发与输入契约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091BBA-FA7B-4085-8487-BD967018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2880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80DA6D-4026-454B-A574-11739989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714500"/>
            <a:ext cx="12573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420015-19E7-42A5-A658-B3788DAD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809750"/>
            <a:ext cx="110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步骤与停止条件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7B2CD1-3C1E-409C-A7FA-E12F89C2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2880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BE541F-9C6F-44B5-8206-22A50A88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714500"/>
            <a:ext cx="12573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2037C1-189B-4D3F-B5E9-D32AF6DB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809750"/>
            <a:ext cx="110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references / templates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81B01F-6591-4FD4-9730-D98387B0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2880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CFC1E0-B3B7-4D13-AFED-3E90AC38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14500"/>
            <a:ext cx="12573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CEBED"/>
          </a:solidFill>
          <a:ln xmlns:a="http://schemas.openxmlformats.org/drawingml/2006/main" w="9525">
            <a:solidFill>
              <a:srgbClr val="C7000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FF2C16-C618-4654-956B-46BDF2C3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809750"/>
            <a:ext cx="110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scripts 门禁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653DB3-8938-400D-83B4-7EA95554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2880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675998-C3B2-4819-A408-0313DAA3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14500"/>
            <a:ext cx="12573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4E1146-3330-47D1-99D6-094C42BD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110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真实案例 eval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205009-EE18-40D4-953C-17B1E0D7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82880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F901C6-3DC9-49DE-B6E7-E8614692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14500"/>
            <a:ext cx="12573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9AF56B-6F87-4CDF-A5D2-D00588F0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09750"/>
            <a:ext cx="110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版本与复盘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88C476-F5CB-4D10-A77F-A4B85139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10629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60F2F0-9B72-472E-840F-C26DB458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$ur-design-survey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B61D07-1D59-4B1F-BBBF-678C314D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输入：课题 / 目标 / 场景 / 约束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454AD2-D329-49F2-A238-9208594B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方法：目标—证据—题目、分支与互斥规则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88D35C-EA65-4DFD-9C61-572A8559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门禁：12 题、0 风险信号；效度仍需人工验证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79A24C-0AFA-4DDB-8B6E-E04C8794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813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$pm-system-app-competitor-matrix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A58BB8-DB8F-48BF-8FFD-CBEB7F7A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62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输入：研究问题 / 竞品 / FeatureSchema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FA9233-17F0-4FD6-BDD5-D6B2033C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861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方法：ResearchUnit、EvidenceRecord、停止规则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19D36E3-9C0D-433A-B4E0-BF6C0DD0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10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门禁：事实、冲突、未知分栏；证据等级保留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22D78B-0B3A-4C36-98F3-817AF48B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10629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20162AA-1B40-478D-B201-47A012BA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Command 不是“魔法咒语”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0BEEE1E-645E-4C60-BA92-BB7CCD3A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76750"/>
            <a:ext cx="7391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  <a:cs typeface="Microsoft YaHei"/>
              </a:rPr>
              <a:t>$ur-design-survey 课题：手机图库 AI；目标：识别高频任务、问题与 Top 1；场景：原始需求洞察；≤12 题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521EACA-45E0-4E23-B5E8-8068332A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10629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组合方式：机会洞察/竞品追踪 → 用户研究/竞品矩阵 → 产品方案/PRD/原型 → 功能命名/微文案 → 指标与反馈复盘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B1A621-5486-471B-A533-122B284B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6286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把 AI 当同事之前，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先把自己的判断系统写出来。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95057A-A546-46BB-A110-DADC9857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685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1  先选一个高频、返工昂贵、质量可检查的任务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2  把输入、证据、状态、输出和停止条件写成契约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75756"/>
                </a:solidFill>
                <a:latin typeface="Microsoft YaHei"/>
                <a:ea typeface="Microsoft YaHei"/>
                <a:cs typeface="Microsoft YaHei"/>
              </a:rPr>
              <a:t>3  让脚本检查可确定的错误，让产品经理保留价值判断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39464-9F8E-4568-999D-2589EBD6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A"/>
                </a:solidFill>
                <a:latin typeface="Microsoft YaHei"/>
                <a:ea typeface="Microsoft YaHei"/>
                <a:cs typeface="Microsoft YaHei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252022315"/>
      </p:ext>
    </p:extLst>
  </p:cSld>
</p:sld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2210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2026-09-14T14:14:40.9440000Z</dcterms:created>
  <dcterms:modified xsi:type="dcterms:W3CDTF">2026-09-14T14:14:40.9440000Z</dcterms:modified>
</coreProperties>
</file>