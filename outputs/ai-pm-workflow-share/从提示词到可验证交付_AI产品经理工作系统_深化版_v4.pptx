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d2120e3c5b4e8d" /><Relationship Type="http://schemas.openxmlformats.org/officeDocument/2006/relationships/extended-properties" Target="/docProps/app.xml" Id="Rd868fa6c9fc14d4d" /><Relationship Type="http://schemas.openxmlformats.org/officeDocument/2006/relationships/officeDocument" Target="/ppt/presentation.xml" Id="R9501a1a2638744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2f3149797b42da"/>
  </p:sldMasterIdLst>
  <p:notesMasterIdLst>
    <p:notesMasterId xmlns:r="http://schemas.openxmlformats.org/officeDocument/2006/relationships" r:id="R51bfeb9e271347ce"/>
  </p:notesMasterIdLst>
  <p:sldIdLst>
    <p:sldId xmlns:r="http://schemas.openxmlformats.org/officeDocument/2006/relationships" id="256" r:id="R60506dff9d784e9f"/>
    <p:sldId xmlns:r="http://schemas.openxmlformats.org/officeDocument/2006/relationships" id="257" r:id="Rd626167cd12243eb"/>
    <p:sldId xmlns:r="http://schemas.openxmlformats.org/officeDocument/2006/relationships" id="258" r:id="R0e8256d28da545bf"/>
    <p:sldId xmlns:r="http://schemas.openxmlformats.org/officeDocument/2006/relationships" id="259" r:id="R8d94b78c7473473e"/>
    <p:sldId xmlns:r="http://schemas.openxmlformats.org/officeDocument/2006/relationships" id="260" r:id="R4cdb520b1b3447a6"/>
    <p:sldId xmlns:r="http://schemas.openxmlformats.org/officeDocument/2006/relationships" id="261" r:id="R939fed48701d4012"/>
    <p:sldId xmlns:r="http://schemas.openxmlformats.org/officeDocument/2006/relationships" id="262" r:id="Rb481d30c55134fba"/>
    <p:sldId xmlns:r="http://schemas.openxmlformats.org/officeDocument/2006/relationships" id="263" r:id="R1ac274f53581440a"/>
    <p:sldId xmlns:r="http://schemas.openxmlformats.org/officeDocument/2006/relationships" id="264" r:id="Rbe4a206ec8864af9"/>
    <p:sldId xmlns:r="http://schemas.openxmlformats.org/officeDocument/2006/relationships" id="265" r:id="R38d9d2443af841d4"/>
    <p:sldId xmlns:r="http://schemas.openxmlformats.org/officeDocument/2006/relationships" id="266" r:id="R4e2056c048c64d22"/>
    <p:sldId xmlns:r="http://schemas.openxmlformats.org/officeDocument/2006/relationships" id="267" r:id="Rec5beb0f79044c80"/>
    <p:sldId xmlns:r="http://schemas.openxmlformats.org/officeDocument/2006/relationships" id="268" r:id="Ra413454e7ccb4366"/>
    <p:sldId xmlns:r="http://schemas.openxmlformats.org/officeDocument/2006/relationships" id="269" r:id="Rc77e9bc993ba4cf5"/>
    <p:sldId xmlns:r="http://schemas.openxmlformats.org/officeDocument/2006/relationships" id="270" r:id="R46b45f3a51d74332"/>
    <p:sldId xmlns:r="http://schemas.openxmlformats.org/officeDocument/2006/relationships" id="271" r:id="Rc1ece71aebe94257"/>
    <p:sldId xmlns:r="http://schemas.openxmlformats.org/officeDocument/2006/relationships" id="272" r:id="R59da2044db5f4153"/>
    <p:sldId xmlns:r="http://schemas.openxmlformats.org/officeDocument/2006/relationships" id="273" r:id="R1fd7d55ed5e34ee7"/>
    <p:sldId xmlns:r="http://schemas.openxmlformats.org/officeDocument/2006/relationships" id="274" r:id="Rcbefcd36da364ac8"/>
    <p:sldId xmlns:r="http://schemas.openxmlformats.org/officeDocument/2006/relationships" id="275" r:id="R91215d81078a4e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9e9cee25b046ee" /><Relationship Type="http://schemas.openxmlformats.org/officeDocument/2006/relationships/slideMaster" Target="/ppt/slideMasters/slideMaster1.xml" Id="Rec2f3149797b42da" /><Relationship Type="http://schemas.openxmlformats.org/officeDocument/2006/relationships/notesMaster" Target="/ppt/notesMasters/notesMaster1.xml" Id="R51bfeb9e271347ce" /><Relationship Type="http://schemas.openxmlformats.org/officeDocument/2006/relationships/presProps" Target="/ppt/presProps.xml" Id="R9f22d720af4e47c3" /><Relationship Type="http://schemas.openxmlformats.org/officeDocument/2006/relationships/tableStyles" Target="/ppt/tableStyles.xml" Id="R4a465d47df1c49a2" /><Relationship Type="http://schemas.openxmlformats.org/officeDocument/2006/relationships/slide" Target="/ppt/slides/slide1.xml" Id="R60506dff9d784e9f" /><Relationship Type="http://schemas.openxmlformats.org/officeDocument/2006/relationships/slide" Target="/ppt/slides/slide2.xml" Id="Rd626167cd12243eb" /><Relationship Type="http://schemas.openxmlformats.org/officeDocument/2006/relationships/slide" Target="/ppt/slides/slide3.xml" Id="R0e8256d28da545bf" /><Relationship Type="http://schemas.openxmlformats.org/officeDocument/2006/relationships/slide" Target="/ppt/slides/slide4.xml" Id="R8d94b78c7473473e" /><Relationship Type="http://schemas.openxmlformats.org/officeDocument/2006/relationships/slide" Target="/ppt/slides/slide5.xml" Id="R4cdb520b1b3447a6" /><Relationship Type="http://schemas.openxmlformats.org/officeDocument/2006/relationships/slide" Target="/ppt/slides/slide6.xml" Id="R939fed48701d4012" /><Relationship Type="http://schemas.openxmlformats.org/officeDocument/2006/relationships/slide" Target="/ppt/slides/slide7.xml" Id="Rb481d30c55134fba" /><Relationship Type="http://schemas.openxmlformats.org/officeDocument/2006/relationships/slide" Target="/ppt/slides/slide8.xml" Id="R1ac274f53581440a" /><Relationship Type="http://schemas.openxmlformats.org/officeDocument/2006/relationships/slide" Target="/ppt/slides/slide9.xml" Id="Rbe4a206ec8864af9" /><Relationship Type="http://schemas.openxmlformats.org/officeDocument/2006/relationships/slide" Target="/ppt/slides/slide10.xml" Id="R38d9d2443af841d4" /><Relationship Type="http://schemas.openxmlformats.org/officeDocument/2006/relationships/slide" Target="/ppt/slides/slide11.xml" Id="R4e2056c048c64d22" /><Relationship Type="http://schemas.openxmlformats.org/officeDocument/2006/relationships/slide" Target="/ppt/slides/slide12.xml" Id="Rec5beb0f79044c80" /><Relationship Type="http://schemas.openxmlformats.org/officeDocument/2006/relationships/slide" Target="/ppt/slides/slide13.xml" Id="Ra413454e7ccb4366" /><Relationship Type="http://schemas.openxmlformats.org/officeDocument/2006/relationships/slide" Target="/ppt/slides/slide14.xml" Id="Rc77e9bc993ba4cf5" /><Relationship Type="http://schemas.openxmlformats.org/officeDocument/2006/relationships/slide" Target="/ppt/slides/slide15.xml" Id="R46b45f3a51d74332" /><Relationship Type="http://schemas.openxmlformats.org/officeDocument/2006/relationships/slide" Target="/ppt/slides/slide16.xml" Id="Rc1ece71aebe94257" /><Relationship Type="http://schemas.openxmlformats.org/officeDocument/2006/relationships/slide" Target="/ppt/slides/slide17.xml" Id="R59da2044db5f4153" /><Relationship Type="http://schemas.openxmlformats.org/officeDocument/2006/relationships/slide" Target="/ppt/slides/slide18.xml" Id="R1fd7d55ed5e34ee7" /><Relationship Type="http://schemas.openxmlformats.org/officeDocument/2006/relationships/slide" Target="/ppt/slides/slide19.xml" Id="Rcbefcd36da364ac8" /><Relationship Type="http://schemas.openxmlformats.org/officeDocument/2006/relationships/slide" Target="/ppt/slides/slide20.xml" Id="R91215d81078a4e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741653b22c46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0d5ed5efc54e93" /><Relationship Type="http://schemas.openxmlformats.org/officeDocument/2006/relationships/notesMaster" Target="/ppt/notesMasters/notesMaster1.xml" Id="Rf46ef34876b341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0a2ed667444055" /><Relationship Type="http://schemas.openxmlformats.org/officeDocument/2006/relationships/notesMaster" Target="/ppt/notesMasters/notesMaster1.xml" Id="Rfd4da6c0cd8d41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f3eb3876364908" /><Relationship Type="http://schemas.openxmlformats.org/officeDocument/2006/relationships/notesMaster" Target="/ppt/notesMasters/notesMaster1.xml" Id="R0345eeea396741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7708e1052042c0" /><Relationship Type="http://schemas.openxmlformats.org/officeDocument/2006/relationships/notesMaster" Target="/ppt/notesMasters/notesMaster1.xml" Id="R635faa3ba4bf4e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4bd5b9113b45bb" /><Relationship Type="http://schemas.openxmlformats.org/officeDocument/2006/relationships/notesMaster" Target="/ppt/notesMasters/notesMaster1.xml" Id="R3e13115000c84b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3c189da1514ab9" /><Relationship Type="http://schemas.openxmlformats.org/officeDocument/2006/relationships/notesMaster" Target="/ppt/notesMasters/notesMaster1.xml" Id="Rc4ee0955021b45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ead2d792c04a76" /><Relationship Type="http://schemas.openxmlformats.org/officeDocument/2006/relationships/notesMaster" Target="/ppt/notesMasters/notesMaster1.xml" Id="Rc133742831f64b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a0e27acd094260" /><Relationship Type="http://schemas.openxmlformats.org/officeDocument/2006/relationships/notesMaster" Target="/ppt/notesMasters/notesMaster1.xml" Id="Reb0692cdff9544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3b6b3ee8964dc1" /><Relationship Type="http://schemas.openxmlformats.org/officeDocument/2006/relationships/notesMaster" Target="/ppt/notesMasters/notesMaster1.xml" Id="R87933f8f518c44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e38ff32dd34580" /><Relationship Type="http://schemas.openxmlformats.org/officeDocument/2006/relationships/notesMaster" Target="/ppt/notesMasters/notesMaster1.xml" Id="R6311f9de206b44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145db2e7774e76" /><Relationship Type="http://schemas.openxmlformats.org/officeDocument/2006/relationships/notesMaster" Target="/ppt/notesMasters/notesMaster1.xml" Id="Ra9b62714b9c246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1e56597fb340c5" /><Relationship Type="http://schemas.openxmlformats.org/officeDocument/2006/relationships/notesMaster" Target="/ppt/notesMasters/notesMaster1.xml" Id="R4b5b798a01fd4a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855ce972b14c45" /><Relationship Type="http://schemas.openxmlformats.org/officeDocument/2006/relationships/notesMaster" Target="/ppt/notesMasters/notesMaster1.xml" Id="Rf8d09735704746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2427f2421049d0" /><Relationship Type="http://schemas.openxmlformats.org/officeDocument/2006/relationships/notesMaster" Target="/ppt/notesMasters/notesMaster1.xml" Id="R4f7911a6f5ad4a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198253ac96479a" /><Relationship Type="http://schemas.openxmlformats.org/officeDocument/2006/relationships/notesMaster" Target="/ppt/notesMasters/notesMaster1.xml" Id="R1fe47f4378f7422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b1976e170584d46" /><Relationship Type="http://schemas.openxmlformats.org/officeDocument/2006/relationships/notesMaster" Target="/ppt/notesMasters/notesMaster1.xml" Id="R5f066ae02460449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88206edde5848a4" /><Relationship Type="http://schemas.openxmlformats.org/officeDocument/2006/relationships/notesMaster" Target="/ppt/notesMasters/notesMaster1.xml" Id="R7cd1b69a38024a4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9a1dc599d854c5e" /><Relationship Type="http://schemas.openxmlformats.org/officeDocument/2006/relationships/notesMaster" Target="/ppt/notesMasters/notesMaster1.xml" Id="Rb52b84a08e384f3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c3852c3ff9d4535" /><Relationship Type="http://schemas.openxmlformats.org/officeDocument/2006/relationships/notesMaster" Target="/ppt/notesMasters/notesMaster1.xml" Id="R79fd06a2f95e4e8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567568267c246c8" /><Relationship Type="http://schemas.openxmlformats.org/officeDocument/2006/relationships/notesMaster" Target="/ppt/notesMasters/notesMaster1.xml" Id="R3b0f297bedfd4f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分钟</a:t>
            </a:r>
          </a:p>
          <a:p xmlns:a="http://schemas.openxmlformats.org/drawingml/2006/main">
            <a:r>
              <a:t>开场：过去一年我最大的变化，不是换了哪个模型，而是不断把自己的判断方式、任务状态和质量标准移出聊天框。今天不做名词科普，我想拆解为什么这些控制信息必须被外置，以及我怎样把它们做成 Skill、文件契约和验证器。</a:t>
            </a:r>
          </a:p>
          <a:p xmlns:a="http://schemas.openxmlformats.org/drawingml/2006/main">
            <a:r>
              <a:t>主视觉由图像生成工具制作。背景节点从单点对话扩展为工作系统，对应本次分享的核心叙事。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建议用时：1.5 分钟</a:t>
            </a:r>
          </a:p>
          <a:p xmlns:a="http://schemas.openxmlformats.org/drawingml/2006/main">
            <a:r>
              <a:t>先把问题从‘提示词写得好不好’扩大到交付系统。同一个图库 AI 清理任务，会在事实、决策、执行和最终交付四处失败。四种失败无法只靠换模型解决。后面每一层演进，都对应消除一类系统性失败。</a:t>
            </a:r>
          </a:p>
          <a:p xmlns:a="http://schemas.openxmlformats.org/drawingml/2006/main">
            <a:r>
              <a:t>可以现场问：大家最近一次 AI 返工，属于这四类里的哪一类？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我把演变理解成四种契约。Prompt 规定怎样回答，Context 规定哪些事实和状态可以进入判断，Agent 规定可以采取哪些行动，Harness 规定行动如何在可恢复、可验证和可审计的环境中发生。</a:t>
            </a:r>
          </a:p>
          <a:p xmlns:a="http://schemas.openxmlformats.org/drawingml/2006/main">
            <a:r>
              <a:t>这是全场的分析框架。后面讲每个 Skill 时都问四个问题：回答要求是什么、证据从哪里来、允许采取什么动作、如何证明交付合格。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提示词工程没有过时。它仍然负责把一次回答的目标、受众、约束和输出写清楚。问题在于，很多团队用一个巨型 Prompt 同时承担知识库、流程、状态、权限和检查清单。Prompt 越来越长，其实是在替其他层级打补丁。</a:t>
            </a:r>
          </a:p>
          <a:p xmlns:a="http://schemas.openxmlformats.org/drawingml/2006/main">
            <a:r>
              <a:t>转折点：当我开始复制历史 PRD、竞品资料和检查清单时，我需要的不再是更长的提示词，而是一个有生命周期的上下文系统。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 分钟</a:t>
            </a:r>
          </a:p>
          <a:p xmlns:a="http://schemas.openxmlformats.org/drawingml/2006/main">
            <a:r>
              <a:t>上下文不是越多越好，而是一组为当前决策服务的工作集。稳定规则和任务契约尽量保持短而稳定；动态证据按 Research Question 检索；运行状态用于跨轮次、跨工具恢复。</a:t>
            </a:r>
          </a:p>
          <a:p xmlns:a="http://schemas.openxmlformats.org/drawingml/2006/main">
            <a:r>
              <a:t>RAG 是动态证据进入上下文的一种操作。它不能自动解决过期、冲突、权限、检索停止和下游污染。</a:t>
            </a:r>
          </a:p>
          <a:p xmlns:a="http://schemas.openxmlformats.org/drawingml/2006/main">
            <a:r>
              <a:t>来源：Lewis 等，Retrieval-Augmented Generation for Knowledge-Intensive NLP Tasks，https://arxiv.org/abs/2005.11401</a:t>
            </a:r>
          </a:p>
          <a:p xmlns:a="http://schemas.openxmlformats.org/drawingml/2006/main">
            <a:r>
              <a:t>来源：Anthropic，Contextual Retrieval，https://www.anthropic.com/engineering/contextual-retrieval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 分钟</a:t>
            </a:r>
          </a:p>
          <a:p xmlns:a="http://schemas.openxmlformats.org/drawingml/2006/main">
            <a:r>
              <a:t>Agent 的核心不是多调用几个工具，而是根据观察结果更新状态并改变下一步。产品经理要把成功、动作、停止和升级四类条件产品化。</a:t>
            </a:r>
          </a:p>
          <a:p xmlns:a="http://schemas.openxmlformats.org/drawingml/2006/main">
            <a:r>
              <a:t>预定义 Workflow 与动态 Agent 不冲突。研究确认、发布审批等关键门禁可以固定；证据搜索、文件定位和修复可以让 Agent 动态选择。</a:t>
            </a:r>
          </a:p>
          <a:p xmlns:a="http://schemas.openxmlformats.org/drawingml/2006/main">
            <a:r>
              <a:t>来源：Anthropic，Building Effective Agents，https://www.anthropic.com/engineering/building-effective-agents</a:t>
            </a:r>
          </a:p>
          <a:p xmlns:a="http://schemas.openxmlformats.org/drawingml/2006/main">
            <a:r>
              <a:t>来源：OpenAI Model Guidance，工具调用、状态管理与 stopping conditions，https://developers.openai.com/api/docs/guides/latest-model?model=gpt-5.5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Harness 不是一个单独软件名称，而是包围 Agent 的运行时产品。它设计的不是正常路径，而是状态丢失、工具副作用、无限搜索、假完成和上下文污染这些失败路径。</a:t>
            </a:r>
          </a:p>
          <a:p xmlns:a="http://schemas.openxmlformats.org/drawingml/2006/main">
            <a:r>
              <a:t>OpenAI 的 Agent environment template 已经把 files、network、packages、plugins、skills 和 setup commands 当作可复用环境配置。这说明 Agent 能力正在从模型调用扩展到环境配置。</a:t>
            </a:r>
          </a:p>
          <a:p xmlns:a="http://schemas.openxmlformats.org/drawingml/2006/main">
            <a:r>
              <a:t>来源：OpenAI，Create an agent environment template，https://developers.openai.com/api/reference/typescript/resources/beta/subresources/agents/subresources/environments/subresources/templates/methods/create</a:t>
            </a:r>
          </a:p>
          <a:p xmlns:a="http://schemas.openxmlformats.org/drawingml/2006/main">
            <a:r>
              <a:t>来源：Anthropic，Effective Harnesses for Long-Running Agents，https://www.anthropic.com/engineering/effective-harnesses-for-long-running-agents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建议用时：1.5 分钟</a:t>
            </a:r>
          </a:p>
          <a:p xmlns:a="http://schemas.openxmlformats.org/drawingml/2006/main">
            <a:r>
              <a:t>这页不按厂商列时间线，而按能力栈解释。工具从回答界面变成真实运行环境；连接标准化以后，新的瓶颈变成路由、权限和可观察性。</a:t>
            </a:r>
          </a:p>
          <a:p xmlns:a="http://schemas.openxmlformats.org/drawingml/2006/main">
            <a:r>
              <a:t>官方模型指南建议把工具用途、时机、输入、副作用、重试安全和错误模式放进工具描述。大型工具目录还需要延迟加载或 tool search。</a:t>
            </a:r>
          </a:p>
          <a:p xmlns:a="http://schemas.openxmlformats.org/drawingml/2006/main">
            <a:r>
              <a:t>来源：OpenAI Model Guidance，https://developers.openai.com/api/docs/guides/latest-model?model=gpt-5.5</a:t>
            </a:r>
          </a:p>
          <a:p xmlns:a="http://schemas.openxmlformats.org/drawingml/2006/main">
            <a:r>
              <a:t>来源：MCP Specification，https://modelcontextprotocol.io/specification/2024-11-05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这条链路是后半场的主线。每个节点由一个 Skill 负责，有稳定输入输出，并保留上游 evidence_ref。出错时从失败节点局部重跑。</a:t>
            </a:r>
          </a:p>
          <a:p xmlns:a="http://schemas.openxmlformats.org/drawingml/2006/main">
            <a:r>
              <a:t>最重要的变化是：聊天记录不再承担唯一状态。文件、run_id 和 requirement_id 让任务可以跨轮次、跨工具恢复，也让另一位产品经理能够复查。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 分钟</a:t>
            </a:r>
          </a:p>
          <a:p xmlns:a="http://schemas.openxmlformats.org/drawingml/2006/main">
            <a:r>
              <a:t>Skill 不是把一个长 Prompt 保存为 Markdown。主文件负责路由和核心判断，references 按步骤加载专业方法，templates 固定交付结构，scripts 处理确定性工作，tests/evals 防止迭代漂移。</a:t>
            </a:r>
          </a:p>
          <a:p xmlns:a="http://schemas.openxmlformats.org/drawingml/2006/main">
            <a:r>
              <a:t>设计原则是把不同类型的认知工作放到最适合的位置。模型处理无法穷举的判断；代码处理可确定验证的规则；任务状态留在工作目录。</a:t>
            </a:r>
          </a:p>
          <a:p xmlns:a="http://schemas.openxmlformats.org/drawingml/2006/main">
            <a:r>
              <a:t>OpenAI Skills API 已把 Skill 作为可创建和版本化的资源，说明 Skill 正在从本地约定走向可管理能力。</a:t>
            </a:r>
          </a:p>
          <a:p xmlns:a="http://schemas.openxmlformats.org/drawingml/2006/main">
            <a:r>
              <a:t>来源：OpenAI，Create Skill，https://developers.openai.com/api/reference/python/resources/skills/methods/create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建议用时：1.5 分钟</a:t>
            </a:r>
          </a:p>
          <a:p xmlns:a="http://schemas.openxmlformats.org/drawingml/2006/main">
            <a:r>
              <a:t>这次不再用 9 个 Skill、29 个 reference 这类文件统计证明成熟度。统一用契约、规则、脚本、工作流和回归验证五个维度。</a:t>
            </a:r>
          </a:p>
          <a:p xmlns:a="http://schemas.openxmlformats.org/drawingml/2006/main">
            <a:r>
              <a:t>结论很明确：用研和竞品体系最完整，但仍有工程问题；PRD 和原型目前没有形成完整 Skill。后面分别拆一个成熟案例、一个暴露问题的案例和一组下一阶段设计。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这个 Skill 的核心产物不是问卷文本，而是研究目标到证据再到决策的映射。它要求先在确认卡中锁定课题、调研目标和四选一问卷场景；再为每个目标定义判断变量和证据；之后才决定模块、分支和题目。</a:t>
            </a:r>
          </a:p>
          <a:p xmlns:a="http://schemas.openxmlformats.org/drawingml/2006/main">
            <a:r>
              <a:t>三个重要规则：概念测试不能污染行为基线；没有使用经历的人不能评价体验；无法说明怎样进入分析和改变决策的问题不进入问卷。</a:t>
            </a:r>
          </a:p>
          <a:p xmlns:a="http://schemas.openxmlformats.org/drawingml/2006/main">
            <a:r>
              <a:t>依据：pm-user-research/skills/ur-design-survey/SKILL.md 与 questionnaire-logic-checklist.md。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这是真实仓库产物，不是为了 PPT 编的例子。Q1 到 Q3 只是分组变量，Q4 到 Q6 建立使用与任务基础，Q7 到 Q8证明问题和后果，Q9 到 Q12形成需求范围、强制取舍和理由。</a:t>
            </a:r>
          </a:p>
          <a:p xmlns:a="http://schemas.openxmlformats.org/drawingml/2006/main">
            <a:r>
              <a:t>脚本实际检查结果为 12 题、0 个结构风险、结构门禁通过。但必须强调：lint 只能证明格式和部分启发式规则没有阻断，不能证明研究目标正确、选项穷尽或结论有效。语义质量仍需要专家评审和真实 Pilot。</a:t>
            </a:r>
          </a:p>
          <a:p xmlns:a="http://schemas.openxmlformats.org/drawingml/2006/main">
            <a:r>
              <a:t>依据：pm-user-research/用户调研/20260913手机图库AI功能需求/questionnaire.md 与 lint_questionnaire.py。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 分钟</a:t>
            </a:r>
          </a:p>
          <a:p xmlns:a="http://schemas.openxmlformats.org/drawingml/2006/main">
            <a:r>
              <a:t>这个 Workflow 不是把四个 Skill 顺序调用一遍，而是定义一台文件状态机。下游只读取契约列出的文件。画像不读取问卷，是为了避免把调研期待写入人设；每个人独立作答，是为了避免交叉污染；报告使用显式 run_id，是为了避免自动拿到错误批次。</a:t>
            </a:r>
          </a:p>
          <a:p xmlns:a="http://schemas.openxmlformats.org/drawingml/2006/main">
            <a:r>
              <a:t>文件契约还决定返工范围。问卷变化只影响模拟和报告，报告失败不需要重新生成问卷。</a:t>
            </a:r>
          </a:p>
          <a:p xmlns:a="http://schemas.openxmlformats.org/drawingml/2006/main">
            <a:r>
              <a:t>依据：pm-user-research/workflows/synthetic-survey.md 与 shared-context-schema.md。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这是我建议保留的坦诚页。当前用户研究模块实跑 43 项测试，28 项通过、15 项失败。失败主要集中在画像生成器 CLI：测试要求 sample-size、seed、group-quota，而当前脚本不再接受这些参数；Windows 中文输出也有编码问题。</a:t>
            </a:r>
          </a:p>
          <a:p xmlns:a="http://schemas.openxmlformats.org/drawingml/2006/main">
            <a:r>
              <a:t>这不是为了展示测试数量，而是说明 Harness 怎样暴露假完成。没有回归测试时，SKILL.md 仍然很完整，真正的 Workflow 却可能已无法按原契约运行。</a:t>
            </a:r>
          </a:p>
          <a:p xmlns:a="http://schemas.openxmlformats.org/drawingml/2006/main">
            <a:r>
              <a:t>实跑命令：python -m unittest discover -s tests -v。执行日期：2026-09-14。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竞品分析 Skill 先把研究对象数据化。FeatureSchema 从用户任务拆出真正可比的 feature；ResearchUnit 把最小检索单元限定为 competitor × feature；EvidenceRecord 记录 claim、支持方向、来源、版本地区、事实、截图和置信度。</a:t>
            </a:r>
          </a:p>
          <a:p xmlns:a="http://schemas.openxmlformats.org/drawingml/2006/main">
            <a:r>
              <a:t>只有 EvidenceRecords 完成后，系统才能判 Feature 状态和产品定位。这样产品方向可以反向追溯到具体证据，而不是从品牌印象直接得出。</a:t>
            </a:r>
          </a:p>
          <a:p xmlns:a="http://schemas.openxmlformats.org/drawingml/2006/main">
            <a:r>
              <a:t>依据：pm-competitor-analysis/pm-system-app-competitor-matrix/config/schemas.md 与 SKILL.md。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每个重要 ResearchUnit 不是只搜一个关键词。它至少考虑官方术语、用户任务表达、同义机制、界面证据；当结论倾向不支持时必须做反向验证；有冲突时进一步查版本和地区。</a:t>
            </a:r>
          </a:p>
          <a:p xmlns:a="http://schemas.openxmlformats.org/drawingml/2006/main">
            <a:r>
              <a:t>停止条件比查询数量更重要。当前版本官方证据可以直接停止；两个独立高质量来源一致也可停止；搜索失败只能得到 unknown；达到预算或仍冲突时进入人工确认。</a:t>
            </a:r>
          </a:p>
          <a:p xmlns:a="http://schemas.openxmlformats.org/drawingml/2006/main">
            <a:r>
              <a:t>这页示例不代表 Apple Photos 的真实支持状态。</a:t>
            </a:r>
          </a:p>
          <a:p xmlns:a="http://schemas.openxmlformats.org/drawingml/2006/main">
            <a:r>
              <a:t>依据：references/research-evidence.md。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 分钟</a:t>
            </a:r>
          </a:p>
          <a:p xmlns:a="http://schemas.openxmlformats.org/drawingml/2006/main">
            <a:r>
              <a:t>当前仓库还没有完整 PRD 和原型 Skill，所以这页明确标记为下一阶段设计。关键不是让模型写一份更长的 PRD，而是建立 requirement_ledger。每条需求有稳定 ID、上游证据、问题、场景、要求和验收。</a:t>
            </a:r>
          </a:p>
          <a:p xmlns:a="http://schemas.openxmlformats.org/drawingml/2006/main">
            <a:r>
              <a:t>写 PRD、生成原型和设计评审都围绕同一个 ID 工作。评审要检查每个需求是否有界面落点，是否覆盖空、加载、失败、权限、离线、处理中、部分成功、撤销和恢复等状态。</a:t>
            </a:r>
          </a:p>
          <a:p xmlns:a="http://schemas.openxmlformats.org/drawingml/2006/main">
            <a:r>
              <a:t>这样用户反馈、竞品证据、PRD、原型和验收可以双向追溯。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开发从失败样本开始，而不是从写 SKILL.md 开始。先选高频、边界清楚、可验收的任务，收集真实案例和返工原因；再定义契约，拆判断资源和确定性脚本；最小试跑之后，把返工原因变成测试。</a:t>
            </a:r>
          </a:p>
          <a:p xmlns:a="http://schemas.openxmlformats.org/drawingml/2006/main">
            <a:r>
              <a:t>如果一项能力能跨任务复用并独立验收，适合做 Skill。如果任务需要管理多个能力的依赖、状态和人工门禁，适合做 Workflow。团队最值钱的资产是失败处理和验收标准。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分钟总结，随后 5 分钟 Q&amp;A</a:t>
            </a:r>
          </a:p>
          <a:p xmlns:a="http://schemas.openxmlformats.org/drawingml/2006/main">
            <a:r>
              <a:t>团队落地不应建立一个提示词收藏夹，而应建立 Skill Registry。每项能力有 owner、版本、边界、契约、依赖、eval 状态和已知限制。</a:t>
            </a:r>
          </a:p>
          <a:p xmlns:a="http://schemas.openxmlformats.org/drawingml/2006/main">
            <a:r>
              <a:t>试点指标优先看首轮可接受率、证据覆盖、校验通过、人工返工和版本回归，不只看生成速度。</a:t>
            </a:r>
          </a:p>
          <a:p xmlns:a="http://schemas.openxmlformats.org/drawingml/2006/main">
            <a:r>
              <a:t>结尾：当专业判断、证据、动作和验收都被外置，AI 才从个人效率工具变成团队可以依赖的交付系统。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ea2f91a24840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cd798418984411" /><Relationship Type="http://schemas.openxmlformats.org/officeDocument/2006/relationships/slideLayout" Target="/ppt/slideLayouts/slideLayout1.xml" Id="R36d2cbba579c4e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d2cbba579c4e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95d6e495b4730" /><Relationship Type="http://schemas.openxmlformats.org/officeDocument/2006/relationships/image" Target="/ppt/media/image.png" Id="R768fc31417bf4342" /><Relationship Type="http://schemas.openxmlformats.org/officeDocument/2006/relationships/notesSlide" Target="/ppt/notesSlides/notesSlide1.xml" Id="Re7d8193716ae42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2e7be924842c2" /><Relationship Type="http://schemas.openxmlformats.org/officeDocument/2006/relationships/notesSlide" Target="/ppt/notesSlides/notesSlide2.xml" Id="R2983de5538df4e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e8374840d4a03" /><Relationship Type="http://schemas.openxmlformats.org/officeDocument/2006/relationships/notesSlide" Target="/ppt/notesSlides/notesSlide3.xml" Id="R91260b92ce374a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c1ad34e324240" /><Relationship Type="http://schemas.openxmlformats.org/officeDocument/2006/relationships/notesSlide" Target="/ppt/notesSlides/notesSlide4.xml" Id="R6ed811fd6f9043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a43c859bc4ae5" /><Relationship Type="http://schemas.openxmlformats.org/officeDocument/2006/relationships/notesSlide" Target="/ppt/notesSlides/notesSlide5.xml" Id="Rf9f0ab38a40a47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1835c74a840a5" /><Relationship Type="http://schemas.openxmlformats.org/officeDocument/2006/relationships/notesSlide" Target="/ppt/notesSlides/notesSlide6.xml" Id="Rd8e719c2789a47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86561dba44996" /><Relationship Type="http://schemas.openxmlformats.org/officeDocument/2006/relationships/notesSlide" Target="/ppt/notesSlides/notesSlide7.xml" Id="Rc9bf389735f540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d26bee0834748" /><Relationship Type="http://schemas.openxmlformats.org/officeDocument/2006/relationships/notesSlide" Target="/ppt/notesSlides/notesSlide8.xml" Id="Rf779ae6d5c6a49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66bd428214a98" /><Relationship Type="http://schemas.openxmlformats.org/officeDocument/2006/relationships/notesSlide" Target="/ppt/notesSlides/notesSlide9.xml" Id="Ref7e8432618046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8d5e6e9804d12" /><Relationship Type="http://schemas.openxmlformats.org/officeDocument/2006/relationships/notesSlide" Target="/ppt/notesSlides/notesSlide10.xml" Id="Red0c3455b7114a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bb5fc1d984dbc" /><Relationship Type="http://schemas.openxmlformats.org/officeDocument/2006/relationships/notesSlide" Target="/ppt/notesSlides/notesSlide11.xml" Id="Rb97cdbb0af1e4b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41ba2fd53482e" /><Relationship Type="http://schemas.openxmlformats.org/officeDocument/2006/relationships/notesSlide" Target="/ppt/notesSlides/notesSlide12.xml" Id="R38430fd4761d48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64f14a9e24271" /><Relationship Type="http://schemas.openxmlformats.org/officeDocument/2006/relationships/notesSlide" Target="/ppt/notesSlides/notesSlide13.xml" Id="R8e1eed255c1248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12bc3ded7468a" /><Relationship Type="http://schemas.openxmlformats.org/officeDocument/2006/relationships/notesSlide" Target="/ppt/notesSlides/notesSlide14.xml" Id="Rbd9f5efa1a7c4b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069580e9f4dfc" /><Relationship Type="http://schemas.openxmlformats.org/officeDocument/2006/relationships/notesSlide" Target="/ppt/notesSlides/notesSlide15.xml" Id="Re2559f16e0e6453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34e7bce664409" /><Relationship Type="http://schemas.openxmlformats.org/officeDocument/2006/relationships/notesSlide" Target="/ppt/notesSlides/notesSlide16.xml" Id="Rbf82a78c9b2646e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c97e6b16041ec" /><Relationship Type="http://schemas.openxmlformats.org/officeDocument/2006/relationships/notesSlide" Target="/ppt/notesSlides/notesSlide17.xml" Id="R1bf713ef405c4e1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a686f70c44c4c" /><Relationship Type="http://schemas.openxmlformats.org/officeDocument/2006/relationships/notesSlide" Target="/ppt/notesSlides/notesSlide18.xml" Id="Rded410e7a7114bc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4fa8be8ec4896" /><Relationship Type="http://schemas.openxmlformats.org/officeDocument/2006/relationships/notesSlide" Target="/ppt/notesSlides/notesSlide19.xml" Id="Rf72b3f613b9e4f5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9ccab76404404" /><Relationship Type="http://schemas.openxmlformats.org/officeDocument/2006/relationships/notesSlide" Target="/ppt/notesSlides/notesSlide20.xml" Id="R2b0027cae77348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fc31417bf434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BDA81-7B40-49F5-A32F-B3D25B04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3">
              <a:alpha val="8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33886-27BB-4FFF-AD98-F81C6230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C1FAD-8DD1-4FA0-BE73-BDB4DC3F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14400"/>
            <a:ext cx="4953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从提示词到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可验证交付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8A5AC-09BE-4EE7-8AEC-32BAC2D2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  <a:cs typeface="Microsoft YaHei"/>
              </a:rPr>
              <a:t>我的 AI 产品经理工作系统、Skill 与 Harness 实践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35D3C-567A-48D0-BC00-2D624F24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31768-4D95-4159-9D2F-18C004EC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rPr>
              <a:t>Intent  ·  Evidence  ·  Action  ·  Governance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8BA79-602B-4EB8-B8DA-C2BB0269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05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rPr>
              <a:t>产品经理团队分享  /  45 min</a:t>
            </a:r>
          </a:p>
        </p:txBody>
      </p:sp>
    </p:spTree>
    <p:extLst>
      <p:ext uri="{BB962C8B-B14F-4D97-AF65-F5344CB8AC3E}">
        <p14:creationId xmlns:p14="http://schemas.microsoft.com/office/powerpoint/2010/main" val="16009965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1E93ED-AE64-4F2B-A132-DEC52E01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4EF11-E9E0-4F09-B49E-03618F4C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模型更强，交付为什么仍然不稳定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4221D-540D-478B-9B7F-BDE38996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67B82-5522-45F8-A192-31DEDD38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668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贯穿案例：为“手机图库 AI 清理”完成研究、竞品判断、PRD 与原型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DE8FE-A9DE-4538-BAEB-CFE10E90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49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15C5B-BF93-40BB-A811-B5B6166F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240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718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C6E59-EFE4-47FF-90AE-D3EB936B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573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事实失败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A28AF-4B9C-4A43-9BF9-13896896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5735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资料过期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把“没搜到”写成“不支持”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4021E-72B5-43BF-978F-D5DA0522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49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D34FC-F990-44F9-B00B-B8DBA4E0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384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48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A20AE-9688-459F-9A64-A7BB075D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717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决策失败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F166A-6B23-4D2F-98F8-EEB86062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内容完整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却没有回答做不做、先做什么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F96706-F294-4F85-9AFE-824CCDED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49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87EDF-A827-4928-9818-7D778B5C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528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E7B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97E8B-2F31-4889-9D18-7E039F92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861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执行失败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696857-B7D1-4F2B-B6A2-B36DE41D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8615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中间状态留在聊天里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下游读不到上游边界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D46C37-8067-46E4-A1D8-DB6B8992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49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42D144-C84B-40E9-8F98-133FD024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672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1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8DCEC0-4641-4F08-92D9-BCC94D31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00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交付失败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FE4E6C-A234-4538-A29B-ECEE19E4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0055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格式正确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需求、状态、证据与验收没有映射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3E9A9D-CB5B-4A40-A734-CC7D4DFB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105918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2097AE-3D2F-412B-829B-187C34BE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0545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模型决定局部推理上限；工作系统决定任务能否稳定完成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AA00A5-8DF0-4187-BAA9-4337C478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559807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EE65A1-CE3D-4DF5-8AB2-FC087D4E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00EBA-18E9-443E-B832-914BBCDF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四层控制面与四种契约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4F91D-40CB-49E1-8DB7-07C0DD95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分析框架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82F2F-BF22-458B-87EB-D94C189C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3A341-42F2-4953-BC32-F89F0D8C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57300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5D19C-DD3E-4F7F-9843-27BC5117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257300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ACCF5-D31B-442B-95E9-9BFCF4FB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25730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外置的控制信息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9D36A-5F75-4286-8303-091F2A38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2573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B1408-B82D-4642-B87B-50EF41C1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2573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形成的契约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62892-C8B1-4293-96C1-347828CA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57300"/>
            <a:ext cx="3638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29534-4D6A-4ABA-9AED-07D7F1EB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257300"/>
            <a:ext cx="340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仍会失败的地方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41433-1EDD-419A-9CC4-4AA2DF46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0AC9A-1EF0-49BB-9454-35591A05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C1BE7-765C-478D-B93A-C6DA2466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8B96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B969C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507EC-9916-4702-BAD5-7C486671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335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9FF0E-D096-46AE-802E-4732C5F2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3355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表达意图与输出要求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DE7842-1013-406E-AC83-A6E5E8F3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335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AAF51-F503-44AD-94C8-6BB66FF8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3355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回答契约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3141D5-21D8-4A66-92B7-AEAD6A6A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33550"/>
            <a:ext cx="3638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284510-70A5-4451-B6BF-381C2CEF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33550"/>
            <a:ext cx="3409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事实、状态和执行仍留在外部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2D4B7D-C996-42AF-9B09-C61FB5CC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55A5C7-D346-432A-9FE0-286F9EF0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186152-FADF-4E3F-B2E0-19A3DB50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06A693-4C2E-4B48-AD2B-E424F84F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1460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256CB4-5CDC-437C-A144-C886F979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146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知识、证据与运行状态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D5F295-0842-4991-B2B9-ED88418D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146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12F8B1-87FD-4482-9592-5A774FDE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1460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证据契约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04FF63-A821-4FA7-9863-E05BE926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14600"/>
            <a:ext cx="3638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384C54-44AA-459F-BF3B-5E3DE0EA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14600"/>
            <a:ext cx="3409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模型知道什么，但还不能行动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35C733-4415-4185-85F3-7DA021EB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F45BBF-FB0A-4320-BDD8-DF927363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09B2D7-6190-4194-995C-6CB128EA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4284FD-57ED-43FA-AB43-A819C331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956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E4EFDD-D58B-49A8-A197-FE89B783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9565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动作选择与工具循环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4AE0CB-92E4-4407-BF01-AE68110B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956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5C62F5-DFBA-415E-B015-78AAF3FC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9565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行动契约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A6C0BD-2024-4890-9067-A004C84E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95650"/>
            <a:ext cx="3638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89370A-8B53-4FF1-837A-79119A9C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95650"/>
            <a:ext cx="3409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能行动，但不一定安全和可恢复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B3E74B-602E-4C7D-ABCB-02AA97E5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43DF14-5019-440B-8ACB-A3BD9289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C5BD6A-1367-4625-B051-605A59DB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74A201-DB40-49DE-AE42-31D64593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7670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21578B-253C-4D64-A7F4-2C9CC9AF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767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权限、状态、验证与审计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3BD838-CB2F-4B28-958F-6876F0F8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767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1C3B66-2590-459C-9EB0-ABD3223C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7670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交付契约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634D95-83E9-494E-83D1-6B1327F0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76700"/>
            <a:ext cx="3638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39E97A-24FD-4D65-B0FF-E98AE8BE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76700"/>
            <a:ext cx="3409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需要持续治理版本与评估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634B0D-8529-4514-AC72-26D59177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E7E2C8-1B3F-479A-90A3-18A6A1EF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1059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后面的层级不会替代前面的层级；它只是把更多隐性控制信息变成显式系统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5509B7-285E-4C89-8B43-95CF9365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93816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3D4267-B573-4F0A-8AE8-50B5649D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30378-4AA0-4661-949E-5D12C157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Prompt 工程的边界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504BF-E617-4775-B6B5-64F49CBB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92F48-43FA-407B-AD97-4EC2E415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5334000" cy="3676650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DB4A7-9582-4476-8C3F-2DAB3E77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3830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969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5C961-AB31-4D42-A818-31A358C8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38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回答契约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8297F-872B-460A-83F9-42A707C2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619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受众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输出形态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少量示例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E1F19-7107-4E36-A4FB-87076537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38350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9F4E0-E9C8-436C-91EC-B96CE71F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76450"/>
            <a:ext cx="27241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rPr>
              <a:t>把一次回答写清楚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rPr>
              <a:t>适合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rPr>
              <a:t>快速启动、改写、单次分析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rPr>
              <a:t>优化目标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rPr>
              <a:t>局部内容的相关性与表达稳定性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A9DD4-E825-4B25-8246-3018EC6F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478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Prompt 外部仍未被控制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A82E0-6A81-4A72-AED4-EEE4283A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33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37F43-900E-4D55-ACB5-AA0FCE8B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00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材料可信度与版本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0672E-19F6-477F-AC25-12001356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81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69DBD-9A1A-4CCE-9B57-AEFBF7E3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479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长任务完成状态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ABCE2-F3CB-4B1B-BAA9-C0DF6FA1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29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5698A-5EC1-4565-B724-9DE8D503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工具权限与副作用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02EAF4-D515-45E4-9BEB-CE900AE8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76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B48F5-8355-48FA-BC88-B5255A0D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433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交付物验证方式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772CB-AEB8-4984-9C7B-9FC20461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14900"/>
            <a:ext cx="43243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5483F">
              <a:alpha val="10000"/>
            </a:srgbClr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A4B863-5A80-4AD2-8AB0-51F69855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10150"/>
            <a:ext cx="3867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A93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A9342E"/>
                </a:solidFill>
                <a:latin typeface="Microsoft YaHei"/>
                <a:ea typeface="Microsoft YaHei"/>
                <a:cs typeface="Microsoft YaHei"/>
              </a:rPr>
              <a:t>当提示词开始塞入知识库、流程、模板和历史状态时，问题已经不再只是提示词问题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4BE709-E431-43F5-B44D-87FF2ED9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986794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4FFF9E-E3B7-4925-8844-2F1549F7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57F30-9741-47C6-B7FC-F7E7BE8C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Context 工程的四层工作集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B6F44-4CF9-4871-8328-30733FF3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Context / 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37F46-DF49-4F8C-A6AB-BD2B0D77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6191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3181D">
              <a:alpha val="16000"/>
            </a:srgbClr>
          </a:solidFill>
          <a:ln xmlns:a="http://schemas.openxmlformats.org/drawingml/2006/main" w="9525">
            <a:solidFill>
              <a:srgbClr val="13181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79EB4-9020-4417-B655-A701F86A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71600"/>
            <a:ext cx="1485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稳定规则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BFFB6-386E-444A-A74C-721D9368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37160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角色边界、隐私、事实标准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E707C-D92F-4A97-A7F5-A71325E4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9800"/>
            <a:ext cx="57721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5483F">
              <a:alpha val="16000"/>
            </a:srgbClr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E8BAC-B320-46C2-BB46-4A51118B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09800"/>
            <a:ext cx="1485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任务契约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D6FF6-99F2-4040-9449-3539074B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3486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目标、用户、成功标准、交付要求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C40F8-13CF-4C70-A317-4358DF7E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48000"/>
            <a:ext cx="53530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E718D">
              <a:alpha val="16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B560D-D57F-4BD6-8DB6-D36D835F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48000"/>
            <a:ext cx="1485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动态证据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61E9E-B09C-430A-AC4F-A9C6D451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48000"/>
            <a:ext cx="3067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围绕当前判断检索的材料与来源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9E7C1-884D-47E9-BF92-A6A6E96E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49339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4E7B68">
              <a:alpha val="16000"/>
            </a:srgbClr>
          </a:solidFill>
          <a:ln xmlns:a="http://schemas.openxmlformats.org/drawingml/2006/main" w="9525">
            <a:solidFill>
              <a:srgbClr val="4E7B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44CF0-E17C-451E-A338-2F7E7274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86200"/>
            <a:ext cx="1485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运行状态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0F21B7-EA26-4B6E-8122-71B88144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86200"/>
            <a:ext cx="264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已完成动作、关键决定、文件位置、阻塞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307987-F596-46C1-B56F-33A5CBCD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466850"/>
            <a:ext cx="0" cy="3581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63F1B0-BE3C-4A91-8F99-5D657A7B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28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RAG 只处理其中一层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C20CB8-B372-48FF-973F-ABD540B8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24050"/>
            <a:ext cx="3257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检索只是把候选证据放进窗口。真正的上下文工程还要回答：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9A42F-A07A-4F68-841F-19D50237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813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C06D64-59EF-48D1-8D10-550EE8F6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051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最小证据集是什么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E83397-92C0-4AC6-AF06-09F0C889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337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1CC63D-62E5-4253-8FD3-C575D668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57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版本或来源冲突怎么处理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E7D21C-5F90-4E7D-910B-14616750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862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8D8C13-6629-4EA0-A297-C88A01CA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10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检索到什么程度必须停止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06A957-DF6D-499B-98C9-31F42378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386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985885-F7EE-45DA-8B62-4B1B44A4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624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哪些信息不能传给下游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DD0A07-29F7-4A6E-A1E4-561C7275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10382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264F6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669058-2560-428D-ADEF-45A1D9F5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91150"/>
            <a:ext cx="992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产品问题：这个决策最少需要哪些证据；证据不足时系统怎样保留不确定性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70B2E3-D250-494C-AF27-0CD3B90F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313122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3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F78421-24ED-42C3-8570-4B80C5B0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06B29-FF17-40F4-947A-A72B7B13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Agent：任务被建模为状态迁移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36086-4D1E-4CC8-9E05-A89E10A3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D9A5F-750D-456F-BB45-44251AD6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71600"/>
            <a:ext cx="105156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80E89-7E93-4C64-8CA4-108727B7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3716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S(t)  +  目标 / 约束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91D53-4FC2-4342-9CE1-6751933F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7160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选择动作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C6A87-4216-4471-83BB-7BD40876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71600"/>
            <a:ext cx="1981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工具结果 O(t)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D16CD-A698-4729-B0AC-D6BF966F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71600"/>
            <a:ext cx="182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S(t+1)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165A7-5063-4F93-AE0C-2E09E55F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7621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837D1-231F-45F0-8C12-9CC08E83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621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1FA21-513A-4796-B663-D0617F76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62125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B27E2-5832-4835-8EC8-79055400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产品经理需要定义的控制信息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E0FDD-C601-4D7D-91B5-30D2A9B7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E81FB-694E-4FF6-BBBF-2BF195F6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94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成功条件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C21A5-C41A-47E0-A898-574121FD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194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  <a:cs typeface="Microsoft YaHei"/>
              </a:rPr>
              <a:t>什么结果算真正完成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0357C3-31DB-4C59-A47D-A7023E39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AFBAD-1734-4A14-9B7E-50282E6B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动作空间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6A5C24-2B9A-4225-886F-AFE5FE1E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290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  <a:cs typeface="Microsoft YaHei"/>
              </a:rPr>
              <a:t>允许访问哪些工具、数据和应用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CB6AFC-6112-4ABF-B67C-1B2EC57A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F9E18-E6B7-4154-8633-D8EF939A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386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停止条件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258714-852C-428D-9B1D-B29A99BE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386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  <a:cs typeface="Microsoft YaHei"/>
              </a:rPr>
              <a:t>何时证据已经足够；何时必须终止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806996-0264-458E-AB18-AC8FB31E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35D9D0-9A57-4FCF-91AA-F613DC7B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482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升级条件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738CBC-0C10-419B-9849-BA94E014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482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  <a:cs typeface="Microsoft YaHei"/>
              </a:rPr>
              <a:t>哪些判断、权限或风险需要人工接管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0FD4B6-8501-4485-8BD6-98275227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95600"/>
            <a:ext cx="306705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F483DA-2C43-4ED5-92B2-9A8C1A81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861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动态 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27472A-17C3-4D59-8DA7-F39264E2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43300"/>
            <a:ext cx="24384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根据观察结果改变路径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适合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信息不完整、需要探索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工具结果会改变下一步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928E91-E73D-4E1B-9E1F-9FF56C1E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Workflow 可以固定关键门禁，Agent 在门禁之间动态工作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FE6D5E-9379-460D-880B-500B8D90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408777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63D445-64F7-43BB-A5DA-5777536A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B52F7-4EB2-42C2-80D7-72571C0F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Harness：围绕失败模式设计控制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1E140-7BB4-4793-93C1-857F65E4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79444-02FD-46CE-AB24-BA003D6A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D741D-7114-4E66-9050-9E26ACCD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7635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长任务失败模式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E0E0E-EFBD-423C-90B5-DC53EBB2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276350"/>
            <a:ext cx="7448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48083-A00D-4A52-A82F-B6B4CCB0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76350"/>
            <a:ext cx="721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Harness 控制机制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39B26-E8A7-4B96-8C16-EEACD257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AC90C-15A3-415A-8610-D0E39C8F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4F09D-F441-4D24-A1DF-E307ABCC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上下文漂移，任务无法恢复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9D53B-2840-4D64-B140-FDCE0D8C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752600"/>
            <a:ext cx="7448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ECCAD-1CBA-41D5-AC59-6AEB4F8C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52600"/>
            <a:ext cx="7219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结构化文件状态、压缩摘要、恢复点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2F639-78C9-4485-AB1B-CFE88C70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58B298-7FA4-468D-95D1-685F234D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01CB59-A5E2-4C51-8364-BBDF27D4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工具有副作用，重复执行造成损失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6D5FF4-C7F8-4CA5-A02A-730F4B97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38400"/>
            <a:ext cx="7448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F6615C-998F-44B2-8A8C-4A77B010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38400"/>
            <a:ext cx="7219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沙箱、最小权限、人工审批、幂等与重试规则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7042A3-6648-4663-8D06-4902549F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CC7CA2-C2BD-43C5-9BDC-3EDA17E7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45347D-B2CF-4D37-9FAF-8728990B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搜索不断扩张，成本和时间失控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F3ABC0-791D-4322-B8EC-634FDDDD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24200"/>
            <a:ext cx="7448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0793D4-D2AE-4EA1-ADE6-9A1D493D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24200"/>
            <a:ext cx="7219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Research Unit、检索预算、停止条件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7DB94D-E9E7-4F31-A502-9DC2FA6C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8E17C1-3A90-4817-A1F0-F86C9DD5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51EF54-948D-42CB-AC6A-AD0BF9FB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输出看似正确，实际无法交付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D44917-727F-4D54-8C84-0CA28D79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10000"/>
            <a:ext cx="7448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20F150-8CB7-42DD-A2D2-76E4130E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10000"/>
            <a:ext cx="7219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Schema、lint、测试、渲染检查和人工评审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1BD387-7B24-491E-B8B1-0C544175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4B786F-CA66-4519-A90B-A936626F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B8CF4C-C2E4-4D8B-B63E-B661BBA1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多个 Skill 读取过多信息，互相污染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7A64B9-33CB-4747-9FA6-2D8C3D1F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95800"/>
            <a:ext cx="7448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E778F7-ACB0-4743-8782-A31947FE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95800"/>
            <a:ext cx="7219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最小输入原则、文件契约、隔离上下文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3DBC67-AFDE-4932-AFA0-E8B12BBE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816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0398E0-95B5-46DF-8753-BEBAC464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5918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6F09D2-D80E-4431-BA89-BB16B1E2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Harness 的设计对象：工作目录、权限、工具描述、错误信息、日志、验证器和人工门禁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8A4B5E-2530-4605-B513-A1AF5BCB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19168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AB1ED3-196B-4EA5-9532-E815BE42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9F35F-E01F-42CB-9007-5AF877C0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Agent 工具的能力栈演变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91D2F-73B8-4B11-BEA7-5092A661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C41FF-044B-428E-ADCB-EC8B03F9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52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96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B969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86F48-7375-4CB3-8D1B-815FE744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96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C52F2-C9C4-42B1-B26F-72AF4E68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Chat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147A4-579E-4D9D-960C-F5042466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79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人决定每一步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模型生成内容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3E538-51E9-4F44-8B03-3B630543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352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E5793-EDE6-4442-ADD2-1F26A582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335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E718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9AB2D-D83F-4352-A474-41185E55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431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Retrieval / Functions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75B8D-DF82-4904-930A-71360AE4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28900"/>
            <a:ext cx="179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取得外部事实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调用结构化能力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6F1FAC-DDE8-44AD-8AF7-0BC73E5A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52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33577-C46A-4271-9823-87B31928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E7B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07E1F-48FE-4B0A-AC39-09DA6E5E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431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MCP / Connectors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8E026D-8AD1-4AD2-99A9-36C93250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28900"/>
            <a:ext cx="179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资源与工具连接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逐步标准化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31D91-C1A0-45F9-A894-6AB4C0A7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52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348958-5A1F-4120-849B-78D59CFD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335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5483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987AD8-CB5C-482C-B898-FBE7D8D3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431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Workspace Agents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9487F1-0EB7-45FA-8D4D-F6A83B3B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28900"/>
            <a:ext cx="179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观察并修改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真实工作状态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F45E95-C438-43E7-8E6E-0C5F8793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52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B94BD4-CE96-4A89-8601-2213E5E4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335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181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8CCA94-E287-4897-B947-2F74A2B0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431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Skills / Trace / Evals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EA0F6E-9902-4A58-B5C9-F7B7ACC5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28900"/>
            <a:ext cx="179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专业流程复用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行为可追踪与回归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07C2F5-5865-43A4-8C6C-6F8DBC61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59E744-6F17-468C-8D5B-C8A663D1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一个可用的工具描述必须暴露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3CEDF2-C18E-4BCD-B1FF-6564903C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E718D">
              <a:alpha val="9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A154D5-E0D4-449B-9D1D-547A7E5B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006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用途与调用时机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07EB8A-ED27-4CC1-9AC6-0F08D69A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0060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E718D">
              <a:alpha val="9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68E5B1-1BB4-46F5-8957-10A4D9EA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006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输入字段和约束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74EBAD-CE73-43D8-9C93-C7A9D0C3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5483F">
              <a:alpha val="10000"/>
            </a:srgbClr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5A1535-FCA0-4431-AFDC-EE0606D1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006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3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9342E"/>
                </a:solidFill>
                <a:latin typeface="Microsoft YaHei"/>
                <a:ea typeface="Microsoft YaHei"/>
                <a:cs typeface="Microsoft YaHei"/>
              </a:rPr>
              <a:t>影响范围与副作用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51A169-604B-46D7-B836-3A72D655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0060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E718D">
              <a:alpha val="9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8D88F3-98BB-48AA-88E8-77C8BBE5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006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重试安全与常见错误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F20D67-F05C-40AC-91C5-8F472998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工具目录越大，路由、延迟加载和权限边界越重要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3C486D-E994-4A0E-ABD9-C50FB9A2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329970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3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69D3F3-A941-48EF-9184-DF30DA17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42861-9DA0-45F3-838F-597978F3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 PM 任务的端到端产物链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41898-B648-413E-AF5E-A01F3896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cs typeface="Microsoft YaHei"/>
              </a:rPr>
              <a:t>系统地图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800BA-552B-4D6E-A955-0226D000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手机图库 AI 清理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0ED0B-811D-4D2D-B603-3DA6A988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1809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8B96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2B4A7-A664-4192-B159-B22045A0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原始材料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9EAFF-641D-4D31-9635-A87FF71A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B96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B969C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D0ECB-B771-4385-9435-41127409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955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EFD78-C541-41E2-A77A-DA4C2C40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05000"/>
            <a:ext cx="1809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67ABB-19D7-43E6-89AD-4B9BD415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002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evidence_ledger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8D949-F57D-4420-9E99-BEFE3935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336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E5ADA-B6D6-4FC1-9124-48A044D6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955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AEB84-15F4-4DF1-AABB-B3C4183A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05000"/>
            <a:ext cx="1809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4E7B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B63E67-9214-44F5-BCB2-36E4EC02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002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research_design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EB298-A016-4F07-9B20-D38CEB99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336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用研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B3FA70-367F-4EBD-93B7-5F70917A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955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93479F-78BA-4A49-A325-2C86967E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05000"/>
            <a:ext cx="1809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4E7B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B70DC0-49D8-4287-9C15-48A0D857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002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questionnaire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728B72-9A9C-433D-8CB0-60C9F48E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336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问卷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9A24C9-1ADB-4471-BAED-B4FD8499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955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5708D-2395-46E8-900A-0DD5AADE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05000"/>
            <a:ext cx="1809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703E00-82DF-40CD-B88A-E53C320D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002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competitor_matrix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AF4925-7D90-475F-8071-B411FBC9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336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竞品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1A6DF5-4628-4D73-AD12-6903690E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1809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C5A389-BBE4-49D2-A4A5-94912CE9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requirement_ledger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552DA2-AD68-455D-80B9-C9B84556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624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3CCE10-F0D0-4EBD-B825-F24B1EC5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243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B7762C-5E89-439D-9840-937698E0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33800"/>
            <a:ext cx="1809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778D2F-1D23-48C1-BA64-50086245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29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E52296-A686-4E36-BAD8-526CF409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624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定义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8E7399-6361-4A4A-A9EC-C21EA7E5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243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88B95B-98C4-406D-874C-A406024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33800"/>
            <a:ext cx="1809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B7813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F33BA2-6EF7-4B27-9242-36E37E91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29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ux_contract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825C93-A90A-47F3-A957-0A54FDC1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624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F6B5E4-B36D-44B0-9291-F9E89B20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243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066E11-E71D-473B-A920-B2BD4851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33800"/>
            <a:ext cx="1809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B7813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7D5B5B-60A9-4979-9A2F-AC3BEDD3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29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prototype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CDA518-881B-4A86-9713-93EC4745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624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原型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1CEF10-CC0B-447C-A907-606BA4A1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243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1DEA11-8DD0-4180-A7F9-35F88FB1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733800"/>
            <a:ext cx="1809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22E588-0839-44D0-B7EA-B036198F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29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review_report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D26A88-8707-498D-9CEB-C5015468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624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951B7E-C2DB-4563-A740-36821AD0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860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667965-7F5B-4894-8F9D-0A87C3B1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528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47EB9F-5DA6-46AC-A92C-74A6FF00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95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5CC4C4-25F5-4EF9-9C4F-26F2314E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625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Owner Skill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D004F9-2CA9-4C63-83E6-8D2CE205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95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B68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C1E600-14DC-4E66-98D6-51C946D8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625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稳定契约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57C025-1ED1-4161-8EC0-67CAAE32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95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4BDFDA-D5E7-4529-B257-83120BA1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625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证据引用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454087-B23F-49B3-8FAB-BB0CEB47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295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136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A70D9F-9875-4CAF-92E0-738D15F7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1625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局部重跑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50CF33-4531-4059-A962-C16C7005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2455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聊天记录只是交互界面；文件与 ID 才是跨步骤的系统状态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FFC3856-4F17-433A-97E5-B1A7278C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110470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76E342-2777-4D60-96FB-698016FA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6AACD-B83C-4883-BD5F-0F1D9E6B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Skill 包的工程结构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BD134-9D4F-4B7A-A37E-4654D849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5CCC5-28A1-4E89-A5A0-3BBB5B1C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620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pm-user-research/skills/ur-design-survey/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EAF7E-B901-4A61-85C0-10375208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C2F46-4242-4AEC-8933-75AC2D20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19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SKILL.md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71382-BA6F-4399-A251-9C5BC603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192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路由与契约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FE625-2CC7-4E73-97D5-504BA32C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192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触发、排除、输入输出、判断流程、停止条件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64BFD-02B0-41AA-8183-B2AA44BC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9C55E-6B7E-4C22-98B4-28B088A5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241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references/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55D53C-F71E-4648-AE64-DC3B1086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241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专业判断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C6846-2E1E-412D-8A8F-1231EA4C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241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研究方法、题目标准、逻辑清单、共享上下文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8E9CD-6532-45BD-9BDB-5F342010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4D2A11-A8E3-46AE-88F9-906D5BC0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templates/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F97C7-05D7-4716-8CAB-A34C968B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289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交付结构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E5B35-A422-41C4-9B3B-5CF62271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289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四类问卷场景、确认卡、HTML 与平台格式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A7C348-074C-4A8C-9A14-49013515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00A9CE-A79A-48FC-BC80-EE8C15B3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338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scripts/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2D6784-5140-41A9-87F2-2A87E030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338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确定性检查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4219F-405D-4CDE-A83D-F9CEDE81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338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字段、格式、题号、逻辑、文件一致性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7CAEE7-AA06-4581-8CCD-47788615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786CE4-ADCC-4DF0-AA6D-D6EA1013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386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tests/evals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F90759-3337-46C3-8650-661AE250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386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回归资产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53DF19-38E6-4AC4-A29B-E2178283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386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契约变更、示例质量、跨 Skill 协作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8A8E40-DF12-4FEB-B55D-491F0AF3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DEEBE7-A7E4-4CFB-A72D-9383B0BA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模型判断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D678D7-4DBF-45CA-8F3A-FF82A5F5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524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研究目标、证据强弱、产品取舍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D3456D-6D8E-43F5-9782-56F3865B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24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代码约束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A39171-37C5-434F-87F1-308D33A2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524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格式、字段、统计、路径与完整性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45DBCB-39F4-47AA-8385-BAE5EB2D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148694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84D5FBC-6F79-49FC-90CC-2562F500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8489A-8DCC-47E9-BF09-88A1447C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当前仓库的能力成熟度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F1A43-E297-4160-AA70-2F6D1A01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现状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CAFBC-6596-44D7-BA8D-5D3C9EE8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144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9EC5F-89DB-49AC-8A47-73B914C9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1445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4ACBE-65C1-43E9-918E-214CC631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3144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EF188-6BE7-4472-BA6C-CE984EF8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144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输入输出契约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859E8-0714-473E-9242-7C255939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144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F4E87-4BC5-4911-8D8E-4E256A28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3144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专业规则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6028B-36AF-420F-A0B8-4C7B6193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144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DEE36-F261-476B-BC3F-71BF1A7E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144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确定性脚本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35B7C-0BFC-4668-BD85-64708FC5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144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83D02-071A-448E-997C-34CD682D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144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68D63-4D4E-407C-BEAF-C4C633A7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14450"/>
            <a:ext cx="1790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6549F-94D0-4A54-86A0-4BA0913D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31445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回归验证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6399B-392B-42F8-BA19-D24A30F0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94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用户研究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229203-842C-4291-B8DD-9561216A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511E0-416B-4AC5-BB78-1DA0727F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097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76E636-22A1-4B6C-B5D5-34A53277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26063F-C0E8-4972-9D2F-05893D58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097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F0D5B3-FA45-4DCB-A4DE-EF4DAD3A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DDF876-718A-4BDD-AA12-3F7CA940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53B219-1AFC-4F80-AC5F-CDCC2047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8925A5-B809-4CAB-823A-DB9F34F2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8BBE20-544C-4453-8886-7C74ED9A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EAB0EA-0190-40CC-B8BA-C326E6E4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809750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有，当前失败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D0CD31-0A05-4C41-9F7B-F82B12E4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2F6CDA-D656-4EB0-A946-87C1A87A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A2C623-DDDE-42F1-A3FC-228C8607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8624DF-65E6-4B87-997A-0713A34D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94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竞品矩阵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767662-57B8-4484-8985-03D47020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1CCCC2-91F1-44DE-8311-C6964D64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955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99B726-4D7F-460B-921B-93AFFD7A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955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C3CF4A-3CB7-4930-A038-24267672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AC1E3F-6B7E-4238-BD4F-E57DC4B0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955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7410FD-AF9C-45B8-9B5C-9C5504F1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955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B82ADD-05EB-4D48-BEF6-5A7A77B6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AED08F-FE2C-46A0-B99A-B18B283C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55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BD1275-A28E-4648-A887-683345F5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455EF9-4FC0-4E88-9965-0371A84B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564C56-7D41-4CE6-931E-0D8DF3D3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B32F69-68ED-4FE6-8B3E-E9FEE74B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单 Skill 编排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3D61E2-51D8-47AF-88D7-F9E44FD5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099CA7-C99F-465C-99D8-04A1002C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95550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4475E1-794C-4BCA-AA12-01FE33D5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95550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缺系统回归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01F87F-FF4C-49E5-8134-B7024071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9A3E47-79F8-4187-9FF2-628E172C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29538B-31FC-4AE2-8801-4DB84E2B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94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新品洞察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FF3DE3-D2CB-42E0-82BC-1DC23E61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CA384B-1C1E-4D32-B6B5-8175229A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813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4F6D2B-7A67-42DF-819C-E9E4D45B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C63FCF0-E4F2-4B6F-A7E4-06A65568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813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45F8FDD-24AB-4204-91EE-C4C12D58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48D1C39-96D7-4F14-8B91-A5C6A1EF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39A7388-687A-48F8-8372-649379F4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DCFD02-2252-4E41-9231-AD371774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813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无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4EEE89-1E81-4BA8-9B6C-127D2287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733C871-13A0-4611-8D9A-8DF03456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81350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局部验证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69E0CE6-C8E1-4940-9A04-429E0003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836313-F423-4503-B598-236E8EBD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D5DE708-ED67-4683-9814-82C0E490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680FEB1-63A4-4ECC-8C79-77EF23EC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194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产品文案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4F69424-1207-4C41-BC3A-AD297AAE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0A75411-7F2E-45C5-AF42-ACE08E08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671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8762B58-C0B2-46DE-856D-FD42A3D5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671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E716E1B-8638-4692-8DF0-D14D3BA1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4D8B141-274F-4B6B-8022-8FAF315B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671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3BB0F64-EC3B-46FF-8116-E379F630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671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B0CBA7A-E48F-433F-9E2F-778DC5D1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3FD242C-B0AE-4EF3-9887-717CACAA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671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C5A01D9-FE79-40EA-91A0-E84682F6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671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F949A26-053E-43AC-ADD4-43AA47C6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80DE983-6398-403A-940B-F2F5047A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671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30DCA4A-4451-474C-9C6E-B9FE96C9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671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无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241D54E-A219-4D59-A5E9-A2A3B65E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9D25F4B-B8BF-4C99-A201-14AA28B5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67150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0ABA458-F164-4001-9F9E-FD92833F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67150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局部验证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9DE621A-80FB-498E-9635-49F1A373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92CB142-9752-46B0-90D8-ABA8643D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6E8B80B-E067-46F6-A136-4A496BF0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194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PRD / 原型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5267485-1F59-4689-A7F2-E3BDF523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00691E1-0DBC-44A9-B2D3-04ED45FD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529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尚未形成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6EDCB6A-E931-4523-B701-4471C9A3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2991BC4-DDDA-4921-A7B0-9A2165D3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529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尚未形成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2E88155-EE4F-4029-880F-81A1ED56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A643CAA-3B99-4352-97F5-08C1EB67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529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尚未形成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A1819DA-4371-4D1C-8FF5-F2199501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4EFFC0A-DC0E-4192-82E1-060AA3FA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29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尚未形成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8562095-D43F-4AD6-9C26-96C7C2C7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17B47E1-0D34-47A6-9773-0A7517C6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52950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尚未形成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0F225C4-29DE-473E-ADD6-C7E01850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41968F0-2C16-4662-B7C3-6063E7A3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CEE4084-58DB-45CE-80E5-96699C71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1059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有文件不等于团队可以依赖；成熟度取决于契约、验证和失败恢复是否一起成立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3025114-4AA5-4E4C-8817-EB5A3F2E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869650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3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8E026E-3851-4857-8205-67C7A47B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CE671-9C49-4897-8583-8A5E2AFD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用研 Skill：先编码决策，再生成题目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3EBD8-884C-4C77-8028-44590B94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cs typeface="Microsoft YaHei"/>
              </a:rPr>
              <a:t>ur-design-survey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FD550-50CE-4E72-88D6-ACE64C39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73449-1CC4-41CC-B43B-83536E08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A9986-E5DB-4690-8D25-4EBB502A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28750"/>
            <a:ext cx="259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确认研究方向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8A921-7AA4-43A3-9CFC-5B8016DA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287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课题、目标、四选一场景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AD963-A145-4E78-B83B-3E6A8003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9240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A3CA0-563D-4A01-8C94-58792868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623D2-9411-4FC7-9694-2BCF8CF9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310C7-33D7-4CE9-92F4-5BC8BE13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43150"/>
            <a:ext cx="259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目标与证据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8EAE2-0EA4-4920-80D1-0CDE162D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需要判断什么；什么证据支持决策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968FB0-EEC1-436B-928C-4E8AAD14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384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5DECE3-C4A5-4388-9324-E4EAA690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B6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7A882-7FC2-4D56-8044-571FEB4A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8DBC5-C7E6-4D2D-B5D9-9ED6CD74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57550"/>
            <a:ext cx="259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模块与分支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4FAD7-FCCC-473C-8447-4C2BD632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575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谁回答什么；先测行为还是概念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67474F-D6FD-45DF-BB3E-5152D48F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528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3FD8A6-7E87-45EC-9E0A-28FBF552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13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1BD326-D37E-462D-BA8A-1E3BE71D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6D9332-495B-4935-808A-51F27B9F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259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题目与平台逻辑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7798E1-072C-4808-B1E9-EB090713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719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题干、选项、跳转、导入格式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5FCF0F-9B7C-4B95-8D07-9BBB53CA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105918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FEFAE0-FF92-4155-83E1-A36E4277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硬规则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46E43E-19B8-44A4-8F67-5A312F55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57800"/>
            <a:ext cx="878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概念后置；未用用户不评价体验；每道题必须能说明如何进入分析和影响产品决策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39F2B1-6802-4B73-9BF3-FB4DCB26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599021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D49A68-8D53-4FF6-83C7-B1E96621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7D189-6800-4FBE-8739-13D52C4A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真实问卷：12 道题背后的证据链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FB18B-74BD-429E-A711-62C2538A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用研案例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A9C7A-1183-4FC9-A9F4-B60885D9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112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B96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B969C"/>
                </a:solidFill>
                <a:latin typeface="Microsoft YaHei"/>
                <a:ea typeface="Microsoft YaHei"/>
                <a:cs typeface="Microsoft YaHei"/>
              </a:rPr>
              <a:t>Q1–Q3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E8848-9D32-4D55-A221-00FCF471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764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96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5A9C1-5983-4452-92AD-99EC279F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716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分组变量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C4909-58C6-4F62-8D53-47D389C7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3716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性别、年龄、手机品牌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用于切片，不直接证明需求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1B9D5-D23C-400C-B9C5-5BF5DAE8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12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Q4–Q6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A1884-6C6A-4CF6-860D-6506D846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5146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718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02C59-5FC3-4FAD-8E02-5B4CF91E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行为基础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6870D-EBA5-4879-B638-8213D827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098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使用状态、近期频率、最近一次任务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证明对象真实存在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CF34C-C225-425F-96BB-CD89428C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12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Q7–Q8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84787-1246-4395-A286-70502D9F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528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483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78DE22-F425-4183-95B5-9144F235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问题价值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22294-82FB-4759-A20D-D0369178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480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亲历问题与实际后果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避免只问‘想不想要’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B9F452-14A5-4A30-B334-F2E79930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112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Q9–Q12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5F030-B0DE-47D9-A3C9-92B29028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1910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E7B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4E65C-6EAF-4996-A3EF-3421F74C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862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优先级决策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D66C5A-9587-4351-BB9F-B6619937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862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需求范围、强制 Top 1、选择原因、触发场景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FED922-32CD-4C10-BB5D-77DFD270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6667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E8145D-FC8F-4643-86A4-C1DCA211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逻辑门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E1FEF6-9698-4B98-9707-69B0850C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14900"/>
            <a:ext cx="5105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Q4 控制经历题；Q9 的‘目前不需要’阻断后续取舍；Q10 只显示 Q9 已选项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E3816F-50FE-4C1E-A624-C61464F9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57750"/>
            <a:ext cx="3619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3E718D">
              <a:alpha val="12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D10409-7373-46BE-BF4A-A238EA43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Lint 实跑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FF1709-BC09-47F6-BA38-3DDA7972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149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12 题  /  0 个结构风险信号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A64B8C-3E76-4FA9-BD38-23045A6A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19750"/>
            <a:ext cx="3067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结构通过 ≠ 研究有效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F4F329-1422-4F48-AC06-716C63FB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750607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D358A0-BBDE-4ED2-8690-479A0124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84319-408F-469B-B427-9E698168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Synthetic Survey：文件状态机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C1C4F-69F0-4ABC-8814-D6A7AE4D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B5552-E856-4058-A33D-60D39674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049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Skill 之间只传文件路径，不传上一步的对话内容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426D3-D13B-49FF-97D8-8CEEDA46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2000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13181D">
              <a:alpha val="13000"/>
            </a:srgbClr>
          </a:solidFill>
          <a:ln xmlns:a="http://schemas.openxmlformats.org/drawingml/2006/main" w="9525">
            <a:solidFill>
              <a:srgbClr val="13181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F80CA-41B2-4CE9-BA44-57134D65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shared_context.md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9DADF-1328-4D76-B3C0-4FB8C2CA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任务与受众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E1B82-E7D2-4EAC-8264-AD698EEC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431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2CC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F9DB2-15A5-409F-B33B-D1953E9C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52600"/>
            <a:ext cx="2000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3E718D">
              <a:alpha val="13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3537A-2712-4651-878D-A4401BA7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478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questionnaire.md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28ECC-06B3-466B-B7C5-735C3592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问卷权威来源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5C219-531C-4D50-A723-05CB0863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431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2CC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F5F51-6AE4-4B1F-8F4D-899250B7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52600"/>
            <a:ext cx="2000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4E7B68">
              <a:alpha val="13000"/>
            </a:srgbClr>
          </a:solidFill>
          <a:ln xmlns:a="http://schemas.openxmlformats.org/drawingml/2006/main" w="9525">
            <a:solidFill>
              <a:srgbClr val="4E7B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18B77-210E-45E5-9FBD-DDE64F3A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478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personas.json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25BDD0-7F78-436F-AA3E-6682413C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907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审计后画像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71BB21-14FF-4C4C-B9D9-78C3C4F4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431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2CC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04EE7-680F-4D4A-A088-E46A3641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52600"/>
            <a:ext cx="2000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5483F">
              <a:alpha val="13000"/>
            </a:srgbClr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490297-6493-49C0-97CF-01F69FB4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478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responses_&lt;run_id&gt;.xlsx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8B9937-1AA0-432F-955C-1F6C5555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907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选定回答批次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9ACBA-58F3-47EF-98A6-E01FD64E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431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2CCC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19A3B8-8B43-4440-8D4A-F517D86C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752600"/>
            <a:ext cx="13716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B78136">
              <a:alpha val="13000"/>
            </a:srgbClr>
          </a:solidFill>
          <a:ln xmlns:a="http://schemas.openxmlformats.org/drawingml/2006/main" w="9525">
            <a:solidFill>
              <a:srgbClr val="B781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01BCD0-BE50-4187-A0A5-16C2C83F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47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report_&lt;run_id&gt;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BFC5BF-9C18-4045-9148-0BDC9324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907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对应批次报告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C66B0A-1744-42B4-8AFB-D1EF958C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83AA1B-1A7D-4A31-AA79-CF183918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隔离边界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A8C078-9423-4D37-97B0-FF994E6B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B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ABFFF8-B443-42F0-B947-42512790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画像不读取问卷和研究假设，避免把期待结论写进人设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8FF011-B2A8-4458-8EF9-02DA4CAF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08BE2B-F4E9-4B8A-BD33-FD9919A1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每个画像在独立上下文中作答，避免角色之间互相污染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286C66-81C7-4E84-8446-DDA266DE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13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FA62B4-8580-4164-B234-B485B085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报告只读取问卷、设计文档和显式选择的回答批次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D44335-0627-4985-94CA-3E3DB6E7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8268F9-E5B9-4B67-B612-D3DAE4DF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1013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返工传播：问卷变化重跑模拟和报告；画像变化重跑画像之后；报告失败无需重做问卷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0BA487-23D6-499C-BBF2-A721B9EB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11329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3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FD0DF3-D0AF-421C-9C29-D81A1B7D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766F4-FE2B-4C25-9E5C-E7CCE123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测试暴露了真实的契约漂移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004C5-D60E-4C1A-A01C-4D538C15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cs typeface="Microsoft YaHei"/>
              </a:rPr>
              <a:t>Harness 实跑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F5BFB-FAB5-4AD4-8062-DE2EF680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161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F4C38-0740-4809-AF5C-87823236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383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项测试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32321-97B6-4DD3-8F9F-D15995B7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7239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C33FB-5A8E-464B-9CA9-8D24C265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47148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4E7B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D4190-9A39-4BF7-B4C3-907BF5B9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305050"/>
            <a:ext cx="252412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26FFA-3BE7-4F0D-AF81-1CEB36A0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28 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6E9D9-AE06-400F-9AAC-00194F5E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05050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 失败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E48B5-2B4E-4FCF-A4ED-60068F27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00150"/>
            <a:ext cx="2857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B36C9-11AB-4481-99A0-5F09D71E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716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失败集中位置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0C299-981B-4B36-BAA5-4CE83871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526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画像生成器 CLI 契约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Windows 中文输出编码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E9F26-856C-495A-A576-ADA6070C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E20C59-69B5-4E03-9F6D-5E34EBA6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测试仍要求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338A9-ECC2-4E38-A25E-A4FF9010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52800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--sample-size     --seed     --group-quota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CD7A4F-0C4C-4638-B518-251820D3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当前脚本不再接受这些参数，文档、脚本和测试已经独立演化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8E8B81-1F49-41C5-A7F3-6708A4C1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05918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E5483F">
              <a:alpha val="14000"/>
            </a:srgbClr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45DDA3-F2A3-4AAF-AFCF-AEB0364F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工程结论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62BA49-4C59-4CB9-A188-695BF8CB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Skill 文档看起来完整，不代表 Workflow 仍可运行。Harness 应让契约漂移在下游启动前变成明确失败。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14C163-47AD-4A8C-B70D-EEDB0EFB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1059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rPr>
              <a:t>当前能力仍在工程化过程中；测试结果用于确定修复优先级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270924-432B-4F42-8335-EC264D09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331619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2C7086-5F40-4312-B758-9C4FDCAB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D41AD-B7DA-463E-ACC5-7E1C3D60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竞品矩阵：先建立证据对象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3CF51-3EA4-4EA3-A3B1-BE99D453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966EB-B3A5-41BA-8C0A-A959983F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52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C28A4-539C-4D93-8CFA-F40979ED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E718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62E17-045C-498E-B55A-2BAAD4A9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FeatureSchema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87757-39FF-4D7B-AF4E-BB658085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266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User Task / Module / Feature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类型与期望值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F1601-7C6B-43A9-8F46-F3231993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52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46F21-3C74-4D15-A2C1-DD9A68DA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352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6408C-0292-41DD-B8D8-5F080738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335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548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C93C3-0378-4EE1-B57B-2203AA73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621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ResearchUnit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B4CB3-B563-42DA-A03D-4225009A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2266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Competitor × Feature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版本、地区、优先级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5531E-306A-4670-89E9-EDFFFBB0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52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7EF8B-D2EE-4E86-BDF2-016CA2EB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52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A82B7-0605-4897-BD41-9A69BAD0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E7B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1800C-78A7-4744-BFD2-91B54ABD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EvidenceRecord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B29AF5-7C8D-4C6A-A70C-94196AE8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266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Claim、支持方向、来源等级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事实、截图、置信度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F03CDF-EFFD-4503-81DC-469C3B61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B0D216-D197-4271-A798-5FA37679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52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E9C79A-89F9-4392-BA3F-4FA9B0FE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335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7813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6A01AD-13E7-4C15-85EF-DCE0ECAF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621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BD2E94-10B5-4714-AEDF-32F26B7B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71750"/>
            <a:ext cx="2266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Feature 状态、产品定位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方向与人工确认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5C78B8-CB19-45D4-927D-BFA7DAD1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10591800" cy="156210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DAC1C9-563A-4BBC-84E6-37F732E7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EvidenceRecord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AC5611-2173-486C-9904-13D04F6A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claim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EFA660-B14A-4D74-95AC-48204519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767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support_direction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39FD0C-AF6C-44FD-AE44-B5C7A9C6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76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source_tier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6D3E56-2178-4B16-BA94-7A0A215F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767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version / region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41D23E-BB2C-43CF-9FAA-B981716D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76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confidence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A1685B-D1EB-407A-8FB6-AE5B141C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manual_confirmation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4D75F9-9B84-47D3-9DA3-0FB08A81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1002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F6AC8A-D5FB-4BD1-AC40-B7C8AE4E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先记录 Claim 与证据，再判断 Feature 状态；最后才抽象定位和产品方向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C6678A-0A11-4A7E-9826-33791EB7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93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342E"/>
                </a:solidFill>
                <a:latin typeface="Microsoft YaHei"/>
                <a:ea typeface="Microsoft YaHei"/>
                <a:cs typeface="Microsoft YaHei"/>
              </a:rPr>
              <a:t>品牌印象不能直接跳到战略建议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90F125-0206-408D-82FA-D49CE570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772394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A4A630-5220-411B-804F-3F4BF791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6DF92-32F6-4831-8065-BB609A0A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Research Unit 的查询与停止条件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A18B7-6786-45D1-B671-A6F88347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A8BAC-8B37-4079-A534-8A5F0EA9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105918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EFA57-3212-43B1-8B8F-D99F9CDD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57300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示例单元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BD7CE-477A-479F-82B6-FD41EDB0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2573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Apple Photos × 是否支持按未同步状态筛选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122FD-8B40-41DA-9B04-FA02882B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查询集合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D5C04-4B71-48B4-912C-A01F6018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E718D">
              <a:alpha val="9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822DE-2DAD-45D5-99A9-66471261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官方术语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98136-3DFA-4180-98F1-BE639DEC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0510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E718D">
              <a:alpha val="9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7676B-361C-4FA8-9700-F8849D00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0510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用户任务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D294FB-418C-46C4-B347-8D8F6A6A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0510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E718D">
              <a:alpha val="9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451B18-DED4-4EB1-9973-181F55BA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0510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同义机制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BC86CD-7EBE-4722-88D6-61C0D6DB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0510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E718D">
              <a:alpha val="9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4E4604-3EBB-45FB-AE61-DA7DED5F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0510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界面证据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155B4-244B-4036-934E-099E42A4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0510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5483F">
              <a:alpha val="10000"/>
            </a:srgbClr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A6A12-AB27-4465-B8D9-E9EB5A68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0510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93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9342E"/>
                </a:solidFill>
                <a:latin typeface="Microsoft YaHei"/>
                <a:ea typeface="Microsoft YaHei"/>
                <a:cs typeface="Microsoft YaHei"/>
              </a:rPr>
              <a:t>反向验证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9DF0A9-9CD4-4FBF-8D30-C06FC564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0510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E718D">
              <a:alpha val="9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1F2864-CDF2-4C60-93C0-7B6438CD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0510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版本 / 地区冲突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B99BD3-27F6-4B67-8A5F-FCB1CC6E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03E530-C504-47D7-9E93-34382B1E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停止与状态规则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ABABEC-8028-44D6-B783-0F0FA388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B6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5F4B88-1A7C-469E-9A19-A93FBFAB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Tier 1 当前版本直接证明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059A15-2B4E-42B4-B06D-6D337D60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624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高置信判断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358139-DCB4-440A-9789-33C8DF87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48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E7B5A2-3274-4A38-852B-B7886327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两个独立 Tier 2/3 一致且无反证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4715C3-4223-4F47-AD75-C5231CA5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停止检索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0C1B1B-FFF8-4087-940D-5F93E737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8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83AB19-3A2C-42A4-A780-71564A93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625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只得到搜索失败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882F0D-4F5C-4B63-B7DE-543ED1DB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625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未知；不能写不支持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317AC2-0268-4A0A-816A-5A0E8405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48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13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2D4A96-4874-45BF-9EFC-A057CC86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626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达到最大 Pass 或冲突仍未解决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F43F27-8CB7-42FB-BBC7-C00E5DFD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626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未知 / 冲突 + 请人工确认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58DE18-6572-4FE3-B424-D63AE6BB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76950"/>
            <a:ext cx="1059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本页只演示研究过程，不预设 Apple 的真实支持状态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168C35-88B4-4EBC-8C70-C46B10E6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732569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3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FC25ED-6A35-486A-9E0E-5B235498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DD643-894A-4A7B-A3EA-3DB798DD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PRD 与原型：用追溯关系连接证据和界面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5D9FF-EC37-4BB6-8363-DEF3309A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123950"/>
            <a:ext cx="1390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A679F-7CB3-4AA9-B284-D6FB6710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1239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下一阶段设计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B0438-C0FE-48F5-84F4-08CF68AF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14450"/>
            <a:ext cx="4857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3DE75-EA85-401D-9F94-AE582F65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requirement_ledger.yaml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BB22C-628D-43D4-AA21-1EADDAEA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4286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id: REQ-001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evidence_refs: [UR-Q7, COMP-EV-023]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problem: 用户担心 AI 清理误删原图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scenario: 存储空间不足时批量清理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requirement: 删除前显示可恢复范围与保留期限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acceptance: 支持预览、撤销和恢复状态说明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9594E-D902-431B-99DF-E05FE55A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6E030-8E0C-4B52-AA8D-EB3C7B18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906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pm-write-prd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05BF3-03A0-4434-9D3D-2BFA57E0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3906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范围、场景、状态、验收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F8FF7-B5A8-42FF-BDD8-F491885A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975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B0DB2B-B113-4B81-8BA2-86D787DD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C6FBB-DF14-435D-A2A6-04C78C2A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pm-prototype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45CEA-7315-4E9B-BCF0-AF5A896C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81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页面、跳转、状态、文案契约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106018-77C4-4511-B08D-6726CA7C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0035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5EC512-7180-4985-A48F-B25EA9D3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CD6486-0D5E-46A7-82D9-07E872FC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718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pm-design-review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E3A468-B0BD-4A36-916C-D02AAAB7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718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需求覆盖、异常状态、一致性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F8ADE6-8F88-4AE4-A391-B7D4A342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51625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0B257">
              <a:alpha val="10000"/>
            </a:srgbClr>
          </a:solidFill>
          <a:ln xmlns:a="http://schemas.openxmlformats.org/drawingml/2006/main" w="9525">
            <a:solidFill>
              <a:srgbClr val="B781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340B20-3A65-40EF-81E5-E2DFC7C1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291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状态覆盖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D1AACB-73AD-4AF1-A6E2-F7D5FCEF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72000"/>
            <a:ext cx="3295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空 / 加载 / 失败 / 权限拒绝 / 离线 / 处理中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部分成功 / 撤销 / 恢复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10BC38-3670-400F-AB20-B1E0D745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9120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每个需求必须同时找到证据来源、PRD 条目、界面落点和验收项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21326A-5D53-418B-9A2E-D588B7C2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568297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E7E2A4-92C2-4EFA-8B03-6AE87AF8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0B4CD-8842-4AF0-B7DF-2482D096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Skill 开发：从失败样本到回归资产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42D4D-E432-4192-9B61-B274A981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开发方法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157D2-4C65-4C17-BF2E-813C8C2E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A88C4-6960-4128-806C-232FE9AE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ABA44-564E-4E50-91A7-CDC5383E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选任务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DBBBE-D60C-4886-BECA-4ED6A9E1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35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高频、边界清楚、可验收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77ECF-9399-46A1-915B-2873B21E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287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89880-B070-4382-A25A-A4B0EB14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428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15111-C912-4B7F-9699-A3DDE801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428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81119-852D-4D00-8F86-499BBF19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8120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收失败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3160A-A467-420A-A5F3-2BB7E83F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76500"/>
            <a:ext cx="135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至少 3 个真实案例与返工原因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0C0F9-9202-438D-8A7A-4CE50623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287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3CC853-8C44-42A4-BE59-DF254C14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28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B6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878B7-EA2E-4E6B-9ADF-02CDAC45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28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69D6D5-6F0D-4758-BA8A-A2AFADC6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8120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定契约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0471A-6B34-447C-9D7E-6ABEF3AA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76500"/>
            <a:ext cx="135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触发、排除、输入输出、确认与停止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F7DC1-8B42-4735-B235-8031F12D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287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702F3B-2820-4E84-939A-83B503CE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428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13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9F4BE-6D4B-416F-86E5-C68C92C3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428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2B863E-5933-45A4-89EC-7ACD13D6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8120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拆资源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365FC0-6AED-436D-BD9C-F16DA316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76500"/>
            <a:ext cx="135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判断写 Reference，确定性写 Script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B9EC2E-F7F9-4593-95DB-7776B591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287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BA4E28-45F7-4550-8A75-19CEE63A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28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A864F5-2D1C-446D-9D09-0DB7B838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28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01EEBC-0BD4-4E6F-9746-208DAF5D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8120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最小试跑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B51064-1BA6-4554-902B-BDA711CD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76500"/>
            <a:ext cx="135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先闭环，再扩模板和平台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8F978A-FAE0-4CEA-9EA5-5F33FED5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287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230CD4-F311-47E4-B5FD-0EBD8F8D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28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511709-EBD6-4C4A-A017-5F51D69D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28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42D675-925A-43C1-815B-930F1B41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8120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做回归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E47CEA-BCB0-4586-8DD6-133FD21D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135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把每次返工转成 test 或 eval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A05E36-9315-4099-899A-C8835976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287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A91E34-0F6D-4EF0-AA07-1DF1C4E8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428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F40C1E-ED63-470F-A435-CFD1F020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428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B34F56-C888-49EF-B085-94BC6F5C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8120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版本化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03AED9-10DA-4D4D-8554-FB198567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76500"/>
            <a:ext cx="135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记录上下游契约和迁移影响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97432E-FCF4-446E-BB78-D498E5C5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ACDF29-7490-4376-95D2-DA6B156A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495300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3E718D">
              <a:alpha val="10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A8CC34-317B-4122-ADBF-87076C25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做 Skill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289AF1-D887-4643-A782-AC0A3009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跨任务复用，并且可以独立验收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9CAE8B-8BAE-487D-A13A-35F432D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10050"/>
            <a:ext cx="495300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E5483F">
              <a:alpha val="9000"/>
            </a:srgbClr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204783-AC24-4D74-B4D2-45CB5BB1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62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做 Workflow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BDAD86-AAD9-4316-B435-CA1ACCEA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24400"/>
            <a:ext cx="434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需要管理多个 Skill 的依赖、状态、人工门禁和局部重跑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2EE6A9-C8D5-4AC9-AB35-78B28493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2930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团队真正复用的是失败处理和验收标准，不是某一句提示词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66D9E3-CE47-48EF-8938-7F41BED6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487500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12C26E-DA41-443B-8B27-8848435A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53A33-1440-4042-BBA7-531DE912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团队落地：管理能力，而不是管理提示词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8DAE4-17D6-446D-8304-71E0F2DA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935B9-7003-40E0-8CBB-43F90957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Skill Registry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D6F82-D284-4AEB-9F3C-4B41EB34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358E2-F270-4676-931E-C3BC3470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669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Owner / 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A5AA0-39E8-41BB-8DF0-D2FE31EB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005B2-ED31-4105-AEA8-1EAF71B2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622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适用与排除边界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39BB8-AECE-4B17-B3D0-F3A56C0B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A89E2-AFCD-43DC-8D4B-B4E57970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575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输入输出与依赖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2C3B8-40E6-42A0-90B6-AD69BBC0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AC1A4-CA2C-4FE0-A461-8B09DC9C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528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最近 Eval 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39280-6EB3-4EDC-9E10-0D3502A6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F6348-9AAF-4C1C-9F6C-E1221F11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481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已知限制与升级影响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C5308-BEF8-4A65-9735-F3A73AA1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2954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977491-4919-4F1A-9159-C983F57D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333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试点看什么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8D24B3-EE58-4F5F-B1BB-CBA1E089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240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7522E3-BA2B-4D8B-92C2-A1161A13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669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首轮交付可接受率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F72F62-D10C-49B5-8A02-ABD137CC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193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053749-6458-42CF-8479-C042A0C0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622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证据覆盖与人工确认项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FB1940-A8CD-4670-AAF4-51ABCBCD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146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F0CA76-5780-41A1-902D-58A8950C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关键校验通过率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723511-E081-4426-AD70-C2243C55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099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5EFF52-6C4D-42E8-A916-9D28D5C5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人工返工时间与原因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ED7FB0-2E67-464A-B5A7-7160E337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052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A1CC16-39D4-4337-A347-FFB5C968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481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版本升级后的回归情况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7B5AF5-4D51-4887-94E1-4DD9876B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105918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24C2C1-F42F-4B95-8617-A4C6EDCE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133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Q&amp;A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0C0587-783D-478F-962A-C5A9A6CA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29200"/>
            <a:ext cx="8305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团队中哪一个高频任务，最值得先做成有契约、有证据、有验证的 Skill？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06F781-2531-470E-A158-C7CC359F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13716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2026-09-14T05:08:36.3720000Z</dcterms:created>
  <dcterms:modified xsi:type="dcterms:W3CDTF">2026-09-14T05:08:36.3730000Z</dcterms:modified>
</coreProperties>
</file>