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5c375b628b4f52" /><Relationship Type="http://schemas.openxmlformats.org/officeDocument/2006/relationships/extended-properties" Target="/docProps/app.xml" Id="Rd9dfc10840ad49be" /><Relationship Type="http://schemas.openxmlformats.org/officeDocument/2006/relationships/officeDocument" Target="/ppt/presentation.xml" Id="R23b3f0197cba45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b9bdeb77e04571"/>
  </p:sldMasterIdLst>
  <p:notesMasterIdLst>
    <p:notesMasterId xmlns:r="http://schemas.openxmlformats.org/officeDocument/2006/relationships" r:id="Rf57c1110c3f6446a"/>
  </p:notesMasterIdLst>
  <p:sldIdLst>
    <p:sldId xmlns:r="http://schemas.openxmlformats.org/officeDocument/2006/relationships" id="256" r:id="R6c8cf3053db745e5"/>
    <p:sldId xmlns:r="http://schemas.openxmlformats.org/officeDocument/2006/relationships" id="257" r:id="R7e1a3b97483f4d2c"/>
    <p:sldId xmlns:r="http://schemas.openxmlformats.org/officeDocument/2006/relationships" id="258" r:id="R2f624b8ca9e745ef"/>
    <p:sldId xmlns:r="http://schemas.openxmlformats.org/officeDocument/2006/relationships" id="259" r:id="R72327ae874fb40c1"/>
    <p:sldId xmlns:r="http://schemas.openxmlformats.org/officeDocument/2006/relationships" id="260" r:id="R4616d5f5f9b34824"/>
    <p:sldId xmlns:r="http://schemas.openxmlformats.org/officeDocument/2006/relationships" id="261" r:id="Ra254093ce3364780"/>
    <p:sldId xmlns:r="http://schemas.openxmlformats.org/officeDocument/2006/relationships" id="262" r:id="R947118a30b384847"/>
    <p:sldId xmlns:r="http://schemas.openxmlformats.org/officeDocument/2006/relationships" id="263" r:id="R44227d47be4c412f"/>
    <p:sldId xmlns:r="http://schemas.openxmlformats.org/officeDocument/2006/relationships" id="264" r:id="Ref7237aa45224b33"/>
    <p:sldId xmlns:r="http://schemas.openxmlformats.org/officeDocument/2006/relationships" id="265" r:id="R0ea390062b504a76"/>
    <p:sldId xmlns:r="http://schemas.openxmlformats.org/officeDocument/2006/relationships" id="266" r:id="R377c18f585e246da"/>
    <p:sldId xmlns:r="http://schemas.openxmlformats.org/officeDocument/2006/relationships" id="267" r:id="R6e72d84b7bed4842"/>
    <p:sldId xmlns:r="http://schemas.openxmlformats.org/officeDocument/2006/relationships" id="268" r:id="R50c2ad9aaedb491a"/>
    <p:sldId xmlns:r="http://schemas.openxmlformats.org/officeDocument/2006/relationships" id="269" r:id="Rb3ce7dcf22904c52"/>
    <p:sldId xmlns:r="http://schemas.openxmlformats.org/officeDocument/2006/relationships" id="270" r:id="R460e1447378b4db6"/>
    <p:sldId xmlns:r="http://schemas.openxmlformats.org/officeDocument/2006/relationships" id="271" r:id="Ref922319ad404f2f"/>
    <p:sldId xmlns:r="http://schemas.openxmlformats.org/officeDocument/2006/relationships" id="272" r:id="R062a618e0604463e"/>
    <p:sldId xmlns:r="http://schemas.openxmlformats.org/officeDocument/2006/relationships" id="273" r:id="R8e00a5cebde04c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966cacd5344ad0" /><Relationship Type="http://schemas.openxmlformats.org/officeDocument/2006/relationships/slideMaster" Target="/ppt/slideMasters/slideMaster1.xml" Id="R38b9bdeb77e04571" /><Relationship Type="http://schemas.openxmlformats.org/officeDocument/2006/relationships/notesMaster" Target="/ppt/notesMasters/notesMaster1.xml" Id="Rf57c1110c3f6446a" /><Relationship Type="http://schemas.openxmlformats.org/officeDocument/2006/relationships/presProps" Target="/ppt/presProps.xml" Id="Rf5b2736411574c63" /><Relationship Type="http://schemas.openxmlformats.org/officeDocument/2006/relationships/tableStyles" Target="/ppt/tableStyles.xml" Id="Re5d91f069a3f4f40" /><Relationship Type="http://schemas.openxmlformats.org/officeDocument/2006/relationships/slide" Target="/ppt/slides/slide1.xml" Id="R6c8cf3053db745e5" /><Relationship Type="http://schemas.openxmlformats.org/officeDocument/2006/relationships/slide" Target="/ppt/slides/slide2.xml" Id="R7e1a3b97483f4d2c" /><Relationship Type="http://schemas.openxmlformats.org/officeDocument/2006/relationships/slide" Target="/ppt/slides/slide3.xml" Id="R2f624b8ca9e745ef" /><Relationship Type="http://schemas.openxmlformats.org/officeDocument/2006/relationships/slide" Target="/ppt/slides/slide4.xml" Id="R72327ae874fb40c1" /><Relationship Type="http://schemas.openxmlformats.org/officeDocument/2006/relationships/slide" Target="/ppt/slides/slide5.xml" Id="R4616d5f5f9b34824" /><Relationship Type="http://schemas.openxmlformats.org/officeDocument/2006/relationships/slide" Target="/ppt/slides/slide6.xml" Id="Ra254093ce3364780" /><Relationship Type="http://schemas.openxmlformats.org/officeDocument/2006/relationships/slide" Target="/ppt/slides/slide7.xml" Id="R947118a30b384847" /><Relationship Type="http://schemas.openxmlformats.org/officeDocument/2006/relationships/slide" Target="/ppt/slides/slide8.xml" Id="R44227d47be4c412f" /><Relationship Type="http://schemas.openxmlformats.org/officeDocument/2006/relationships/slide" Target="/ppt/slides/slide9.xml" Id="Ref7237aa45224b33" /><Relationship Type="http://schemas.openxmlformats.org/officeDocument/2006/relationships/slide" Target="/ppt/slides/slide10.xml" Id="R0ea390062b504a76" /><Relationship Type="http://schemas.openxmlformats.org/officeDocument/2006/relationships/slide" Target="/ppt/slides/slide11.xml" Id="R377c18f585e246da" /><Relationship Type="http://schemas.openxmlformats.org/officeDocument/2006/relationships/slide" Target="/ppt/slides/slide12.xml" Id="R6e72d84b7bed4842" /><Relationship Type="http://schemas.openxmlformats.org/officeDocument/2006/relationships/slide" Target="/ppt/slides/slide13.xml" Id="R50c2ad9aaedb491a" /><Relationship Type="http://schemas.openxmlformats.org/officeDocument/2006/relationships/slide" Target="/ppt/slides/slide14.xml" Id="Rb3ce7dcf22904c52" /><Relationship Type="http://schemas.openxmlformats.org/officeDocument/2006/relationships/slide" Target="/ppt/slides/slide15.xml" Id="R460e1447378b4db6" /><Relationship Type="http://schemas.openxmlformats.org/officeDocument/2006/relationships/slide" Target="/ppt/slides/slide16.xml" Id="Ref922319ad404f2f" /><Relationship Type="http://schemas.openxmlformats.org/officeDocument/2006/relationships/slide" Target="/ppt/slides/slide17.xml" Id="R062a618e0604463e" /><Relationship Type="http://schemas.openxmlformats.org/officeDocument/2006/relationships/slide" Target="/ppt/slides/slide18.xml" Id="R8e00a5cebde0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e936e397b7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708053c900434b" /><Relationship Type="http://schemas.openxmlformats.org/officeDocument/2006/relationships/notesMaster" Target="/ppt/notesMasters/notesMaster1.xml" Id="Rcc24b69b5ef74d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75f4b1d5d44082" /><Relationship Type="http://schemas.openxmlformats.org/officeDocument/2006/relationships/notesMaster" Target="/ppt/notesMasters/notesMaster1.xml" Id="Ra1e6a0633d4042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9150e2af6e4d97" /><Relationship Type="http://schemas.openxmlformats.org/officeDocument/2006/relationships/notesMaster" Target="/ppt/notesMasters/notesMaster1.xml" Id="Re1f4e0a46cb546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9b6ca4009440d8" /><Relationship Type="http://schemas.openxmlformats.org/officeDocument/2006/relationships/notesMaster" Target="/ppt/notesMasters/notesMaster1.xml" Id="R2ad0df701fc9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77b02db6d44723" /><Relationship Type="http://schemas.openxmlformats.org/officeDocument/2006/relationships/notesMaster" Target="/ppt/notesMasters/notesMaster1.xml" Id="Rc18601265bef48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ea8039140a4432" /><Relationship Type="http://schemas.openxmlformats.org/officeDocument/2006/relationships/notesMaster" Target="/ppt/notesMasters/notesMaster1.xml" Id="R9ad7df2471b349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178f923c574e80" /><Relationship Type="http://schemas.openxmlformats.org/officeDocument/2006/relationships/notesMaster" Target="/ppt/notesMasters/notesMaster1.xml" Id="Rca8f2eab784d46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8c1e0f0b2f4970" /><Relationship Type="http://schemas.openxmlformats.org/officeDocument/2006/relationships/notesMaster" Target="/ppt/notesMasters/notesMaster1.xml" Id="R319ab825931d4c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e03b1250414f8d" /><Relationship Type="http://schemas.openxmlformats.org/officeDocument/2006/relationships/notesMaster" Target="/ppt/notesMasters/notesMaster1.xml" Id="R4706985b4c7840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b4400b86c94663" /><Relationship Type="http://schemas.openxmlformats.org/officeDocument/2006/relationships/notesMaster" Target="/ppt/notesMasters/notesMaster1.xml" Id="R92047903b32844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fdee8c3e2d4503" /><Relationship Type="http://schemas.openxmlformats.org/officeDocument/2006/relationships/notesMaster" Target="/ppt/notesMasters/notesMaster1.xml" Id="R59931a1dbaca48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fe61bcb7774be2" /><Relationship Type="http://schemas.openxmlformats.org/officeDocument/2006/relationships/notesMaster" Target="/ppt/notesMasters/notesMaster1.xml" Id="R559944189bab4c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2bc1c2316143c8" /><Relationship Type="http://schemas.openxmlformats.org/officeDocument/2006/relationships/notesMaster" Target="/ppt/notesMasters/notesMaster1.xml" Id="R4ac54f3dd54b42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5467fc4770434b" /><Relationship Type="http://schemas.openxmlformats.org/officeDocument/2006/relationships/notesMaster" Target="/ppt/notesMasters/notesMaster1.xml" Id="R086e3abf3bf64b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ba1698fa884aaa" /><Relationship Type="http://schemas.openxmlformats.org/officeDocument/2006/relationships/notesMaster" Target="/ppt/notesMasters/notesMaster1.xml" Id="R082bba305b094b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cc961fd81c4d7b" /><Relationship Type="http://schemas.openxmlformats.org/officeDocument/2006/relationships/notesMaster" Target="/ppt/notesMasters/notesMaster1.xml" Id="Rbf58f4be2f624c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a2c7cdfbe54054" /><Relationship Type="http://schemas.openxmlformats.org/officeDocument/2006/relationships/notesMaster" Target="/ppt/notesMasters/notesMaster1.xml" Id="R4c34f9442c6248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bb55b1f509458c" /><Relationship Type="http://schemas.openxmlformats.org/officeDocument/2006/relationships/notesMaster" Target="/ppt/notesMasters/notesMaster1.xml" Id="Rde5a46e4d7fe46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>开场：过去一年，我不断更换 AI 使用方式。变化最大的并不是模型名称，而是我逐渐把工作方法变成了一个可执行、可检查的系统。今天分享这条演进路线，以及我如何把产品经理经验沉淀成 Skill。</a:t>
            </a:r>
          </a:p>
          <a:p xmlns:a="http://schemas.openxmlformats.org/drawingml/2006/main">
            <a:r>
              <a:t>主视觉由图像生成工具制作，用于表达从单点对话到多工具工作系统的扩展。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用一个大家熟悉的任务做对照。聊天框适合快速启动，加入检索后事实基础更好，Agent 可以真正行动，Harness 则让这些行动在稳定的边界里发生。</a:t>
            </a:r>
          </a:p>
          <a:p xmlns:a="http://schemas.openxmlformats.org/drawingml/2006/main">
            <a:r>
              <a:t>互动问题：大家最近一次因为 AI 输出看起来正确、但无法直接交付而返工，问题出在哪里？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这四层并非相互替代。好的 Agent 仍然需要好提示词，也需要好上下文。演变发生在控制面扩展：从回答、知识、行动到整个运行系统。后面的案例都可以放回这四层看。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提示词工程让我第一次能稳定获得结构化内容。我逐渐形成角色、任务、格式、示例、限制等写法。瓶颈也很明显：同类任务每次重新写，资料散落在对话里，结果很难复查。</a:t>
            </a:r>
          </a:p>
          <a:p xmlns:a="http://schemas.openxmlformats.org/drawingml/2006/main">
            <a:r>
              <a:t>这一阶段的关键经验是：提示词适合定义一轮回答，无法单独承担长任务的状态管理。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RAG 把外部知识引入生成过程。对产品经理来说，历史 PRD、用户反馈、规范和竞品证据都能成为可检索上下文。</a:t>
            </a:r>
          </a:p>
          <a:p xmlns:a="http://schemas.openxmlformats.org/drawingml/2006/main">
            <a:r>
              <a:t>需要强调：检索命中不代表结论可靠。仍然要治理版本、冲突、来源等级和权限。</a:t>
            </a:r>
          </a:p>
          <a:p xmlns:a="http://schemas.openxmlformats.org/drawingml/2006/main">
            <a:r>
              <a:t>来源：Lewis 等，Retrieval-Augmented Generation for Knowledge-Intensive NLP Tasks，2020，https://arxiv.org/abs/2005.11401</a:t>
            </a:r>
          </a:p>
          <a:p xmlns:a="http://schemas.openxmlformats.org/drawingml/2006/main">
            <a:r>
              <a:t>来源：Anthropic，Contextual Retrieval，https://www.anthropic.com/engineering/contextual-retrieval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Agent 的最小特征是模型能动态决定下一步并使用工具。工作方式从复制粘贴每一步，变为定义目标和边界，再审查关键决策与最终产物。</a:t>
            </a:r>
          </a:p>
          <a:p xmlns:a="http://schemas.openxmlformats.org/drawingml/2006/main">
            <a:r>
              <a:t>要区分 workflow 和 agent。预定义路径更可控，动态路径更灵活。实际工作常常混合使用。</a:t>
            </a:r>
          </a:p>
          <a:p xmlns:a="http://schemas.openxmlformats.org/drawingml/2006/main">
            <a:r>
              <a:t>来源：Anthropic，Building Effective Agents，https://www.anthropic.com/engineering/building-effective-agents</a:t>
            </a:r>
          </a:p>
          <a:p xmlns:a="http://schemas.openxmlformats.org/drawingml/2006/main">
            <a:r>
              <a:t>来源：OpenAI API Quickstart，工具与 Agents SDK，https://platform.openai.com/docs/quickstart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我把 Harness 理解为 Agent 的工作环境与控制系统。它包括模型之外的规则、工具、目录、权限、状态、测试和人工确认点。</a:t>
            </a:r>
          </a:p>
          <a:p xmlns:a="http://schemas.openxmlformats.org/drawingml/2006/main">
            <a:r>
              <a:t>长任务失败经常来自状态丢失、一次做太多、没有验证、错误覆盖产物。结构化文件、增量推进和 evaluator 能显著改善这些问题。</a:t>
            </a:r>
          </a:p>
          <a:p xmlns:a="http://schemas.openxmlformats.org/drawingml/2006/main">
            <a:r>
              <a:t>来源：Anthropic，Effective Harnesses for Long-Running Agents，https://www.anthropic.com/engineering/effective-harnesses-for-long-running-agents</a:t>
            </a:r>
          </a:p>
          <a:p xmlns:a="http://schemas.openxmlformats.org/drawingml/2006/main">
            <a:r>
              <a:t>来源：Anthropic，Harness Design for Long-Running Application Development，https://www.anthropic.com/engineering/harness-design-long-running-apps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这页讲能力形态，不追求列全厂商。工具演变大致经历聊天生成、外部检索、结构化工具调用、标准化连接、真实工作区执行，以及 Skill 和多 Agent 复用。</a:t>
            </a:r>
          </a:p>
          <a:p xmlns:a="http://schemas.openxmlformats.org/drawingml/2006/main">
            <a:r>
              <a:t>MCP 把资源、提示和工具抽象为标准连接。Coding Agent 把文件、命令、浏览器和验证放进同一个工作台。</a:t>
            </a:r>
          </a:p>
          <a:p xmlns:a="http://schemas.openxmlformats.org/drawingml/2006/main">
            <a:r>
              <a:t>来源：MCP 规范，https://modelcontextprotocol.io/specification/2024-11-05</a:t>
            </a:r>
          </a:p>
          <a:p xmlns:a="http://schemas.openxmlformats.org/drawingml/2006/main">
            <a:r>
              <a:t>来源：OpenAI Developers，Codex 能力与插件，https://developers.openai.com/</a:t>
            </a:r>
          </a:p>
          <a:p xmlns:a="http://schemas.openxmlformats.org/drawingml/2006/main">
            <a:r>
              <a:t>来源：OpenAI Model Guidance，工具调用与多 Agent，https://developers.openai.com/api/docs/guides/latest-model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我用产品流程来组织 Skill，而不是按模型或软件分类。发现、定义、设计、验证和沉淀构成一条闭环。原子 Skill 保持单一职责，Workflow 围绕业务终点组合它们。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数据来自当前仓库文件清单。9 个 Skill、29 个 reference 文件、21 个模板、19 个脚本和 2 个 Workflow。</a:t>
            </a:r>
          </a:p>
          <a:p xmlns:a="http://schemas.openxmlformats.org/drawingml/2006/main">
            <a:r>
              <a:t>这里要主动说明现状：用研和竞品已经形成较完整系统，PRD 与原型仍是下一组要建设的能力，当前只有系统应用文案 Skill。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Skill 类似岗位能力说明书，Workflow 类似跨岗位项目 SOP。拆分标准不是文件大小，而是能否独立验收。</a:t>
            </a:r>
          </a:p>
          <a:p xmlns:a="http://schemas.openxmlformats.org/drawingml/2006/main">
            <a:r>
              <a:t>一个 Skill 应该能在不同任务中单独使用。一个 Workflow 需要管理多个 Skill 之间的依赖、状态和人工确认点。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用户研究最初是一条很长的提示词，后来我发现问卷、画像、作答和报告拥有完全不同的输入契约与风险，因此拆成四个原子 Skill。</a:t>
            </a:r>
          </a:p>
          <a:p xmlns:a="http://schemas.openxmlformats.org/drawingml/2006/main">
            <a:r>
              <a:t>合成研究必须明确使用边界：它适合检查问卷和数据管线、暴露假设，不能用于估计真实市场比例或替代真实用户。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现场可以打开 SKILL.md，只展示三块：触发与排除、输入契约、六步流程。</a:t>
            </a:r>
          </a:p>
          <a:p xmlns:a="http://schemas.openxmlformats.org/drawingml/2006/main">
            <a:r>
              <a:t>这个 Skill 的关键设计有两点。第一，生成前用确认卡锁定研究方向，避免问卷做完才发现目标错了。第二，Agent 负责专业判断，脚本负责题目结构、跳转和格式等确定性检查。</a:t>
            </a:r>
          </a:p>
          <a:p xmlns:a="http://schemas.openxmlformats.org/drawingml/2006/main">
            <a:r>
              <a:t>本页内容依据仓库：pm-user-research/skills/ur-design-survey/SKILL.md。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Workflow 的价值不是连续调用四次，而是管理依赖和状态。每一步通过文件契约交付，下一步只读取约定文件。这样任务跨多轮甚至跨工具时仍能恢复。</a:t>
            </a:r>
          </a:p>
          <a:p xmlns:a="http://schemas.openxmlformats.org/drawingml/2006/main">
            <a:r>
              <a:t>需要保留人工确认点，包括研究方向、问卷定稿、异常样本排除和结论审阅。</a:t>
            </a:r>
          </a:p>
          <a:p xmlns:a="http://schemas.openxmlformats.org/drawingml/2006/main">
            <a:r>
              <a:t>本页内容依据仓库：pm-user-research/workflows/synthetic-survey.md 与 pm-user-research/README.md。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 分钟</a:t>
            </a:r>
          </a:p>
          <a:p xmlns:a="http://schemas.openxmlformats.org/drawingml/2006/main">
            <a:r>
              <a:t>竞品分析最容易退化成搜索结果拼贴。这个 Skill 先定义问题、竞品选择和 Feature Schema，再收集 UI、机制、定量与来源证据，最后才做状态判断和产品建议。</a:t>
            </a:r>
          </a:p>
          <a:p xmlns:a="http://schemas.openxmlformats.org/drawingml/2006/main">
            <a:r>
              <a:t>一个关键硬规则是：没有找到证据只能标记未知，不能自动推断为竞品不支持。</a:t>
            </a:r>
          </a:p>
          <a:p xmlns:a="http://schemas.openxmlformats.org/drawingml/2006/main">
            <a:r>
              <a:t>目录设计采用瘦主 Skill。References 放专业判断，Config 放常量，Scripts 放并行研究与图表重生成，Templates 固定交付结构。</a:t>
            </a:r>
          </a:p>
          <a:p xmlns:a="http://schemas.openxmlformats.org/drawingml/2006/main">
            <a:r>
              <a:t>本页内容依据仓库：pm-competitor-analysis/pm-system-app-competitor-matrix/SKILL.md 与 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这一页必须明确区分现状和规划。当前仓库已有用户研究、竞品分析和产品文案，但没有完整 PRD 与原型 Skill。</a:t>
            </a:r>
          </a:p>
          <a:p xmlns:a="http://schemas.openxmlformats.org/drawingml/2006/main">
            <a:r>
              <a:t>建议新增三项能力：写 PRD、从 PRD 生成原型、对 PRD 与原型做覆盖检查。关键机制是需求 ID 映射，让证据、需求、界面和验收标准可以追溯。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以用研 Skill 为例，开发从真实任务和失败模式开始。先定义边界与契约，再拆主 Skill、Reference、Template 和 Script。试跑之后，把重复失败变成规则，把确定性检查写成脚本。</a:t>
            </a:r>
          </a:p>
          <a:p xmlns:a="http://schemas.openxmlformats.org/drawingml/2006/main">
            <a:r>
              <a:t>评估要覆盖结构、样例与最终产物。测试存在的意义不是追求数量，而是让能力变更可以被发现。</a:t>
            </a:r>
          </a:p>
          <a:p xmlns:a="http://schemas.openxmlformats.org/drawingml/2006/main">
            <a:r>
              <a:t>参考：Anthropic，Writing Effective Tools for Agents，https://www.anthropic.com/engineering/writing-tools-for-agents</a:t>
            </a:r>
          </a:p>
          <a:p xmlns:a="http://schemas.openxmlformats.org/drawingml/2006/main">
            <a:r>
              <a:t>参考：OpenAI Skills API 提供版本化的 Skill 资源，https://developers.openai.com/api/reference/python/resources/skills/methods/create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分钟总结，随后进入 Q&amp;A</a:t>
            </a:r>
          </a:p>
          <a:p xmlns:a="http://schemas.openxmlformats.org/drawingml/2006/main">
            <a:r>
              <a:t>给团队一个四周小实验，不要求一次建设完整平台。先挑高频任务，做最小 Skill，让同事交叉使用，再把成熟能力组合成 Workflow。</a:t>
            </a:r>
          </a:p>
          <a:p xmlns:a="http://schemas.openxmlformats.org/drawingml/2006/main">
            <a:r>
              <a:t>结尾问题：你最想先做成 Skill 的产品经理任务是什么？</a:t>
            </a:r>
          </a:p>
          <a:p xmlns:a="http://schemas.openxmlformats.org/drawingml/2006/main">
            <a:r>
              <a:t>总结句：当工作方法具备可复用、可组合、可验证和可追溯四个特征时，AI 才从个人技巧变成团队工作系统。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c4adaac3749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1d8bcbd03c4b79" /><Relationship Type="http://schemas.openxmlformats.org/officeDocument/2006/relationships/slideLayout" Target="/ppt/slideLayouts/slideLayout1.xml" Id="Rcef99bf214c449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f99bf214c449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4f9e5f79f48a1" /><Relationship Type="http://schemas.openxmlformats.org/officeDocument/2006/relationships/image" Target="/ppt/media/image.png" Id="R60f4189aba284bc4" /><Relationship Type="http://schemas.openxmlformats.org/officeDocument/2006/relationships/notesSlide" Target="/ppt/notesSlides/notesSlide1.xml" Id="R5cf804cb111945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e508075ef4c9c" /><Relationship Type="http://schemas.openxmlformats.org/officeDocument/2006/relationships/notesSlide" Target="/ppt/notesSlides/notesSlide2.xml" Id="R100160d60124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16dd7a0bf456e" /><Relationship Type="http://schemas.openxmlformats.org/officeDocument/2006/relationships/notesSlide" Target="/ppt/notesSlides/notesSlide3.xml" Id="Rc6f2ff14001240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6bf7b727e4b66" /><Relationship Type="http://schemas.openxmlformats.org/officeDocument/2006/relationships/notesSlide" Target="/ppt/notesSlides/notesSlide4.xml" Id="R8053815ded5745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4430080644321" /><Relationship Type="http://schemas.openxmlformats.org/officeDocument/2006/relationships/notesSlide" Target="/ppt/notesSlides/notesSlide5.xml" Id="R393b6939748441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258d3ae7147e2" /><Relationship Type="http://schemas.openxmlformats.org/officeDocument/2006/relationships/notesSlide" Target="/ppt/notesSlides/notesSlide6.xml" Id="Re4905621dbbd44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c4b435e874755" /><Relationship Type="http://schemas.openxmlformats.org/officeDocument/2006/relationships/notesSlide" Target="/ppt/notesSlides/notesSlide7.xml" Id="R5109b39e621240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a54d4373643fe" /><Relationship Type="http://schemas.openxmlformats.org/officeDocument/2006/relationships/notesSlide" Target="/ppt/notesSlides/notesSlide8.xml" Id="R782721c5e6a141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cea00a5a149df" /><Relationship Type="http://schemas.openxmlformats.org/officeDocument/2006/relationships/notesSlide" Target="/ppt/notesSlides/notesSlide9.xml" Id="Rbc43fdf503044f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6abd88d0f4134" /><Relationship Type="http://schemas.openxmlformats.org/officeDocument/2006/relationships/notesSlide" Target="/ppt/notesSlides/notesSlide10.xml" Id="R7adca9bf3bc440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edf3bf70a4296" /><Relationship Type="http://schemas.openxmlformats.org/officeDocument/2006/relationships/notesSlide" Target="/ppt/notesSlides/notesSlide11.xml" Id="R260ff76a61b147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da33a1a54cf5" /><Relationship Type="http://schemas.openxmlformats.org/officeDocument/2006/relationships/notesSlide" Target="/ppt/notesSlides/notesSlide12.xml" Id="R129cf1a8910242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32a6a48944a45" /><Relationship Type="http://schemas.openxmlformats.org/officeDocument/2006/relationships/notesSlide" Target="/ppt/notesSlides/notesSlide13.xml" Id="Rdc3987b9910a43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77476060849ec" /><Relationship Type="http://schemas.openxmlformats.org/officeDocument/2006/relationships/notesSlide" Target="/ppt/notesSlides/notesSlide14.xml" Id="Rfefc95d72d2f46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8e2f65a58490a" /><Relationship Type="http://schemas.openxmlformats.org/officeDocument/2006/relationships/notesSlide" Target="/ppt/notesSlides/notesSlide15.xml" Id="R45801781aefb42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d98c727a24908" /><Relationship Type="http://schemas.openxmlformats.org/officeDocument/2006/relationships/notesSlide" Target="/ppt/notesSlides/notesSlide16.xml" Id="R6ec6caa2c1b84a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9efb76c3447aa" /><Relationship Type="http://schemas.openxmlformats.org/officeDocument/2006/relationships/notesSlide" Target="/ppt/notesSlides/notesSlide17.xml" Id="Rae32db374c5d40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7b38e3a4d4493" /><Relationship Type="http://schemas.openxmlformats.org/officeDocument/2006/relationships/notesSlide" Target="/ppt/notesSlides/notesSlide18.xml" Id="Ra1664d6ead0d4e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4189aba284bc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0ADBB-C72C-4602-9745-CB0EBF8C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6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84757-A0B6-49AA-B91D-0748B2F1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FF433-3553-4B89-8EE5-647A8FD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953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从会聊天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到能交付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1BF4F-0B1B-4B1B-9BF4-76991064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rPr>
              <a:t>我的 AI 产品经理工作流演变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C69CB-C678-4513-88A8-D7580648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9494A-38EA-491B-8EA4-C7183CF7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Prompt  ·  Context  ·  Agent  · 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A1A6E-874F-473F-B1B3-D8FED421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48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rPr>
              <a:t>产品经理团队分享  |  45 min</a:t>
            </a:r>
          </a:p>
        </p:txBody>
      </p:sp>
    </p:spTree>
    <p:extLst>
      <p:ext uri="{BB962C8B-B14F-4D97-AF65-F5344CB8AC3E}">
        <p14:creationId xmlns:p14="http://schemas.microsoft.com/office/powerpoint/2010/main" val="1650748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E2B9B-8FA1-4918-AFC2-CF5E86B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AB6FC-C5F1-4D8A-A32D-354EBB22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同一个产品任务，四种完成方式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0DEE4-81A5-4A92-8856-CDE2C02D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68D4E-9828-4EFD-AF96-83C8A443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图库 AI 清理：需求研究、竞品判断、PRD 与原型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7C5D5-714D-4F8A-879D-8FFB25FA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295C9-BE1A-4B69-9EEB-4B46AB8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794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5F510-9B91-4BA6-9FA2-DA321ABE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对话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B11FB-0B63-42B1-81DF-4835EFF8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生成一份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看起来完整的答案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A9768-0BA7-4314-B68D-2306BD28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19DE6-2062-43B5-AADA-31BCBFA2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96690-8C02-46FD-B2C6-07C3DC17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22486-5B91-4030-8790-AD6E885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基于资料回答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结论更贴近事实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0FD33-EC91-4304-8921-6ECF1920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EF3A2-9C25-4828-9E08-22B1CB5E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749B7-1E55-4262-A14A-B7942B85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B6C4A-1BC4-4492-9D7C-E1B96AEA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查、写、运行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完成多步任务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E432C-F304-4D56-AF62-D95FE40C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764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19596-BCCE-43C4-9358-E47FE1D4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18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267F2-9A26-468B-A32F-5C44C1ED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2C477-38AB-48E5-B1E8-E9FD8174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按规则执行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验证后再交付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9F332-E4E7-4152-A11E-46901DEE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918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8A6E2-E5C0-43C5-94AD-91E3CEC5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输出质量不仅由模型决定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E7512-D208-44D5-A854-F9346154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  <a:cs typeface="Microsoft YaHei"/>
              </a:rPr>
              <a:t>材料、工具、权限、规则和验证方式共同决定交付结果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4C75F-FF6B-42D3-9947-44B3FA7A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16678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FDF88-0A71-4467-86E3-923EB531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879ED-C1E3-42A4-B89D-624BB147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AI 工作流的四层控制面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C2DA8-E286-4931-A64F-21E533D0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98F17-C5A5-4C42-BBEF-48BFD843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794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2A72E-83A9-43ED-9B4D-0C4AF22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430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08513-8E41-48E0-A2B2-CAA2A194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52575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这一轮怎么说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2AB5B-60BE-467F-88F1-49792DB1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33E03-85AC-4BDC-9E9C-A4DE3AC8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E0F5F-53E9-441F-B27F-94C413D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4317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看见什么材料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44B3A-08E2-4DE2-85CF-C011D56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685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D633E-06DA-42D5-876F-CA59239E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F8A2D-6EC4-4226-938C-9C3964E5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337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如何调用工具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8622C-4E44-445A-95B5-A3CE3F37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914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B5BDA-6E19-41A8-9BB4-C8147F68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8B9F2-1F21-4F87-B66A-3ED48E90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24375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在什么边界内完成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D6EE6-E05A-4595-A087-A0F62DAC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62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0C93D-EBC1-4731-9D71-BDEB3CD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Context / 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EB4C4-FA43-4664-8625-701670DB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43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DEB5E-0E3F-420E-AC72-F0B19AE1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33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4851B-4B06-4AD9-8ACA-DC30261B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每次升级都保留前一层，并增加新的可控对象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413BF-2E00-4300-A1D5-BBDE30FA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61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94D46-7BE3-4E0D-8882-CBCA8461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B4989-FECA-4F18-B950-A2E09EE0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第一阶段：提示词工程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DEEBA-1B41-4E83-8C4F-09106014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7702D-0D60-4C45-8184-C4098BA1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28A03-B38B-4A5C-8DE2-FFDC22BA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73A2-AE70-401C-A129-4AE277E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335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把需求写清楚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875C4-C3C4-4F06-8F4C-B1FF4E15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5581650" cy="3009900"/>
          </a:xfrm>
          <a:prstGeom xmlns:a="http://schemas.openxmlformats.org/drawingml/2006/main" prst="roundRect">
            <a:avLst>
              <a:gd name="adj" fmla="val 5696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06D40-0B6C-4A34-BD86-69EE50F2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38400"/>
            <a:ext cx="4914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你是一名资深产品经理。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请分析图库 AI 清理需求，输出：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1. 用户痛点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2. 核心场景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3. 功能优先级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参考下面示例格式……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EF348-93E8-4A8F-8366-734A0C7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43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66304-7C2C-4D75-BB80-6D638DE1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快速启动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表达结构更稳定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适合单次创作与分析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8F9A3-0B58-496A-9EFC-A2DD12C8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099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DE0A1-61E1-4FB0-BABF-C627D4E6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为什么继续升级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E20A2-155B-4BD6-A7CA-5233404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背景反复输入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长对话逐渐漂移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来源与质量难复查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8116C-303C-4864-B7C5-AF42C77A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4837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00C6A-1382-454B-AF0A-1A9D5DA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E7625-3215-4D64-8EB9-6D5E80B6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第二阶段：上下文工程与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835F2-5101-43F0-9F6B-A516D3E8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A6408-101E-495C-AC3C-7BAF25A3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FD3CC-F612-40A6-8373-5F62B0D3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85BCC-A495-4B7B-A769-A6DC2BC1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38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让模型看到正确材料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37D2F-A85F-4200-B639-5A14812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85952-42A6-4F9F-8E67-D42D9298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历史 PRD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CCC09-52E0-4AB6-A94D-A4AC9A46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66975"/>
            <a:ext cx="108585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E57A3-F07A-402F-B722-B944E2D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307ED-A20A-4D35-86EA-5A1966A1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D6D38-5646-4742-AC8D-F07D8D35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14675"/>
            <a:ext cx="10858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7B0B6-E819-42B2-B8F2-C2A79714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9D5CF-CE21-451B-925F-DC34DF8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设计规范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31A26-35CD-47E5-873E-76A963D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43275"/>
            <a:ext cx="108585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05DB3-8B61-4339-AA71-455591C5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2BA83-351F-4A91-B72E-7031E876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竞品证据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5A231-3FC9-4295-A2C1-1936F616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43275"/>
            <a:ext cx="108585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CB638-32C1-4E52-9A4C-43B0FF26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03D11-5D9D-4F05-A10D-32CB237B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09FAA-7D5B-4831-B6CE-95149EA1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分块 · 元数据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6C1FE-13D7-4C67-B4E6-4866C611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956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18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E5B0F-C844-4560-8112-218DBC0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16764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60045-9A05-4B46-8569-96744AE1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ADEFF-EF7A-454A-A857-620DABE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基于材料生成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FA01AE-29CB-42F3-BE23-45F149DB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956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48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53707-515E-4057-B62B-1A66BD52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247650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5858D-928C-4179-AFBB-B10BBCB4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带来源的回答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8E2D6-7E7C-470A-9F47-52B62B3A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1943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事实更贴近业务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版本边界更清楚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可以追溯依据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C6924-4737-4CE7-B183-190D89B6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363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3E718D">
              <a:alpha val="12000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DABD1D-D360-49C0-9B4A-54FCE7FE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988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新的治理问题：检索结果是否相关、是否过期、是否冲突、是否有权限使用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F13273-9872-4487-8FB7-C32E3DA8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6033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C92A79-EBA8-4001-A494-4039A70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2C389-3B4C-494D-BEC1-5FD57D2F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第三阶段：Agent 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B3163-F5A9-400B-BD7F-C632A2C5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6AF45-CCD1-4002-8A6D-FD74A5D8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32651-CD05-45A5-BC33-D9067050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29AC7-80E9-42C6-B5AF-A540FCD0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38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把语言模型接入行动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E5DC1-ABAD-4C65-9F62-B2BAC6D7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A3B1D-71F1-4477-B994-1FCDB9F7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36893-0DD9-4492-B8FC-443C771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38425"/>
            <a:ext cx="70485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12467-9542-4426-A6C3-9404DD90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06559-9620-4B4F-8759-64B6D208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规划步骤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CE1AB-C2A6-454E-B239-638A1B9D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38425"/>
            <a:ext cx="89535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F475A-945D-4AEE-8846-E4BDB71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F12FA-376B-4056-B61D-F16592FB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A3AF9-4303-41CA-A67B-8EAEE5D1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38425"/>
            <a:ext cx="8001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E9855-702B-49F8-B414-AF670394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D521B-35BA-49AC-BFCF-3D66D7F7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09C19-4DB9-408E-AB1A-0CC60503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38425"/>
            <a:ext cx="8763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1BB33-85A7-4D8E-9C4C-E4BEF684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4AF86-6FCD-48BF-8C4F-4CEDF513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修正交付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F931C-0FFC-492D-B94C-19391CB4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800100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0D122-43C6-4B99-AC4E-EA79FDF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27D2A-91F6-45D2-83C4-2AA8C41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14404-0C18-4195-88CF-5B13FFDD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7F09B-0CE9-45BF-A83F-B681BCF0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57ED2-6ECB-403E-8562-3A916AA3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9F7300-8D47-4C38-A261-9B39E632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1A1BC-7071-4ED2-8A59-B8CFCBC6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9A5E2-F58A-4BF2-B836-7B89CAFE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DC926A-D2E0-4505-A002-F41FB189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E3349-9EC7-4C8B-A535-B46EA7C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办公应用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C1738F-7B3E-4CCA-8FF3-45B68D1A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产品经理开始审查目标、边界和关键决策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E36533-23B5-461E-823F-5684138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6402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7C66B-A72E-4AE5-ABEF-FF702557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EC634-B40D-44F8-91B1-1AABA008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第四阶段：Harness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4B4E3-4EEE-4F91-9FD8-1CE04382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A8EDC-9388-43B8-B80A-43643884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AA752-631D-4FF0-B47D-CD1B3DA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B9B1B-475A-422A-8CD1-09187731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38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让 Agent 在受控环境中持续交付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9B105-9C0A-4C2A-82AC-B894CB1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8572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483F">
              <a:alpha val="18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09385-E9BA-402C-A1C0-0EF08A6F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002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目标与人工判断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F8427-8943-4E4E-AAA1-82AF83B3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任务边界 · 确认点 · 审批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30992-67B7-42BB-8330-F33AAF2B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79248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E718D">
              <a:alpha val="18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F7011-37FB-4587-8FAF-889ABDD9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003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Skill 与规则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D8702-F3F3-41FB-863F-84A6FAED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专业流程 · 输入输出 · 使用边界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3604D-2D45-42DD-823D-42AF2A15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00400"/>
            <a:ext cx="72771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E7B68">
              <a:alpha val="18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2BCAA-1B09-4AD3-9D59-3F239ACF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工具与权限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13B96-DA74-42FD-8161-CBD0F40E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004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搜索 · 文件 · 代码 · 应用 · 沙箱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70D8E-94B4-415D-90CF-B9E93E54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66294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B78136">
              <a:alpha val="18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966DF-0530-43AE-8B5D-5AECAB11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005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状态与产物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E3F4F-3EC4-4188-8463-5387C143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00500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工作目录 · 版本 · 日志 · 共享上下文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9FD10-0851-48EE-8055-EAF3835A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5981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321DA-F56F-4AC9-8D03-5D2423AA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006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验证与反馈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08DB0-FB85-4AC1-9602-861A3FB3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006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测试 · 检查器 · 渲染 · 评审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56B0F-B52B-46ED-816D-7E600829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 管理长任务中的状态、边界与质量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D28A7-5CED-47F6-9D17-74E12008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4976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EFA5D-E027-4FEF-AB3C-F063ECE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DEBEF-D324-4755-A93F-A06E4A22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Agent 工具的能力演变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8AFF6-292D-4A3C-BC04-D002D59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工具演变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6B11A-048F-42C5-A9AE-DEB111B0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E19EB-F9C3-4252-A167-F73D45EB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9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DED5C-D83A-455D-A91A-E9AEF016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4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8E0BB-1BA4-4674-87E5-FF0AD217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9AD97-55DC-4117-AC6F-B5FB242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聊天框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80FE4-439F-44F5-BEC8-36A02E69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生成与改写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7971C-48E9-4B0B-8DCC-0A5E562C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20627-73DC-4F77-812F-EE263883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71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646F2-31A1-4C5F-A882-6CF2DBDA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B066D-3F15-467A-8D1E-B52ACF51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576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检索与函数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EBA91-054D-4324-960F-11774958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外部知识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结构化调用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36F9E-129D-454D-A2E8-0B66E006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2A86C-34AD-4F56-B368-5A0A4C3D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860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E7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16077-CA07-4390-A290-29AFC6A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6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0DA18-F2F5-425E-8603-211F7807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859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代码与 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D0DB1-5BCE-4B3A-A337-92A7839C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执行任务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标准化连接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55BEA-88E5-427A-A90D-F51CB053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7084D-EF6D-413B-919D-2355FAD3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433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748B2-C8E7-4CBE-B93B-C5854608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C0C89-18EE-4FD5-B879-1BDB007F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Coding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24F40-7438-4486-A652-2A8F36F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76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真实工作区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持续迭代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B1114-6524-4D5E-90E7-40F853B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A850F-CA94-42E8-844A-23EE5F85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181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799A64-F45A-493A-867E-8F06ECFF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6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2026+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F0ED9-5235-463F-A252-37D1A019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59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Skills 与协作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B618E1-97CC-4611-95C3-DEC166E6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050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复用流程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多 Agent 编排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80C7A-303B-498A-B16F-1D8D9651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38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81D">
              <a:alpha val="8000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AB19A-6752-4758-9C13-83A4181E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72150"/>
            <a:ext cx="996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任务越长、动作越多、风险越高，越需要清晰的权限和验证机制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954126-47EE-43D1-AD88-785540A6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4118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513E54-A0D7-45E2-8040-F8A0B2A0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78DF9-B281-48E1-B42B-D757E893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我的产品经理 AI 工作流地图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E629D-4A7D-4EA8-9E9D-1E2F631F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3D81F-0C80-48EE-9D33-77CDF1CE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F6997-4689-41F6-9151-FC4F43BC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159C4-8172-4776-9AB6-B5A2F2CD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7E7B2-E77E-493E-AFED-A9A0E7B4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用研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行业洞察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5CC26-4D65-4DC0-8C35-6E0FD48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71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7F25D-EF49-4DED-95AE-CC00C625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A15CA-1219-42CA-9D15-FCD75328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0EDF6-181D-4135-A4CF-53AD4E47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9DEC2-D16D-46BF-B8B1-32A062E6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机会判断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需求拆解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1D3C2-6611-4123-BE91-2470DF80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71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D49C1-1D2D-43CE-BFC2-EBCA6763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02819-6D9E-4528-AB63-2BB82FC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8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C8877-E027-49EC-9F94-23101844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B6560-6A15-4518-9098-A9E31EA0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PRD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交互文案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原型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E58BC-4136-4DBC-9428-7D84098B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71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C98EA-3776-43C5-B010-7CC5AF2F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A501C-8523-42A7-9FE9-51DE0E40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27A55-8A60-4350-9ED9-732C601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A7699-0432-4BA5-9018-34A93125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Pilot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规则检查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C27B5-76CA-452E-A7AD-3251D388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FF319-3F6A-48BC-A37A-FEFC8ED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92189-4BCE-4C13-92AD-8D8CA661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181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389182-1A0B-4822-9CB3-9899D32B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4931C-ACBA-41FB-AFA2-87367879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AD227-9F71-45F2-A90C-1A18C8CF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4584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2A276-598E-4371-9CEC-F0BE6443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原子 Skill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5D7FC-0BB9-4919-A691-573E09B1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38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问卷设计 · 画像 · 模拟作答 · 数据综合 · 竞品矩阵 · 产品文案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E8557-46D8-4BB6-92ED-0AA17F37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CD7BE4-80E2-4AFB-A8A7-86ADC942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BAE6C1-63D1-46DF-8DB7-17D6073B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围绕业务终点组合能力，并管理共享上下文、检查点和产物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75F4AB-0611-45C9-A4AB-20A3D741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703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FB61B-2BD2-4445-9727-82E2D6A9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29DD9-7CCF-43C0-8325-362CEA50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当前仓库：9 个 Skill 的产品经理能力栈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BCEC0-655C-4CFA-A708-C68945DD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AB108-C472-4D5E-9D9D-E37C5BFD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E603F-ACBB-4C52-8D88-36458B4B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3C21D-E182-4F41-8437-3E5E7770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0AFF2-B5E0-4B48-9126-F9D93D81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4E874-0D9F-4173-A9A1-5FA5666E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32E6B-5C70-47EE-8249-E5FC870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Templates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6A6DB-99FB-443D-8783-3B543F9D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42301-6379-49F1-AD87-8594A7FA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Scripts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39D47-6D60-4F95-8028-6F381B52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EC612-050F-470C-B469-282F8508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E4A95-93BE-41AB-B5DB-492982A7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76BF4-2371-4524-BB35-C5165178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707FD-20E5-4433-BF25-4A25A1CF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用户研究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B90EE-4CE2-4635-A3B8-19C3A2A6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811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问卷设计 / 画像 / 模拟作答 / 研究报告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099F4-29FC-4C4C-BFEE-8A8A7AF5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059C9-C941-4325-B7A9-2E6BB4F1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57025-E22D-41E9-9A02-6F7DEE5D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95700"/>
            <a:ext cx="811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单功能对比 / 动态追踪 / 系统应用矩阵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FECF1-3F8C-4520-9B86-E41284A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A0210-5BE8-489F-AEE7-6C60F414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洞察表达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E4A0F-BD01-4F9E-B3B7-4237C66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81500"/>
            <a:ext cx="811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手机发布会速递 / 证据账本 / PPTX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1DAC8-BBD7-4734-B5EE-754B8A7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57876-BBD2-49AE-91AF-66208E99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673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CF633D-B960-4265-AAB1-931FF4AD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67300"/>
            <a:ext cx="811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系统应用文案已完成，PRD 与原型待补齐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74C23-E69A-48A0-83D7-C79D4879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5112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11D36-3AF3-4895-ADB2-91B6B3EE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C9F44-941A-4223-90EF-8AECB40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 与 Workflow 的分工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D1E4D-724E-4090-A5C4-BC179127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CC433-519A-4568-B89F-A603F32E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6482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3E718D">
              <a:alpha val="10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8C9B4-BA54-46DC-B51E-EF5F3C6F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895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DEE9E-6589-4ACB-B80A-ECB20CE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37ADC-278E-4222-B8BD-76A2B577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一个可独立验收的专业能力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B3AEB-F213-43D9-B218-EC1513B4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3714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输入与输出契约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判断规则与使用边界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模板、脚本和质量检查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597D1-96AE-489D-9F95-BE687EE6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28750"/>
            <a:ext cx="52197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5483F">
              <a:alpha val="9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4F829-C8E8-4EFB-9E92-07B4B3E6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F9DD4-A88F-4C30-B49C-FB9C7C86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Workflow / 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D4FFF-062A-4623-BBE1-9C8E6AFC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围绕业务终点组合多项能力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4B909-5A1F-4EF5-B290-278F23B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000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调用顺序与依赖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共享上下文与文件状态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人工确认点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失败恢复与最终交付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CB2CB-989B-4549-8DB2-89D57F4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能单独验收的能力做 Skill；需要管理依赖和状态的端到端任务做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932D0-A0B1-4603-9E13-F1F6FAF9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45517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07D8C-D068-481A-BE59-854D2173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4EEEA-B655-4DFF-8008-AB75147C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案例一：用户研究拆成四个原子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DF98A-CE8A-4212-8594-5307BC02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用研案例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FDD78-ED1D-4FAF-9E6A-9ABDD4B4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E7CDE-5BCF-4FCF-873F-B7B48184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924D1-D2CF-425F-90E3-B4646970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ur-design-survey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EAC9D-F280-4BA0-94C0-2894CD99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把模糊课题变成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可分析问卷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7B629-BC8B-46FF-A453-19234955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71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B8D86-60C6-4D63-96EA-5E0ECD79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D4941-4698-406F-B004-2DF37F40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193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ur-generate-personas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E3674-C838-47AE-A9EB-2F136B56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生成分层、可审计的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合成画像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0F781-BFB5-484C-BC70-AD79C321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8F630-FA8E-4903-AC3D-2096806E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9A61E-5EC0-4371-9CB7-DDC47640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ur-user-simulator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E202B-63F1-4DA4-8C50-A555FE82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隔离模拟作答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记录质量与模型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F07B9-CE4A-4729-BAD6-63B48307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71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93DF1-08ED-4AF2-BB8F-E6D9C918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8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0EB23-CC97-45E4-8BA9-7891E725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ur-synthesize-report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1173A-7DA0-49B3-9DC1-C6EC14F3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清理数据并完成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统计与证据综合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5261C-2ED7-4053-AA20-B19B27A5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05918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EC79B-7B0E-41FE-B864-6A2556E4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为什么拆分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75520-1BA7-443A-A68D-F99781BF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434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每一步的输入、风险和验收方式不同；可以单用，也可以组合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A2908-EF4D-43EE-8614-B3C7BC07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FA5CF-F605-4F3C-9F38-BBD073D6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625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合成用户用于 Pilot、管线验证和提出假设，不替代真实用户研究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E29B3-F4BF-4A9F-BA83-9E53552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52304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396D66-E579-497D-BF15-C72E0354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901DC-3505-49C5-B0BF-456B9BCB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深拆 Skill：ur-design-survey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475DA-AF95-412F-9C8A-C12F87BB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用研案例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9A1A1-0F0C-492B-A550-79ACDE54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38F42-3B47-4412-9147-A15ED2E2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59030-E3BD-4ED1-8A5D-16F1E0E3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确认研究方向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5B8BF-560B-4DA7-9627-E726BD1B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361C1-C592-4BC7-890B-C3B0A8F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5A104-06C9-4E74-9727-6A49AAE4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25800-546A-4924-9F30-8ABF855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目标与证据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4570A-9706-44C4-AB0C-1BE108A5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F36D7-FB92-4C2D-8BEB-426843A9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795AD-AF89-42E0-8488-DAA00DF6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39E8E-4B87-4A54-90DB-6D44CE1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模块蓝图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DAFEB-C952-404A-8B61-4A8432D0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FA318-3243-4A9A-A8B9-924908E1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EEDCF-0A8D-464C-99BA-9A05DC9E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B08AF-5296-4F09-99BB-313D3E1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设计题目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19A98-06DD-4813-B9E2-1BDE8C89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50BEB-BBDE-4133-92AF-8C511C90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061B5-6514-4561-BFE6-FCF4228E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C25C9-4951-4951-9E83-8874AAA8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逻辑审查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BDB1B-C483-40A1-862A-1F3C8571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E7BD1-CDD1-4815-8408-600AFF39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151EA-99FA-4030-89D7-CA2EE014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E8068-683A-42B7-8B5A-5E85BB3F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双格式交付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5A6A12-BE6C-4459-BAF2-66618980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6C667-F9A9-4840-A75C-6BEF9A18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266950" cy="18478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C19C8-44CE-4BB2-BE2E-F729836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1D677C-8FA1-48C3-9DE5-7667F732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主 Skill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FC7C78-50D4-4EB3-B704-3AD7F9DC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流程合同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触发与排除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8DA7B-DDF7-4B2D-9658-AE33E069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2266950" cy="18478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B3EEAC-20E4-4D47-950B-853E70D8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EE5EA-CFB9-43D3-82C0-132A200D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References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657AF1-5FDF-4E5F-A3FA-AFE425ED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研究方法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题目标准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逻辑清单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D90050-52FC-4D70-A3D1-1DA6B8A1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2266950" cy="18478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96E968-6381-41E6-A231-DD8AC5C8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C0CF48-B067-4F1B-A85A-1D6E7AD5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43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Templates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D65ED4-9E1D-4B84-8C8F-1A26376A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3860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四类场景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确认卡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平台格式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5F17F8-7076-4F72-B5B3-09637CC5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2266950" cy="18478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E260B7-19D5-49F8-A878-A70BBC0F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2795A3-614D-4562-986A-2AB5AEB4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3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Scripts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196D3F-DEC2-4219-B6C5-AA0D8AD5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3860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结构检查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逻辑 lint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文件校验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6812FA-4E34-4B37-8FD6-D1830103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生成前确认方向，交付前运行确定性校验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F95086-5BA7-4E50-8520-67881A58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822552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73ED87-3D31-4369-AAB5-7E69D24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285F9-E72C-433D-8839-32285B45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深拆 Command：synthetic-survey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E4513-59DE-40F0-9393-FBBC7EBD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用研案例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C484E-590A-49B5-A927-18205D1E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文件契约把状态从聊天记忆中移出来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7AA2A-224F-4070-A2A8-0CA4E193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924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BD0DD-38FF-4480-A194-7740997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shared_context.md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760A1-5624-4117-8C4B-A56989E9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66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9024E-A3BF-4349-A8BE-6F950A2F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43100"/>
            <a:ext cx="1924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1BB7E-F114-48E3-8C61-12DFA01D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431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questionnaire.md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B45DD-5E7E-4B44-8F9E-9C2EAD7F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B1261-DB8D-4F00-84F3-813DA3C4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43100"/>
            <a:ext cx="1924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48A80-ED6A-4DF3-9C5F-AD7764F1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431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personas.json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9E8F3-E9DB-4C14-93EF-397B315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D60FB-F0EF-4035-A59D-DF5FFA07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1924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DE0C7-B240-48A9-8DAD-BF342A31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responses.xlsx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CCA48-8121-4B6B-99D8-96566831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9440E-C4DF-4430-9D25-7E44A26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43100"/>
            <a:ext cx="1219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5A6B0-BC85-42C1-86E6-54335DB4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43100"/>
            <a:ext cx="121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report.html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BC3F1-7C97-4439-AF29-1DC6F403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研究设计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1284C-4C5D-4C36-B6E0-F2EAFBB4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画像生成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1351F-3B00-4A97-97CE-4C5393E2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并行模拟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21220-CFB2-4F83-A317-3723B32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数据综合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E7E12-C37E-4A21-BBC3-F4DB30CC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05918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4BFAE-5022-48AC-9CA8-E7E5FA49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Command 管理的不是调用次数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BF8B3-F78C-44C9-97D0-6314B2CA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874405-CBF6-4358-88E7-628953BF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依赖顺序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D5A6D-FBDA-4163-8AAC-AC3F8D34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58560-266E-42C6-97ED-9EC9BE2D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共享状态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AB8BDC-B2DA-4AED-8521-C43C820E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721AE-A78C-4AF2-B355-7CE622D6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人工确认点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D43689-E628-47E6-9010-C4973DE5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058274-C42D-4455-86AA-C152F13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失败恢复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5F53D4-910C-46DE-B182-B006A14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9649F-985D-46AB-9229-788008D8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产物路径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EA5718-34F4-471D-8124-40C0AEDF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问卷、画像、个人答卷、Excel、质量报告和离线报告均可独立复查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807DB2-DF93-40F8-B058-4EF71F6F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125191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A8BC4-E2C7-4B48-8B17-6142FA04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7C1E1-6B29-4FD9-99BC-C319727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案例二：竞品矩阵是一套证据系统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8C10B-89D8-4628-8B45-61CDCFFE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竞品案例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70EC3-435B-47E4-8C8E-392EE6E4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9906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3181D">
              <a:alpha val="16000"/>
            </a:srgbClr>
          </a:solidFill>
          <a:ln xmlns:a="http://schemas.openxmlformats.org/drawingml/2006/main" w="9525">
            <a:solidFill>
              <a:srgbClr val="1318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6A8DD-5014-4CC0-9783-22E98298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Research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DD2F5-FA17-4AAD-B79C-EC1E05B8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8572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3E718D">
              <a:alpha val="16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ECE5F-FB62-44F3-99BF-4DBC3D7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竞品集合 + Feature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74A76-3DC9-43D5-97C3-3A5BA748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57500"/>
            <a:ext cx="7239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4E7B68">
              <a:alpha val="16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9E24D-3784-4A6B-AF11-2AB96B50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57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UI / 机制 / 定量 / 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BC932-5732-4E0C-AFDA-A9C1A0CF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5905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5483F">
              <a:alpha val="16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1E573-7787-4031-B245-27A5103B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Feature Matrix + 证据明细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ABBD8-2629-4C71-8A3F-3706BEEF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4572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B78136">
              <a:alpha val="16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10D9C-4FEA-4F1B-8C54-27821093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评分 / 定位图 / 产品方向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00425-85C2-432C-A6AF-7BB6397A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382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52812-0586-49CA-9BDE-0A9633F2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992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“没有找到”保持未知，不自动写成“不支持”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F13E8-DE86-4FF5-BAA5-C579B55F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367108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118E6-A2D4-4621-AB5C-3065D695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96B51-1BEB-4B2D-8B82-209BBAA2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PRD 与原型：下一组需要补齐的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75396-07A8-41B9-A780-7254797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设计闭环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C5BFE-AE26-4269-A43C-19495DC2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0383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71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7933E-8814-456D-8CB9-8D32687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研究证据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95B4C-07DC-4F1C-8313-D124BB8C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用研结果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竞品证据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A8B37-3343-490B-AB18-9DB1C121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47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DC4C1-40F6-470F-A575-D10FDD41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20383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48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02EFA-8CE3-4FD2-8937-5E38B3EA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pm-write-prd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51843-B128-4A08-961D-5E1A491B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范围 · 场景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状态 · 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4DEF7-DC4F-42DF-80CB-BC625AE9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2566C-6E51-4B1A-9C13-D55416D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9750"/>
            <a:ext cx="20383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8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0CD44-70B5-4683-B1B6-D787A022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38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pm-prototype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D556B-6D17-431B-B83D-9BD02433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717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信息架构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流程 · 可点击原型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9A280-89DB-46CC-B348-FAEC1264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20E0C-472D-4EBD-A581-09252479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0383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E7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626A0-D4B3-4026-8354-3634414A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49A6E-0C02-45B2-BC62-B7CB1F1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需求覆盖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分支 · 一致性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06D1F-AEE7-487C-B833-6E9B976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86150"/>
            <a:ext cx="480060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895CE-4617-42E2-AC5A-C3F3582D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9239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20EAE-B4A8-48D3-A316-B4DDE808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需求 ID 保持映射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05F5F-A81F-4852-BD11-FF55EDD1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证据进入 PRD，PRD 驱动原型，评审问题回写 PRD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47CA7-EB14-43B9-859F-1D81CE54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当前已有：系统应用命名、Slogan、微文案和版本说明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90C59-5F9D-4305-92A7-BD7214D7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478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79C67-807D-47C7-AC5B-38C498A4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478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61FEE-AA04-40BD-B2DC-E93A562F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45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当前仓库还没有完整 PRD / 原型 Skill，本页表达下一阶段设计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B7768F-6E7D-43D2-B132-82C12C23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340456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030660-1598-47E3-B42D-92872DAC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1E87F-D63D-41FE-87A4-3B1E1076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Skill 的开发流程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5ED1C-2D9B-472D-8BB4-D6F59208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开发方法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0AC81-C279-4550-9E4A-EF8D111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FDEBA-71D6-479C-8288-E57A5939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10579-78D9-4F17-8A3D-E06555CC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B49EC-0605-4200-98A1-E826B2D2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边界清楚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可验收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A1238-C942-4EA0-B916-63B697A1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D8119-17BA-4E8A-9091-3E23DC98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58C6F-EF47-4EBE-8CFA-7C2077F6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4CCCD-41C0-4DF4-B10A-3610192C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2E9EB-6638-430A-B007-FA7A33E0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真实案例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错误模式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专业判断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9BF4C-4E5E-453C-B01D-423B9EDD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918FB-FCBA-4D9C-9F15-B474DEEB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1C78C-C60E-4CDD-BDA5-A316E2A5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54F24-B216-489B-8905-A9388351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51173-F8A5-486D-AC88-DA17BDA6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确认点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331C2-CD5E-4F03-BF19-C5AB61A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45F2F-E1AA-4706-BA40-FE92617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AB433-21E1-436C-8CB2-628DDE5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886E7-85FE-46B7-9EC5-7C946D20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E1850-B01B-4E99-A01D-20B2904F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主 Skill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参考与模板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脚本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CFC77-538E-4EF5-8ED0-C65DF793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6FBD4D-1D3F-4468-A3B2-FA7A6C4E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9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FC3E6-473E-491F-B17A-C595357C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F98E6-F7FC-4E56-915B-D8B49291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3E6540-54EF-43BB-9EAA-532067D7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最小任务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记录偏差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补规则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01159-8D82-4B7D-A2CB-0EF326BB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33FAA0-5677-4768-820A-C45E64BE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30FC26-3865-4E7A-9670-09F9FC9A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0EA13-F43B-42C3-A1C6-032F0A17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做评估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37EAE4-2267-4DCE-9876-1EBD10D6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结构测试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样例评估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产物验证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C79889-277E-474F-A3A5-F1235FE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05918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F4874D-756D-4016-8278-BF204AA7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判断交给 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F69289-942F-47D5-B70D-A281DFF5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研究目标、证据强弱、产品取舍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D8664-1DD2-4173-B5C6-C62F5712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BD3782-229E-40AD-9FC9-992BF25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确定性工作交给脚本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20991D-36E1-48B2-94F0-44B8F6F2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格式、字段、逻辑、统计和文件完整性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E8740D-7C82-4D09-88DD-0001A836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优先固化判断与验收，再补充更多知识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DA2F44-ADE2-4E67-91BD-7670E9CA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531975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CA5DC-0547-4F36-9211-4F726A3A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72A6A-96D4-4182-BBD7-5D1CF182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把个人技巧变成团队工作系统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2F8A1-1F40-48FB-A5DC-25096DB2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B8297-5C6E-4B6A-B05A-B8DFC934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4BD9A-A137-463F-9B80-4B57385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D8F8B-1255-45E6-BE05-0DC84DE7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选一个高频任务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C79BD-8B8B-43EA-9B6D-FB32C98F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记录 3 个真实案例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和主要失败模式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4881D-7843-4F87-A883-1BABB48F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47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40929-DB43-424F-814B-26BB68C8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8595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B5E6E-8B2B-46C4-8ECA-09E8ECA6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做最小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B2AA9-A3CC-4622-8EB2-911C478A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明确输入输出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增加 1 个质量门槛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3C840-EE1C-4489-AE91-8ED77CC9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47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80079-996C-4BFD-83A1-8E375BB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B6A88-803B-48EA-BFF6-C67DD227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交叉使用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722E7-12B3-4F2D-85E6-7AF047C1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由另一位产品经理试跑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检查能否复现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75224-7249-40A3-8A5F-794ED2BB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47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A3A7D-57CC-4F40-9CF9-AAFB2600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18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68EAA-C925-48A1-80EB-61CE0442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组合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07777-A05A-4456-8CF1-08EF1AE8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连接相关 Skill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建立共享仓库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9EB76-6AE7-40BF-824E-D581AF7C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B080D-FD6A-4844-B5FE-4F621239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C6427-FD0D-4719-8B8F-48176E0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可组合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D10E6-E5BE-48C3-A5BD-69A6327A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76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735C8-2D0B-4AB6-A38F-822FE80A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2E4E97-A658-4202-AE40-69EFD8CB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从一个任务开始，建立团队的 AI 交付标准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52242-EC2D-4022-8069-5471066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09278-A484-469E-9A1A-4573F51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674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你最想先做成 Skill 的产品经理任务是什么？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B5039-C3B7-4B08-854B-A0FFC849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63340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2026-09-13T17:29:30.1220000Z</dcterms:created>
  <dcterms:modified xsi:type="dcterms:W3CDTF">2026-09-13T17:29:30.1220000Z</dcterms:modified>
</coreProperties>
</file>