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9f2c09e7b416d" /><Relationship Type="http://schemas.openxmlformats.org/officeDocument/2006/relationships/extended-properties" Target="/docProps/app.xml" Id="R956c697759f74bed" /><Relationship Type="http://schemas.openxmlformats.org/officeDocument/2006/relationships/officeDocument" Target="/ppt/presentation.xml" Id="R5f54dd19fb14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1ac67ddbc4bde"/>
    <p:sldMasterId xmlns:r="http://schemas.openxmlformats.org/officeDocument/2006/relationships" id="2147483653" r:id="R186f1714b3cc46f6"/>
    <p:sldMasterId xmlns:r="http://schemas.openxmlformats.org/officeDocument/2006/relationships" id="2147483655" r:id="Rd0818dd7e7254f3c"/>
    <p:sldMasterId xmlns:r="http://schemas.openxmlformats.org/officeDocument/2006/relationships" id="2147483657" r:id="Re41bf6bfd6ca4e6e"/>
  </p:sldMasterIdLst>
  <p:notesMasterIdLst>
    <p:notesMasterId xmlns:r="http://schemas.openxmlformats.org/officeDocument/2006/relationships" r:id="Rbf8c8680cb1b41ac"/>
  </p:notesMasterIdLst>
  <p:sldIdLst>
    <p:sldId xmlns:r="http://schemas.openxmlformats.org/officeDocument/2006/relationships" id="256" r:id="R96cce8e18ab64782"/>
    <p:sldId xmlns:r="http://schemas.openxmlformats.org/officeDocument/2006/relationships" id="257" r:id="R91a022e026a8480e"/>
    <p:sldId xmlns:r="http://schemas.openxmlformats.org/officeDocument/2006/relationships" id="258" r:id="R7ccb08e6d6b14dad"/>
    <p:sldId xmlns:r="http://schemas.openxmlformats.org/officeDocument/2006/relationships" id="259" r:id="Rca2d6ef648c04e42"/>
    <p:sldId xmlns:r="http://schemas.openxmlformats.org/officeDocument/2006/relationships" id="260" r:id="R1b169eb5b99b4d95"/>
    <p:sldId xmlns:r="http://schemas.openxmlformats.org/officeDocument/2006/relationships" id="261" r:id="Reba97c0d4bed413e"/>
    <p:sldId xmlns:r="http://schemas.openxmlformats.org/officeDocument/2006/relationships" id="262" r:id="R3835acb41ebe4492"/>
    <p:sldId xmlns:r="http://schemas.openxmlformats.org/officeDocument/2006/relationships" id="263" r:id="R6ff824c798ac438a"/>
    <p:sldId xmlns:r="http://schemas.openxmlformats.org/officeDocument/2006/relationships" id="264" r:id="Rf91b1e3f522d4de9"/>
    <p:sldId xmlns:r="http://schemas.openxmlformats.org/officeDocument/2006/relationships" id="265" r:id="R5e7f98add92b46d0"/>
  </p:sldIdLst>
  <p:sldSz cx="12196763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4da2953404ce1" /><Relationship Type="http://schemas.openxmlformats.org/officeDocument/2006/relationships/slideMaster" Target="/ppt/slideMasters/slideMaster1.xml" Id="Ref91ac67ddbc4bde" /><Relationship Type="http://schemas.openxmlformats.org/officeDocument/2006/relationships/slideMaster" Target="/ppt/slideMasters/slideMaster2.xml" Id="R186f1714b3cc46f6" /><Relationship Type="http://schemas.openxmlformats.org/officeDocument/2006/relationships/slideMaster" Target="/ppt/slideMasters/slideMaster3.xml" Id="Rd0818dd7e7254f3c" /><Relationship Type="http://schemas.openxmlformats.org/officeDocument/2006/relationships/slideMaster" Target="/ppt/slideMasters/slideMaster4.xml" Id="Re41bf6bfd6ca4e6e" /><Relationship Type="http://schemas.openxmlformats.org/officeDocument/2006/relationships/notesMaster" Target="/ppt/notesMasters/notesMaster1.xml" Id="Rbf8c8680cb1b41ac" /><Relationship Type="http://schemas.openxmlformats.org/officeDocument/2006/relationships/presProps" Target="/ppt/presProps.xml" Id="R038084b02b2b4ba7" /><Relationship Type="http://schemas.openxmlformats.org/officeDocument/2006/relationships/viewProps" Target="/ppt/viewProps.xml" Id="R059756c7cdb343b6" /><Relationship Type="http://schemas.openxmlformats.org/officeDocument/2006/relationships/tableStyles" Target="/ppt/tableStyles.xml" Id="Rbfd40bc7fb6f4077" /><Relationship Type="http://schemas.openxmlformats.org/officeDocument/2006/relationships/slide" Target="/ppt/slides/slide1.xml" Id="R96cce8e18ab64782" /><Relationship Type="http://schemas.openxmlformats.org/officeDocument/2006/relationships/slide" Target="/ppt/slides/slide2.xml" Id="R91a022e026a8480e" /><Relationship Type="http://schemas.openxmlformats.org/officeDocument/2006/relationships/slide" Target="/ppt/slides/slide3.xml" Id="R7ccb08e6d6b14dad" /><Relationship Type="http://schemas.openxmlformats.org/officeDocument/2006/relationships/slide" Target="/ppt/slides/slide4.xml" Id="Rca2d6ef648c04e42" /><Relationship Type="http://schemas.openxmlformats.org/officeDocument/2006/relationships/slide" Target="/ppt/slides/slide5.xml" Id="R1b169eb5b99b4d95" /><Relationship Type="http://schemas.openxmlformats.org/officeDocument/2006/relationships/slide" Target="/ppt/slides/slide6.xml" Id="Reba97c0d4bed413e" /><Relationship Type="http://schemas.openxmlformats.org/officeDocument/2006/relationships/slide" Target="/ppt/slides/slide7.xml" Id="R3835acb41ebe4492" /><Relationship Type="http://schemas.openxmlformats.org/officeDocument/2006/relationships/slide" Target="/ppt/slides/slide8.xml" Id="R6ff824c798ac438a" /><Relationship Type="http://schemas.openxmlformats.org/officeDocument/2006/relationships/slide" Target="/ppt/slides/slide9.xml" Id="Rf91b1e3f522d4de9" /><Relationship Type="http://schemas.openxmlformats.org/officeDocument/2006/relationships/slide" Target="/ppt/slides/slide10.xml" Id="R5e7f98add92b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8f5e5f1549cc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066e973124ab7" /><Relationship Type="http://schemas.openxmlformats.org/officeDocument/2006/relationships/notesMaster" Target="/ppt/notesMasters/notesMaster1.xml" Id="R3ab271354afd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3643582344039" /><Relationship Type="http://schemas.openxmlformats.org/officeDocument/2006/relationships/notesMaster" Target="/ppt/notesMasters/notesMaster1.xml" Id="R0fdf9f5533034b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5faccd29bf42b5" /><Relationship Type="http://schemas.openxmlformats.org/officeDocument/2006/relationships/notesMaster" Target="/ppt/notesMasters/notesMaster1.xml" Id="R3e8fcd449ff1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01ba00d2b44e0b" /><Relationship Type="http://schemas.openxmlformats.org/officeDocument/2006/relationships/notesMaster" Target="/ppt/notesMasters/notesMaster1.xml" Id="Rc9b3f2f6a505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88952f726a4e66" /><Relationship Type="http://schemas.openxmlformats.org/officeDocument/2006/relationships/notesMaster" Target="/ppt/notesMasters/notesMaster1.xml" Id="R5f24a945343c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2e1e4d559478c" /><Relationship Type="http://schemas.openxmlformats.org/officeDocument/2006/relationships/notesMaster" Target="/ppt/notesMasters/notesMaster1.xml" Id="R76d923261bdd45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2cbfa76314483c" /><Relationship Type="http://schemas.openxmlformats.org/officeDocument/2006/relationships/notesMaster" Target="/ppt/notesMasters/notesMaster1.xml" Id="Read07d4098ee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bfad4a7e244169" /><Relationship Type="http://schemas.openxmlformats.org/officeDocument/2006/relationships/notesMaster" Target="/ppt/notesMasters/notesMaster1.xml" Id="Rf4cff69e583347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defd560b3c41d8" /><Relationship Type="http://schemas.openxmlformats.org/officeDocument/2006/relationships/notesMaster" Target="/ppt/notesMasters/notesMaster1.xml" Id="R114384011d0d44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f3bf263edf4e8d" /><Relationship Type="http://schemas.openxmlformats.org/officeDocument/2006/relationships/notesMaster" Target="/ppt/notesMasters/notesMaster1.xml" Id="Rf6ec2e28be73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开场直接定义工作台：它不是一组常用提示词，也不是一份工具清单。它是一套持续保存证据、任务状态、决策规则与验收门槛的工作环境。分享会用两个真实案例说明，这套工作台如何改变产品判断。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本地案例：手机图库 AI 功能需求问卷</a:t>
            </a:r>
          </a:p>
          <a:p xmlns:a="http://schemas.openxmlformats.org/drawingml/2006/main">
            <a:r>
              <a:t>- 本地案例：鸿蒙图库一句话清理图片产品方案决策汇报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先讲整体架构。横向是产品生命周期，纵向是四层控制面。Prompt 只说明这次要什么，Context 保存证据和状态，Agent 调用工具执行，Harness 管理权限、文件契约、门禁和恢复。工作台的价值在于让一次任务的结论可以被下一步可靠复用。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基于本地 PM Skills 与工作区实践归纳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把工具演变和工作方法演变放在一页讲。对话式工具优化回答，知识式工具扩充证据，Agent 获得行动能力，Harness 才处理交付可靠性。重点不是工具名，而是每一阶段解决了哪类失败，以及 PM 的注意力如何变化。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基于对话式、检索式、工具调用与工作区 Agent 的能力抽象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 分钟</a:t>
            </a:r>
          </a:p>
          <a:p xmlns:a="http://schemas.openxmlformats.org/drawingml/2006/main">
            <a:r>
              <a:t>用真实题号讲一遍。Q4 是分流点：有近期经历的人回答最近任务和问题，没有经历的人不评价实际体验。Q9 先收集需求广度，Q10 强制选择一个，Q11 问原因，Q12 落到发生场景。问卷的 PM 价值是提前规定每道题如何影响需求取舍。最后解释结构检查边界，避免把脚本通过说成研究有效。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pm-user-research/skills/ur-design-survey/scripts/lint_questionnaire.py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这是工作台里 Harness 的真实价值。测试暴露的不是模型写得差，而是画像脚本与测试约定不一致。若没有门禁，系统仍可能生成答卷和报告，团队会在错误基础上讨论。讲清楚合成调研的边界：可以试跑流程，不能替代真实用户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pm-user-research/tests/test_project.py</a:t>
            </a:r>
          </a:p>
          <a:p xmlns:a="http://schemas.openxmlformats.org/drawingml/2006/main">
            <a:r>
              <a:t>- pm-user-research/skills/ur-generate-personas/scripts/generate_personas.py</a:t>
            </a:r>
          </a:p>
          <a:p xmlns:a="http://schemas.openxmlformats.org/drawingml/2006/main">
            <a:r>
              <a:t>- 本地测试结果：43 tests / 28 pass / 15 fail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 分钟</a:t>
            </a:r>
          </a:p>
          <a:p xmlns:a="http://schemas.openxmlformats.org/drawingml/2006/main">
            <a:r>
              <a:t>先讲竞品证据合同，再讲方案改变。没找到某竞品的撤销期限或端侧处理证据，不能写成不支持，也不能写成行业基线。真实方案最终放弃一句话直接删除，改为搜索、解释预览、显式确认和可撤销执行。这个决定限制了系统责任，同时保留效率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workspace/鸿蒙图库_一句话清理图片_产品方案决策汇报.pptx，第 2 页；机制为待验证方案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 分钟</a:t>
            </a:r>
          </a:p>
          <a:p xmlns:a="http://schemas.openxmlformats.org/drawingml/2006/main">
            <a:r>
              <a:t>这一页把 PRD 与原型放回同一条风险链。先按后果、可解释性和恢复性分层，而不是按模型能否识别划范围。然后逐步讲六个状态，重点讲四类异常。验收不能写成页面正确展示，而要观察用户是否理解范围、是否能排除误选、异常是否绕过确认、执行后是否能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3–6、8 页；本页为 PRD 与原型状态重构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用两个 Skill 讲同一套开发流程。先从一次性提示词中提取稳定部分，再定义触发、输入输出、步骤和停止条件。方法论放 references，交付格式放 templates，可确定判断放 scripts，最后用真实案例评估。Command 只负责触发，不承担全部方法。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pm-competitor-analysis/pm-system-app-competitor-matrix/SKILL.md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这页作为工作台全景收束。不要逐个念 Skill 名称，讲共享产物如何连接阶段：研究设计成为后续输入，竞品证据进入方案，方案边界进入 PRD 与原型，新指标和反馈再回到下一轮。最后明确 Agent 能承担的工作与 PM 必须保留的判断。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pm-user-research/workflows/synthetic-survey.md</a:t>
            </a:r>
          </a:p>
          <a:p xmlns:a="http://schemas.openxmlformats.org/drawingml/2006/main">
            <a:r>
              <a:t>- 本地 PM Skills 目录结构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 + 5 分钟 Q&amp;A</a:t>
            </a:r>
            <a:endParaRPr/>
          </a:p>
          <a:p xmlns:a="http://schemas.openxmlformats.org/drawingml/2006/main">
            <a:r>
              <a:t>结尾只重复一件事：工作台的目标不是让产品经理少思考，而是让证据、判断、执行和验收可以连续发生。建议从一个高频、返工昂贵、可检查的任务开始建设，而不是直接追求万能 Agent。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本次分享总结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6748306bd4070" /><Relationship Type="http://schemas.openxmlformats.org/officeDocument/2006/relationships/image" Target="/ppt/media/image3.png" Id="Rfa641cd59a1b47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53a1559f3483f" /><Relationship Type="http://schemas.openxmlformats.org/officeDocument/2006/relationships/image" Target="/ppt/media/image.jpeg" Id="R2edc9b05a7a049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8004da4c245a5" /><Relationship Type="http://schemas.openxmlformats.org/officeDocument/2006/relationships/image" Target="/ppt/media/image2.jpeg" Id="Re196d68a661a4d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23453b59747ff" /><Relationship Type="http://schemas.openxmlformats.org/officeDocument/2006/relationships/image" Target="/ppt/media/image3.jpeg" Id="R464c646a29ef42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67651af39248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f647f8447042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d45c6f842a84ae9" /></Relationships>
</file>

<file path=ppt/slideLayouts/slideLayout1.xml><?xml version="1.0" encoding="utf-8"?>
<p:sldLayout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641cd59a1b47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82EFF427-A8BD-430C-A08B-60EBCBF2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dc9b05a7a049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C2944FB1-0CA5-4E43-91F0-49AA447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96d68a661a4d95"/>
          <a:srcRect xmlns:a="http://schemas.openxmlformats.org/drawingml/2006/main" l="0" t="13825" r="2034" b="5607"/>
          <a:stretch xmlns:a="http://schemas.openxmlformats.org/drawingml/2006/main"/>
        </p:blipFill>
        <p:spPr>
          <a:xfrm xmlns:a="http://schemas.openxmlformats.org/drawingml/2006/main">
            <a:off x="1" y="-36206"/>
            <a:ext cx="12196763" cy="56384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A46537-C1F9-4151-9DF3-F9EE5D93247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8" name="L 形 7">
            <a:extLst xmlns:a="http://schemas.openxmlformats.org/drawingml/2006/main">
              <a:ext uri="{FF2B5EF4-FFF2-40B4-BE49-F238E27FC236}">
                <a16:creationId xmlns:a16="http://schemas.microsoft.com/office/drawing/2014/main" id="{6E5EDC6B-D79C-40E4-A065-C8AE5AA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29967" y="165755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4c646a29ef421c"/>
          <a:srcRect xmlns:a="http://schemas.openxmlformats.org/drawingml/2006/main" l="1538" t="7030" r="0" b="11599"/>
          <a:stretch xmlns:a="http://schemas.openxmlformats.org/drawingml/2006/main"/>
        </p:blipFill>
        <p:spPr>
          <a:xfrm xmlns:a="http://schemas.openxmlformats.org/drawingml/2006/main">
            <a:off x="0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3" name="L 形 12">
            <a:extLst xmlns:a="http://schemas.openxmlformats.org/drawingml/2006/main"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5516" y="2323519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46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12750" indent="-398463">
              <a:buFont typeface="+mj-lt"/>
              <a:buAutoNum type="arabicPeriod"/>
              <a:defRPr/>
            </a:lvl2pPr>
            <a:lvl3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3pPr>
            <a:lvl4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4pPr>
            <a:lvl5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64D30FFE-22CF-4ACF-98F8-DBDA349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36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a1d25b6cee74a4a" /><Relationship Type="http://schemas.openxmlformats.org/officeDocument/2006/relationships/theme" Target="/ppt/slideMasters/theme/theme2.xml" Id="Ree63c4b8927646ac" /><Relationship Type="http://schemas.openxmlformats.org/officeDocument/2006/relationships/slideLayout" Target="/ppt/slideLayouts/slideLayout1.xml" Id="R484564dee78f44c4" /><Relationship Type="http://schemas.openxmlformats.org/officeDocument/2006/relationships/slideLayout" Target="/ppt/slideLayouts/slideLayout2.xml" Id="R1e3a9033a392449b" /><Relationship Type="http://schemas.openxmlformats.org/officeDocument/2006/relationships/slideLayout" Target="/ppt/slideLayouts/slideLayout3.xml" Id="Reee10d6a6f5d4bb6" /><Relationship Type="http://schemas.openxmlformats.org/officeDocument/2006/relationships/slideLayout" Target="/ppt/slideLayouts/slideLayout4.xml" Id="R66b222884327448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9245e2c74343be" /><Relationship Type="http://schemas.openxmlformats.org/officeDocument/2006/relationships/slideLayout" Target="/ppt/slideLayouts/slideLayout5.xml" Id="R6fa4784d12ca415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56e3de3269774db2" /><Relationship Type="http://schemas.openxmlformats.org/officeDocument/2006/relationships/theme" Target="/ppt/slideMasters/theme/theme4.xml" Id="Re087ab3fc3494ba0" /><Relationship Type="http://schemas.openxmlformats.org/officeDocument/2006/relationships/slideLayout" Target="/ppt/slideLayouts/slideLayout6.xml" Id="R56a8f7036a9a4270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975f5beb6884457f" /><Relationship Type="http://schemas.openxmlformats.org/officeDocument/2006/relationships/theme" Target="/ppt/slideMasters/theme/theme5.xml" Id="Rade8525c4eb64b02" /><Relationship Type="http://schemas.openxmlformats.org/officeDocument/2006/relationships/slideLayout" Target="/ppt/slideLayouts/slideLayout7.xml" Id="R86a8b9987e2a47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309" y="6270651"/>
            <a:ext cx="1982316" cy="153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d25b6cee74a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6684" y="5976168"/>
            <a:ext cx="2258389" cy="48253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4564dee78f44c4"/>
    <p:sldLayoutId xmlns:r="http://schemas.openxmlformats.org/officeDocument/2006/relationships" id="2147483650" r:id="R1e3a9033a392449b"/>
    <p:sldLayoutId xmlns:r="http://schemas.openxmlformats.org/officeDocument/2006/relationships" id="2147483651" r:id="Reee10d6a6f5d4bb6"/>
    <p:sldLayoutId xmlns:r="http://schemas.openxmlformats.org/officeDocument/2006/relationships" id="2147483652" r:id="R66b2228843274485"/>
  </p:sldLayoutIdLst>
  <p:hf hdr="0" ftr="0" dt="0"/>
  <p:txStyles>
    <p:titleStyle>
      <a:lvl1pPr xmlns:a="http://schemas.openxmlformats.org/drawingml/2006/main"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xmlns:a="http://schemas.openxmlformats.org/drawingml/2006/main" val="F26B43"/>
          </p15:clr>
        </p15:guide>
        <p15:guide id="2" pos="3841" userDrawn="1">
          <p15:clr>
            <a:srgbClr xmlns:a="http://schemas.openxmlformats.org/drawingml/2006/main" val="F26B43"/>
          </p15:clr>
        </p15:guide>
        <p15:guide id="3" pos="565" userDrawn="1">
          <p15:clr>
            <a:srgbClr xmlns:a="http://schemas.openxmlformats.org/drawingml/2006/main" val="F26B43"/>
          </p15:clr>
        </p15:guide>
        <p15:guide id="4" orient="horz" pos="4007" userDrawn="1">
          <p15:clr>
            <a:srgbClr xmlns:a="http://schemas.openxmlformats.org/drawingml/2006/main" val="F26B43"/>
          </p15:clr>
        </p15:guide>
        <p15:guide id="5" orient="horz" pos="1235" userDrawn="1">
          <p15:clr>
            <a:srgbClr xmlns:a="http://schemas.openxmlformats.org/drawingml/2006/main" val="F26B43"/>
          </p15:clr>
        </p15:guide>
        <p15:guide id="6" orient="horz" pos="55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6fa4784d12ca4159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4" b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8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4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4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3de326977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3B0B5EC2-EA55-CC45-A9D0-D5EA5D7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992224C5-04A6-C041-B257-131379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8918196-0639-EE4B-AFC2-315BE04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DCA8B73C-0B87-284F-805F-752EBF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234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90/79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138A39A8-BB4E-CD4E-9201-F1785C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120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0/15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53C07A-1022-C740-8F8D-97538E1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06A7598-C00D-994F-82DA-B39F3C2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248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181/60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23292-FF2F-A74C-943E-1C3C475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235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92/1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2A29AF15-F5C4-A842-A63B-5DBA549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137/137/137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E9EA970A-4D36-BC41-B8BE-40DF553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35/24/21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14EE21FB-1D92-0241-ABA5-5E9A6AE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221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221/221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883734A3-2645-434A-9DCC-1416B6C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233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140/128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1FF13552-FB3D-134A-A80A-6CFB35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159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0A96471B-CB12-1443-B01F-C14C911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220/87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61890D59-CF8B-1449-A836-3A304EC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133/0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0466A1E1-E7C7-FD49-9880-9E44BE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181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181/181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B21AD6AC-1275-0142-A9EA-D77B26C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89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87/87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8BAC2A-AE09-A84D-875D-8472236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255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255/255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56a8f7036a9a4270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573" y="1474269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/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79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1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把数字世界带入每个人、每个家庭、</a:t>
            </a: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/>
            </a:r>
            <a:br/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4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f5beb688445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5497" y="5251150"/>
            <a:ext cx="1869596" cy="39946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86a8b9987e2a4764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7798">
        <a:lnSpc>
          <a:spcPct val="90000"/>
        </a:lnSpc>
        <a:spcBef>
          <a:spcPts val="1299"/>
        </a:spcBef>
        <a:buFont typeface="Arial"/>
        <a:buNone/>
        <a:defRPr sz="1819" kern="1200">
          <a:solidFill>
            <a:srgbClr val="FFFFFF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593900" indent="0" algn="l" defTabSz="1187798">
        <a:lnSpc>
          <a:spcPct val="90000"/>
        </a:lnSpc>
        <a:spcBef>
          <a:spcPts val="650"/>
        </a:spcBef>
        <a:buFont typeface="Arial"/>
        <a:buNone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indent="0" algn="l" defTabSz="1187798">
        <a:lnSpc>
          <a:spcPct val="90000"/>
        </a:lnSpc>
        <a:spcBef>
          <a:spcPts val="650"/>
        </a:spcBef>
        <a:buFont typeface="Arial"/>
        <a:buNone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1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e141d9fe74e9d" /><Relationship Type="http://schemas.openxmlformats.org/officeDocument/2006/relationships/notesSlide" Target="/ppt/notesSlides/notesSlide1.xml" Id="R7661a88ca32144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fb00920c34ef9" /><Relationship Type="http://schemas.openxmlformats.org/officeDocument/2006/relationships/notesSlide" Target="/ppt/notesSlides/notesSlide2.xml" Id="Re91d244de02543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71de68a1c40bc" /><Relationship Type="http://schemas.openxmlformats.org/officeDocument/2006/relationships/notesSlide" Target="/ppt/notesSlides/notesSlide3.xml" Id="R0ff41ff80fe3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a3cfc936d4e27" /><Relationship Type="http://schemas.openxmlformats.org/officeDocument/2006/relationships/notesSlide" Target="/ppt/notesSlides/notesSlide4.xml" Id="R287a29b598a2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f234e18f740e3" /><Relationship Type="http://schemas.openxmlformats.org/officeDocument/2006/relationships/notesSlide" Target="/ppt/notesSlides/notesSlide5.xml" Id="Rfdec3bbcac4b47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fe680069741e5" /><Relationship Type="http://schemas.openxmlformats.org/officeDocument/2006/relationships/image" Target="/ppt/media/image4.png" Id="Rb58bd5e3ff5a49d1" /><Relationship Type="http://schemas.openxmlformats.org/officeDocument/2006/relationships/notesSlide" Target="/ppt/notesSlides/notesSlide6.xml" Id="R8abe53bf61654a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1cd37045e4aa8" /><Relationship Type="http://schemas.openxmlformats.org/officeDocument/2006/relationships/notesSlide" Target="/ppt/notesSlides/notesSlide7.xml" Id="Rbb01f549dba640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8084531614449" /><Relationship Type="http://schemas.openxmlformats.org/officeDocument/2006/relationships/notesSlide" Target="/ppt/notesSlides/notesSlide8.xml" Id="R8c9b7bbbf43446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1a666e59e43bd" /><Relationship Type="http://schemas.openxmlformats.org/officeDocument/2006/relationships/notesSlide" Target="/ppt/notesSlides/notesSlide9.xml" Id="Rb0ea4c06449b4f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1f03ff7fa14a7b" /><Relationship Type="http://schemas.openxmlformats.org/officeDocument/2006/relationships/notesSlide" Target="/ppt/notesSlides/notesSlide10.xml" Id="Rb128c9e1eb0242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0E85DC82-6230-4504-8E28-90DC80FD60D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8" y="6264112"/>
            <a:ext cx="2606870" cy="136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4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7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71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957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196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43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67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913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 Internal</a:t>
            </a:r>
            <a:endParaRPr sz="10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528C9-B275-4F1E-9FFF-9101F13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953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CE818-C40C-4AF2-A0AE-B7F496F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我的产品经理AI工作台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69BDE-2ED8-4F6C-93E4-80DFCD2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从对话式工具到可验证的产品决策系统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CD06F-2A6F-499D-A9EB-A57166C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用研、竞品、PRD、原型与 Skill 实践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861D0-D8D9-4629-8E23-95634539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产品经理团队分享  /  40 min + 5 min Q&amp;A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C1A71-1E9B-4436-8DB5-7B652519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B6EDE2-6F8B-470E-84A1-F14BC3E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产品经理 AI 工作台由四层控制面构成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73F88BAE-BA4A-4915-A706-92FE6BE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工作台贯穿机会识别、问题研究、方案设计、协同交付与持续学习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C99EA-E805-4233-81C4-4A0FFF1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FFFCD-75E6-41C9-AD5B-6885EEE7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机会识别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33BCA-858F-42C3-B63A-790C2444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185CB-C924-4053-92EA-AD2EDAA3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264FF-8014-442A-8FBF-9C44459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A39F3-BCE4-4D06-BDC3-4463DEC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4DF23-D853-4B61-96CD-87C4FA8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DBFF1-DF4A-403E-82BC-D91E74ED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2632F-E83B-46A6-B180-87AD2E74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65E94-6747-4AEE-88A0-2639E26A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20CBB-C23C-42BB-A863-8B7659D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协同交付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00D98-738B-4A1D-880B-AD72541B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D92A3-C370-4C21-9B00-7D35B21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3B422-0246-4774-9ABC-EBF7BC96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持续学习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A473E-A045-4BC8-BBE6-A11EF01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4B319-21AC-4ECF-B800-45F7DB12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701A8-DFB4-45F3-831C-78BAE7A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明确任务与输出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152CA-EBE8-4CFF-81C0-9F7D082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574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研究目标、角色、格式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9214B-0471-43C3-9F34-29AEABF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776E87-DE42-401A-954E-6956ABD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359BB-88E4-41DB-9F52-95AE4D8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保存事实与状态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413F2-7575-4262-826A-BA20899E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材料、证据、版本、边界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82B96-A2B2-45C8-96E1-857F399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6786C6-E70C-4290-BDAD-57A270C3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B96195-70A3-4756-AAA8-60EF20D8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290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调用工具完成动作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33FFFC-5994-4789-BD22-4691EB4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检索、分析、写文件、生成原型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F2FA7D-AACE-47D9-93BC-DC67CD2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DB7F7D-B778-4A7F-8802-37B21CEC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CD747-063D-458F-9A64-EB415FBE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148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限制执行并验证交付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9857D8-F5D8-487B-B3F5-7216A45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权限、文件契约、质量门禁、失败恢复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984797-094C-42AA-A044-09CC62A3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模型负责生成与执行；产品经理仍负责问题定义、取舍、证据判断和验收。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4B114-41BA-4FFC-AB57-6A43E1E1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56303C-78F1-448B-B2B7-4C68963A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工作流从回答优化演变为交付可靠性管理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07EAE3F1-89FA-460A-8F4B-FC76A9D8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工具能力不断扩大，产品经理的重点从写提示词转向设计任务与门禁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5C669-64A2-4EEB-939E-E2B632F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D2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0D7E7-DCF5-46C6-B245-18FE814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91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9C110-64D5-4513-A879-2550357B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对话式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D793F-7815-4AE3-9B61-931F7DD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Prompt 工程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1C9B0-E171-40BD-82C0-8DBFA67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回答更符合格式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13F17-C0AB-491D-A63A-FE4E921F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事实和状态仍在聊天里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C237-1E57-4CB7-BED8-88C0E31E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PM：写清问题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0DCCA-B2FD-46E4-A159-C92FB6A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8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9B9DB-BE93-4C6E-8142-D11C5BCC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B51E9-9C20-4795-B377-DE58027E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Context / 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7A4E2-328A-4F49-8295-8B44CE6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可引用内部资料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7515C-4182-4F16-93B0-37FD054F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资料多不等于能做取舍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804EE-AB63-4551-A318-C680366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PM：组织证据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8AF54-F92E-4D29-BB16-41E624E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B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7B7F9-B2DA-454D-8BDB-337DC43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CB936-C6A0-4E92-8C30-58CF8A8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工具调用与循环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2933D-D707-4877-836E-2327FD6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搜索、分析、生成文件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858B1-5F28-400A-A40A-A19A370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能行动但可能越界或失控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44B79-2BDD-4E26-A1A2-17EBAA2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PM：定义动作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64190-460E-4D58-886E-C9EFF59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A93AC-DE5D-43FD-99DD-1DB0754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CE395-8B0E-4F18-98B1-E82ACE3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工作区与质量门禁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2A8E04-7409-4584-99A0-5A056B65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任务可恢复、可验证、可审计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000EC2-086B-40A2-B234-CA5095BB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需要维护契约与评估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53A5C5-E0D3-48B0-816F-27A067F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PM：设计系统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CADB26-F200-4CE1-A6DA-D9AB8B83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F94740-FB1C-4CB4-AAF3-FA0F3500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判断工作流是否升级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921DB1-4D93-4DCA-8459-CF3EF02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38700"/>
            <a:ext cx="773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同一任务能否继续执行？失败是否停止？结论能否追溯到证据？下游能否读取同一份状态？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28F2E0-991D-4938-8295-7C715FAF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773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若四个问题仍靠人工记忆，工具再多也只是更快的对话。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782F3-3A49-4C76-9631-3AEF049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658D0-9ACB-4D2C-AAFF-F79C6CFB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图库 AI 问卷将功能意愿转化为产品决策证据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63A30DEA-2CF2-4C77-B90A-2A8DD0EC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真实问卷共 12 题，题目顺序用于区分真实行为、体验问题与未来诉求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857E9-5C27-41A0-A563-B04BC7C9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5F1BB-9E26-4E32-92FD-F1575D4B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近期使用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121AD-B7EC-4BE3-85E6-93767D47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是否有真实经历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3ADB7-CDAE-483A-99E2-7A50CC25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7DEBB-E99B-498E-B2F7-5D5F444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Q5–Q6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944EB-1C17-4882-A294-1D6CC45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功能与任务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EE1BC-8ADF-4A3F-8F65-C0301A7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最近一次想完成什么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E7E97-3031-4775-B754-454738F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56F9C-96F1-448B-BDF1-3A0D1C8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Q7–Q8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01ACA-9CEC-42CE-8EA8-5BBEC4E1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问题与后果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47D8A-8165-4D4D-93D8-40D8F99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返工、换工具、放弃或失去信任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CA7E8-E9E9-4190-94EC-7EB76CB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2D2E0-4E18-48D0-83B9-1FAE0CA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Q9–Q10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A7655-29FE-4256-958F-DD4E0450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需求与 Top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180C2-6B68-4ABF-83D9-C5ABB633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愿望清单压缩为一个取舍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0D7F1-2065-411B-BC61-16D16F10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FF26C-96C0-4157-A4E4-55CEE5E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Q11–Q12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FE682-101E-4F8E-90C1-EF0222E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原因与场景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BCAF1-9315-457E-A4D0-5278C426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解释优先级并确定切入点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CB0BB0-244B-401E-B0D8-5D438BE2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1678D1-3966-4BEC-904F-A26B0024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真实需求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3D3F5-2444-40EA-924E-9FCFF4E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 + Q6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41C7C-3608-4918-8808-94AD490E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近期使用频率与最近任务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EABCA-89E9-4EF7-936C-A84BEDBA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区分行为与概念兴趣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BC5E12-9E8B-4CEC-A7FC-C0454AA3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问题优先级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6F74FA-ADBE-4A2F-AB12-DF0D334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 + Q8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68AF8D-4107-414E-B0DE-05323CB3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问题类型与实际后果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7D46EC-E414-4CD4-B1D5-6707BD01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区分效果问题与信任问题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91BB2C-CCB9-409E-BC42-AE65C46F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07600B-369E-40AE-BE26-3328A264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功能优先级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DEED1A-4578-4DE9-8A2D-067F2CC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05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 + Q10 + Q11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C930CA-E9EA-48CD-AF10-271B3CA2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需求广度、强制选择与原因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7700AD-4908-4891-B3B7-2A8CEE86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形成可解释的 Top 1 假设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DE7B4C-B29C-461B-AC33-EB8A3885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MVP 场景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1BFD14-A5C8-4C61-9A0E-82976429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387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F1FF17-9D58-4A71-9488-A06FF1F3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38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任务发生的具体情境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3DE68C-164E-48E8-90C7-3BC5FC74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确定入口、触发与使用范围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D972D7-56BD-4AED-B405-9B7FBD2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ECE3D6-CA6E-4268-8843-CA5E076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真实检查：12 题　0 个结构风险信号　PASS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7AB443-5E8C-4DFB-A095-EF7C750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245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结构通过不代表效度已证明，仍需研究员复核、认知访谈与小样本试填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DE039-72A9-49E9-9583-96EE2B31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3E50B0-EFE0-4C16-B857-CB14976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质量门禁在研究结论生成前阻断错误样本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EA762AB9-9282-47AB-B447-D68BB7B9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合成调研只用于试跑问卷逻辑与数据管线，不用于估计真实市场比例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FD379-6EE5-4A49-AB08-AA6B05D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80DA0-2136-499D-A368-A83738FB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43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DEF40-DCC3-483C-96E0-1E57648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19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9A865-C4E7-4026-87BF-D1A5FE4C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9E964-212C-4F8D-9405-EF096925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1F521-028D-46D8-BFD7-DE1F943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1494F-B3DC-4805-A8F7-5734D361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失败来自接口契约，不是模型内容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17CCD-719D-429C-92F3-DC90C918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1213C-B378-4B6C-915E-065E4D72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4DF93-ACCE-41CA-967C-C77B951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CDE74-887B-4CA5-B710-BC8718D4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90877-509D-4D7E-9992-35952282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5EFF7-3F94-4DCC-B31F-BACA13F4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CE2EE-313A-4097-89FD-C095DD88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画像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3450A-5E48-4E9B-9587-EC58CC47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参数契约失败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03104-E5B8-482B-ACB4-729F290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C983A-34AF-4692-9E8C-172F389C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30697-3039-41F2-AE68-C3B256CF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模拟答卷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F4775-CE19-4CCD-BC30-6C9DDE79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被门禁阻断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6782D-3EF4-4978-B0ED-6480FFA0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51757-D187-467A-9498-C987689F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185BE-8366-4590-A515-4032F8C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研究报告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B61684-87F4-49D6-8EBF-DE35458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不允许生成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F07BDF-784D-4CCE-8233-C8ED1A5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105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C880AF-A912-49F5-A0FA-4B56544F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真实错误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DDDD89-E504-4436-B58C-17897387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测试要求 sample-size、seed、group-quota；当前画像脚本未接受这些参数，Windows 中文错误输出还出现乱码。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D59D62-82C9-4DA7-A046-2F067616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5295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01478-AA74-41A1-AE09-446659F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修复与产品价值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0ECCED-4908-45F6-A9B6-4542B09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先统一命令与文件契约，再重跑画像。门禁把返工从结论阶段提前到接口阶段，避免不可复现样本进入漂亮报告。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6948FE-8C91-490C-9C17-1C52087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边界：合成用户可以验证题目分支和分析管线，但不能证明真实需求规模、购买率或统计显著性。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9B935-B65C-4041-B850-23B65F4C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9004E9-A7DD-47A6-8FF2-895CF1EE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竞品证据链将一句话删除收敛为可控自动化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F8BAD3FD-8939-496C-9D47-0CBFAF1A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证据不足的行业判断进入待核验清单，产品方案不预设竞品基线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E2E47-F80F-4AED-A5FF-8500EA8B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6F4FC-6E25-41EF-98A4-CD703FBE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523F5-EE91-4D2F-964E-8387DCF4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 ×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67CCE-4816-4658-8030-9152C3DB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AE3A-8786-4CED-AE2B-2580E7EB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0393F-9DD4-465C-9F29-87C369E4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主张、来源、版本、地区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93E48-A875-4F5D-91B9-7D0B35BE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3E9F3-212A-42E2-B7D4-A63CDBEE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1A849-CD31-4D0D-9269-8AA44E2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A / B /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B1CF1-4C23-4A03-8575-249D5E46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59E39-49B7-4EDB-942E-803CFB19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Decision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A430D-4B86-4E0F-BAA0-DFE4994D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事实、推断、建议分栏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D9D12-1399-4A80-B912-3465551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52419-2F86-47AE-8839-C6BB862E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官方当前版本直接证据，或两条独立间接证据一致；达到上限仍冲突则标记 UNKNOWN。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1BB1D-0180-43F7-8FBD-CE5836A5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57350"/>
            <a:ext cx="720090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bd5e3ff5a49d1"/>
          <a:stretch xmlns:a="http://schemas.openxmlformats.org/drawingml/2006/main"/>
        </p:blipFill>
        <p:spPr>
          <a:xfrm xmlns:a="http://schemas.openxmlformats.org/drawingml/2006/main">
            <a:off x="4965700" y="1771650"/>
            <a:ext cx="5689600" cy="32004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0E69E-8913-4560-95F3-75C1EFE9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768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712635-96CD-43A2-8766-0B2E10E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91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最终决策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FF4ED-F8D8-4DCF-AF6B-7837850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530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系统负责生成可解释候选；用户保留最终删除责任；默认进入回收站。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C5267-485E-420E-851F-8478014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6D9C9C-B1F2-4903-B97F-6C42192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风险分层同步约束 PRD、原型状态与验收口径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BC1D7E6C-53E5-4904-B7BB-9E076EDF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MVP 只开放低歧义任务的确认执行，高风险语义统一降级为筛选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55AE1-D98F-45C1-818A-CE9BEC58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62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3251E-323F-4D05-AB2E-78B26E51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低风险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7AD37-FFEF-4986-BC83-9C701DF1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57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时间 / 明确类型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5BF65-2238-413C-B3CD-EAAAD6FA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预览后确认执行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BF25E-D4EF-4F33-94D3-3256AA2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62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E1B1F-20F6-4183-84ED-8F2697D3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中风险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C43BB-1AF8-46DE-A840-C3C3EEA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 / 重复 / 大候选集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C8A35-5964-47EF-910B-E6A7244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解释理由并二次确认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B9B94-428B-48DE-A420-31E48DF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062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B39FF-8A8E-48A1-8B4C-D9592A9D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16EF7-738B-4318-BE81-94B15B9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86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人物 / 票据 / 私密 /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3B9A3-5AA8-4812-B310-A52B164B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只返回筛选，不出现删除按钮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3F432-A18F-4D9E-8502-F873CD0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PRD 主链路与原型状态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0C758-F6C8-4104-A9DC-8419F6AD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FD1AA-F006-443E-88A0-E01E609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A295A-971C-4163-B44D-C7695246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输入意图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E910B-DF5A-496C-9482-9A72E3A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C42CE-2D15-4E5F-9E7A-90EC353C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D7690-9937-44B1-9B30-E25E5934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C3FCF-AFB0-4A20-A261-D4BF6BDE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结构化解析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FD0C3-159B-436A-9AF4-F50D8BC5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3F43A-ACF0-43C2-9E8A-1AC08CB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3B2B1-2C66-4D08-B0B2-27199CEA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0F5DD9-3BC8-4E41-93AB-E7DF10D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检索候选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D00155-6C54-4AC7-9506-7821546F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0587C6-ABE1-431A-AF1F-8256D30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60676-7DF4-4AC2-8DD4-AB42A7AA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02E67D-97FB-4BFD-BFF2-BCDB9D2F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解释预览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69C9B8-DAFD-4D5D-80C3-9B75231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10A0F-F93E-4613-98F6-3C428504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6537C-4857-471F-A87F-D14D9E29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C48982-CD8C-498F-8CFC-B4EBC37C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显式确认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833BD7-134D-4061-A164-6518ACDF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FE4F9-29A1-4878-9789-E75BB36B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610042-25E5-4DF7-B5AB-727DD0E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B58030-54CE-4125-8983-697034EF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执行与撤销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57BCF8-8342-4FE5-99C6-9248E09D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E00DD2-F8E3-4CFE-8233-675458F6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追问缺失条件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3D8DF9-CC07-4346-8E27-AEC601BA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候选集过大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DFE835-FC6B-4283-B940-9E5EEEA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要求二次缩小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0FFD55-0ACB-483A-B888-E4C95EB7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高风险对象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2705D0-BC0C-4EAB-B5AF-1C8035B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解释降级原因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6BA764-20EE-4002-A57C-561EFCA9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执行失败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1D9EFC-F572-4291-8B2E-FF51CD52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展示回收站与恢复入口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0681AA-2FE0-4559-BC1D-5B4FD08A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629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A7EE34-BCB3-41B7-A25A-7E926ADE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E85BCF-5014-46A4-B4EA-908A957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53050"/>
            <a:ext cx="927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执行前用户能复述候选范围；执行后能找到恢复入口；任何异常分支不得绕过确认。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B5588-5F4E-461B-93A9-E6AFB176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65DD10-80E7-4707-9D63-7574924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通过契约、资源、校验和评估形成可复用能力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4A12F759-EE84-40C1-9DFD-5E109645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Command 只是入口，稳定性来自明确的输入输出、停止条件与真实案例测试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F7C7B-5A71-47DD-ABB1-530C5F1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D8FFB-E583-4F58-A7EE-D89D9564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一次性提示词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25A4F-CB3E-4F00-8F95-4E4ABBD7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8C25D-40CB-47C0-B9B4-48CE006D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E8DC3-2C21-401B-B5FE-ABFEAEE3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触发与输入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F2FD5-3315-4CD7-90DC-67BC307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C7FC4-62FB-451A-B6DA-33B531E5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FDB7B-1A6D-4BB3-A8B7-532E62C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步骤与停止条件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1C0B8-4EB9-4FF6-AC04-F89B49A7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A1A08-BC88-4733-B4A8-CB80149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8FB92-F0FD-443D-8033-C1363E2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参考与模板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6B24D-D0CB-4E81-A385-EAA5FB5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2086C-762C-4C69-B517-A2ECCEE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F2B87-29B1-42FE-83FA-28650F7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脚本门禁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E65EA1-D64B-42F5-8A7C-290B8AA7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24F06-87F6-4373-AD6F-829B0D0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AE01C-EA67-4C2F-8199-E3605751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真实案例评估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437F1-18B3-4BD3-BA97-B41FD168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75C41-A18C-43C1-BDFA-B7899657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14555-50F7-413D-891F-861EBF6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版本复盘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569A3-5564-4CD6-9F1C-50D8333F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13FE0-C7D4-453D-9A31-5E31132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$ur-design-survey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B71D7-7A6A-47A5-A9BA-E10A3903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输入契约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C3713-27C1-4FF4-883F-7531CFF4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62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课题、研究目标、问卷场景、题量与材料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8C7B00-6FC2-407B-ADC9-13DAF43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方法与门禁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61FE82-1E08-47B9-9551-57FE969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43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决策—证据—题目；分支、互斥和题间关联检查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F0FCCB-8E9F-443E-ADE5-8993E81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AE921B-1A9E-4280-BBAC-5B70FBD3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Markdown 事实源、评审 HTML、平台配置文本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697E06-7F95-486F-8EE7-1287A0D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$pm-system-app-competitor-matrix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CFA22-782F-4D1D-99DE-9D3116E9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输入契约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98E7C8-393E-418B-B58B-45DE56C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研究问题、竞品范围与 FeatureSchema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5C411A-2D2F-4643-95A3-4DDD0C5A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81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方法与门禁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37A655-A79D-4F91-B77C-30C50E3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ResearchUnit、EvidenceRecord、置信度与停止规则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258A9F-9B95-455B-B386-000840B3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054271-4673-4035-BCC9-5E06F57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Feature Matrix、证据明细、冲突与待确认项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D35033-92F7-4F14-81F8-9A42250C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629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F0888F-B333-4158-8546-FAA65F3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示例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79EE16-E866-45C3-90EE-A0D095FA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148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$ur-design-survey 课题：手机图库 AI；目标：识别高频任务、主要问题与 Top 1；场景：原始需求洞察；不超过 12 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73B36A-7903-41B2-A64B-A77A0B58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开发判断：高频、跨人协作、返工昂贵且质量可检查的任务，优先做成 Skill。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63424-B51B-48CE-912E-80AE591B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976DFF-D758-4639-B5DA-5F26438A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当前工作台以共享产物连接产品生命周期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36AC5B86-B02E-43B3-8615-9B6EAD6A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Skill 之间传递文件与状态，产品经理在关键决策点保留判断权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19F4D-5932-4C85-B3F8-5D2E4BA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F539-D1E9-4757-8683-37CC70D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Skill 与流程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4786C-CBC5-4398-BA95-8F279209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共享产物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CA755-55E4-4241-AC82-C3F9C965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9D6F3-9BC4-49CE-A8E1-97728B6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机会识别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23C66-FD52-4332-9A1A-E68D697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2CC4C-77D5-4E52-81EF-CA55FC1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新品速递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7D5F4-6A8E-4782-B65E-E5959795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8B2F7-6ED4-4143-A84B-4F6430DE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机会清单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证据索引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227F7-5818-4FB9-8368-3AD4D5B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1C47D-082C-4E64-90DF-2A7DB24B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E6E57-EBC3-4B15-85FE-E14AA552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6D530-B958-480C-949F-2DAC73A4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DEFC4-D396-4A0A-BD10-F9E6254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问卷设计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用户模拟与研究报告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CCE3C-AC35-4DC2-87E1-E3FA46C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8A899-66F4-4D0F-818A-3B41F0E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问题优先级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288A5-4AD4-4934-BBDA-B6CE135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E9BE2-179F-4427-A20B-D81533DF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FFAB2F-2A3A-4425-A6BB-36EF02E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7520C-DB61-45BA-9DA0-0330A2B9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D39B58-3ED8-4161-8FE3-0AA473F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竞品矩阵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产品方案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0BC05-9093-4A4B-AA26-60A4CE1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FEC2CC-4F7A-4CEB-A5E0-BFD59C16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范围判断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风险分层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C0CD9C-AF55-4A0D-92CA-68BEDF5D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066E5-9C7A-4F8F-8BFC-F3F9BAAA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17E89-DFAF-4CC2-AEC4-C484396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规格与体验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A35EBA-189E-41D3-A490-1374AE98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893E6-351A-4286-BA2E-CB486A2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PRD 账本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原型状态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产品文案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D95DE0-4BA2-48DC-808F-B17E357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52CDEA-FFD1-4918-9128-CF220B8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54F0B-E3CB-4E16-824E-B5C181BC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357EB6-BD48-4948-84ED-5115555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A2C213-CE99-41BE-AFEA-D93DD5A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持续学习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53C4E7-46ED-4F5E-B1EC-136193E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B7268B-A733-4544-8790-FE48D13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指标复盘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竞品变化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7FBB0-29E0-4567-BC01-0BB3A5C1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AC86C4-B2B8-4FE8-8AB0-76217C5A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新证据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版本调整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69EBA1-104A-4FBC-B32C-569CD63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29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06DA35-DF89-4476-B43E-0CFF9515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Agent 可以承担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0B0A3C-A98F-47CC-BA32-69EA2040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19650"/>
            <a:ext cx="805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检索、格式转换、批量分析、文件生成、结构检查和重复验证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8BE686-A66D-4F64-95F3-8ECF2F65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产品经理必须保留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7FBE01-96D1-4D7A-BB8B-EC1F542F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38750"/>
            <a:ext cx="805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问题定义、证据可信度、价值取舍、风险接受、需求边界和最终验收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DB209-3C80-4CB6-89A8-F55E57A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我的产品经理AI工作台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5FE5F-785F-42F3-957D-CE848444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让证据、判断与交付在同一套系统中连续发生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11864-752F-49E3-8E6B-1DE5683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2026-09-14T14:44:22.2340000Z</dcterms:created>
  <dcterms:modified xsi:type="dcterms:W3CDTF">2026-09-14T14:44:22.2340000Z</dcterms:modified>
</coreProperties>
</file>