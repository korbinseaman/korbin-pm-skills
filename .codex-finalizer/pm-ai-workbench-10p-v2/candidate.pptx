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6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73c8e6ccd64965" /><Relationship Type="http://schemas.openxmlformats.org/officeDocument/2006/relationships/extended-properties" Target="/docProps/app.xml" Id="R70fb7071fed84797" /><Relationship Type="http://schemas.openxmlformats.org/officeDocument/2006/relationships/officeDocument" Target="/ppt/presentation.xml" Id="R18a69ab525dd4e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6b4e80723e42a2"/>
    <p:sldMasterId xmlns:r="http://schemas.openxmlformats.org/officeDocument/2006/relationships" id="2147483653" r:id="Rffd1680a302a4e65"/>
    <p:sldMasterId xmlns:r="http://schemas.openxmlformats.org/officeDocument/2006/relationships" id="2147483655" r:id="R389bd488b2d540da"/>
    <p:sldMasterId xmlns:r="http://schemas.openxmlformats.org/officeDocument/2006/relationships" id="2147483657" r:id="Rb61b939e8af746bf"/>
  </p:sldMasterIdLst>
  <p:notesMasterIdLst>
    <p:notesMasterId xmlns:r="http://schemas.openxmlformats.org/officeDocument/2006/relationships" r:id="Ra654482eede34095"/>
  </p:notesMasterIdLst>
  <p:sldIdLst>
    <p:sldId xmlns:r="http://schemas.openxmlformats.org/officeDocument/2006/relationships" id="256" r:id="Rf6f549ae17dc4cac"/>
    <p:sldId xmlns:r="http://schemas.openxmlformats.org/officeDocument/2006/relationships" id="257" r:id="R1c254250b5164f70"/>
    <p:sldId xmlns:r="http://schemas.openxmlformats.org/officeDocument/2006/relationships" id="258" r:id="R3e48e66f940949dd"/>
    <p:sldId xmlns:r="http://schemas.openxmlformats.org/officeDocument/2006/relationships" id="259" r:id="R2a1acbbfe23240ca"/>
    <p:sldId xmlns:r="http://schemas.openxmlformats.org/officeDocument/2006/relationships" id="260" r:id="Rf05c759131f549ab"/>
    <p:sldId xmlns:r="http://schemas.openxmlformats.org/officeDocument/2006/relationships" id="261" r:id="Rb0685c0e7d0b4ef9"/>
    <p:sldId xmlns:r="http://schemas.openxmlformats.org/officeDocument/2006/relationships" id="262" r:id="R3577430e618641d6"/>
    <p:sldId xmlns:r="http://schemas.openxmlformats.org/officeDocument/2006/relationships" id="263" r:id="R2537a4b3b7e048eb"/>
    <p:sldId xmlns:r="http://schemas.openxmlformats.org/officeDocument/2006/relationships" id="264" r:id="R1bfb95e6adcb40df"/>
    <p:sldId xmlns:r="http://schemas.openxmlformats.org/officeDocument/2006/relationships" id="265" r:id="Rff83e6f44b1e4566"/>
  </p:sldIdLst>
  <p:sldSz cx="12196763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f6b20901014067" /><Relationship Type="http://schemas.openxmlformats.org/officeDocument/2006/relationships/slideMaster" Target="/ppt/slideMasters/slideMaster1.xml" Id="Re36b4e80723e42a2" /><Relationship Type="http://schemas.openxmlformats.org/officeDocument/2006/relationships/slideMaster" Target="/ppt/slideMasters/slideMaster2.xml" Id="Rffd1680a302a4e65" /><Relationship Type="http://schemas.openxmlformats.org/officeDocument/2006/relationships/slideMaster" Target="/ppt/slideMasters/slideMaster3.xml" Id="R389bd488b2d540da" /><Relationship Type="http://schemas.openxmlformats.org/officeDocument/2006/relationships/slideMaster" Target="/ppt/slideMasters/slideMaster4.xml" Id="Rb61b939e8af746bf" /><Relationship Type="http://schemas.openxmlformats.org/officeDocument/2006/relationships/notesMaster" Target="/ppt/notesMasters/notesMaster1.xml" Id="Ra654482eede34095" /><Relationship Type="http://schemas.openxmlformats.org/officeDocument/2006/relationships/presProps" Target="/ppt/presProps.xml" Id="R3ed198f3715a4455" /><Relationship Type="http://schemas.openxmlformats.org/officeDocument/2006/relationships/viewProps" Target="/ppt/viewProps.xml" Id="Rbff42ae461284311" /><Relationship Type="http://schemas.openxmlformats.org/officeDocument/2006/relationships/tableStyles" Target="/ppt/tableStyles.xml" Id="R1e88bec18d0d42df" /><Relationship Type="http://schemas.openxmlformats.org/officeDocument/2006/relationships/slide" Target="/ppt/slides/slide1.xml" Id="Rf6f549ae17dc4cac" /><Relationship Type="http://schemas.openxmlformats.org/officeDocument/2006/relationships/slide" Target="/ppt/slides/slide2.xml" Id="R1c254250b5164f70" /><Relationship Type="http://schemas.openxmlformats.org/officeDocument/2006/relationships/slide" Target="/ppt/slides/slide3.xml" Id="R3e48e66f940949dd" /><Relationship Type="http://schemas.openxmlformats.org/officeDocument/2006/relationships/slide" Target="/ppt/slides/slide4.xml" Id="R2a1acbbfe23240ca" /><Relationship Type="http://schemas.openxmlformats.org/officeDocument/2006/relationships/slide" Target="/ppt/slides/slide5.xml" Id="Rf05c759131f549ab" /><Relationship Type="http://schemas.openxmlformats.org/officeDocument/2006/relationships/slide" Target="/ppt/slides/slide6.xml" Id="Rb0685c0e7d0b4ef9" /><Relationship Type="http://schemas.openxmlformats.org/officeDocument/2006/relationships/slide" Target="/ppt/slides/slide7.xml" Id="R3577430e618641d6" /><Relationship Type="http://schemas.openxmlformats.org/officeDocument/2006/relationships/slide" Target="/ppt/slides/slide8.xml" Id="R2537a4b3b7e048eb" /><Relationship Type="http://schemas.openxmlformats.org/officeDocument/2006/relationships/slide" Target="/ppt/slides/slide9.xml" Id="R1bfb95e6adcb40df" /><Relationship Type="http://schemas.openxmlformats.org/officeDocument/2006/relationships/slide" Target="/ppt/slides/slide10.xml" Id="Rff83e6f44b1e45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6.xml" Id="Refc37282a15e47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6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210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19f87e539b46fa" /><Relationship Type="http://schemas.openxmlformats.org/officeDocument/2006/relationships/notesMaster" Target="/ppt/notesMasters/notesMaster1.xml" Id="R26d5c1fe8b1746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f155c6f66e418d" /><Relationship Type="http://schemas.openxmlformats.org/officeDocument/2006/relationships/notesMaster" Target="/ppt/notesMasters/notesMaster1.xml" Id="R228cb224c7994c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a5b2a8c6474ecb" /><Relationship Type="http://schemas.openxmlformats.org/officeDocument/2006/relationships/notesMaster" Target="/ppt/notesMasters/notesMaster1.xml" Id="Rf8f3234aede148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ab4e04506e423d" /><Relationship Type="http://schemas.openxmlformats.org/officeDocument/2006/relationships/notesMaster" Target="/ppt/notesMasters/notesMaster1.xml" Id="Rbc190f5ff06048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d6aab201dc4061" /><Relationship Type="http://schemas.openxmlformats.org/officeDocument/2006/relationships/notesMaster" Target="/ppt/notesMasters/notesMaster1.xml" Id="R715acf56ebb84d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220902afbc43bf" /><Relationship Type="http://schemas.openxmlformats.org/officeDocument/2006/relationships/notesMaster" Target="/ppt/notesMasters/notesMaster1.xml" Id="R35158bf084d143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d8502b08084b14" /><Relationship Type="http://schemas.openxmlformats.org/officeDocument/2006/relationships/notesMaster" Target="/ppt/notesMasters/notesMaster1.xml" Id="Rbef1bed4107e4e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58454baa024d1b" /><Relationship Type="http://schemas.openxmlformats.org/officeDocument/2006/relationships/notesMaster" Target="/ppt/notesMasters/notesMaster1.xml" Id="R0be56cb76b1e4d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cbe090b7494010" /><Relationship Type="http://schemas.openxmlformats.org/officeDocument/2006/relationships/notesMaster" Target="/ppt/notesMasters/notesMaster1.xml" Id="R04621c89504345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0a306b4b0240cb" /><Relationship Type="http://schemas.openxmlformats.org/officeDocument/2006/relationships/notesMaster" Target="/ppt/notesMasters/notesMaster1.xml" Id="Rc664fff52b834f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 分钟</a:t>
            </a:r>
          </a:p>
          <a:p xmlns:a="http://schemas.openxmlformats.org/drawingml/2006/main">
            <a:r>
              <a:t>开场直接定义工作台：它不是一组常用提示词，也不是一份工具清单。它是一套持续保存证据、任务状态、决策规则与验收门槛的工作环境。分享会用两个真实案例说明，这套工作台如何改变产品判断。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本地案例：手机图库 AI 功能需求问卷</a:t>
            </a:r>
          </a:p>
          <a:p xmlns:a="http://schemas.openxmlformats.org/drawingml/2006/main">
            <a:r>
              <a:t>- 本地案例：鸿蒙图库一句话清理图片产品方案决策汇报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 分钟</a:t>
            </a:r>
          </a:p>
          <a:p xmlns:a="http://schemas.openxmlformats.org/drawingml/2006/main">
            <a:r>
              <a:t>先讲整体架构。横向是产品生命周期，纵向是四层控制面。Prompt 只说明这次要什么，Context 保存证据和状态，Agent 调用工具执行，Harness 管理权限、文件契约、门禁和恢复。工作台的价值在于让一次任务的结论可以被下一步可靠复用。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基于本地 PM Skills 与工作区实践归纳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 分钟</a:t>
            </a:r>
          </a:p>
          <a:p xmlns:a="http://schemas.openxmlformats.org/drawingml/2006/main">
            <a:r>
              <a:t>把工具演变和工作方法演变放在一页讲。对话式工具优化回答，知识式工具扩充证据，Agent 获得行动能力，Harness 才处理交付可靠性。重点不是工具名，而是每一阶段解决了哪类失败，以及 PM 的注意力如何变化。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基于对话式、检索式、工具调用与工作区 Agent 的能力抽象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 分钟</a:t>
            </a:r>
          </a:p>
          <a:p xmlns:a="http://schemas.openxmlformats.org/drawingml/2006/main">
            <a:r>
              <a:t>用真实题号讲一遍。Q4 是分流点：有近期经历的人回答最近任务和问题，没有经历的人不评价实际体验。Q9 先收集需求广度，Q10 强制选择一个，Q11 问原因，Q12 落到发生场景。问卷的 PM 价值是提前规定每道题如何影响需求取舍。最后解释结构检查边界，避免把脚本通过说成研究有效。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pm-user-research/用户调研/20260913手机图库AI功能需求/questionnaire.md</a:t>
            </a:r>
          </a:p>
          <a:p xmlns:a="http://schemas.openxmlformats.org/drawingml/2006/main">
            <a:r>
              <a:t>- pm-user-research/skills/ur-design-survey/scripts/lint_questionnaire.py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 分钟</a:t>
            </a:r>
          </a:p>
          <a:p xmlns:a="http://schemas.openxmlformats.org/drawingml/2006/main">
            <a:r>
              <a:t>这是工作台里 Harness 的真实价值。测试暴露的不是模型写得差，而是画像脚本与测试约定不一致。若没有门禁，系统仍可能生成答卷和报告，团队会在错误基础上讨论。讲清楚合成调研的边界：可以试跑流程，不能替代真实用户研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pm-user-research/tests/test_project.py</a:t>
            </a:r>
          </a:p>
          <a:p xmlns:a="http://schemas.openxmlformats.org/drawingml/2006/main">
            <a:r>
              <a:t>- pm-user-research/skills/ur-generate-personas/scripts/generate_personas.py</a:t>
            </a:r>
          </a:p>
          <a:p xmlns:a="http://schemas.openxmlformats.org/drawingml/2006/main">
            <a:r>
              <a:t>- 本地测试结果：43 tests / 28 pass / 15 fail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 分钟</a:t>
            </a:r>
          </a:p>
          <a:p xmlns:a="http://schemas.openxmlformats.org/drawingml/2006/main">
            <a:r>
              <a:t>先讲竞品证据合同，再讲方案改变。没找到某竞品的撤销期限或端侧处理证据，不能写成不支持，也不能写成行业基线。真实方案最终放弃一句话直接删除，改为搜索、解释预览、显式确认和可撤销执行。这个决定限制了系统责任，同时保留效率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pm-competitor-analysis/pm-system-app-competitor-matrix/SKILL.md</a:t>
            </a:r>
          </a:p>
          <a:p xmlns:a="http://schemas.openxmlformats.org/drawingml/2006/main">
            <a:r>
              <a:t>- workspace/鸿蒙图库_一句话清理图片_产品方案决策汇报.pptx，第 2 页；机制为待验证方案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建议用时：7 分钟</a:t>
            </a:r>
          </a:p>
          <a:p xmlns:a="http://schemas.openxmlformats.org/drawingml/2006/main">
            <a:r>
              <a:t>这一页把 PRD 与原型放回同一条风险链。先按后果、可解释性和恢复性分层，而不是按模型能否识别划范围。然后逐步讲六个状态，重点讲四类异常。验收不能写成页面正确展示，而要观察用户是否理解范围、是否能排除误选、异常是否绕过确认、执行后是否能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workspace/鸿蒙图库_一句话清理图片_产品方案决策汇报.pptx，第 3–6、8 页；本页为 PRD 与原型状态重构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 分钟</a:t>
            </a:r>
          </a:p>
          <a:p xmlns:a="http://schemas.openxmlformats.org/drawingml/2006/main">
            <a:r>
              <a:t>用两个 Skill 讲同一套开发流程。先从一次性提示词中提取稳定部分，再定义触发、输入输出、步骤和停止条件。方法论放 references，交付格式放 templates，可确定判断放 scripts，最后用真实案例评估。Command 只负责触发，不承担全部方法。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pm-user-research/skills/ur-design-survey/SKILL.md</a:t>
            </a:r>
          </a:p>
          <a:p xmlns:a="http://schemas.openxmlformats.org/drawingml/2006/main">
            <a:r>
              <a:t>- pm-competitor-analysis/pm-system-app-competitor-matrix/SKILL.md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这页作为工作台全景收束。不要逐个念 Skill 名称，讲共享产物如何连接阶段：研究设计成为后续输入，竞品证据进入方案，方案边界进入 PRD 与原型，新指标和反馈再回到下一轮。最后明确 Agent 能承担的工作与 PM 必须保留的判断。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pm-user-research/workflows/synthetic-survey.md</a:t>
            </a:r>
          </a:p>
          <a:p xmlns:a="http://schemas.openxmlformats.org/drawingml/2006/main">
            <a:r>
              <a:t>- 本地 PM Skills 目录结构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 分钟 + 5 分钟 Q&amp;A</a:t>
            </a:r>
            <a:endParaRPr/>
          </a:p>
          <a:p xmlns:a="http://schemas.openxmlformats.org/drawingml/2006/main">
            <a:r>
              <a:t>结尾只重复一件事：工作台的目标不是让产品经理少思考，而是让证据、判断、执行和验收可以连续发生。建议从一个高频、返工昂贵、可检查的任务开始建设，而不是直接追求万能 Agent。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本次分享总结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565338e3064585" /><Relationship Type="http://schemas.openxmlformats.org/officeDocument/2006/relationships/image" Target="/ppt/media/image3.png" Id="R97c4e4b22fa64b7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85ee4afd444464" /><Relationship Type="http://schemas.openxmlformats.org/officeDocument/2006/relationships/image" Target="/ppt/media/image.jpeg" Id="Rd6fb21bc2fa349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53e7a1ef63466a" /><Relationship Type="http://schemas.openxmlformats.org/officeDocument/2006/relationships/image" Target="/ppt/media/image2.jpeg" Id="R878b38712c14465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c42f8f5b064284" /><Relationship Type="http://schemas.openxmlformats.org/officeDocument/2006/relationships/image" Target="/ppt/media/image3.jpeg" Id="R5a82140ef7604ca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7b2faf6dbdd4d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ca508f75de54f3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9f175fda768b4485" /></Relationships>
</file>

<file path=ppt/slideLayouts/slideLayout1.xml><?xml version="1.0" encoding="utf-8"?>
<p:sldLayout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7c4e4b22fa64b7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" y="0"/>
            <a:ext cx="12196763" cy="5602265"/>
          </a:xfrm>
          <a:prstGeom xmlns:a="http://schemas.openxmlformats.org/drawingml/2006/main" prst="rect">
            <a:avLst/>
          </a:prstGeom>
        </p:spPr>
      </p:pic>
      <p:sp>
        <p:nvSpPr>
          <p:cNvPr id="7" name="L 形 6">
            <a:extLst xmlns:a="http://schemas.openxmlformats.org/drawingml/2006/main">
              <a:ext uri="{FF2B5EF4-FFF2-40B4-BE49-F238E27FC236}">
                <a16:creationId xmlns:a16="http://schemas.microsoft.com/office/drawing/2014/main" id="{35E66945-01E9-435C-8F13-E7A8439A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853942" y="2130562"/>
            <a:ext cx="701032" cy="717936"/>
          </a:xfrm>
          <a:prstGeom xmlns:a="http://schemas.openxmlformats.org/drawingml/2006/main" prst="corner">
            <a:avLst>
              <a:gd name="adj1" fmla="val 3243"/>
              <a:gd name="adj2" fmla="val 3048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900"/>
          </a:p>
        </p:txBody>
      </p:sp>
      <p:sp>
        <p:nvSpPr>
          <p:cNvPr id="10" name="Title 1">
            <a:extLst xmlns:a="http://schemas.openxmlformats.org/drawingml/2006/main"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98996" y="907092"/>
            <a:ext cx="6559809" cy="69025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  <a:prstDash val="dash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buNone/>
              <a:defRPr sz="3200" b="0" i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29260" y="1949372"/>
            <a:ext cx="6535842" cy="64392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图片 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6fb21bc2fa349f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" y="0"/>
            <a:ext cx="12196763" cy="5602265"/>
          </a:xfrm>
          <a:prstGeom xmlns:a="http://schemas.openxmlformats.org/drawingml/2006/main" prst="rect">
            <a:avLst/>
          </a:prstGeom>
        </p:spPr>
      </p:pic>
      <p:sp>
        <p:nvSpPr>
          <p:cNvPr id="18" name="L 形 17">
            <a:extLst xmlns:a="http://schemas.openxmlformats.org/drawingml/2006/main">
              <a:ext uri="{FF2B5EF4-FFF2-40B4-BE49-F238E27FC236}">
                <a16:creationId xmlns:a16="http://schemas.microsoft.com/office/drawing/2014/main" id="{1FE5368E-23BB-4DF2-8D93-20907378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24025" y="2568635"/>
            <a:ext cx="701032" cy="717936"/>
          </a:xfrm>
          <a:prstGeom xmlns:a="http://schemas.openxmlformats.org/drawingml/2006/main" prst="corner">
            <a:avLst>
              <a:gd name="adj1" fmla="val 3243"/>
              <a:gd name="adj2" fmla="val 3048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900"/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62AA4863-E1EF-3342-A8CB-ECD4FD06CEB7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98996" y="907092"/>
            <a:ext cx="6559809" cy="690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buNone/>
              <a:defRPr sz="3200" b="0" i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195303EA-8491-464F-99A0-67F948701C12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29260" y="1949372"/>
            <a:ext cx="6535842" cy="64392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78b38712c144656"/>
          <a:srcRect xmlns:a="http://schemas.openxmlformats.org/drawingml/2006/main" l="0" t="13825" r="2034" b="5607"/>
          <a:stretch xmlns:a="http://schemas.openxmlformats.org/drawingml/2006/main"/>
        </p:blipFill>
        <p:spPr>
          <a:xfrm xmlns:a="http://schemas.openxmlformats.org/drawingml/2006/main">
            <a:off x="1" y="-36206"/>
            <a:ext cx="12196763" cy="5638471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FB84533-1711-4925-B879-E9B8F6A15372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98996" y="907092"/>
            <a:ext cx="6559809" cy="690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buNone/>
              <a:defRPr sz="3200" b="0" i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8" name="L 形 7">
            <a:extLst xmlns:a="http://schemas.openxmlformats.org/drawingml/2006/main">
              <a:ext uri="{FF2B5EF4-FFF2-40B4-BE49-F238E27FC236}">
                <a16:creationId xmlns:a16="http://schemas.microsoft.com/office/drawing/2014/main" id="{E488927C-5A06-4219-B414-AA9E7D1F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929967" y="1657555"/>
            <a:ext cx="701032" cy="717936"/>
          </a:xfrm>
          <a:prstGeom xmlns:a="http://schemas.openxmlformats.org/drawingml/2006/main" prst="corner">
            <a:avLst>
              <a:gd name="adj1" fmla="val 3243"/>
              <a:gd name="adj2" fmla="val 3048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900"/>
          </a:p>
        </p:txBody>
      </p:sp>
      <p:sp>
        <p:nvSpPr>
          <p:cNvPr id="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6BB7B2F8-0AF7-D04F-81DD-52FDB6B7326C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29260" y="1949372"/>
            <a:ext cx="6535842" cy="64392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灯塔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图片 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a82140ef7604ca7"/>
          <a:srcRect xmlns:a="http://schemas.openxmlformats.org/drawingml/2006/main" l="1538" t="7030" r="0" b="11599"/>
          <a:stretch xmlns:a="http://schemas.openxmlformats.org/drawingml/2006/main"/>
        </p:blipFill>
        <p:spPr>
          <a:xfrm xmlns:a="http://schemas.openxmlformats.org/drawingml/2006/main">
            <a:off x="0" y="0"/>
            <a:ext cx="12196763" cy="5602265"/>
          </a:xfrm>
          <a:prstGeom xmlns:a="http://schemas.openxmlformats.org/drawingml/2006/main" prst="rect">
            <a:avLst/>
          </a:prstGeom>
        </p:spPr>
      </p:pic>
      <p:sp>
        <p:nvSpPr>
          <p:cNvPr id="13" name="L 形 12">
            <a:extLst xmlns:a="http://schemas.openxmlformats.org/drawingml/2006/main">
              <a:ext uri="{FF2B5EF4-FFF2-40B4-BE49-F238E27FC236}">
                <a16:creationId xmlns:a16="http://schemas.microsoft.com/office/drawing/2014/main" id="{D9C13A00-1073-4DDB-80E9-15487508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45516" y="2323519"/>
            <a:ext cx="701032" cy="717936"/>
          </a:xfrm>
          <a:prstGeom xmlns:a="http://schemas.openxmlformats.org/drawingml/2006/main" prst="corner">
            <a:avLst>
              <a:gd name="adj1" fmla="val 3243"/>
              <a:gd name="adj2" fmla="val 3048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900"/>
          </a:p>
        </p:txBody>
      </p:sp>
      <p:sp>
        <p:nvSpPr>
          <p:cNvPr id="11" name="Title 1">
            <a:extLst xmlns:a="http://schemas.openxmlformats.org/drawingml/2006/main">
              <a:ext uri="{FF2B5EF4-FFF2-40B4-BE49-F238E27FC236}">
                <a16:creationId xmlns:a16="http://schemas.microsoft.com/office/drawing/2014/main" id="{C897A368-8F39-4049-9BB0-AEB315EB7E0D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98996" y="907092"/>
            <a:ext cx="6559809" cy="690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buNone/>
              <a:defRPr sz="3200" b="0" i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12621051-E1A4-A049-BF21-61B18B348315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29260" y="1949372"/>
            <a:ext cx="6535842" cy="64392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userDrawn="1">
  <p:cSld name="1_Contents page">
    <p:bg>
      <p:bgPr>
        <a:solidFill xmlns:a="http://schemas.openxmlformats.org/drawingml/2006/main">
          <a:srgbClr val="EBE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20F7C7B5-0135-F749-B910-7325E96AE705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033620" y="1843088"/>
            <a:ext cx="10122060" cy="3013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tIns="90000" bIns="90000"/>
          <a:lstStyle xmlns:a="http://schemas.openxmlformats.org/drawingml/2006/main">
            <a:lvl1pPr marL="412750" indent="-398463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412750" indent="-398463">
              <a:buFont typeface="+mj-lt"/>
              <a:buAutoNum type="arabicPeriod"/>
              <a:defRPr/>
            </a:lvl2pPr>
            <a:lvl3pPr marL="14287" indent="0">
              <a:buFont typeface="+mj-lt"/>
              <a:buNone/>
              <a:defRPr sz="2200">
                <a:latin typeface="Microsoft YaHei"/>
                <a:ea typeface="Microsoft YaHei"/>
                <a:cs typeface="Microsoft YaHei"/>
              </a:defRPr>
            </a:lvl3pPr>
            <a:lvl4pPr marL="14287" indent="0">
              <a:buFont typeface="+mj-lt"/>
              <a:buNone/>
              <a:defRPr sz="2200">
                <a:latin typeface="Microsoft YaHei"/>
                <a:ea typeface="Microsoft YaHei"/>
                <a:cs typeface="Microsoft YaHei"/>
              </a:defRPr>
            </a:lvl4pPr>
            <a:lvl5pPr marL="14287" indent="0">
              <a:buFont typeface="+mj-lt"/>
              <a:buNone/>
              <a:defRPr sz="2200">
                <a:latin typeface="Microsoft YaHei"/>
                <a:ea typeface="Microsoft YaHei"/>
                <a:cs typeface="Microsoft YaHei"/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  <p:sp>
        <p:nvSpPr>
          <p:cNvPr id="3" name="直线连接符 14">
            <a:extLst xmlns:a="http://schemas.openxmlformats.org/drawingml/2006/main">
              <a:ext uri="{FF2B5EF4-FFF2-40B4-BE49-F238E27FC236}">
                <a16:creationId xmlns:a16="http://schemas.microsoft.com/office/drawing/2014/main" id="{FA82F90B-6799-443D-A768-AEC2131A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29918" y="1349255"/>
            <a:ext cx="885967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7000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16" y="630373"/>
            <a:ext cx="1147485" cy="6535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36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9175" y="456134"/>
            <a:ext cx="10740640" cy="99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736908" y="1501989"/>
            <a:ext cx="10733557" cy="46904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1237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20" algn="ctr"/>
              </a:tabLst>
              <a:defRPr sz="1800" baseline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525850" indent="-171159">
              <a:buFont typeface="Arial"/>
              <a:buChar char="•"/>
              <a:tabLst>
                <a:tab pos="1208420" algn="ctr"/>
              </a:tabLst>
              <a:defRPr sz="1299" baseline="0"/>
            </a:lvl2pPr>
            <a:lvl3pPr marL="525850" indent="-171159">
              <a:buFont typeface="Arial"/>
              <a:buChar char="•"/>
              <a:tabLst>
                <a:tab pos="1208420" algn="ctr"/>
              </a:tabLst>
              <a:defRPr sz="1299" baseline="0"/>
            </a:lvl3pPr>
            <a:lvl4pPr marL="525850" indent="-171159">
              <a:buFont typeface="Arial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/>
              <a:buChar char="•"/>
              <a:tabLst>
                <a:tab pos="1208420" algn="ctr"/>
              </a:tabLst>
              <a:defRPr sz="1299" baseline="0"/>
            </a:lvl5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End pag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2AF307D-40F4-EC4C-9108-79E94800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86" y="1402064"/>
            <a:ext cx="3921034" cy="8547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940">
                <a:solidFill>
                  <a:schemeClr val="tx1"/>
                </a:solidFill>
              </a:rPr>
              <a:t>Thank you.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343e1ffd7a364f86" /><Relationship Type="http://schemas.openxmlformats.org/officeDocument/2006/relationships/theme" Target="/ppt/slideMasters/theme/theme2.xml" Id="R1260d1a59cd74cf9" /><Relationship Type="http://schemas.openxmlformats.org/officeDocument/2006/relationships/slideLayout" Target="/ppt/slideLayouts/slideLayout1.xml" Id="Rde7b14fb332a4e87" /><Relationship Type="http://schemas.openxmlformats.org/officeDocument/2006/relationships/slideLayout" Target="/ppt/slideLayouts/slideLayout2.xml" Id="R24d652927d2946e8" /><Relationship Type="http://schemas.openxmlformats.org/officeDocument/2006/relationships/slideLayout" Target="/ppt/slideLayouts/slideLayout3.xml" Id="Rcc441e6cc30b407c" /><Relationship Type="http://schemas.openxmlformats.org/officeDocument/2006/relationships/slideLayout" Target="/ppt/slideLayouts/slideLayout4.xml" Id="R0e622365f137499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4c92e0c4cf014242" /><Relationship Type="http://schemas.openxmlformats.org/officeDocument/2006/relationships/slideLayout" Target="/ppt/slideLayouts/slideLayout5.xml" Id="Re7a23378e1954c51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image" Target="/ppt/media/image2.png" Id="R0520eda0301e4669" /><Relationship Type="http://schemas.openxmlformats.org/officeDocument/2006/relationships/theme" Target="/ppt/slideMasters/theme/theme4.xml" Id="Ra2b2b30d6fae4b86" /><Relationship Type="http://schemas.openxmlformats.org/officeDocument/2006/relationships/slideLayout" Target="/ppt/slideLayouts/slideLayout6.xml" Id="R0c6b4116d1a64920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image" Target="/ppt/media/image.png" Id="R38373d07ccf2444f" /><Relationship Type="http://schemas.openxmlformats.org/officeDocument/2006/relationships/theme" Target="/ppt/slideMasters/theme/theme5.xml" Id="R970ab60eee0d4371" /><Relationship Type="http://schemas.openxmlformats.org/officeDocument/2006/relationships/slideLayout" Target="/ppt/slideLayouts/slideLayout7.xml" Id="Rd2cb3a779eb349f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AF72FAD7-C8C3-754A-A498-D3A7EC29AB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09309" y="6270651"/>
            <a:ext cx="1982316" cy="1536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/>
              <a:t>Security Level:</a:t>
            </a:r>
            <a:endParaRPr sz="1000"/>
          </a:p>
        </p:txBody>
      </p:sp>
      <p:pic>
        <p:nvPicPr>
          <p:cNvPr id="18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3e1ffd7a364f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06684" y="5976168"/>
            <a:ext cx="2258389" cy="482533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7b14fb332a4e87"/>
    <p:sldLayoutId xmlns:r="http://schemas.openxmlformats.org/officeDocument/2006/relationships" id="2147483650" r:id="R24d652927d2946e8"/>
    <p:sldLayoutId xmlns:r="http://schemas.openxmlformats.org/officeDocument/2006/relationships" id="2147483651" r:id="Rcc441e6cc30b407c"/>
    <p:sldLayoutId xmlns:r="http://schemas.openxmlformats.org/officeDocument/2006/relationships" id="2147483652" r:id="R0e622365f137499b"/>
  </p:sldLayoutIdLst>
  <p:hf hdr="0" ftr="0" dt="0"/>
  <p:txStyles>
    <p:titleStyle>
      <a:lvl1pPr xmlns:a="http://schemas.openxmlformats.org/drawingml/2006/main" algn="l" defTabSz="914400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0" indent="0" algn="l" defTabSz="914400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/>
          <a:ea typeface="Arial"/>
          <a:cs typeface="Arial"/>
        </a:defRPr>
      </a:lvl1pPr>
      <a:lvl2pPr xmlns:a="http://schemas.openxmlformats.org/drawingml/2006/main" marL="457200" indent="0" algn="l" defTabSz="914400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indent="0" algn="l" defTabSz="914400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indent="0" algn="l" defTabSz="914400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indent="0" algn="l" defTabSz="914400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59" userDrawn="1">
          <p15:clr>
            <a:srgbClr xmlns:a="http://schemas.openxmlformats.org/drawingml/2006/main" val="F26B43"/>
          </p15:clr>
        </p15:guide>
        <p15:guide id="2" pos="3841" userDrawn="1">
          <p15:clr>
            <a:srgbClr xmlns:a="http://schemas.openxmlformats.org/drawingml/2006/main" val="F26B43"/>
          </p15:clr>
        </p15:guide>
        <p15:guide id="3" pos="565" userDrawn="1">
          <p15:clr>
            <a:srgbClr xmlns:a="http://schemas.openxmlformats.org/drawingml/2006/main" val="F26B43"/>
          </p15:clr>
        </p15:guide>
        <p15:guide id="4" orient="horz" pos="4007" userDrawn="1">
          <p15:clr>
            <a:srgbClr xmlns:a="http://schemas.openxmlformats.org/drawingml/2006/main" val="F26B43"/>
          </p15:clr>
        </p15:guide>
        <p15:guide id="5" orient="horz" pos="1235" userDrawn="1">
          <p15:clr>
            <a:srgbClr xmlns:a="http://schemas.openxmlformats.org/drawingml/2006/main" val="F26B43"/>
          </p15:clr>
        </p15:guide>
        <p15:guide id="6" orient="horz" pos="553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4" r:id="Re7a23378e1954c51"/>
  </p:sldLayoutIdLst>
  <p:hf hdr="0" ftr="0" dt="0"/>
  <p:txStyles>
    <p:titleStyle>
      <a:lvl1pPr xmlns:a="http://schemas.openxmlformats.org/drawingml/2006/main" algn="l" defTabSz="1187798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96950" indent="-296950" algn="l" defTabSz="1187798">
        <a:lnSpc>
          <a:spcPct val="90000"/>
        </a:lnSpc>
        <a:spcBef>
          <a:spcPts val="1299"/>
        </a:spcBef>
        <a:buFont typeface="Arial"/>
        <a:buChar char="•"/>
        <a:defRPr sz="3636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90849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3118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484748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598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078648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672547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66447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60346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54245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48144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3900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7798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1699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5598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9497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3396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57297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51195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xmlns:a="http://schemas.openxmlformats.org/drawingml/2006/main" val="F26B43"/>
          </p15:clr>
        </p15:guide>
        <p15:guide id="2" pos="3842" userDrawn="1">
          <p15:clr>
            <a:srgbClr xmlns:a="http://schemas.openxmlformats.org/drawingml/2006/main" val="F26B43"/>
          </p15:clr>
        </p15:guide>
        <p15:guide id="3" pos="458" userDrawn="1">
          <p15:clr>
            <a:srgbClr xmlns:a="http://schemas.openxmlformats.org/drawingml/2006/main" val="F26B43"/>
          </p15:clr>
        </p15:guide>
        <p15:guide id="4" pos="7225" userDrawn="1">
          <p15:clr>
            <a:srgbClr xmlns:a="http://schemas.openxmlformats.org/drawingml/2006/main" val="F26B43"/>
          </p15:clr>
        </p15:guide>
        <p15:guide id="5" orient="horz" pos="4100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67" y="6356939"/>
            <a:ext cx="1463467" cy="242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974" b="0">
                <a:solidFill>
                  <a:srgbClr val="1D1D1B"/>
                </a:solidFill>
                <a:latin typeface="Arial"/>
                <a:ea typeface="Arial"/>
                <a:cs typeface="Arial"/>
              </a:rPr>
              <a:t>Huawei Confidential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31" y="6402806"/>
            <a:ext cx="499729" cy="150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89084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3837181-38C6-AD4F-B8BA-B444770388BB}" type="slidenum">
              <a:rPr sz="974">
                <a:solidFill>
                  <a:srgbClr val="1D1D1B"/>
                </a:solidFill>
                <a:latin typeface="Arial"/>
                <a:ea typeface="Arial"/>
                <a:cs typeface="Arial"/>
              </a:rPr>
              <a:t>‹#›</a:t>
            </a:fld>
            <a:endParaRPr sz="974">
              <a:solidFill>
                <a:srgbClr val="1D1D1B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0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20eda0301e46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5999" y="6319870"/>
            <a:ext cx="1269075" cy="271153"/>
          </a:xfrm>
          <a:prstGeom xmlns:a="http://schemas.openxmlformats.org/drawingml/2006/main" prst="rect">
            <a:avLst/>
          </a:prstGeom>
        </p:spPr>
      </p:pic>
      <p:sp>
        <p:nvSpPr>
          <p:cNvPr id="44" name="矩形 5">
            <a:extLst xmlns:a="http://schemas.openxmlformats.org/drawingml/2006/main">
              <a:ext uri="{FF2B5EF4-FFF2-40B4-BE49-F238E27FC236}">
                <a16:creationId xmlns:a16="http://schemas.microsoft.com/office/drawing/2014/main" id="{3B0B5EC2-EA55-CC45-A9D0-D5EA5D76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35" y="3097895"/>
            <a:ext cx="911019" cy="425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P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ANTONE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186C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 200/16/46</a:t>
            </a:r>
          </a:p>
        </p:txBody>
      </p:sp>
      <p:sp>
        <p:nvSpPr>
          <p:cNvPr id="45" name="矩形 9">
            <a:extLst xmlns:a="http://schemas.openxmlformats.org/drawingml/2006/main">
              <a:ext uri="{FF2B5EF4-FFF2-40B4-BE49-F238E27FC236}">
                <a16:creationId xmlns:a16="http://schemas.microsoft.com/office/drawing/2014/main" id="{992224C5-04A6-C041-B257-13137945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3097895"/>
            <a:ext cx="911019" cy="425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P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ANTONE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185C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 199/0/11</a:t>
            </a:r>
          </a:p>
        </p:txBody>
      </p:sp>
      <p:sp>
        <p:nvSpPr>
          <p:cNvPr id="46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58918196-0639-EE4B-AFC2-315BE045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26898" y="2931937"/>
            <a:ext cx="384721" cy="131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品牌色</a:t>
            </a:r>
          </a:p>
        </p:txBody>
      </p:sp>
      <p:sp>
        <p:nvSpPr>
          <p:cNvPr id="28" name="矩形 12">
            <a:extLst xmlns:a="http://schemas.openxmlformats.org/drawingml/2006/main">
              <a:ext uri="{FF2B5EF4-FFF2-40B4-BE49-F238E27FC236}">
                <a16:creationId xmlns:a16="http://schemas.microsoft.com/office/drawing/2014/main" id="{DCA8B73C-0B87-284F-805F-752EBF20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40" y="4233909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A4F"/>
          </a:solidFill>
          <a:ln xmlns:a="http://schemas.openxmlformats.org/drawingml/2006/main">
            <a:solidFill>
              <a:srgbClr val="EA5A4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234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90/79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矩形 13">
            <a:extLst xmlns:a="http://schemas.openxmlformats.org/drawingml/2006/main">
              <a:ext uri="{FF2B5EF4-FFF2-40B4-BE49-F238E27FC236}">
                <a16:creationId xmlns:a16="http://schemas.microsoft.com/office/drawing/2014/main" id="{138A39A8-BB4E-CD4E-9201-F1785C87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40" y="3783828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120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0/15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8F53C07A-1022-C740-8F8D-97538E17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16278" y="3631294"/>
            <a:ext cx="569387" cy="131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辅助色</a:t>
            </a:r>
          </a:p>
        </p:txBody>
      </p:sp>
      <p:sp>
        <p:nvSpPr>
          <p:cNvPr id="31" name="矩形 16">
            <a:extLst xmlns:a="http://schemas.openxmlformats.org/drawingml/2006/main">
              <a:ext uri="{FF2B5EF4-FFF2-40B4-BE49-F238E27FC236}">
                <a16:creationId xmlns:a16="http://schemas.microsoft.com/office/drawing/2014/main" id="{306A7598-C00D-994F-82DA-B39F3C2E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40" y="5131937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53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248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181/60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矩形 17">
            <a:extLst xmlns:a="http://schemas.openxmlformats.org/drawingml/2006/main">
              <a:ext uri="{FF2B5EF4-FFF2-40B4-BE49-F238E27FC236}">
                <a16:creationId xmlns:a16="http://schemas.microsoft.com/office/drawing/2014/main" id="{C1423292-FF2F-A74C-943E-1C3C4753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40" y="4689671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C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235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92/1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矩形 18">
            <a:extLst xmlns:a="http://schemas.openxmlformats.org/drawingml/2006/main">
              <a:ext uri="{FF2B5EF4-FFF2-40B4-BE49-F238E27FC236}">
                <a16:creationId xmlns:a16="http://schemas.microsoft.com/office/drawing/2014/main" id="{2A29AF15-F5C4-A842-A63B-5DBA549C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36" y="6023709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137/137/137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矩形 19">
            <a:extLst xmlns:a="http://schemas.openxmlformats.org/drawingml/2006/main">
              <a:ext uri="{FF2B5EF4-FFF2-40B4-BE49-F238E27FC236}">
                <a16:creationId xmlns:a16="http://schemas.microsoft.com/office/drawing/2014/main" id="{E9EA970A-4D36-BC41-B8BE-40DF5533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36" y="5581443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18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35/24/21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矩形 22">
            <a:extLst xmlns:a="http://schemas.openxmlformats.org/drawingml/2006/main">
              <a:ext uri="{FF2B5EF4-FFF2-40B4-BE49-F238E27FC236}">
                <a16:creationId xmlns:a16="http://schemas.microsoft.com/office/drawing/2014/main" id="{14EE21FB-1D92-0241-ABA5-5E9A6AEE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36" y="6471222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 221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221/221</a:t>
            </a:r>
            <a:endParaRPr sz="700" b="1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矩形 12">
            <a:extLst xmlns:a="http://schemas.openxmlformats.org/drawingml/2006/main">
              <a:ext uri="{FF2B5EF4-FFF2-40B4-BE49-F238E27FC236}">
                <a16:creationId xmlns:a16="http://schemas.microsoft.com/office/drawing/2014/main" id="{883734A3-2645-434A-9DCC-1416B6C6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4233909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8C8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233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140/128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矩形 13">
            <a:extLst xmlns:a="http://schemas.openxmlformats.org/drawingml/2006/main">
              <a:ext uri="{FF2B5EF4-FFF2-40B4-BE49-F238E27FC236}">
                <a16:creationId xmlns:a16="http://schemas.microsoft.com/office/drawing/2014/main" id="{1FF13552-FB3D-134A-A80A-6CFB35DF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3783828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2126"/>
          </a:solidFill>
          <a:ln xmlns:a="http://schemas.openxmlformats.org/drawingml/2006/main">
            <a:solidFill>
              <a:srgbClr val="9F000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159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0/1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矩形 16">
            <a:extLst xmlns:a="http://schemas.openxmlformats.org/drawingml/2006/main">
              <a:ext uri="{FF2B5EF4-FFF2-40B4-BE49-F238E27FC236}">
                <a16:creationId xmlns:a16="http://schemas.microsoft.com/office/drawing/2014/main" id="{0A96471B-CB12-1443-B01F-C14C9112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5131937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C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 245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220/87</a:t>
            </a:r>
            <a:endParaRPr sz="700" b="1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矩形 17">
            <a:extLst xmlns:a="http://schemas.openxmlformats.org/drawingml/2006/main">
              <a:ext uri="{FF2B5EF4-FFF2-40B4-BE49-F238E27FC236}">
                <a16:creationId xmlns:a16="http://schemas.microsoft.com/office/drawing/2014/main" id="{61890D59-CF8B-1449-A836-3A304EC9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4689671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5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240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133/0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矩形 18">
            <a:extLst xmlns:a="http://schemas.openxmlformats.org/drawingml/2006/main">
              <a:ext uri="{FF2B5EF4-FFF2-40B4-BE49-F238E27FC236}">
                <a16:creationId xmlns:a16="http://schemas.microsoft.com/office/drawing/2014/main" id="{0466A1E1-E7C7-FD49-9880-9E44BED1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1" y="6023709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5B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181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181/181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矩形 19">
            <a:extLst xmlns:a="http://schemas.openxmlformats.org/drawingml/2006/main">
              <a:ext uri="{FF2B5EF4-FFF2-40B4-BE49-F238E27FC236}">
                <a16:creationId xmlns:a16="http://schemas.microsoft.com/office/drawing/2014/main" id="{B21AD6AC-1275-0142-A9EA-D77B26CB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1" y="5581443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7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89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87/87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矩形 22">
            <a:extLst xmlns:a="http://schemas.openxmlformats.org/drawingml/2006/main">
              <a:ext uri="{FF2B5EF4-FFF2-40B4-BE49-F238E27FC236}">
                <a16:creationId xmlns:a16="http://schemas.microsoft.com/office/drawing/2014/main" id="{238BAC2A-AE09-A84D-875D-8472236D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1" y="6471222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chemeClr val="bg1">
                <a:lumMod val="10000"/>
                <a:lumOff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 255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255/255</a:t>
            </a:r>
            <a:endParaRPr sz="700" b="1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0c6b4116d1a64920"/>
  </p:sldLayoutIdLst>
  <p:hf hdr="0" ftr="0" dt="0"/>
  <p:txStyles>
    <p:titleStyle>
      <a:lvl1pPr xmlns:a="http://schemas.openxmlformats.org/drawingml/2006/main" algn="l" defTabSz="1187798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96950" indent="-296950" algn="l" defTabSz="1187798">
        <a:lnSpc>
          <a:spcPct val="90000"/>
        </a:lnSpc>
        <a:spcBef>
          <a:spcPts val="1299"/>
        </a:spcBef>
        <a:buFont typeface="Arial"/>
        <a:buChar char="•"/>
        <a:defRPr sz="3636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90849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3118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484748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598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078648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672547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66447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60346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54245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48144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3900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7798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1699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5598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9497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3396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57297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51195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xmlns:a="http://schemas.openxmlformats.org/drawingml/2006/main" val="F26B43"/>
          </p15:clr>
        </p15:guide>
        <p15:guide id="2" pos="3842" userDrawn="1">
          <p15:clr>
            <a:srgbClr xmlns:a="http://schemas.openxmlformats.org/drawingml/2006/main" val="F26B43"/>
          </p15:clr>
        </p15:guide>
        <p15:guide id="3" pos="458" userDrawn="1">
          <p15:clr>
            <a:srgbClr xmlns:a="http://schemas.openxmlformats.org/drawingml/2006/main" val="F26B43"/>
          </p15:clr>
        </p15:guide>
        <p15:guide id="4" pos="7225" userDrawn="1">
          <p15:clr>
            <a:srgbClr xmlns:a="http://schemas.openxmlformats.org/drawingml/2006/main" val="F26B43"/>
          </p15:clr>
        </p15:guide>
        <p15:guide id="5" orient="horz" pos="4100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4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6573" y="1474269"/>
            <a:ext cx="3984232" cy="2816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9357" y="2794960"/>
            <a:ext cx="3225168" cy="20299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kern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ts val="1065"/>
              </a:lnSpc>
              <a:buNone/>
            </a:pPr>
            <a:r>
              <a:rPr sz="850" b="1">
                <a:solidFill>
                  <a:srgbClr val="1D1D1B"/>
                </a:solidFill>
                <a:latin typeface="+mj-lt"/>
                <a:ea typeface="+mj-lt"/>
                <a:cs typeface="+mj-lt"/>
              </a:rPr>
              <a:t>Copyright©2021 </a:t>
            </a:r>
            <a:r>
              <a:rPr sz="850" b="1">
                <a:solidFill>
                  <a:srgbClr val="1D1D1B"/>
                </a:solidFill>
                <a:latin typeface="+mj-lt"/>
                <a:ea typeface="+mj-lt"/>
                <a:cs typeface="+mj-lt"/>
              </a:rPr>
              <a:t>Huawei Technologies Co., Ltd.</a:t>
            </a:r>
            <a:br/>
            <a:r>
              <a:rPr sz="850" b="1">
                <a:solidFill>
                  <a:srgbClr val="1D1D1B"/>
                </a:solidFill>
                <a:latin typeface="+mj-lt"/>
                <a:ea typeface="+mj-lt"/>
                <a:cs typeface="+mj-lt"/>
              </a:rPr>
              <a:t>All Rights Reserved.</a:t>
            </a:r>
            <a:r>
              <a:rPr sz="779">
                <a:solidFill>
                  <a:srgbClr val="1D1D1B"/>
                </a:solidFill>
                <a:latin typeface="+mn-lt"/>
                <a:ea typeface="+mn-lt"/>
                <a:cs typeface="+mn-lt"/>
              </a:rPr>
              <a:t/>
            </a:r>
            <a:br/>
            <a:r>
              <a:rPr sz="779">
                <a:solidFill>
                  <a:srgbClr val="1D1D1B"/>
                </a:solidFill>
                <a:latin typeface="+mn-lt"/>
                <a:ea typeface="+mn-lt"/>
                <a:cs typeface="+mn-lt"/>
              </a:rPr>
              <a:t/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The information in this document may contain predictive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statements including, without limitation, statements regarding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the future financial and operating results, future product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portfolio, new technology, etc. There are a number of factors that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could cause actual results and developments to differ materially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from those expressed or implied in the predictive statements.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Therefore, such information is provided for reference purpose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only and constitutes neither an offer nor an acceptance. Huawei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may change the information at any time without notice. </a:t>
            </a:r>
          </a:p>
          <a:p xmlns:a="http://schemas.openxmlformats.org/drawingml/2006/main">
            <a:pPr>
              <a:lnSpc>
                <a:spcPts val="1065"/>
              </a:lnSpc>
              <a:buNone/>
            </a:pPr>
            <a:endParaRPr sz="779">
              <a:solidFill>
                <a:srgbClr val="1D1D1B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6" name="Subtitle 6">
            <a:extLst xmlns:a="http://schemas.openxmlformats.org/drawingml/2006/main"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7276" y="1631849"/>
            <a:ext cx="3477701" cy="4911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kern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ts val="1681"/>
              </a:lnSpc>
              <a:spcBef>
                <a:spcPts val="0"/>
              </a:spcBef>
              <a:buNone/>
            </a:pPr>
            <a:r>
              <a:rPr sz="1300">
                <a:solidFill>
                  <a:srgbClr val="1D1D1B"/>
                </a:solidFill>
                <a:latin typeface="Microsoft YaHei"/>
                <a:ea typeface="Microsoft YaHei"/>
                <a:cs typeface="Microsoft YaHei"/>
              </a:rPr>
              <a:t>把数字世界带入每个人、每个家庭、</a:t>
            </a:r>
            <a:r>
              <a:rPr sz="1300">
                <a:solidFill>
                  <a:srgbClr val="1D1D1B"/>
                </a:solidFill>
                <a:latin typeface="Microsoft YaHei"/>
                <a:ea typeface="Microsoft YaHei"/>
                <a:cs typeface="Microsoft YaHei"/>
              </a:rPr>
              <a:t/>
            </a:r>
            <a:br/>
            <a:r>
              <a:rPr sz="1300">
                <a:solidFill>
                  <a:srgbClr val="1D1D1B"/>
                </a:solidFill>
                <a:latin typeface="Microsoft YaHei"/>
                <a:ea typeface="Microsoft YaHei"/>
                <a:cs typeface="Microsoft YaHei"/>
              </a:rPr>
              <a:t>每个组织，构建万物互联的智能世界。</a:t>
            </a:r>
          </a:p>
        </p:txBody>
      </p:sp>
      <p:sp>
        <p:nvSpPr>
          <p:cNvPr id="7" name="Subtitle 6">
            <a:extLst xmlns:a="http://schemas.openxmlformats.org/drawingml/2006/main"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7672" y="2106124"/>
            <a:ext cx="3481833" cy="5828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kern="12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ts val="1294"/>
              </a:lnSpc>
              <a:buNone/>
            </a:pPr>
            <a:r>
              <a:rPr sz="120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Bring digital to every person, home, and </a:t>
            </a:r>
            <a:br/>
            <a:r>
              <a:rPr sz="120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organization for a fully connected, </a:t>
            </a:r>
            <a:br/>
            <a:r>
              <a:rPr sz="120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intelligent world.</a:t>
            </a:r>
            <a:endParaRPr sz="1200">
              <a:solidFill>
                <a:srgbClr val="1D1D1B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13" name="图片 9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373d07ccf244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5497" y="5251150"/>
            <a:ext cx="1869596" cy="399462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8" r:id="Rd2cb3a779eb349fe"/>
  </p:sldLayoutIdLst>
  <p:hf hdr="0" ftr="0" dt="0"/>
  <p:txStyles>
    <p:titleStyle>
      <a:lvl1pPr xmlns:a="http://schemas.openxmlformats.org/drawingml/2006/main" algn="l" defTabSz="1187798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0" indent="0" algn="l" defTabSz="1187798">
        <a:lnSpc>
          <a:spcPct val="90000"/>
        </a:lnSpc>
        <a:spcBef>
          <a:spcPts val="1299"/>
        </a:spcBef>
        <a:buFont typeface="Arial"/>
        <a:buNone/>
        <a:defRPr sz="1819" kern="1200">
          <a:solidFill>
            <a:srgbClr val="FFFFFF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593900" indent="0" algn="l" defTabSz="1187798">
        <a:lnSpc>
          <a:spcPct val="90000"/>
        </a:lnSpc>
        <a:spcBef>
          <a:spcPts val="650"/>
        </a:spcBef>
        <a:buFont typeface="Arial"/>
        <a:buNone/>
        <a:defRPr sz="3118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7798" indent="0" algn="l" defTabSz="1187798">
        <a:lnSpc>
          <a:spcPct val="90000"/>
        </a:lnSpc>
        <a:spcBef>
          <a:spcPts val="650"/>
        </a:spcBef>
        <a:buFont typeface="Arial"/>
        <a:buNone/>
        <a:defRPr sz="2598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1699" indent="0" algn="l" defTabSz="1187798">
        <a:lnSpc>
          <a:spcPct val="90000"/>
        </a:lnSpc>
        <a:spcBef>
          <a:spcPts val="650"/>
        </a:spcBef>
        <a:buFont typeface="Arial"/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5598" indent="0" algn="l" defTabSz="1187798">
        <a:lnSpc>
          <a:spcPct val="90000"/>
        </a:lnSpc>
        <a:spcBef>
          <a:spcPts val="650"/>
        </a:spcBef>
        <a:buFont typeface="Arial"/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66447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60346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54245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48144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3900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7798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1699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5598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9497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3396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57297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51195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xmlns:a="http://schemas.openxmlformats.org/drawingml/2006/main" val="F26B43"/>
          </p15:clr>
        </p15:guide>
        <p15:guide id="2" pos="3842" userDrawn="1">
          <p15:clr>
            <a:srgbClr xmlns:a="http://schemas.openxmlformats.org/drawingml/2006/main" val="F26B43"/>
          </p15:clr>
        </p15:guide>
        <p15:guide id="3" pos="458" userDrawn="1">
          <p15:clr>
            <a:srgbClr xmlns:a="http://schemas.openxmlformats.org/drawingml/2006/main" val="F26B43"/>
          </p15:clr>
        </p15:guide>
        <p15:guide id="4" pos="7216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210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updated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ustom 2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210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f739a942b4901" /><Relationship Type="http://schemas.openxmlformats.org/officeDocument/2006/relationships/notesSlide" Target="/ppt/notesSlides/notesSlide1.xml" Id="R3cdd2fd1c93544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aad548eaaf4dab" /><Relationship Type="http://schemas.openxmlformats.org/officeDocument/2006/relationships/notesSlide" Target="/ppt/notesSlides/notesSlide2.xml" Id="R0bea8a4b29ad4c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8ae59b2299450d" /><Relationship Type="http://schemas.openxmlformats.org/officeDocument/2006/relationships/notesSlide" Target="/ppt/notesSlides/notesSlide3.xml" Id="R70e1a217324a49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7dfda853b44de1" /><Relationship Type="http://schemas.openxmlformats.org/officeDocument/2006/relationships/notesSlide" Target="/ppt/notesSlides/notesSlide4.xml" Id="R80da2d6d3ece4a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9e9b9baeb64479" /><Relationship Type="http://schemas.openxmlformats.org/officeDocument/2006/relationships/notesSlide" Target="/ppt/notesSlides/notesSlide5.xml" Id="R0e5287fa159f46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a292dcdf114296" /><Relationship Type="http://schemas.openxmlformats.org/officeDocument/2006/relationships/image" Target="/ppt/media/image4.png" Id="R20ee8d01ce2a4996" /><Relationship Type="http://schemas.openxmlformats.org/officeDocument/2006/relationships/notesSlide" Target="/ppt/notesSlides/notesSlide6.xml" Id="Ref7344ad858e43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1a6fe54b7e4ba2" /><Relationship Type="http://schemas.openxmlformats.org/officeDocument/2006/relationships/notesSlide" Target="/ppt/notesSlides/notesSlide7.xml" Id="R56447190d42448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510722b5144290" /><Relationship Type="http://schemas.openxmlformats.org/officeDocument/2006/relationships/notesSlide" Target="/ppt/notesSlides/notesSlide8.xml" Id="Rb24516096dcd49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74879bbe3e40d9" /><Relationship Type="http://schemas.openxmlformats.org/officeDocument/2006/relationships/notesSlide" Target="/ppt/notesSlides/notesSlide9.xml" Id="R44280ca2239744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e0f47fd15f94310" /><Relationship Type="http://schemas.openxmlformats.org/officeDocument/2006/relationships/notesSlide" Target="/ppt/notesSlides/notesSlide10.xml" Id="R0f1fa66166d34d2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1C6A498F-B232-4D7E-A5CC-4FC57A111DB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7F3DB8AC-5DE9-5548-8697-C9055F7FFCC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F19B9EA-773D-FD4C-8380-847E27C6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808" y="6264112"/>
            <a:ext cx="2606870" cy="1366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40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78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718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957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196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435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675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913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/>
              <a:t>Security Level: Internal</a:t>
            </a:r>
            <a:endParaRPr sz="1000"/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E0DC1-752E-4AED-A96B-9CD5B821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69532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4000"/>
            </a:srgbClr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E9B95-C09D-4445-AA04-D4D96A62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630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我的产品经理AI工作台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998B5-A05E-4333-A4AE-C1347E69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从对话式工具到可验证的产品决策系统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657740-27FD-4E13-A11B-6F9D4C7F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用研、竞品、PRD、原型与 Skill 实践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7A4BE6-4505-49CE-9DF6-4DB24166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产品经理团队分享  /  40 min + 5 min Q&amp;A</a:t>
            </a:r>
          </a:p>
        </p:txBody>
      </p:sp>
    </p:spTree>
    <p:extLst>
      <p:ext uri="{BB962C8B-B14F-4D97-AF65-F5344CB8AC3E}">
        <p14:creationId xmlns:p14="http://schemas.microsoft.com/office/powerpoint/2010/main" val="363295233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8F0D6-4C7E-4EC9-934E-984DC315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3908AE-8C3B-4403-A4C6-99BC9E6C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产品经理 AI 工作台由四层控制面构成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C1EB6B86-075B-44B8-9A55-B0D82622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工作台贯穿机会识别、问题研究、方案设计、协同交付与持续学习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2A176E-C1F9-405B-B72D-F8B8179E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002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FB5F6D-6005-4483-9FF0-C9796F43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478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机会识别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FDD577-BAE7-47FC-9309-13FEB4BF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74EDE6-9101-4C77-81AE-D89EC043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002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6B2DF2-C032-404D-98B5-197EB029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478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问题研究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C9B0A6-EBF9-4636-B81E-E8852BFD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097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18A60B-355F-437B-849F-6F22D67D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6002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61FA9A-6B7D-4D1A-8E9D-E3B8563C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8478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40BE97-63FF-4492-B677-E941C008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097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1AAAAE-A220-4583-9CDE-B55944AD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6002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553717-93A9-42BE-A749-22ADABF2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8478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协同交付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986CB7-DA1A-4323-9CD7-1AB5DC99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097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509E33-24B4-42EE-8397-C47FB392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002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B2511A-830C-4483-9687-3625B9C9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478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持续学习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8E62A5-E877-447F-859F-9F36BD64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10629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5D54FD-6A49-47FE-B50B-F8CF8103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D871CD-8918-4016-B3F5-B12B7533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5745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明确任务与输出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50E541-7C15-4220-B5A6-B0184DF4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457450"/>
            <a:ext cx="546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研究目标、角色、格式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BADFAA-1F58-4D99-A70B-EBF11CFC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10629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DBB056-3401-44BA-B464-C35F3AC0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A797E7-3705-4AB7-A180-8D9DE5AD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4325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保存事实与状态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21DA11-8E96-4F5E-A92E-E9BC65D5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43250"/>
            <a:ext cx="546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材料、证据、版本、边界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71BB6C-FB17-4276-B625-7407CB67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10629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D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7DD18F-BDFF-46C4-A0E5-4D61EB59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259AE8-EAD9-49D8-A51F-37C302FF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82905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调用工具完成动作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2894ED-EF71-4DA6-849B-D56E9D45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29050"/>
            <a:ext cx="546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检索、分析、写文件、生成原型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17A2E9-2C24-424E-9355-18576C08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0629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7E626E-1E89-4CFB-B593-BE54B4F2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148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0745EB-D209-45E2-99D0-E5A1D059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51485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限制执行并验证交付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0BD757A-AE65-41B7-B84E-42324F8A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14850"/>
            <a:ext cx="546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权限、文件契约、质量门禁、失败恢复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B408F-A15D-403D-B73B-D46E3FCE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1062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模型负责生成与执行；产品经理仍负责问题定义、取舍、证据判断和验收。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79BB7F-5663-46EC-A1D7-558292CD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75DFE1-581A-4B62-95DE-EF5EA451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AI 工作流从回答优化演变为交付可靠性管理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5F063D70-3A9D-4D06-98B3-663813BE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工具能力不断扩大，产品经理的重点从写提示词转向设计任务与门禁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8C9A39-B6ED-478C-ADA5-C65A629B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242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2D2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D3E88C-85C8-429D-907E-FB0293BD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919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D68C78-C6C7-4157-90AE-B0B8B2C7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573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对话式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6B70D6-2EAE-4D30-A884-54F0A0CC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Prompt 工程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86554A-5F60-48E6-8C37-298FE15F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回答更符合格式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2FFF22-8F2A-4E6B-8CEB-F0642BC7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事实和状态仍在聊天里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D09468-7328-4774-B04A-BDAAFB70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PM：写清问题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639DC1-10AE-4FBA-A08A-16282F81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099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C8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E37E15-9029-4EFD-A8A6-EC40EAC9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573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知识式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91ADC6-5F44-4A56-B108-798F7D80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00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rPr>
              <a:t>Context / RAG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A63B64-7EE0-4EC3-884C-39875DB2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可引用内部资料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49535C-9F3C-488F-A6BF-066EFE65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290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资料多不等于能做取舍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5AFED8-D4E6-4035-A7BF-EEDF41A7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95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PM：组织证据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FDF13A-9EB8-47E2-90CE-C8FD35D5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099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B0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5145C1-BE3F-43E3-9F4B-23A4E751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573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4B2CF3-46BC-4B70-902D-53F32004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00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47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47B00"/>
                </a:solidFill>
                <a:latin typeface="Microsoft YaHei"/>
                <a:ea typeface="Microsoft YaHei"/>
                <a:cs typeface="Microsoft YaHei"/>
              </a:rPr>
              <a:t>工具调用与循环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BBFA23-9485-4D1F-9A0B-430337B4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431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搜索、分析、生成文件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F38115-3C77-4C23-BC37-EA89A803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290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能行动但可能越界或失控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92D5E0-37CD-4F37-9F55-D708FE81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95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PM：定义动作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C03DD6-FFAA-496C-A5E7-2CD801D2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99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D199D4-D1D1-4AD9-AFF3-F2C60F0E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573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6B011B-7E69-4F51-AD26-4B4C2797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00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工作区与质量门禁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F6C226-0F44-45D7-AD18-00159C84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431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任务可恢复、可验证、可审计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7C7A6C-D1AE-4485-A766-DB216F2F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290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需要维护契约与评估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B61335-35FF-4D68-9518-9E7BD286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PM：设计系统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ACE278-5390-440C-BCDE-E97D3BE5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0629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4B27F8-E847-4A28-885D-167A16CD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958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判断工作流是否升级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E5787F-32E0-4B2E-A84B-DD3AD72B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38700"/>
            <a:ext cx="7734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同一任务能否继续执行？失败是否停止？结论能否追溯到证据？下游能否读取同一份状态？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BDBFCA-2B13-4784-9667-8BD2CA8E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276850"/>
            <a:ext cx="7734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若四个问题仍靠人工记忆，工具再多也只是更快的对话。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CA305-FFB8-4C12-98FD-1A51DA11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5AF955-5685-4B2C-856D-D7745260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图库 AI 问卷将功能意愿转化为产品决策证据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891BE1E4-AA24-41B8-B9EC-8E3ECE90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真实问卷共 12 题，题目顺序用于区分真实行为、体验问题与未来诉求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FFD01F-0BFD-4653-BFD4-87D89F19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F08E84-CE2C-4CE4-85C7-62CDE4D2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近期使用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9BEBE4-29C2-49CC-AC34-711E1E98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866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是否有真实经历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E58071-F0FC-4514-80CE-54EB85AE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193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0BFCBD-D621-41A5-A68A-8ECE4E05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764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Q5–Q6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BC809D-BDF0-4587-AE4E-82D25420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621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功能与任务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68C64F-1490-4C35-BBC0-2BA7AB7C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24100"/>
            <a:ext cx="1866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最近一次想完成什么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CCEE66-EE0F-4D37-A466-C8A834CB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193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E4F2F7-F680-456E-B74D-020553E1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764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Q7–Q8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985A8A-8969-4D3D-A8E8-F1714933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9621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问题与后果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D3BC76-9D19-4C8F-96EA-666D1C34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24100"/>
            <a:ext cx="1866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返工、换工具、放弃或失去信任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2D73F3-33DB-4446-A339-6684B353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193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A5875D-E6AB-488D-8249-6801268E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764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Q9–Q10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33F454-B3D3-441B-8FFC-1EF32FB2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621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需求与 Top 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A7AC72-B06C-44E4-BEFA-CCD6DE5D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24100"/>
            <a:ext cx="1866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愿望清单压缩为一个取舍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B5AAC3-1E7B-483B-8C1B-D95AD3EB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193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02589F-E6F4-4DDC-A260-0D94746E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764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Q11–Q12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D73848-3FBA-4877-9705-15FD188C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621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原因与场景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37419E-077A-4851-9BAA-0D8810CC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24100"/>
            <a:ext cx="1866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解释优先级并确定切入点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80169C-7453-4179-8B26-05D37768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0629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9AFC2B-3B19-483D-A1DB-50D0DF3F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真实需求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C5CB86-4E64-4007-ABEF-DD49405F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385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Q4 + Q6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531A3F-5651-45AE-8155-735327AA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38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近期使用频率与最近任务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1CF610-C37B-4265-8B7D-D74FE766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38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区分行为与概念兴趣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C477FC-2687-4766-AAB6-9292FC15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问题优先级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D0D4A6-ABBB-4507-8958-DF5C2F11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719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Q7 + Q8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DBD663-71D8-4BC0-A482-C6DEF1BF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71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问题类型与实际后果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BBA8A7-8843-4295-8CAC-95B1C872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71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区分效果问题与信任问题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BAF20B-A8C4-4E07-B1AA-74A4E844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10629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FF2EC6-C7FF-4F35-81FE-B0E43251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功能优先级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6244FC-DEE9-4186-AF2F-FFAB2D1F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3053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Q9 + Q10 + Q11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66FFDA-5773-4352-83F5-D854AC84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305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需求广度、强制选择与原因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19E4B8-DB32-4BC6-A239-74AF0407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05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形成可解释的 Top 1 假设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86D350-7D90-4E6E-AAD2-CBE4040C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387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MVP 场景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5293B7-1F4B-44FB-9C84-617594F4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387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Q12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3CD1C8-40DF-496F-B84D-7EFBAF44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38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任务发生的具体情境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2C22A1B-AB2B-4ACB-9861-A6B58F10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38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确定入口、触发与使用范围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8BCC292-56CC-41E5-8D65-01C3647E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10629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E792B6F-08BA-48B8-9A39-9376D1B5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真实检查：12 题　0 个结构风险信号　PASS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172748B-848C-41E7-A108-6348E936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52450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rPr>
              <a:t>结构通过不代表效度已证明，仍需研究员复核、认知访谈与小样本试填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E2F8C-697B-4C59-8EF3-852A54B7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C1DDB4-A47A-4C9D-8A87-49D2C1F8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质量门禁在研究结论生成前阻断错误样本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17630889-DC07-42A4-83C3-AB08115E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合成调研只用于试跑问卷逻辑与数据管线，不用于估计真实市场比例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571E07-C8C4-4A1C-94A3-6B6F1D5A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142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E8A667-C6DD-48F7-B585-7B43319E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9431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项测试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A7FB3D-3928-417A-9554-41F83E61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619250"/>
            <a:ext cx="123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4DB6AB-61F5-48F5-AD23-A5A1BAE7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9431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D96F7B-332F-4CAD-A1BA-31E25CAF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19250"/>
            <a:ext cx="123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D35614-801C-43EB-A545-B24C831A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431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失败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448810-7AA3-46C4-BD65-849ABF33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7526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失败来自接口契约，不是模型内容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4B2859-5758-43DB-84C3-14898525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10629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64258A-29E2-4AE5-BFE4-73A6B144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A2EFB0-4E88-499B-B124-168C1B18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问卷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09F239-C6E6-4440-96D9-099BE1AF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rPr>
              <a:t>questionnaire.md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873D40-DFF3-4700-8352-FB24908F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05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676BFB-BCA2-4C4D-9484-F7DC67DE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813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264F3F-E05D-4A04-822C-913EC014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067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画像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114596-71BA-48EC-BA8A-546CF32E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4099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参数契约失败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348228-6461-4054-92A9-006934A6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105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D805F0-545B-43E1-A6FE-7D86D944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8E6DAF-CA0E-454B-909A-0E5E9D8B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模拟答卷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788998-0B55-4D05-8B77-54CF4F19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099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被门禁阻断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F6CF75-3FD8-4A5D-B635-5A6BB5B2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05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0CAFD8-5969-45A4-B139-F2D85956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7813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3418CD-151B-4C22-9C5E-3E89BF23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067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研究报告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5C21B2-7990-46B3-A382-36F30328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4099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不允许生成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C31837-573B-4868-A9E2-74CC6B61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51054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B40E5E-1F39-4408-97C2-A912FB11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338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真实错误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99B302-8607-4FBB-B94B-1161F394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76750"/>
            <a:ext cx="4686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测试要求：sample-size / seed / group-quota</a:t>
            </a:r>
          </a:p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当前脚本不接受参数；Windows 中文错误仍有乱码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2B9D51-4344-4C7A-8C56-57793B0B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00500"/>
            <a:ext cx="52959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62BE52-9710-4F93-AB6F-E3B7922B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33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修复与产品价值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CB8820-9D22-408E-8579-88FF6D2B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76750"/>
            <a:ext cx="4876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先统一命令与文件契约，再重跑画像。门禁把返工从结论阶段提前到接口阶段，避免不可复现样本进入漂亮报告。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DBCD0C-57F3-4941-8A45-9A5A8546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1062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边界：合成用户可以验证题目分支和分析管线，但不能证明真实需求规模、购买率或统计显著性。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C29286-264F-4E6F-86E5-3AF92949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E7579F-6E5E-4127-B358-70F01954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竞品证据链将一句话删除收敛为可控自动化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03011215-2EC3-42F8-8660-C96FCA08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证据不足的行业判断进入待核验清单，产品方案不预设竞品基线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BA7EA0-6BC7-4B54-A4A9-AE425E14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19C657-EC4C-4D2B-B2A5-A27B21A8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57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ResearchUnit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FEE3BF-603B-4874-B0D4-E9CA1764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431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竞品 × Feature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467920-C99D-45D9-B1B1-945CCBC9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46C930-9EBC-446A-AFC9-7594C5DB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62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EvidenceRecord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BF5608-210F-4828-8E18-7E126ED8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479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主张、来源、版本、地区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60089A-688E-4F9B-9772-AD0CE8FC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F19D06-27E9-4717-A5DB-02335E44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670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Confidence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4B0365-E930-42B1-AD84-4047FF71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528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A / B / 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F589F0-2E5C-4E45-B667-56CD022C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E096DE-5B9E-410F-8962-73E7DBF9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71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Decision Input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57E81A-848D-45AD-90E6-0BC673A1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576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事实、推断、建议分栏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CEE8B0-7533-4AEC-A37C-72D8FFFF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检索停止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09951F-FDCF-4904-A488-950E9838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官方当前版本直接证据，或两条独立间接证据一致；达到上限仍冲突则标记 UNKNOWN。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6441B3-C374-4CB7-9877-31C074B4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57350"/>
            <a:ext cx="7200900" cy="3429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2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ee8d01ce2a4996"/>
          <a:stretch xmlns:a="http://schemas.openxmlformats.org/drawingml/2006/main"/>
        </p:blipFill>
        <p:spPr>
          <a:xfrm xmlns:a="http://schemas.openxmlformats.org/drawingml/2006/main">
            <a:off x="4965700" y="1771650"/>
            <a:ext cx="5689600" cy="32004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3F9479-849B-4064-B6C7-3A60F43D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276850"/>
            <a:ext cx="7200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0E2FF2-0471-44DC-AE68-D0660483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3911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最终决策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5A51F6-B033-4137-AE7B-E458078D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353050"/>
            <a:ext cx="548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系统负责生成可解释候选；用户保留最终删除责任；默认进入回收站。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BD3769-F594-4919-8E60-D971D74B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32714EF-FB28-42E6-BE8D-D5FE408D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风险分层同步约束 PRD、原型状态与验收口径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CF3E7F72-42F7-4A07-9EC3-BADB0748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MVP 只开放低歧义任务的确认执行，高风险语义统一降级为筛选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9B45E7-21FA-473C-8907-01AACE89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0629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451A8A-2B44-49BF-819C-2ECA802F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rPr>
              <a:t>低风险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4C18C5-3E93-4DD1-BEF2-CA957FC1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6573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时间 / 明确类型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F6ABA7-9354-49DF-A28E-27D65897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573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预览后确认执行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E5D908-4C28-4AFA-983E-BDC7404B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0629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ABDFDB-BB82-44C6-BC2C-A6C8370E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47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47B00"/>
                </a:solidFill>
                <a:latin typeface="Microsoft YaHei"/>
                <a:ea typeface="Microsoft YaHei"/>
                <a:cs typeface="Microsoft YaHei"/>
              </a:rPr>
              <a:t>中风险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F29337-AC18-4098-AD91-A9949F1C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1717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质量 / 重复 / 大候选集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99FDD9-C324-458E-A843-26235858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717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解释理由并二次确认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F27C42-4E60-4D3E-A68A-2F6C238F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10629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CC0030-A09C-4212-BF3E-791991C6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高风险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00F546-F36E-4E4D-A6DA-2ECE2671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86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人物 / 票据 / 私密 / 事件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3B52DE-619A-45C4-BAB7-5501087A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860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只返回筛选，不出现删除按钮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E6422B-3D09-4551-B672-5C70A955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PRD 主链路与原型状态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F38986-D276-4B36-AA05-AB6D9F0B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146685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1030E1-1B30-426A-BFA8-BA56011E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6F1580-2E02-41DC-A4EC-CBD9C1DA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输入意图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E92EC4-9F66-40A5-941B-EB39AD9A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719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FFB8A3-4D2F-4F43-AB6A-FF234C1C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38550"/>
            <a:ext cx="146685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48FCFC-91FD-4270-8FC9-7D868ABD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95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B221D7-83F5-41D4-B334-7C3260E4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9052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结构化解析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73C1A9-472E-47D2-95BB-FD87A88B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7719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97C89F-742E-467C-A38D-CEC51DBE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38550"/>
            <a:ext cx="146685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8EB649-CD65-495B-A96E-39EFC012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95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0E4531-6CBC-4602-9A62-A7F4FA12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052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检索候选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5991D0-6D01-439A-941C-351C8717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7719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3E7BE8-6875-4771-B352-64AF833A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146685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502E5C-CC74-4F84-A760-505B9CB5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247635-BAB5-44E1-821C-9660F462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解释预览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AB1BC3-6632-4548-8286-D887BD1D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7719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1184DE-DBCE-4D3E-B069-C6B8430F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38550"/>
            <a:ext cx="146685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9525">
            <a:solidFill>
              <a:srgbClr val="C7000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B2A1DCB-A50B-4F4D-8BBE-133BDCF7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95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1CBEC1-DBFE-4CB2-B790-BDC6161A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052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显式确认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CDA5E5-93AF-405D-9903-70102082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719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43AF1F7-C1F6-4DA4-A417-AAC47015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638550"/>
            <a:ext cx="146685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54F6A6-05D7-47B5-9545-BCEB2AC3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95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3CB0F14-EA6C-4E53-8DF4-4956231E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9052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执行与撤销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149C6DF-9764-4674-843D-A7D1378E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解析不完整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937B57B-527B-40CE-8370-50127B1E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追问缺失条件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8E71C39-8835-41CA-AA1F-0D64B521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514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候选集过大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7091D38-0561-40B9-993E-9E177C34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8006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要求二次缩小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319D432-D1D8-4F2C-9EC3-FF367371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14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高风险对象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A7422B4-3494-4971-9C2C-F9EA11D1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006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解释降级原因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E95C0C7-EA70-4BA5-A0A6-262950EE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514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执行失败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5A98A3F-AC87-4CA3-8189-11DE43B5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8006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展示回收站与恢复入口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486407F-C2DA-4A9F-8521-4AA870A7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10629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DC95316-FCF2-4959-94BA-31359EA0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1020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验收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61E7477-C38E-4101-9D1E-7F28E39B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53050"/>
            <a:ext cx="927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执行前用户能复述候选范围；执行后能找到恢复入口；任何异常分支不得绕过确认。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FEBB8-F81F-4C21-BC20-41E77E48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A82874-B284-417E-9D48-2D6CADC8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Skill 通过契约、资源、校验和评估形成可复用能力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A76BEF31-FAFB-4914-8CAE-784FA764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Command 只是入口，稳定性来自明确的输入输出、停止条件与真实案例测试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8550C-4A68-4ED5-9003-44F559EF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C6C50F-0E8F-4C04-8E4C-3F53E9D4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一次性提示词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EF896A-B6BE-4CE2-BE40-71518C80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96215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49BD3D-8D60-4664-A443-A2438205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573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9034F0-6B89-4816-B925-0B1A2863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2405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触发与输入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C9073A-6789-47BF-B0CD-7F24E252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6215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16B049-4DCA-4E96-B5A8-3009F532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573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11EF56-3CF7-435B-8E43-96608636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92405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步骤与停止条件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E5DCEB-B81A-463D-9C45-F990A0C8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6215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628CE5-6BF6-4AD5-879C-159CE838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6573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6ECA7F-D871-4647-A0FD-19E97568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92405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参考与模板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033BC5-F50F-42CE-858F-EEFA93CE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6215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B0F618-3FD2-4EB1-AF1F-CF19B5E2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573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0E6F1A-7161-4739-90D4-057D2255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2405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脚本门禁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A5671C-2A3D-4A52-A1B4-C6FBDB9A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6215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CD43E5-48B6-48A3-AEDF-CD90CAA8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FD0F88-0A57-4F66-8B4B-54A0FA7A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2405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真实案例评估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DAC223-0904-4F65-8422-0ED5CA35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6215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D26E58-76C5-4E9E-AC72-5533C48E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573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0D911C-1CB4-4D27-BE18-E952E538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2405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版本复盘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3D6045-9FDE-49EE-9911-06E97F23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0629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8F5DA6-E571-491F-9C58-93A47553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$ur-design-survey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967BD3-F37B-46F9-87CA-FC596279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输入契约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97FE58-EEA0-4C27-8071-98DA4ECE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1623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课题、研究目标、问卷场景、题量与材料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BAC82B-4AFE-4933-AF8C-D1E1C673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方法与门禁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325A52-1980-4BB0-9C33-CD35FD5D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5433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决策—证据—题目；分支、互斥和题间关联检查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2834A7-6F3A-4D64-AF6D-DD4956FE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2FCFCF-1F16-48EE-AE64-8826E29B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9243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Markdown 事实源、评审 HTML、平台配置文本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8F5563-094B-4183-A492-3D983FC6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003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$pm-system-app-competitor-matrix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37940A-0277-496D-816B-5EC795D5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004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输入契约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27CCC5-C8ED-434A-B283-675DCEC4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62300"/>
            <a:ext cx="398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研究问题、竞品范围与 FeatureSchema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1201D5-2ED7-4A10-9B26-56AB72CC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5814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方法与门禁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4F653A5-1D43-4371-A5EF-4AB892C3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43300"/>
            <a:ext cx="398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ResearchUnit、EvidenceRecord、置信度与停止规则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09963CD-E2E1-4D10-8B55-AA4015AA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624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2D0D70-215E-4F07-921B-9DA46837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24300"/>
            <a:ext cx="398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Feature Matrix、证据明细、冲突与待确认项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CF6E839-02C4-4D72-870A-94AD9356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106299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A732E82-8B15-4ADF-8DEE-A47E9C24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910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Command 示例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86CA1DB-1D5C-4FB1-9F11-DC8AD542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514850"/>
            <a:ext cx="828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$ur-design-survey 课题：手机图库 AI；目标：识别高频任务、主要问题与 Top 1；场景：原始需求洞察；不超过 12 题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DB8FF59-5A00-4FD2-9D8E-FBCA0C4B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开发判断：高频、跨人协作、返工昂贵且质量可检查的任务，优先做成 Skill。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C7F9B8-FEF1-46EB-9E5E-144410D6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589620-E275-451F-A52E-5C9E89E1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当前工作台以共享产物连接产品生命周期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05DE005B-964E-4162-B660-1FA853E1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Skill 之间传递文件与状态，产品经理在关键决策点保留判断权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D34152-72F2-41F1-8E50-A319C836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阶段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EFD22A-E909-437B-8469-DD8277AD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Skill 与流程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47FFF5-B421-4D04-81B8-8DE1C8E8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共享产物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AEF439-098A-43B4-A627-0D603D8E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6192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2EF5CB-5056-4B52-9B4E-E8804F3F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8859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机会识别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1675B2-449E-4BAA-963A-37115094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305050"/>
            <a:ext cx="1562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90B3E5-5090-43E0-9738-856204E6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33650"/>
            <a:ext cx="1562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新品速递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竞品追踪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B682CB-5513-4754-949A-082D7693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562350"/>
            <a:ext cx="1562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4D5ADE-EB74-4A6C-B7A5-1EF2B434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77190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机会清单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证据索引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44125F-85E8-4166-85C0-403858C0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0990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6404B1-C776-480A-ACC8-F8D51D9E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6192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0B63CD-1072-4975-8DC8-8F3875EF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859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问题定义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BA4240-D936-4C51-87C5-834863B5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05050"/>
            <a:ext cx="1562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A16766-2680-44CA-849A-790C7637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33650"/>
            <a:ext cx="1562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问卷设计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用户模拟与研究报告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B0BBE6-EA59-461B-AD8C-7B824DEB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62350"/>
            <a:ext cx="1562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01FC39-371F-4D9E-BFBE-1590879E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7190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研究设计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问题优先级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0DCC01-9E46-4F2D-ABD8-D3E77902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0990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FF65F4-3CE8-418B-829F-C9007980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6192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625601-0D46-4FAA-850D-0B25C915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8859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9D0FBD-A765-4D12-8FE5-1AD8F700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05050"/>
            <a:ext cx="1562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3B679A-6563-4B30-8DE8-92A0C896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33650"/>
            <a:ext cx="1562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竞品矩阵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产品方案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629D78-3A3C-4880-B4D6-D5498962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62350"/>
            <a:ext cx="1562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23AC67-9C55-442C-8C8B-93799204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7190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范围判断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风险分层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23ADA5-FC52-47B3-8787-69C9F6B0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0990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C0A7D0-8894-43A9-BEB3-E349BABE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192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A9FA19-653D-4D26-88D3-613FF303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859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规格与体验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838FC4-8C81-4D42-A4CB-8BB4EFFB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05050"/>
            <a:ext cx="1562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064E33-055D-46C4-8405-C94E8632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33650"/>
            <a:ext cx="1562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PRD 账本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原型状态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产品文案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F8728F-9A83-4EEA-B016-2343A3EE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62350"/>
            <a:ext cx="1562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508F82-5E16-49F1-8873-B4A2A9D3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7190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状态模型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验收口径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5E3D6F-2711-43EE-93F6-655257F0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0990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3234CCF-D2E2-475C-ADB1-3D22C29E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6192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B512466-AB06-49D7-B65D-EB90F898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8859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持续学习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C759997-FB49-43A6-95E4-FB905BD2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05050"/>
            <a:ext cx="1562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8D686DA-A800-4B3C-90F5-999BACC8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33650"/>
            <a:ext cx="1562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指标复盘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竞品变化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A8535DE-1631-4827-8D36-DE98255D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62350"/>
            <a:ext cx="1562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97A60C3-EEF0-4A18-BCAE-97CE4BF7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7190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新证据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版本调整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9922E18-5BE6-46CA-A633-BD3F0604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10629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79912A-7682-4100-ADE4-5115DA11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8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rPr>
              <a:t>Agent 可以承担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0D0C338-2F90-4E00-B976-FFC87D0F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19650"/>
            <a:ext cx="805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检索、格式转换、批量分析、文件生成、结构检查和重复验证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53CF58F-F392-49E9-9250-1F4F4FE8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578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产品经理必须保留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49E1E8F-EC4C-4DE3-97FD-9F432C99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38750"/>
            <a:ext cx="805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问题定义、证据可信度、价值取舍、风险接受、需求边界和最终验收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AA65FE-7343-4E66-805E-95CDC72B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我的产品经理AI工作台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04256-8143-4488-B386-3E0312AD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628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让证据、判断与交付在同一套系统中连续发生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E4338-E9E1-4D8D-BEFF-C0284541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252022315"/>
      </p:ext>
    </p:extLst>
  </p:cSld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210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2026-09-14T14:46:12.2630000Z</dcterms:created>
  <dcterms:modified xsi:type="dcterms:W3CDTF">2026-09-14T14:46:12.2630000Z</dcterms:modified>
</coreProperties>
</file>