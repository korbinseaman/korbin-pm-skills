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5a1878e32474d" /><Relationship Type="http://schemas.openxmlformats.org/officeDocument/2006/relationships/extended-properties" Target="/docProps/app.xml" Id="R2670899a08104f00" /><Relationship Type="http://schemas.openxmlformats.org/officeDocument/2006/relationships/officeDocument" Target="/ppt/presentation.xml" Id="Rb39eee6e797644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c0179bc4704f71"/>
  </p:sldMasterIdLst>
  <p:notesMasterIdLst>
    <p:notesMasterId xmlns:r="http://schemas.openxmlformats.org/officeDocument/2006/relationships" r:id="R10af3325c427443f"/>
  </p:notesMasterIdLst>
  <p:sldIdLst>
    <p:sldId xmlns:r="http://schemas.openxmlformats.org/officeDocument/2006/relationships" id="256" r:id="Rdc83b258eeae4a0b"/>
    <p:sldId xmlns:r="http://schemas.openxmlformats.org/officeDocument/2006/relationships" id="257" r:id="Rb5617e7d3a584d3c"/>
    <p:sldId xmlns:r="http://schemas.openxmlformats.org/officeDocument/2006/relationships" id="258" r:id="Rdfb5e8ca8ec64837"/>
    <p:sldId xmlns:r="http://schemas.openxmlformats.org/officeDocument/2006/relationships" id="259" r:id="R8ab91b6d7d8e40c4"/>
    <p:sldId xmlns:r="http://schemas.openxmlformats.org/officeDocument/2006/relationships" id="260" r:id="R38176223be0149ea"/>
    <p:sldId xmlns:r="http://schemas.openxmlformats.org/officeDocument/2006/relationships" id="261" r:id="R1abb19a7cf5e4e00"/>
    <p:sldId xmlns:r="http://schemas.openxmlformats.org/officeDocument/2006/relationships" id="262" r:id="R520e5240bf2045de"/>
    <p:sldId xmlns:r="http://schemas.openxmlformats.org/officeDocument/2006/relationships" id="263" r:id="Rac443ce3858343f2"/>
    <p:sldId xmlns:r="http://schemas.openxmlformats.org/officeDocument/2006/relationships" id="264" r:id="R1cb0f7faf88b4f45"/>
    <p:sldId xmlns:r="http://schemas.openxmlformats.org/officeDocument/2006/relationships" id="265" r:id="Re8362426c18b46d4"/>
    <p:sldId xmlns:r="http://schemas.openxmlformats.org/officeDocument/2006/relationships" id="266" r:id="R3f444c9f364143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438745305848d3" /><Relationship Type="http://schemas.openxmlformats.org/officeDocument/2006/relationships/slideMaster" Target="/ppt/slideMasters/slideMaster1.xml" Id="Rb7c0179bc4704f71" /><Relationship Type="http://schemas.openxmlformats.org/officeDocument/2006/relationships/notesMaster" Target="/ppt/notesMasters/notesMaster1.xml" Id="R10af3325c427443f" /><Relationship Type="http://schemas.openxmlformats.org/officeDocument/2006/relationships/presProps" Target="/ppt/presProps.xml" Id="R006872a359a14ad0" /><Relationship Type="http://schemas.openxmlformats.org/officeDocument/2006/relationships/tableStyles" Target="/ppt/tableStyles.xml" Id="R52175c1998bd4236" /><Relationship Type="http://schemas.openxmlformats.org/officeDocument/2006/relationships/slide" Target="/ppt/slides/slide1.xml" Id="Rdc83b258eeae4a0b" /><Relationship Type="http://schemas.openxmlformats.org/officeDocument/2006/relationships/slide" Target="/ppt/slides/slide2.xml" Id="Rb5617e7d3a584d3c" /><Relationship Type="http://schemas.openxmlformats.org/officeDocument/2006/relationships/slide" Target="/ppt/slides/slide3.xml" Id="Rdfb5e8ca8ec64837" /><Relationship Type="http://schemas.openxmlformats.org/officeDocument/2006/relationships/slide" Target="/ppt/slides/slide4.xml" Id="R8ab91b6d7d8e40c4" /><Relationship Type="http://schemas.openxmlformats.org/officeDocument/2006/relationships/slide" Target="/ppt/slides/slide5.xml" Id="R38176223be0149ea" /><Relationship Type="http://schemas.openxmlformats.org/officeDocument/2006/relationships/slide" Target="/ppt/slides/slide6.xml" Id="R1abb19a7cf5e4e00" /><Relationship Type="http://schemas.openxmlformats.org/officeDocument/2006/relationships/slide" Target="/ppt/slides/slide7.xml" Id="R520e5240bf2045de" /><Relationship Type="http://schemas.openxmlformats.org/officeDocument/2006/relationships/slide" Target="/ppt/slides/slide8.xml" Id="Rac443ce3858343f2" /><Relationship Type="http://schemas.openxmlformats.org/officeDocument/2006/relationships/slide" Target="/ppt/slides/slide9.xml" Id="R1cb0f7faf88b4f45" /><Relationship Type="http://schemas.openxmlformats.org/officeDocument/2006/relationships/slide" Target="/ppt/slides/slide10.xml" Id="Re8362426c18b46d4" /><Relationship Type="http://schemas.openxmlformats.org/officeDocument/2006/relationships/slide" Target="/ppt/slides/slide11.xml" Id="R3f444c9f364143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0cb986fed745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0bd0cc90414247" /><Relationship Type="http://schemas.openxmlformats.org/officeDocument/2006/relationships/notesMaster" Target="/ppt/notesMasters/notesMaster1.xml" Id="R2ba01a913aaf49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1cf9f96fba48e4" /><Relationship Type="http://schemas.openxmlformats.org/officeDocument/2006/relationships/notesMaster" Target="/ppt/notesMasters/notesMaster1.xml" Id="Re81091f3bb7b41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6bedd6ada64f0f" /><Relationship Type="http://schemas.openxmlformats.org/officeDocument/2006/relationships/notesMaster" Target="/ppt/notesMasters/notesMaster1.xml" Id="Rdba1fdbc3abd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0bc8919b8a40a3" /><Relationship Type="http://schemas.openxmlformats.org/officeDocument/2006/relationships/notesMaster" Target="/ppt/notesMasters/notesMaster1.xml" Id="R604cbffee5e743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f06cd7608943ce" /><Relationship Type="http://schemas.openxmlformats.org/officeDocument/2006/relationships/notesMaster" Target="/ppt/notesMasters/notesMaster1.xml" Id="R11d679a6151f4e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ad7b6689d344f2" /><Relationship Type="http://schemas.openxmlformats.org/officeDocument/2006/relationships/notesMaster" Target="/ppt/notesMasters/notesMaster1.xml" Id="R2f8f2ec45f7048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22382a329848fc" /><Relationship Type="http://schemas.openxmlformats.org/officeDocument/2006/relationships/notesMaster" Target="/ppt/notesMasters/notesMaster1.xml" Id="R4a92d5feb4054e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e1d149a7d24142" /><Relationship Type="http://schemas.openxmlformats.org/officeDocument/2006/relationships/notesMaster" Target="/ppt/notesMasters/notesMaster1.xml" Id="R3575bdf99e394c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eb7c90f3cd473b" /><Relationship Type="http://schemas.openxmlformats.org/officeDocument/2006/relationships/notesMaster" Target="/ppt/notesMasters/notesMaster1.xml" Id="R77ef060ce47a4d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2b76bc55b46b1" /><Relationship Type="http://schemas.openxmlformats.org/officeDocument/2006/relationships/notesMaster" Target="/ppt/notesMasters/notesMaster1.xml" Id="R2423b54cd1374f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16998647ce43d2" /><Relationship Type="http://schemas.openxmlformats.org/officeDocument/2006/relationships/notesMaster" Target="/ppt/notesMasters/notesMaster1.xml" Id="Rc94d4d14272d41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  <a:p xmlns:a="http://schemas.openxmlformats.org/drawingml/2006/main">
            <a:r>
              <a:t>- Asterisk indicates capability and policy availability must be confirmed by the responsible teams.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decision goal supplied in this conversation, 2026-08-30.</a:t>
            </a:r>
          </a:p>
          <a:p xmlns:a="http://schemas.openxmlformats.org/drawingml/2006/main">
            <a:r>
              <a:t>- Huawei visual assets and brand rules: huawei-presentation local skill asset library.</a:t>
            </a:r>
          </a:p>
          <a:p xmlns:a="http://schemas.openxmlformats.org/drawingml/2006/main">
            <a:r>
              <a:t>- Product mechanisms, thresholds and weights are proposal hypotheses; validate through research, usability testing, technical spike and privacy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7c0db713c4f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dbec9729214142" /><Relationship Type="http://schemas.openxmlformats.org/officeDocument/2006/relationships/slideLayout" Target="/ppt/slideLayouts/slideLayout1.xml" Id="R2a333c0a4a2446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33c0a4a2446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723e63a604de9" /><Relationship Type="http://schemas.openxmlformats.org/officeDocument/2006/relationships/image" Target="/ppt/media/image.jpeg" Id="Rb230d1b6acb9412f" /><Relationship Type="http://schemas.openxmlformats.org/officeDocument/2006/relationships/image" Target="/ppt/media/image.png" Id="R865805ca70b14da7" /><Relationship Type="http://schemas.openxmlformats.org/officeDocument/2006/relationships/notesSlide" Target="/ppt/notesSlides/notesSlide1.xml" Id="R925f7be1186948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3640080324a62" /><Relationship Type="http://schemas.openxmlformats.org/officeDocument/2006/relationships/image" Target="/ppt/media/image2.png" Id="R21c8e42ceae34215" /><Relationship Type="http://schemas.openxmlformats.org/officeDocument/2006/relationships/notesSlide" Target="/ppt/notesSlides/notesSlide2.xml" Id="R8c38847bee2b4a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e2216615840e4" /><Relationship Type="http://schemas.openxmlformats.org/officeDocument/2006/relationships/image" Target="/ppt/media/image3.png" Id="R354b0f25c02e40ed" /><Relationship Type="http://schemas.openxmlformats.org/officeDocument/2006/relationships/notesSlide" Target="/ppt/notesSlides/notesSlide3.xml" Id="R77d2174c856d48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6ec91be2f4bc1" /><Relationship Type="http://schemas.openxmlformats.org/officeDocument/2006/relationships/image" Target="/ppt/media/image4.png" Id="Rd1374d81453b4cd2" /><Relationship Type="http://schemas.openxmlformats.org/officeDocument/2006/relationships/notesSlide" Target="/ppt/notesSlides/notesSlide4.xml" Id="R306109fbbe18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b41ece59345e7" /><Relationship Type="http://schemas.openxmlformats.org/officeDocument/2006/relationships/image" Target="/ppt/media/image5.png" Id="R3d6527cd68b243fa" /><Relationship Type="http://schemas.openxmlformats.org/officeDocument/2006/relationships/notesSlide" Target="/ppt/notesSlides/notesSlide5.xml" Id="Rec76784dcd4642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3be8330ab4d02" /><Relationship Type="http://schemas.openxmlformats.org/officeDocument/2006/relationships/image" Target="/ppt/media/image6.png" Id="R6bedff5045cd4daa" /><Relationship Type="http://schemas.openxmlformats.org/officeDocument/2006/relationships/notesSlide" Target="/ppt/notesSlides/notesSlide6.xml" Id="R65e08cfddcee4d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c9dfd20664f4b" /><Relationship Type="http://schemas.openxmlformats.org/officeDocument/2006/relationships/image" Target="/ppt/media/image7.png" Id="R19b3a46151a54284" /><Relationship Type="http://schemas.openxmlformats.org/officeDocument/2006/relationships/notesSlide" Target="/ppt/notesSlides/notesSlide7.xml" Id="R36a3da17d32e4f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267b401954094" /><Relationship Type="http://schemas.openxmlformats.org/officeDocument/2006/relationships/image" Target="/ppt/media/image8.png" Id="Rabff3c6101b142c2" /><Relationship Type="http://schemas.openxmlformats.org/officeDocument/2006/relationships/notesSlide" Target="/ppt/notesSlides/notesSlide8.xml" Id="R31117dc31f1949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ef8bb407f43e3" /><Relationship Type="http://schemas.openxmlformats.org/officeDocument/2006/relationships/chart" Target="/ppt/slides/charts/chart1.xml" Id="Rde62c272b7ac4055" /><Relationship Type="http://schemas.openxmlformats.org/officeDocument/2006/relationships/image" Target="/ppt/media/image9.png" Id="R0b386f2cd0fd4834" /><Relationship Type="http://schemas.openxmlformats.org/officeDocument/2006/relationships/notesSlide" Target="/ppt/notesSlides/notesSlide9.xml" Id="R169c5231fc0048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77d7cccb44961" /><Relationship Type="http://schemas.openxmlformats.org/officeDocument/2006/relationships/image" Target="/ppt/media/image10.png" Id="Rbc6dd60a6c544355" /><Relationship Type="http://schemas.openxmlformats.org/officeDocument/2006/relationships/notesSlide" Target="/ppt/notesSlides/notesSlide10.xml" Id="Rd88ff55976c848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9deec49e14c26" /><Relationship Type="http://schemas.openxmlformats.org/officeDocument/2006/relationships/image" Target="/ppt/media/image11.png" Id="R828cd97ddd03490e" /><Relationship Type="http://schemas.openxmlformats.org/officeDocument/2006/relationships/notesSlide" Target="/ppt/notesSlides/notesSlide11.xml" Id="R0616b888efbd4d1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决策权重建议</c:v>
          </c:tx>
          <c:spPr>
            <a:solidFill xmlns:a="http://schemas.openxmlformats.org/drawingml/2006/main">
              <a:srgbClr val="C7000A"/>
            </a:solidFill>
          </c:spPr>
          <c:cat>
            <c:strLit>
              <c:ptCount val="5"/>
              <c:pt idx="0">
                <c:v>任务成功</c:v>
              </c:pt>
              <c:pt idx="1">
                <c:v>误选控制</c:v>
              </c:pt>
              <c:pt idx="2">
                <c:v>可理解性</c:v>
              </c:pt>
              <c:pt idx="3">
                <c:v>端侧时延</c:v>
              </c:pt>
              <c:pt idx="4">
                <c:v>隐私护栏</c:v>
              </c:pt>
            </c:strLit>
          </c:cat>
          <c:val>
            <c:numLit>
              <c:formatCode>General</c:formatCode>
              <c:ptCount val="5"/>
              <c:pt idx="0">
                <c:v>30</c:v>
              </c:pt>
              <c:pt idx="1">
                <c:v>25</c:v>
              </c:pt>
              <c:pt idx="2">
                <c:v>20</c:v>
              </c:pt>
              <c:pt idx="3">
                <c:v>15</c:v>
              </c:pt>
              <c:pt idx="4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C7000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numFmt formatCode="0'%'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1919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4C4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1D1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0d1b6acb941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dark-overlay">
            <a:extLst xmlns:a="http://schemas.openxmlformats.org/drawingml/2006/main">
              <a:ext uri="{FF2B5EF4-FFF2-40B4-BE49-F238E27FC236}">
                <a16:creationId xmlns:a16="http://schemas.microsoft.com/office/drawing/2014/main" id="{F4948EEA-14C6-4C59-879C-C9E1D7E5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red-angle-v">
            <a:extLst xmlns:a="http://schemas.openxmlformats.org/drawingml/2006/main">
              <a:ext uri="{FF2B5EF4-FFF2-40B4-BE49-F238E27FC236}">
                <a16:creationId xmlns:a16="http://schemas.microsoft.com/office/drawing/2014/main" id="{3C2F00AC-D349-402B-B1FB-54C75E3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red-angle-h">
            <a:extLst xmlns:a="http://schemas.openxmlformats.org/drawingml/2006/main">
              <a:ext uri="{FF2B5EF4-FFF2-40B4-BE49-F238E27FC236}">
                <a16:creationId xmlns:a16="http://schemas.microsoft.com/office/drawing/2014/main" id="{C5F930DE-AC08-4AF9-9E5F-8F5F1713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8AE2D9F-453F-4C48-B958-E4F01273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3D"/>
                </a:solidFill>
              </a:defRPr>
            </a:pPr>
            <a:r>
              <a:rPr sz="1350" b="1">
                <a:solidFill>
                  <a:srgbClr val="E8A33D"/>
                </a:solidFill>
              </a:rPr>
              <a:t>鸿蒙图库产品方案决策汇报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C3A5E61-37B3-49E8-9E9B-0F3E555F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一句话清理图片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BA8B1EE-0787-478A-8E0C-ED4B8E91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541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E6E6"/>
                </a:solidFill>
              </a:defRPr>
            </a:pPr>
            <a:r>
              <a:rPr sz="1650" b="0">
                <a:solidFill>
                  <a:srgbClr val="E6E6E6"/>
                </a:solidFill>
              </a:rPr>
              <a:t>以自然语言降低整理成本，以可解释确认与可撤销机制控制误删风险</a:t>
            </a:r>
          </a:p>
        </p:txBody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F4EF85DC-7EE8-4C6F-AE92-9159F89D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8C8"/>
                </a:solidFill>
              </a:defRPr>
            </a:pPr>
            <a:r>
              <a:rPr sz="1050" b="0">
                <a:solidFill>
                  <a:srgbClr val="C8C8C8"/>
                </a:solidFill>
              </a:rPr>
              <a:t>产品方案评审  |  2026.08.30  |  Security Level: Internal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805ca70b14da7"/>
          <a:stretch xmlns:a="http://schemas.openxmlformats.org/drawingml/2006/main"/>
        </p:blipFill>
        <p:spPr>
          <a:xfrm xmlns:a="http://schemas.openxmlformats.org/drawingml/2006/main">
            <a:off x="10210800" y="6201621"/>
            <a:ext cx="1295400" cy="2840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92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2-title-accent">
            <a:extLst xmlns:a="http://schemas.openxmlformats.org/drawingml/2006/main">
              <a:ext uri="{FF2B5EF4-FFF2-40B4-BE49-F238E27FC236}">
                <a16:creationId xmlns:a16="http://schemas.microsoft.com/office/drawing/2014/main" id="{AB68E036-6FA7-45E8-9F3E-9482094B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929B590A-C98A-4C24-80A0-47C962DF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</a:defRPr>
            </a:pPr>
            <a:r>
              <a:rPr sz="2850" b="1">
                <a:solidFill>
                  <a:srgbClr val="1D1D1A"/>
                </a:solidFill>
              </a:rPr>
              <a:t>低歧义任务先行与四重安全护栏构成产品决策基础</a:t>
            </a:r>
          </a:p>
        </p:txBody>
      </p:sp>
      <p:sp>
        <p:nvSpPr>
          <p:cNvPr id="3" name="s2-judgment">
            <a:extLst xmlns:a="http://schemas.openxmlformats.org/drawingml/2006/main">
              <a:ext uri="{FF2B5EF4-FFF2-40B4-BE49-F238E27FC236}">
                <a16:creationId xmlns:a16="http://schemas.microsoft.com/office/drawing/2014/main" id="{82CCB5E3-C119-4CC0-AC4A-E7444BCA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0A"/>
                </a:solidFill>
              </a:defRPr>
            </a:pPr>
            <a:r>
              <a:rPr sz="1650" b="1">
                <a:solidFill>
                  <a:srgbClr val="C7000A"/>
                </a:solidFill>
              </a:rPr>
              <a:t>建议批准“搜索 + 解释性预览 + 显式确认 + 可撤销执行”的 MVP 路线</a:t>
            </a:r>
          </a:p>
        </p:txBody>
      </p:sp>
      <p:sp>
        <p:nvSpPr>
          <p:cNvPr id="4" name="s2-metric-bg-0">
            <a:extLst xmlns:a="http://schemas.openxmlformats.org/drawingml/2006/main">
              <a:ext uri="{FF2B5EF4-FFF2-40B4-BE49-F238E27FC236}">
                <a16:creationId xmlns:a16="http://schemas.microsoft.com/office/drawing/2014/main" id="{1A42309B-E948-4C84-B5CB-92D22C8A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metric-k-0">
            <a:extLst xmlns:a="http://schemas.openxmlformats.org/drawingml/2006/main">
              <a:ext uri="{FF2B5EF4-FFF2-40B4-BE49-F238E27FC236}">
                <a16:creationId xmlns:a16="http://schemas.microsoft.com/office/drawing/2014/main" id="{433D946B-44EE-4832-BB2F-A2454F5F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价值</a:t>
            </a:r>
          </a:p>
        </p:txBody>
      </p:sp>
      <p:sp>
        <p:nvSpPr>
          <p:cNvPr id="6" name="s2-metric-v-0">
            <a:extLst xmlns:a="http://schemas.openxmlformats.org/drawingml/2006/main">
              <a:ext uri="{FF2B5EF4-FFF2-40B4-BE49-F238E27FC236}">
                <a16:creationId xmlns:a16="http://schemas.microsoft.com/office/drawing/2014/main" id="{19DE1B29-F6BE-462C-B152-42596E20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表达成本</a:t>
            </a:r>
          </a:p>
        </p:txBody>
      </p:sp>
      <p:sp>
        <p:nvSpPr>
          <p:cNvPr id="7" name="s2-metric-note-0">
            <a:extLst xmlns:a="http://schemas.openxmlformats.org/drawingml/2006/main">
              <a:ext uri="{FF2B5EF4-FFF2-40B4-BE49-F238E27FC236}">
                <a16:creationId xmlns:a16="http://schemas.microsoft.com/office/drawing/2014/main" id="{986E3A1C-E426-4DBD-B143-A8F5B084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把多步筛选压缩为一句话任务</a:t>
            </a:r>
          </a:p>
        </p:txBody>
      </p:sp>
      <p:sp>
        <p:nvSpPr>
          <p:cNvPr id="8" name="s2-metric-bg-1">
            <a:extLst xmlns:a="http://schemas.openxmlformats.org/drawingml/2006/main">
              <a:ext uri="{FF2B5EF4-FFF2-40B4-BE49-F238E27FC236}">
                <a16:creationId xmlns:a16="http://schemas.microsoft.com/office/drawing/2014/main" id="{4C3B8524-4018-42F5-B441-DAB3F934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metric-k-1">
            <a:extLst xmlns:a="http://schemas.openxmlformats.org/drawingml/2006/main">
              <a:ext uri="{FF2B5EF4-FFF2-40B4-BE49-F238E27FC236}">
                <a16:creationId xmlns:a16="http://schemas.microsoft.com/office/drawing/2014/main" id="{FEB80D79-093F-48C6-AB60-2BB499A2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</a:defRPr>
            </a:pPr>
            <a:r>
              <a:rPr sz="1050" b="1">
                <a:solidFill>
                  <a:srgbClr val="919191"/>
                </a:solidFill>
              </a:rPr>
              <a:t>边界</a:t>
            </a:r>
          </a:p>
        </p:txBody>
      </p:sp>
      <p:sp>
        <p:nvSpPr>
          <p:cNvPr id="10" name="s2-metric-v-1">
            <a:extLst xmlns:a="http://schemas.openxmlformats.org/drawingml/2006/main">
              <a:ext uri="{FF2B5EF4-FFF2-40B4-BE49-F238E27FC236}">
                <a16:creationId xmlns:a16="http://schemas.microsoft.com/office/drawing/2014/main" id="{648B3E25-04A0-4435-9FE5-E68AA34E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低歧义优先</a:t>
            </a:r>
          </a:p>
        </p:txBody>
      </p:sp>
      <p:sp>
        <p:nvSpPr>
          <p:cNvPr id="11" name="s2-metric-note-1">
            <a:extLst xmlns:a="http://schemas.openxmlformats.org/drawingml/2006/main">
              <a:ext uri="{FF2B5EF4-FFF2-40B4-BE49-F238E27FC236}">
                <a16:creationId xmlns:a16="http://schemas.microsoft.com/office/drawing/2014/main" id="{DAE637B7-D88F-4C78-9648-5BC125D9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先覆盖时间、地点、截图、重复等条件</a:t>
            </a:r>
          </a:p>
        </p:txBody>
      </p:sp>
      <p:sp>
        <p:nvSpPr>
          <p:cNvPr id="12" name="s2-metric-bg-2">
            <a:extLst xmlns:a="http://schemas.openxmlformats.org/drawingml/2006/main">
              <a:ext uri="{FF2B5EF4-FFF2-40B4-BE49-F238E27FC236}">
                <a16:creationId xmlns:a16="http://schemas.microsoft.com/office/drawing/2014/main" id="{E9075494-C214-4495-BF8D-298A242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metric-k-2">
            <a:extLst xmlns:a="http://schemas.openxmlformats.org/drawingml/2006/main">
              <a:ext uri="{FF2B5EF4-FFF2-40B4-BE49-F238E27FC236}">
                <a16:creationId xmlns:a16="http://schemas.microsoft.com/office/drawing/2014/main" id="{28B06D6C-A7F7-40A8-9038-A719A576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</a:defRPr>
            </a:pPr>
            <a:r>
              <a:rPr sz="1050" b="1">
                <a:solidFill>
                  <a:srgbClr val="919191"/>
                </a:solidFill>
              </a:rPr>
              <a:t>安全</a:t>
            </a:r>
          </a:p>
        </p:txBody>
      </p:sp>
      <p:sp>
        <p:nvSpPr>
          <p:cNvPr id="14" name="s2-metric-v-2">
            <a:extLst xmlns:a="http://schemas.openxmlformats.org/drawingml/2006/main">
              <a:ext uri="{FF2B5EF4-FFF2-40B4-BE49-F238E27FC236}">
                <a16:creationId xmlns:a16="http://schemas.microsoft.com/office/drawing/2014/main" id="{3D39E5FF-292B-46EC-84E1-9BAB15E0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四重护栏</a:t>
            </a:r>
          </a:p>
        </p:txBody>
      </p:sp>
      <p:sp>
        <p:nvSpPr>
          <p:cNvPr id="15" name="s2-metric-note-2">
            <a:extLst xmlns:a="http://schemas.openxmlformats.org/drawingml/2006/main">
              <a:ext uri="{FF2B5EF4-FFF2-40B4-BE49-F238E27FC236}">
                <a16:creationId xmlns:a16="http://schemas.microsoft.com/office/drawing/2014/main" id="{2F1B03D7-3400-4BA6-82BB-6341A98E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解释、确认、回收站、风险降级</a:t>
            </a:r>
          </a:p>
        </p:txBody>
      </p:sp>
      <p:sp>
        <p:nvSpPr>
          <p:cNvPr id="16" name="s2-metric-bg-3">
            <a:extLst xmlns:a="http://schemas.openxmlformats.org/drawingml/2006/main">
              <a:ext uri="{FF2B5EF4-FFF2-40B4-BE49-F238E27FC236}">
                <a16:creationId xmlns:a16="http://schemas.microsoft.com/office/drawing/2014/main" id="{3B757661-CFDF-425E-866B-BEF1B72A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-metric-k-3">
            <a:extLst xmlns:a="http://schemas.openxmlformats.org/drawingml/2006/main">
              <a:ext uri="{FF2B5EF4-FFF2-40B4-BE49-F238E27FC236}">
                <a16:creationId xmlns:a16="http://schemas.microsoft.com/office/drawing/2014/main" id="{F07A338C-9056-4D37-82FD-A18F7330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</a:defRPr>
            </a:pPr>
            <a:r>
              <a:rPr sz="1050" b="1">
                <a:solidFill>
                  <a:srgbClr val="919191"/>
                </a:solidFill>
              </a:rPr>
              <a:t>决策</a:t>
            </a:r>
          </a:p>
        </p:txBody>
      </p:sp>
      <p:sp>
        <p:nvSpPr>
          <p:cNvPr id="18" name="s2-metric-v-3">
            <a:extLst xmlns:a="http://schemas.openxmlformats.org/drawingml/2006/main">
              <a:ext uri="{FF2B5EF4-FFF2-40B4-BE49-F238E27FC236}">
                <a16:creationId xmlns:a16="http://schemas.microsoft.com/office/drawing/2014/main" id="{668A6D1E-C8E7-4EA3-9665-8CED8B0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双阶段验证</a:t>
            </a:r>
          </a:p>
        </p:txBody>
      </p:sp>
      <p:sp>
        <p:nvSpPr>
          <p:cNvPr id="19" name="s2-metric-note-3">
            <a:extLst xmlns:a="http://schemas.openxmlformats.org/drawingml/2006/main">
              <a:ext uri="{FF2B5EF4-FFF2-40B4-BE49-F238E27FC236}">
                <a16:creationId xmlns:a16="http://schemas.microsoft.com/office/drawing/2014/main" id="{E0F7D2C2-CA41-4745-80D7-6DB47C8A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可用性验证后再进入工程立项</a:t>
            </a:r>
          </a:p>
        </p:txBody>
      </p:sp>
      <p:sp>
        <p:nvSpPr>
          <p:cNvPr id="20" name="label-关键矛盾-72-334">
            <a:extLst xmlns:a="http://schemas.openxmlformats.org/drawingml/2006/main">
              <a:ext uri="{FF2B5EF4-FFF2-40B4-BE49-F238E27FC236}">
                <a16:creationId xmlns:a16="http://schemas.microsoft.com/office/drawing/2014/main" id="{1CB8C9BB-0831-4218-94F2-AAB635FF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关键矛盾</a:t>
            </a:r>
          </a:p>
        </p:txBody>
      </p:sp>
      <p:sp>
        <p:nvSpPr>
          <p:cNvPr id="21" name="s2-left">
            <a:extLst xmlns:a="http://schemas.openxmlformats.org/drawingml/2006/main">
              <a:ext uri="{FF2B5EF4-FFF2-40B4-BE49-F238E27FC236}">
                <a16:creationId xmlns:a16="http://schemas.microsoft.com/office/drawing/2014/main" id="{ABDF8448-E6F1-494D-AE48-5CA924CE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200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22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D9B6EFC0-3764-4EB5-9D4C-3F119098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用户希望“说完即完成”</a:t>
            </a:r>
          </a:p>
        </p:txBody>
      </p:sp>
      <p:sp>
        <p:nvSpPr>
          <p:cNvPr id="23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F32DDBFD-68BF-460B-B5CA-88F95929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减少筛选、全选、逐项核对与删除操作；但自然语言包含歧义、范围缺失和对象误识别。</a:t>
            </a:r>
          </a:p>
        </p:txBody>
      </p:sp>
      <p:sp>
        <p:nvSpPr>
          <p:cNvPr id="24" name="s2-arrow">
            <a:extLst xmlns:a="http://schemas.openxmlformats.org/drawingml/2006/main">
              <a:ext uri="{FF2B5EF4-FFF2-40B4-BE49-F238E27FC236}">
                <a16:creationId xmlns:a16="http://schemas.microsoft.com/office/drawing/2014/main" id="{38C661B0-8AB6-40B4-A036-987132EF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386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2-center">
            <a:extLst xmlns:a="http://schemas.openxmlformats.org/drawingml/2006/main">
              <a:ext uri="{FF2B5EF4-FFF2-40B4-BE49-F238E27FC236}">
                <a16:creationId xmlns:a16="http://schemas.microsoft.com/office/drawing/2014/main" id="{9A6E4F6E-69D9-4991-BF9D-64AFFE2C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26" name="s2-center-title">
            <a:extLst xmlns:a="http://schemas.openxmlformats.org/drawingml/2006/main">
              <a:ext uri="{FF2B5EF4-FFF2-40B4-BE49-F238E27FC236}">
                <a16:creationId xmlns:a16="http://schemas.microsoft.com/office/drawing/2014/main" id="{DB2FD7A1-3001-455D-A6B0-681632F4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623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000A"/>
                </a:solidFill>
              </a:defRPr>
            </a:pPr>
            <a:r>
              <a:rPr sz="1800" b="1">
                <a:solidFill>
                  <a:srgbClr val="C7000A"/>
                </a:solidFill>
              </a:rPr>
              <a:t>推荐：可控自动化</a:t>
            </a:r>
          </a:p>
        </p:txBody>
      </p:sp>
      <p:sp>
        <p:nvSpPr>
          <p:cNvPr id="27" name="chip-解释候选集-525-424">
            <a:extLst xmlns:a="http://schemas.openxmlformats.org/drawingml/2006/main">
              <a:ext uri="{FF2B5EF4-FFF2-40B4-BE49-F238E27FC236}">
                <a16:creationId xmlns:a16="http://schemas.microsoft.com/office/drawing/2014/main" id="{F6EF73FB-90D5-45A1-834E-F8AFDD9D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386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8" name="chip-text-解释候选集-525-424">
            <a:extLst xmlns:a="http://schemas.openxmlformats.org/drawingml/2006/main">
              <a:ext uri="{FF2B5EF4-FFF2-40B4-BE49-F238E27FC236}">
                <a16:creationId xmlns:a16="http://schemas.microsoft.com/office/drawing/2014/main" id="{F4A2219E-7434-4484-AE22-F8BD63D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862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解释候选集</a:t>
            </a:r>
          </a:p>
        </p:txBody>
      </p:sp>
      <p:sp>
        <p:nvSpPr>
          <p:cNvPr id="29" name="chip-风险分级确认-673-424">
            <a:extLst xmlns:a="http://schemas.openxmlformats.org/drawingml/2006/main">
              <a:ext uri="{FF2B5EF4-FFF2-40B4-BE49-F238E27FC236}">
                <a16:creationId xmlns:a16="http://schemas.microsoft.com/office/drawing/2014/main" id="{1DA7D6C5-495E-4676-9115-D89F6DD7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386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30" name="chip-text-风险分级确认-673-424">
            <a:extLst xmlns:a="http://schemas.openxmlformats.org/drawingml/2006/main">
              <a:ext uri="{FF2B5EF4-FFF2-40B4-BE49-F238E27FC236}">
                <a16:creationId xmlns:a16="http://schemas.microsoft.com/office/drawing/2014/main" id="{C94183F2-BED2-4499-8BD0-A93BF2A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862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风险分级确认</a:t>
            </a:r>
          </a:p>
        </p:txBody>
      </p:sp>
      <p:sp>
        <p:nvSpPr>
          <p:cNvPr id="31" name="chip-默认回收站-525-478">
            <a:extLst xmlns:a="http://schemas.openxmlformats.org/drawingml/2006/main">
              <a:ext uri="{FF2B5EF4-FFF2-40B4-BE49-F238E27FC236}">
                <a16:creationId xmlns:a16="http://schemas.microsoft.com/office/drawing/2014/main" id="{EB5594FF-2EC6-4278-BCE1-0FBEF53E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5295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5"/>
            </a:solidFill>
            <a:prstDash val="solid"/>
          </a:ln>
        </p:spPr>
      </p:sp>
      <p:sp>
        <p:nvSpPr>
          <p:cNvPr id="32" name="chip-text-默认回收站-525-478">
            <a:extLst xmlns:a="http://schemas.openxmlformats.org/drawingml/2006/main">
              <a:ext uri="{FF2B5EF4-FFF2-40B4-BE49-F238E27FC236}">
                <a16:creationId xmlns:a16="http://schemas.microsoft.com/office/drawing/2014/main" id="{C2ED63A9-C443-485C-863C-A416D81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00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5"/>
                </a:solidFill>
              </a:defRPr>
            </a:pPr>
            <a:r>
              <a:rPr sz="1050" b="1">
                <a:solidFill>
                  <a:srgbClr val="2E7D55"/>
                </a:solidFill>
              </a:rPr>
              <a:t>默认回收站</a:t>
            </a:r>
          </a:p>
        </p:txBody>
      </p:sp>
      <p:sp>
        <p:nvSpPr>
          <p:cNvPr id="33" name="chip-高风险降级-673-478">
            <a:extLst xmlns:a="http://schemas.openxmlformats.org/drawingml/2006/main">
              <a:ext uri="{FF2B5EF4-FFF2-40B4-BE49-F238E27FC236}">
                <a16:creationId xmlns:a16="http://schemas.microsoft.com/office/drawing/2014/main" id="{B893AE5F-E986-4D0F-A1EE-1CA236BB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5295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34" name="chip-text-高风险降级-673-478">
            <a:extLst xmlns:a="http://schemas.openxmlformats.org/drawingml/2006/main">
              <a:ext uri="{FF2B5EF4-FFF2-40B4-BE49-F238E27FC236}">
                <a16:creationId xmlns:a16="http://schemas.microsoft.com/office/drawing/2014/main" id="{761DB3C6-B912-44AC-8C23-36AA8892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600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高风险降级</a:t>
            </a:r>
          </a:p>
        </p:txBody>
      </p:sp>
      <p:sp>
        <p:nvSpPr>
          <p:cNvPr id="35" name="s2-arrow2">
            <a:extLst xmlns:a="http://schemas.openxmlformats.org/drawingml/2006/main">
              <a:ext uri="{FF2B5EF4-FFF2-40B4-BE49-F238E27FC236}">
                <a16:creationId xmlns:a16="http://schemas.microsoft.com/office/drawing/2014/main" id="{B3DB85C0-263C-4FF1-B55A-70ED478D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2-right">
            <a:extLst xmlns:a="http://schemas.openxmlformats.org/drawingml/2006/main">
              <a:ext uri="{FF2B5EF4-FFF2-40B4-BE49-F238E27FC236}">
                <a16:creationId xmlns:a16="http://schemas.microsoft.com/office/drawing/2014/main" id="{908DD850-6F95-453F-8294-0492E0F0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2724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37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7B1FB781-4888-4C1D-ACF0-30D3CBA0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338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本次需要批准</a:t>
            </a:r>
          </a:p>
        </p:txBody>
      </p:sp>
      <p:sp>
        <p:nvSpPr>
          <p:cNvPr id="38" name="s2-right-body">
            <a:extLst xmlns:a="http://schemas.openxmlformats.org/drawingml/2006/main">
              <a:ext uri="{FF2B5EF4-FFF2-40B4-BE49-F238E27FC236}">
                <a16:creationId xmlns:a16="http://schemas.microsoft.com/office/drawing/2014/main" id="{C06E5EDF-8382-4450-BCED-4524E650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95750"/>
            <a:ext cx="2305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① 推荐交互主链路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② MVP 纳入与降级范围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③ 验证指标和阶段门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④ 跨团队责任</a:t>
            </a:r>
          </a:p>
        </p:txBody>
      </p:sp>
      <p:sp>
        <p:nvSpPr>
          <p:cNvPr id="39" name="s2-action">
            <a:extLst xmlns:a="http://schemas.openxmlformats.org/drawingml/2006/main">
              <a:ext uri="{FF2B5EF4-FFF2-40B4-BE49-F238E27FC236}">
                <a16:creationId xmlns:a16="http://schemas.microsoft.com/office/drawing/2014/main" id="{1D0856D7-3F13-40EC-AC0E-13D80AF7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2-action-text">
            <a:extLst xmlns:a="http://schemas.openxmlformats.org/drawingml/2006/main">
              <a:ext uri="{FF2B5EF4-FFF2-40B4-BE49-F238E27FC236}">
                <a16:creationId xmlns:a16="http://schemas.microsoft.com/office/drawing/2014/main" id="{BD1AF896-8C71-41CF-88B2-F454B896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决策建议：通过方案方向，先启动原型验证与技术预研；未达到误选和可理解性门槛则不进入工程立项。</a:t>
            </a:r>
          </a:p>
        </p:txBody>
      </p:sp>
      <p:sp>
        <p:nvSpPr>
          <p:cNvPr id="41" name="s2-footer-left">
            <a:extLst xmlns:a="http://schemas.openxmlformats.org/drawingml/2006/main">
              <a:ext uri="{FF2B5EF4-FFF2-40B4-BE49-F238E27FC236}">
                <a16:creationId xmlns:a16="http://schemas.microsoft.com/office/drawing/2014/main" id="{701673D0-188E-4F0E-BF6D-48568A2C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9191"/>
                </a:solidFill>
              </a:defRPr>
            </a:pPr>
            <a:r>
              <a:rPr sz="750" b="0">
                <a:solidFill>
                  <a:srgbClr val="919191"/>
                </a:solidFill>
              </a:rPr>
              <a:t>02   Huawei Confidential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8e42ceae34215"/>
          <a:stretch xmlns:a="http://schemas.openxmlformats.org/drawingml/2006/main"/>
        </p:blipFill>
        <p:spPr>
          <a:xfrm xmlns:a="http://schemas.openxmlformats.org/drawingml/2006/main">
            <a:off x="10496550" y="6413926"/>
            <a:ext cx="1009650" cy="221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8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3-title-accent">
            <a:extLst xmlns:a="http://schemas.openxmlformats.org/drawingml/2006/main">
              <a:ext uri="{FF2B5EF4-FFF2-40B4-BE49-F238E27FC236}">
                <a16:creationId xmlns:a16="http://schemas.microsoft.com/office/drawing/2014/main" id="{EBD78D3F-5907-41C3-94E8-D24D9BF5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ED454EE6-4436-46DC-A31F-44E93C2D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</a:defRPr>
            </a:pPr>
            <a:r>
              <a:rPr sz="2850" b="1">
                <a:solidFill>
                  <a:srgbClr val="1D1D1A"/>
                </a:solidFill>
              </a:rPr>
              <a:t>用户清理需求集中于可描述条件组合，误删成本决定交互边界</a:t>
            </a:r>
          </a:p>
        </p:txBody>
      </p:sp>
      <p:sp>
        <p:nvSpPr>
          <p:cNvPr id="3" name="s3-lead">
            <a:extLst xmlns:a="http://schemas.openxmlformats.org/drawingml/2006/main">
              <a:ext uri="{FF2B5EF4-FFF2-40B4-BE49-F238E27FC236}">
                <a16:creationId xmlns:a16="http://schemas.microsoft.com/office/drawing/2014/main" id="{7CF21980-01D6-4A6C-B29D-3ACB529B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756"/>
                </a:solidFill>
              </a:defRPr>
            </a:pPr>
            <a:r>
              <a:rPr sz="1500" b="1">
                <a:solidFill>
                  <a:srgbClr val="575756"/>
                </a:solidFill>
              </a:rPr>
              <a:t>用户并非要“理解图库”，而是要快速完成一个有范围、有条件、有后果的整理任务</a:t>
            </a:r>
          </a:p>
        </p:txBody>
      </p:sp>
      <p:sp>
        <p:nvSpPr>
          <p:cNvPr id="4" name="s3-center">
            <a:extLst xmlns:a="http://schemas.openxmlformats.org/drawingml/2006/main">
              <a:ext uri="{FF2B5EF4-FFF2-40B4-BE49-F238E27FC236}">
                <a16:creationId xmlns:a16="http://schemas.microsoft.com/office/drawing/2014/main" id="{5181FAFA-A7EB-47BE-8B38-410AA2EC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3048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5" name="s3-center-a">
            <a:extLst xmlns:a="http://schemas.openxmlformats.org/drawingml/2006/main">
              <a:ext uri="{FF2B5EF4-FFF2-40B4-BE49-F238E27FC236}">
                <a16:creationId xmlns:a16="http://schemas.microsoft.com/office/drawing/2014/main" id="{432CFA9B-89BF-4663-B2F5-9058A4C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813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000A"/>
                </a:solidFill>
              </a:defRPr>
            </a:pPr>
            <a:r>
              <a:rPr sz="1950" b="1">
                <a:solidFill>
                  <a:srgbClr val="C7000A"/>
                </a:solidFill>
              </a:rPr>
              <a:t>一句话任务</a:t>
            </a:r>
          </a:p>
        </p:txBody>
      </p:sp>
      <p:sp>
        <p:nvSpPr>
          <p:cNvPr id="6" name="s3-center-b">
            <a:extLst xmlns:a="http://schemas.openxmlformats.org/drawingml/2006/main">
              <a:ext uri="{FF2B5EF4-FFF2-40B4-BE49-F238E27FC236}">
                <a16:creationId xmlns:a16="http://schemas.microsoft.com/office/drawing/2014/main" id="{A0894357-60AC-4934-99EF-8CA7D9D3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对象 + 条件 + 范围 + 动作</a:t>
            </a:r>
          </a:p>
        </p:txBody>
      </p:sp>
      <p:sp>
        <p:nvSpPr>
          <p:cNvPr id="7" name="s3-center-c">
            <a:extLst xmlns:a="http://schemas.openxmlformats.org/drawingml/2006/main">
              <a:ext uri="{FF2B5EF4-FFF2-40B4-BE49-F238E27FC236}">
                <a16:creationId xmlns:a16="http://schemas.microsoft.com/office/drawing/2014/main" id="{8F702D48-7BF7-40DA-A408-0E770BA5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缺一项即增加解释或确认</a:t>
            </a:r>
          </a:p>
        </p:txBody>
      </p:sp>
      <p:sp>
        <p:nvSpPr>
          <p:cNvPr id="8" name="s3-job-0">
            <a:extLst xmlns:a="http://schemas.openxmlformats.org/drawingml/2006/main">
              <a:ext uri="{FF2B5EF4-FFF2-40B4-BE49-F238E27FC236}">
                <a16:creationId xmlns:a16="http://schemas.microsoft.com/office/drawing/2014/main" id="{012B05F0-0766-40FC-8B71-9707B6CD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9" name="s3-job-h-0">
            <a:extLst xmlns:a="http://schemas.openxmlformats.org/drawingml/2006/main">
              <a:ext uri="{FF2B5EF4-FFF2-40B4-BE49-F238E27FC236}">
                <a16:creationId xmlns:a16="http://schemas.microsoft.com/office/drawing/2014/main" id="{91131DB3-7539-413D-8B2D-6A08EF15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时间条件</a:t>
            </a:r>
          </a:p>
        </p:txBody>
      </p:sp>
      <p:sp>
        <p:nvSpPr>
          <p:cNvPr id="10" name="s3-job-q-0">
            <a:extLst xmlns:a="http://schemas.openxmlformats.org/drawingml/2006/main">
              <a:ext uri="{FF2B5EF4-FFF2-40B4-BE49-F238E27FC236}">
                <a16:creationId xmlns:a16="http://schemas.microsoft.com/office/drawing/2014/main" id="{43C09643-761F-411A-A808-06795046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“删除上个月的截图”</a:t>
            </a:r>
          </a:p>
        </p:txBody>
      </p:sp>
      <p:sp>
        <p:nvSpPr>
          <p:cNvPr id="11" name="s3-job-n-0">
            <a:extLst xmlns:a="http://schemas.openxmlformats.org/drawingml/2006/main">
              <a:ext uri="{FF2B5EF4-FFF2-40B4-BE49-F238E27FC236}">
                <a16:creationId xmlns:a16="http://schemas.microsoft.com/office/drawing/2014/main" id="{8CBBC8A3-4F60-4243-AF33-D8F0CADA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范围明确；对象可解释</a:t>
            </a:r>
          </a:p>
        </p:txBody>
      </p:sp>
      <p:sp>
        <p:nvSpPr>
          <p:cNvPr id="12" name="s3-job-1">
            <a:extLst xmlns:a="http://schemas.openxmlformats.org/drawingml/2006/main">
              <a:ext uri="{FF2B5EF4-FFF2-40B4-BE49-F238E27FC236}">
                <a16:creationId xmlns:a16="http://schemas.microsoft.com/office/drawing/2014/main" id="{BF33ECDC-411B-47B0-BFBE-8D0E8B42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13" name="s3-job-h-1">
            <a:extLst xmlns:a="http://schemas.openxmlformats.org/drawingml/2006/main">
              <a:ext uri="{FF2B5EF4-FFF2-40B4-BE49-F238E27FC236}">
                <a16:creationId xmlns:a16="http://schemas.microsoft.com/office/drawing/2014/main" id="{CA3D57BC-51BC-4146-98AB-72BE5113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类型条件</a:t>
            </a:r>
          </a:p>
        </p:txBody>
      </p:sp>
      <p:sp>
        <p:nvSpPr>
          <p:cNvPr id="14" name="s3-job-q-1">
            <a:extLst xmlns:a="http://schemas.openxmlformats.org/drawingml/2006/main">
              <a:ext uri="{FF2B5EF4-FFF2-40B4-BE49-F238E27FC236}">
                <a16:creationId xmlns:a16="http://schemas.microsoft.com/office/drawing/2014/main" id="{2A46DBFF-8B9E-4D77-BC56-E58397ED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“清理重复照片和模糊照片”</a:t>
            </a:r>
          </a:p>
        </p:txBody>
      </p:sp>
      <p:sp>
        <p:nvSpPr>
          <p:cNvPr id="15" name="s3-job-n-1">
            <a:extLst xmlns:a="http://schemas.openxmlformats.org/drawingml/2006/main">
              <a:ext uri="{FF2B5EF4-FFF2-40B4-BE49-F238E27FC236}">
                <a16:creationId xmlns:a16="http://schemas.microsoft.com/office/drawing/2014/main" id="{C7051117-A0C8-43A9-AB3D-38074B38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质量判断需展示理由</a:t>
            </a:r>
          </a:p>
        </p:txBody>
      </p:sp>
      <p:sp>
        <p:nvSpPr>
          <p:cNvPr id="16" name="s3-job-2">
            <a:extLst xmlns:a="http://schemas.openxmlformats.org/drawingml/2006/main">
              <a:ext uri="{FF2B5EF4-FFF2-40B4-BE49-F238E27FC236}">
                <a16:creationId xmlns:a16="http://schemas.microsoft.com/office/drawing/2014/main" id="{975D1DBA-1229-4786-8C3D-B582D60A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17" name="s3-job-h-2">
            <a:extLst xmlns:a="http://schemas.openxmlformats.org/drawingml/2006/main">
              <a:ext uri="{FF2B5EF4-FFF2-40B4-BE49-F238E27FC236}">
                <a16:creationId xmlns:a16="http://schemas.microsoft.com/office/drawing/2014/main" id="{846AB6B1-E525-4415-BE04-409494FC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来源条件</a:t>
            </a:r>
          </a:p>
        </p:txBody>
      </p:sp>
      <p:sp>
        <p:nvSpPr>
          <p:cNvPr id="18" name="s3-job-q-2">
            <a:extLst xmlns:a="http://schemas.openxmlformats.org/drawingml/2006/main">
              <a:ext uri="{FF2B5EF4-FFF2-40B4-BE49-F238E27FC236}">
                <a16:creationId xmlns:a16="http://schemas.microsoft.com/office/drawing/2014/main" id="{02576CB6-91D2-402E-AB56-225CF0F4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“删掉群聊保存的表情包”</a:t>
            </a:r>
          </a:p>
        </p:txBody>
      </p:sp>
      <p:sp>
        <p:nvSpPr>
          <p:cNvPr id="19" name="s3-job-n-2">
            <a:extLst xmlns:a="http://schemas.openxmlformats.org/drawingml/2006/main">
              <a:ext uri="{FF2B5EF4-FFF2-40B4-BE49-F238E27FC236}">
                <a16:creationId xmlns:a16="http://schemas.microsoft.com/office/drawing/2014/main" id="{58C707EC-5C93-4447-9423-C7907D40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来源识别能力待确认</a:t>
            </a:r>
          </a:p>
        </p:txBody>
      </p:sp>
      <p:sp>
        <p:nvSpPr>
          <p:cNvPr id="20" name="s3-job-3">
            <a:extLst xmlns:a="http://schemas.openxmlformats.org/drawingml/2006/main">
              <a:ext uri="{FF2B5EF4-FFF2-40B4-BE49-F238E27FC236}">
                <a16:creationId xmlns:a16="http://schemas.microsoft.com/office/drawing/2014/main" id="{2D3955E7-7B09-4AA9-8C8F-A8069BE4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21" name="s3-job-h-3">
            <a:extLst xmlns:a="http://schemas.openxmlformats.org/drawingml/2006/main">
              <a:ext uri="{FF2B5EF4-FFF2-40B4-BE49-F238E27FC236}">
                <a16:creationId xmlns:a16="http://schemas.microsoft.com/office/drawing/2014/main" id="{56B931BE-AAB6-4CC7-B328-18060765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地点条件</a:t>
            </a:r>
          </a:p>
        </p:txBody>
      </p:sp>
      <p:sp>
        <p:nvSpPr>
          <p:cNvPr id="22" name="s3-job-q-3">
            <a:extLst xmlns:a="http://schemas.openxmlformats.org/drawingml/2006/main">
              <a:ext uri="{FF2B5EF4-FFF2-40B4-BE49-F238E27FC236}">
                <a16:creationId xmlns:a16="http://schemas.microsoft.com/office/drawing/2014/main" id="{1A958CD7-8FCD-4EDD-BAEF-9E458B8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“清理出差期间的临时照片”</a:t>
            </a:r>
          </a:p>
        </p:txBody>
      </p:sp>
      <p:sp>
        <p:nvSpPr>
          <p:cNvPr id="23" name="s3-job-n-3">
            <a:extLst xmlns:a="http://schemas.openxmlformats.org/drawingml/2006/main">
              <a:ext uri="{FF2B5EF4-FFF2-40B4-BE49-F238E27FC236}">
                <a16:creationId xmlns:a16="http://schemas.microsoft.com/office/drawing/2014/main" id="{5F0D6285-5795-48B0-AB99-572B7578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地点与时间可能组合</a:t>
            </a:r>
          </a:p>
        </p:txBody>
      </p:sp>
      <p:sp>
        <p:nvSpPr>
          <p:cNvPr id="24" name="s3-job-4">
            <a:extLst xmlns:a="http://schemas.openxmlformats.org/drawingml/2006/main">
              <a:ext uri="{FF2B5EF4-FFF2-40B4-BE49-F238E27FC236}">
                <a16:creationId xmlns:a16="http://schemas.microsoft.com/office/drawing/2014/main" id="{3448D292-0AE1-42CD-BB18-2CD75F2F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25" name="s3-job-h-4">
            <a:extLst xmlns:a="http://schemas.openxmlformats.org/drawingml/2006/main">
              <a:ext uri="{FF2B5EF4-FFF2-40B4-BE49-F238E27FC236}">
                <a16:creationId xmlns:a16="http://schemas.microsoft.com/office/drawing/2014/main" id="{0BADD818-C62F-44F4-99E7-5E651F40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</a:defRPr>
            </a:pPr>
            <a:r>
              <a:rPr sz="1200" b="1">
                <a:solidFill>
                  <a:srgbClr val="9A6500"/>
                </a:solidFill>
              </a:rPr>
              <a:t>人物条件</a:t>
            </a:r>
          </a:p>
        </p:txBody>
      </p:sp>
      <p:sp>
        <p:nvSpPr>
          <p:cNvPr id="26" name="s3-job-q-4">
            <a:extLst xmlns:a="http://schemas.openxmlformats.org/drawingml/2006/main">
              <a:ext uri="{FF2B5EF4-FFF2-40B4-BE49-F238E27FC236}">
                <a16:creationId xmlns:a16="http://schemas.microsoft.com/office/drawing/2014/main" id="{ED3F9F75-105A-4D47-8E59-A033F520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“删掉没有家人的连拍”</a:t>
            </a:r>
          </a:p>
        </p:txBody>
      </p:sp>
      <p:sp>
        <p:nvSpPr>
          <p:cNvPr id="27" name="s3-job-n-4">
            <a:extLst xmlns:a="http://schemas.openxmlformats.org/drawingml/2006/main">
              <a:ext uri="{FF2B5EF4-FFF2-40B4-BE49-F238E27FC236}">
                <a16:creationId xmlns:a16="http://schemas.microsoft.com/office/drawing/2014/main" id="{FA099746-F6A0-496E-A837-478CE52E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人物语义属于高敏高风险</a:t>
            </a:r>
          </a:p>
        </p:txBody>
      </p:sp>
      <p:sp>
        <p:nvSpPr>
          <p:cNvPr id="28" name="s3-job-5">
            <a:extLst xmlns:a="http://schemas.openxmlformats.org/drawingml/2006/main">
              <a:ext uri="{FF2B5EF4-FFF2-40B4-BE49-F238E27FC236}">
                <a16:creationId xmlns:a16="http://schemas.microsoft.com/office/drawing/2014/main" id="{A0AD6902-0FB2-4F01-84D7-FB19C33B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29" name="s3-job-h-5">
            <a:extLst xmlns:a="http://schemas.openxmlformats.org/drawingml/2006/main">
              <a:ext uri="{FF2B5EF4-FFF2-40B4-BE49-F238E27FC236}">
                <a16:creationId xmlns:a16="http://schemas.microsoft.com/office/drawing/2014/main" id="{E907AAD5-2A48-4FD9-AA3B-5DDC6688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</a:defRPr>
            </a:pPr>
            <a:r>
              <a:rPr sz="1200" b="1">
                <a:solidFill>
                  <a:srgbClr val="9A6500"/>
                </a:solidFill>
              </a:rPr>
              <a:t>事件条件</a:t>
            </a:r>
          </a:p>
        </p:txBody>
      </p:sp>
      <p:sp>
        <p:nvSpPr>
          <p:cNvPr id="30" name="s3-job-q-5">
            <a:extLst xmlns:a="http://schemas.openxmlformats.org/drawingml/2006/main">
              <a:ext uri="{FF2B5EF4-FFF2-40B4-BE49-F238E27FC236}">
                <a16:creationId xmlns:a16="http://schemas.microsoft.com/office/drawing/2014/main" id="{A44561CF-89C7-4162-9A70-C7431EB0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“清理报销完成后的票据”</a:t>
            </a:r>
          </a:p>
        </p:txBody>
      </p:sp>
      <p:sp>
        <p:nvSpPr>
          <p:cNvPr id="31" name="s3-job-n-5">
            <a:extLst xmlns:a="http://schemas.openxmlformats.org/drawingml/2006/main">
              <a:ext uri="{FF2B5EF4-FFF2-40B4-BE49-F238E27FC236}">
                <a16:creationId xmlns:a16="http://schemas.microsoft.com/office/drawing/2014/main" id="{BC69B88E-DAFD-482C-983E-624CA3D1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482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状态语义缺少可靠证据</a:t>
            </a:r>
          </a:p>
        </p:txBody>
      </p:sp>
      <p:sp>
        <p:nvSpPr>
          <p:cNvPr id="32" name="chip-低风险：可解释-472-468">
            <a:extLst xmlns:a="http://schemas.openxmlformats.org/drawingml/2006/main">
              <a:ext uri="{FF2B5EF4-FFF2-40B4-BE49-F238E27FC236}">
                <a16:creationId xmlns:a16="http://schemas.microsoft.com/office/drawing/2014/main" id="{9FF2BC8C-038D-4C7D-8DAA-09059117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5"/>
            </a:solidFill>
            <a:prstDash val="solid"/>
          </a:ln>
        </p:spPr>
      </p:sp>
      <p:sp>
        <p:nvSpPr>
          <p:cNvPr id="33" name="chip-text-低风险：可解释-472-468">
            <a:extLst xmlns:a="http://schemas.openxmlformats.org/drawingml/2006/main">
              <a:ext uri="{FF2B5EF4-FFF2-40B4-BE49-F238E27FC236}">
                <a16:creationId xmlns:a16="http://schemas.microsoft.com/office/drawing/2014/main" id="{C4ED797E-1FC3-458B-BB4E-02B5E9D1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053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5"/>
                </a:solidFill>
              </a:defRPr>
            </a:pPr>
            <a:r>
              <a:rPr sz="1050" b="1">
                <a:solidFill>
                  <a:srgbClr val="2E7D55"/>
                </a:solidFill>
              </a:rPr>
              <a:t>低风险：可解释</a:t>
            </a:r>
          </a:p>
        </p:txBody>
      </p:sp>
      <p:sp>
        <p:nvSpPr>
          <p:cNvPr id="34" name="chip-中风险：质量语义-648-468">
            <a:extLst xmlns:a="http://schemas.openxmlformats.org/drawingml/2006/main">
              <a:ext uri="{FF2B5EF4-FFF2-40B4-BE49-F238E27FC236}">
                <a16:creationId xmlns:a16="http://schemas.microsoft.com/office/drawing/2014/main" id="{FC78CDAD-8E74-4035-9C59-2FBE6442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9A6500"/>
            </a:solidFill>
            <a:prstDash val="solid"/>
          </a:ln>
        </p:spPr>
      </p:sp>
      <p:sp>
        <p:nvSpPr>
          <p:cNvPr id="35" name="chip-text-中风险：质量语义-648-468">
            <a:extLst xmlns:a="http://schemas.openxmlformats.org/drawingml/2006/main">
              <a:ext uri="{FF2B5EF4-FFF2-40B4-BE49-F238E27FC236}">
                <a16:creationId xmlns:a16="http://schemas.microsoft.com/office/drawing/2014/main" id="{0EF2D955-7476-4FB2-B97B-37CDF804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053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500"/>
                </a:solidFill>
              </a:defRPr>
            </a:pPr>
            <a:r>
              <a:rPr sz="1050" b="1">
                <a:solidFill>
                  <a:srgbClr val="9A6500"/>
                </a:solidFill>
              </a:rPr>
              <a:t>中风险：质量语义</a:t>
            </a:r>
          </a:p>
        </p:txBody>
      </p:sp>
      <p:sp>
        <p:nvSpPr>
          <p:cNvPr id="36" name="chip-高风险：人物/事件-560-516">
            <a:extLst xmlns:a="http://schemas.openxmlformats.org/drawingml/2006/main">
              <a:ext uri="{FF2B5EF4-FFF2-40B4-BE49-F238E27FC236}">
                <a16:creationId xmlns:a16="http://schemas.microsoft.com/office/drawing/2014/main" id="{B3829AC9-3D38-489D-BF1A-01FCA772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149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37" name="chip-text-高风险：人物/事件-560-516">
            <a:extLst xmlns:a="http://schemas.openxmlformats.org/drawingml/2006/main">
              <a:ext uri="{FF2B5EF4-FFF2-40B4-BE49-F238E27FC236}">
                <a16:creationId xmlns:a16="http://schemas.microsoft.com/office/drawing/2014/main" id="{9363B10D-F039-4955-AFCC-D03955E7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62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高风险：人物/事件</a:t>
            </a:r>
          </a:p>
        </p:txBody>
      </p:sp>
      <p:sp>
        <p:nvSpPr>
          <p:cNvPr id="38" name="s3-bottom">
            <a:extLst xmlns:a="http://schemas.openxmlformats.org/drawingml/2006/main">
              <a:ext uri="{FF2B5EF4-FFF2-40B4-BE49-F238E27FC236}">
                <a16:creationId xmlns:a16="http://schemas.microsoft.com/office/drawing/2014/main" id="{5CE16828-89C5-4169-9D80-D4E1F1B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3-bottom-text">
            <a:extLst xmlns:a="http://schemas.openxmlformats.org/drawingml/2006/main">
              <a:ext uri="{FF2B5EF4-FFF2-40B4-BE49-F238E27FC236}">
                <a16:creationId xmlns:a16="http://schemas.microsoft.com/office/drawing/2014/main" id="{FEEE976C-130C-4451-A7BD-FF6B429A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产品边界：低风险请求可进入确认执行；中风险必须解释判定理由；高风险仅返回筛选结果，不提供一键删除。</a:t>
            </a:r>
          </a:p>
        </p:txBody>
      </p:sp>
      <p:sp>
        <p:nvSpPr>
          <p:cNvPr id="40" name="s3-footer-left">
            <a:extLst xmlns:a="http://schemas.openxmlformats.org/drawingml/2006/main">
              <a:ext uri="{FF2B5EF4-FFF2-40B4-BE49-F238E27FC236}">
                <a16:creationId xmlns:a16="http://schemas.microsoft.com/office/drawing/2014/main" id="{A0389076-8265-4BA4-8277-F99C6978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9191"/>
                </a:solidFill>
              </a:defRPr>
            </a:pPr>
            <a:r>
              <a:rPr sz="750" b="0">
                <a:solidFill>
                  <a:srgbClr val="919191"/>
                </a:solidFill>
              </a:rPr>
              <a:t>03   Huawei Confidential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b0f25c02e40ed"/>
          <a:stretch xmlns:a="http://schemas.openxmlformats.org/drawingml/2006/main"/>
        </p:blipFill>
        <p:spPr>
          <a:xfrm xmlns:a="http://schemas.openxmlformats.org/drawingml/2006/main">
            <a:off x="10496550" y="6413926"/>
            <a:ext cx="1009650" cy="221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19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4-title-accent">
            <a:extLst xmlns:a="http://schemas.openxmlformats.org/drawingml/2006/main">
              <a:ext uri="{FF2B5EF4-FFF2-40B4-BE49-F238E27FC236}">
                <a16:creationId xmlns:a16="http://schemas.microsoft.com/office/drawing/2014/main" id="{4D3971A3-D48D-4609-8B03-B2A22B64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CD2F7D74-4E81-4F81-A5B5-F3F746ED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</a:defRPr>
            </a:pPr>
            <a:r>
              <a:rPr sz="2850" b="1">
                <a:solidFill>
                  <a:srgbClr val="1D1D1A"/>
                </a:solidFill>
              </a:rPr>
              <a:t>意图、候选、解释、确认与撤销闭环降低执行不确定性</a:t>
            </a:r>
          </a:p>
        </p:txBody>
      </p:sp>
      <p:sp>
        <p:nvSpPr>
          <p:cNvPr id="3" name="s4-lead">
            <a:extLst xmlns:a="http://schemas.openxmlformats.org/drawingml/2006/main">
              <a:ext uri="{FF2B5EF4-FFF2-40B4-BE49-F238E27FC236}">
                <a16:creationId xmlns:a16="http://schemas.microsoft.com/office/drawing/2014/main" id="{FBC24C37-61F7-4289-9B95-53A723E2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756"/>
                </a:solidFill>
              </a:defRPr>
            </a:pPr>
            <a:r>
              <a:rPr sz="1500" b="1">
                <a:solidFill>
                  <a:srgbClr val="575756"/>
                </a:solidFill>
              </a:rPr>
              <a:t>系统每一步都必须让用户知道“理解了什么、选中了什么、下一步会发生什么”</a:t>
            </a:r>
          </a:p>
        </p:txBody>
      </p:sp>
      <p:sp>
        <p:nvSpPr>
          <p:cNvPr id="4" name="s4-arrow-0">
            <a:extLst xmlns:a="http://schemas.openxmlformats.org/drawingml/2006/main">
              <a:ext uri="{FF2B5EF4-FFF2-40B4-BE49-F238E27FC236}">
                <a16:creationId xmlns:a16="http://schemas.microsoft.com/office/drawing/2014/main" id="{A587D416-EAAF-4487-B2BE-5D6D3EAF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717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4-step-0">
            <a:extLst xmlns:a="http://schemas.openxmlformats.org/drawingml/2006/main">
              <a:ext uri="{FF2B5EF4-FFF2-40B4-BE49-F238E27FC236}">
                <a16:creationId xmlns:a16="http://schemas.microsoft.com/office/drawing/2014/main" id="{3029DDC8-52AE-4B87-99D1-66551739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466850" cy="16192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6" name="s4-num-0">
            <a:extLst xmlns:a="http://schemas.openxmlformats.org/drawingml/2006/main">
              <a:ext uri="{FF2B5EF4-FFF2-40B4-BE49-F238E27FC236}">
                <a16:creationId xmlns:a16="http://schemas.microsoft.com/office/drawing/2014/main" id="{D001CE08-7690-494A-83F3-61810364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01</a:t>
            </a:r>
          </a:p>
        </p:txBody>
      </p:sp>
      <p:sp>
        <p:nvSpPr>
          <p:cNvPr id="7" name="s4-head-0">
            <a:extLst xmlns:a="http://schemas.openxmlformats.org/drawingml/2006/main">
              <a:ext uri="{FF2B5EF4-FFF2-40B4-BE49-F238E27FC236}">
                <a16:creationId xmlns:a16="http://schemas.microsoft.com/office/drawing/2014/main" id="{1A36FC00-E884-4A0D-95DA-787B7ED1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输入意图</a:t>
            </a:r>
          </a:p>
        </p:txBody>
      </p:sp>
      <p:sp>
        <p:nvSpPr>
          <p:cNvPr id="8" name="s4-core-0">
            <a:extLst xmlns:a="http://schemas.openxmlformats.org/drawingml/2006/main">
              <a:ext uri="{FF2B5EF4-FFF2-40B4-BE49-F238E27FC236}">
                <a16:creationId xmlns:a16="http://schemas.microsoft.com/office/drawing/2014/main" id="{A8B8AB20-F811-437B-A4C3-F0B4CC4B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5756"/>
                </a:solidFill>
              </a:defRPr>
            </a:pPr>
            <a:r>
              <a:rPr sz="1200" b="1">
                <a:solidFill>
                  <a:srgbClr val="575756"/>
                </a:solidFill>
              </a:rPr>
              <a:t>文本 / 语音</a:t>
            </a:r>
          </a:p>
        </p:txBody>
      </p:sp>
      <p:sp>
        <p:nvSpPr>
          <p:cNvPr id="9" name="s4-note-0">
            <a:extLst xmlns:a="http://schemas.openxmlformats.org/drawingml/2006/main">
              <a:ext uri="{FF2B5EF4-FFF2-40B4-BE49-F238E27FC236}">
                <a16:creationId xmlns:a16="http://schemas.microsoft.com/office/drawing/2014/main" id="{1F775125-5E78-41F1-B861-F3FEFCE7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</a:defRPr>
            </a:pPr>
            <a:r>
              <a:rPr sz="1050" b="0">
                <a:solidFill>
                  <a:srgbClr val="919191"/>
                </a:solidFill>
              </a:rPr>
              <a:t>保留原句</a:t>
            </a:r>
          </a:p>
        </p:txBody>
      </p:sp>
      <p:sp>
        <p:nvSpPr>
          <p:cNvPr id="10" name="s4-arrow-1">
            <a:extLst xmlns:a="http://schemas.openxmlformats.org/drawingml/2006/main">
              <a:ext uri="{FF2B5EF4-FFF2-40B4-BE49-F238E27FC236}">
                <a16:creationId xmlns:a16="http://schemas.microsoft.com/office/drawing/2014/main" id="{1A1B3721-5678-4DDA-87C3-B041A775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717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step-1">
            <a:extLst xmlns:a="http://schemas.openxmlformats.org/drawingml/2006/main">
              <a:ext uri="{FF2B5EF4-FFF2-40B4-BE49-F238E27FC236}">
                <a16:creationId xmlns:a16="http://schemas.microsoft.com/office/drawing/2014/main" id="{52720E69-955E-4905-8A5E-09C84883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1466850" cy="16192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12" name="s4-num-1">
            <a:extLst xmlns:a="http://schemas.openxmlformats.org/drawingml/2006/main">
              <a:ext uri="{FF2B5EF4-FFF2-40B4-BE49-F238E27FC236}">
                <a16:creationId xmlns:a16="http://schemas.microsoft.com/office/drawing/2014/main" id="{DE00F524-83D8-4534-A550-A60F8D27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02</a:t>
            </a:r>
          </a:p>
        </p:txBody>
      </p:sp>
      <p:sp>
        <p:nvSpPr>
          <p:cNvPr id="13" name="s4-head-1">
            <a:extLst xmlns:a="http://schemas.openxmlformats.org/drawingml/2006/main">
              <a:ext uri="{FF2B5EF4-FFF2-40B4-BE49-F238E27FC236}">
                <a16:creationId xmlns:a16="http://schemas.microsoft.com/office/drawing/2014/main" id="{FAB49D6A-BD01-4ABA-B791-D75520B4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00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结构化解析</a:t>
            </a:r>
          </a:p>
        </p:txBody>
      </p:sp>
      <p:sp>
        <p:nvSpPr>
          <p:cNvPr id="14" name="s4-core-1">
            <a:extLst xmlns:a="http://schemas.openxmlformats.org/drawingml/2006/main">
              <a:ext uri="{FF2B5EF4-FFF2-40B4-BE49-F238E27FC236}">
                <a16:creationId xmlns:a16="http://schemas.microsoft.com/office/drawing/2014/main" id="{16BA044D-5CE4-4035-95A6-E30743AD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5756"/>
                </a:solidFill>
              </a:defRPr>
            </a:pPr>
            <a:r>
              <a:rPr sz="1200" b="1">
                <a:solidFill>
                  <a:srgbClr val="575756"/>
                </a:solidFill>
              </a:rPr>
              <a:t>对象·条件·范围</a:t>
            </a:r>
          </a:p>
        </p:txBody>
      </p:sp>
      <p:sp>
        <p:nvSpPr>
          <p:cNvPr id="15" name="s4-note-1">
            <a:extLst xmlns:a="http://schemas.openxmlformats.org/drawingml/2006/main">
              <a:ext uri="{FF2B5EF4-FFF2-40B4-BE49-F238E27FC236}">
                <a16:creationId xmlns:a16="http://schemas.microsoft.com/office/drawing/2014/main" id="{5103AAD3-4BB8-46EB-9170-C4E81CEB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62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</a:defRPr>
            </a:pPr>
            <a:r>
              <a:rPr sz="1050" b="0">
                <a:solidFill>
                  <a:srgbClr val="919191"/>
                </a:solidFill>
              </a:rPr>
              <a:t>暴露缺失项</a:t>
            </a:r>
          </a:p>
        </p:txBody>
      </p:sp>
      <p:sp>
        <p:nvSpPr>
          <p:cNvPr id="16" name="s4-arrow-2">
            <a:extLst xmlns:a="http://schemas.openxmlformats.org/drawingml/2006/main">
              <a:ext uri="{FF2B5EF4-FFF2-40B4-BE49-F238E27FC236}">
                <a16:creationId xmlns:a16="http://schemas.microsoft.com/office/drawing/2014/main" id="{22114329-A72C-4C84-8788-0195EB16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step-2">
            <a:extLst xmlns:a="http://schemas.openxmlformats.org/drawingml/2006/main">
              <a:ext uri="{FF2B5EF4-FFF2-40B4-BE49-F238E27FC236}">
                <a16:creationId xmlns:a16="http://schemas.microsoft.com/office/drawing/2014/main" id="{DB77FDE9-4D69-44DD-84FA-E763BE79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1466850" cy="16192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18" name="s4-num-2">
            <a:extLst xmlns:a="http://schemas.openxmlformats.org/drawingml/2006/main">
              <a:ext uri="{FF2B5EF4-FFF2-40B4-BE49-F238E27FC236}">
                <a16:creationId xmlns:a16="http://schemas.microsoft.com/office/drawing/2014/main" id="{57DAAB42-4C23-4635-962A-2F170A88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03</a:t>
            </a:r>
          </a:p>
        </p:txBody>
      </p:sp>
      <p:sp>
        <p:nvSpPr>
          <p:cNvPr id="19" name="s4-head-2">
            <a:extLst xmlns:a="http://schemas.openxmlformats.org/drawingml/2006/main">
              <a:ext uri="{FF2B5EF4-FFF2-40B4-BE49-F238E27FC236}">
                <a16:creationId xmlns:a16="http://schemas.microsoft.com/office/drawing/2014/main" id="{3D0D582E-3CAC-46DF-988F-C86942CE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检索候选</a:t>
            </a:r>
          </a:p>
        </p:txBody>
      </p:sp>
      <p:sp>
        <p:nvSpPr>
          <p:cNvPr id="20" name="s4-core-2">
            <a:extLst xmlns:a="http://schemas.openxmlformats.org/drawingml/2006/main">
              <a:ext uri="{FF2B5EF4-FFF2-40B4-BE49-F238E27FC236}">
                <a16:creationId xmlns:a16="http://schemas.microsoft.com/office/drawing/2014/main" id="{CC542BBC-51D9-4585-A217-814D61FE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5756"/>
                </a:solidFill>
              </a:defRPr>
            </a:pPr>
            <a:r>
              <a:rPr sz="1200" b="1">
                <a:solidFill>
                  <a:srgbClr val="575756"/>
                </a:solidFill>
              </a:rPr>
              <a:t>本地索引优先</a:t>
            </a:r>
          </a:p>
        </p:txBody>
      </p:sp>
      <p:sp>
        <p:nvSpPr>
          <p:cNvPr id="21" name="s4-note-2">
            <a:extLst xmlns:a="http://schemas.openxmlformats.org/drawingml/2006/main">
              <a:ext uri="{FF2B5EF4-FFF2-40B4-BE49-F238E27FC236}">
                <a16:creationId xmlns:a16="http://schemas.microsoft.com/office/drawing/2014/main" id="{3F6C6348-E562-49AA-B321-B1840FC6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</a:defRPr>
            </a:pPr>
            <a:r>
              <a:rPr sz="1050" b="0">
                <a:solidFill>
                  <a:srgbClr val="919191"/>
                </a:solidFill>
              </a:rPr>
              <a:t>显示数量</a:t>
            </a:r>
          </a:p>
        </p:txBody>
      </p:sp>
      <p:sp>
        <p:nvSpPr>
          <p:cNvPr id="22" name="s4-arrow-3">
            <a:extLst xmlns:a="http://schemas.openxmlformats.org/drawingml/2006/main">
              <a:ext uri="{FF2B5EF4-FFF2-40B4-BE49-F238E27FC236}">
                <a16:creationId xmlns:a16="http://schemas.microsoft.com/office/drawing/2014/main" id="{224FAA98-BE15-4D29-819B-9B289C86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4-step-3">
            <a:extLst xmlns:a="http://schemas.openxmlformats.org/drawingml/2006/main">
              <a:ext uri="{FF2B5EF4-FFF2-40B4-BE49-F238E27FC236}">
                <a16:creationId xmlns:a16="http://schemas.microsoft.com/office/drawing/2014/main" id="{21AD1C3A-881D-4081-AF10-F533DA0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1466850" cy="16192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24" name="s4-num-3">
            <a:extLst xmlns:a="http://schemas.openxmlformats.org/drawingml/2006/main">
              <a:ext uri="{FF2B5EF4-FFF2-40B4-BE49-F238E27FC236}">
                <a16:creationId xmlns:a16="http://schemas.microsoft.com/office/drawing/2014/main" id="{654B70BC-C558-4F39-9F83-306A13AE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04</a:t>
            </a:r>
          </a:p>
        </p:txBody>
      </p:sp>
      <p:sp>
        <p:nvSpPr>
          <p:cNvPr id="25" name="s4-head-3">
            <a:extLst xmlns:a="http://schemas.openxmlformats.org/drawingml/2006/main">
              <a:ext uri="{FF2B5EF4-FFF2-40B4-BE49-F238E27FC236}">
                <a16:creationId xmlns:a16="http://schemas.microsoft.com/office/drawing/2014/main" id="{286FFB2D-54CD-4AD6-AF6D-8ECCEB1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解释预览</a:t>
            </a:r>
          </a:p>
        </p:txBody>
      </p:sp>
      <p:sp>
        <p:nvSpPr>
          <p:cNvPr id="26" name="s4-core-3">
            <a:extLst xmlns:a="http://schemas.openxmlformats.org/drawingml/2006/main">
              <a:ext uri="{FF2B5EF4-FFF2-40B4-BE49-F238E27FC236}">
                <a16:creationId xmlns:a16="http://schemas.microsoft.com/office/drawing/2014/main" id="{6B0B9B0A-322F-454E-9106-CD1D23FE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5756"/>
                </a:solidFill>
              </a:defRPr>
            </a:pPr>
            <a:r>
              <a:rPr sz="1200" b="1">
                <a:solidFill>
                  <a:srgbClr val="575756"/>
                </a:solidFill>
              </a:rPr>
              <a:t>分组与判定理由</a:t>
            </a:r>
          </a:p>
        </p:txBody>
      </p:sp>
      <p:sp>
        <p:nvSpPr>
          <p:cNvPr id="27" name="s4-note-3">
            <a:extLst xmlns:a="http://schemas.openxmlformats.org/drawingml/2006/main">
              <a:ext uri="{FF2B5EF4-FFF2-40B4-BE49-F238E27FC236}">
                <a16:creationId xmlns:a16="http://schemas.microsoft.com/office/drawing/2014/main" id="{02D26AA3-6C8A-4588-8602-88059762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</a:defRPr>
            </a:pPr>
            <a:r>
              <a:rPr sz="1050" b="0">
                <a:solidFill>
                  <a:srgbClr val="919191"/>
                </a:solidFill>
              </a:rPr>
              <a:t>支持排除</a:t>
            </a:r>
          </a:p>
        </p:txBody>
      </p:sp>
      <p:sp>
        <p:nvSpPr>
          <p:cNvPr id="28" name="s4-arrow-4">
            <a:extLst xmlns:a="http://schemas.openxmlformats.org/drawingml/2006/main">
              <a:ext uri="{FF2B5EF4-FFF2-40B4-BE49-F238E27FC236}">
                <a16:creationId xmlns:a16="http://schemas.microsoft.com/office/drawing/2014/main" id="{445993E8-1750-4742-8BC5-9D1BA24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4-step-4">
            <a:extLst xmlns:a="http://schemas.openxmlformats.org/drawingml/2006/main">
              <a:ext uri="{FF2B5EF4-FFF2-40B4-BE49-F238E27FC236}">
                <a16:creationId xmlns:a16="http://schemas.microsoft.com/office/drawing/2014/main" id="{7D223C0D-B40B-41C7-86FA-B102D06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62150"/>
            <a:ext cx="1466850" cy="16192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30" name="s4-num-4">
            <a:extLst xmlns:a="http://schemas.openxmlformats.org/drawingml/2006/main">
              <a:ext uri="{FF2B5EF4-FFF2-40B4-BE49-F238E27FC236}">
                <a16:creationId xmlns:a16="http://schemas.microsoft.com/office/drawing/2014/main" id="{C78DDE3C-93A7-4FEA-99A9-0C0F2652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05</a:t>
            </a:r>
          </a:p>
        </p:txBody>
      </p:sp>
      <p:sp>
        <p:nvSpPr>
          <p:cNvPr id="31" name="s4-head-4">
            <a:extLst xmlns:a="http://schemas.openxmlformats.org/drawingml/2006/main">
              <a:ext uri="{FF2B5EF4-FFF2-40B4-BE49-F238E27FC236}">
                <a16:creationId xmlns:a16="http://schemas.microsoft.com/office/drawing/2014/main" id="{929187DC-3A06-4ECD-A959-2CB9AF8F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显式确认</a:t>
            </a:r>
          </a:p>
        </p:txBody>
      </p:sp>
      <p:sp>
        <p:nvSpPr>
          <p:cNvPr id="32" name="s4-core-4">
            <a:extLst xmlns:a="http://schemas.openxmlformats.org/drawingml/2006/main">
              <a:ext uri="{FF2B5EF4-FFF2-40B4-BE49-F238E27FC236}">
                <a16:creationId xmlns:a16="http://schemas.microsoft.com/office/drawing/2014/main" id="{DF9DA17B-9D3E-4EFA-9095-E462D794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5756"/>
                </a:solidFill>
              </a:defRPr>
            </a:pPr>
            <a:r>
              <a:rPr sz="1200" b="1">
                <a:solidFill>
                  <a:srgbClr val="575756"/>
                </a:solidFill>
              </a:rPr>
              <a:t>范围与后果复述</a:t>
            </a:r>
          </a:p>
        </p:txBody>
      </p:sp>
      <p:sp>
        <p:nvSpPr>
          <p:cNvPr id="33" name="s4-note-4">
            <a:extLst xmlns:a="http://schemas.openxmlformats.org/drawingml/2006/main">
              <a:ext uri="{FF2B5EF4-FFF2-40B4-BE49-F238E27FC236}">
                <a16:creationId xmlns:a16="http://schemas.microsoft.com/office/drawing/2014/main" id="{249C3D5A-A0CE-4BF0-8E26-B66CF6F0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000A"/>
                </a:solidFill>
              </a:defRPr>
            </a:pPr>
            <a:r>
              <a:rPr sz="1050" b="0">
                <a:solidFill>
                  <a:srgbClr val="C7000A"/>
                </a:solidFill>
              </a:rPr>
              <a:t>高风险加签</a:t>
            </a:r>
          </a:p>
        </p:txBody>
      </p:sp>
      <p:sp>
        <p:nvSpPr>
          <p:cNvPr id="34" name="s4-step-5">
            <a:extLst xmlns:a="http://schemas.openxmlformats.org/drawingml/2006/main">
              <a:ext uri="{FF2B5EF4-FFF2-40B4-BE49-F238E27FC236}">
                <a16:creationId xmlns:a16="http://schemas.microsoft.com/office/drawing/2014/main" id="{90E32FEE-E488-4336-90FF-BD20E5D7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1466850" cy="16192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35" name="s4-num-5">
            <a:extLst xmlns:a="http://schemas.openxmlformats.org/drawingml/2006/main">
              <a:ext uri="{FF2B5EF4-FFF2-40B4-BE49-F238E27FC236}">
                <a16:creationId xmlns:a16="http://schemas.microsoft.com/office/drawing/2014/main" id="{795EE477-FE4C-4CA2-BFEE-2DC61A75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06</a:t>
            </a:r>
          </a:p>
        </p:txBody>
      </p:sp>
      <p:sp>
        <p:nvSpPr>
          <p:cNvPr id="36" name="s4-head-5">
            <a:extLst xmlns:a="http://schemas.openxmlformats.org/drawingml/2006/main">
              <a:ext uri="{FF2B5EF4-FFF2-40B4-BE49-F238E27FC236}">
                <a16:creationId xmlns:a16="http://schemas.microsoft.com/office/drawing/2014/main" id="{1ECF253E-F834-4D69-A205-793E979D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00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执行与撤销</a:t>
            </a:r>
          </a:p>
        </p:txBody>
      </p:sp>
      <p:sp>
        <p:nvSpPr>
          <p:cNvPr id="37" name="s4-core-5">
            <a:extLst xmlns:a="http://schemas.openxmlformats.org/drawingml/2006/main">
              <a:ext uri="{FF2B5EF4-FFF2-40B4-BE49-F238E27FC236}">
                <a16:creationId xmlns:a16="http://schemas.microsoft.com/office/drawing/2014/main" id="{944092D3-7FD2-44D6-97D0-356C1608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5756"/>
                </a:solidFill>
              </a:defRPr>
            </a:pPr>
            <a:r>
              <a:rPr sz="1200" b="1">
                <a:solidFill>
                  <a:srgbClr val="575756"/>
                </a:solidFill>
              </a:rPr>
              <a:t>进入回收站</a:t>
            </a:r>
          </a:p>
        </p:txBody>
      </p:sp>
      <p:sp>
        <p:nvSpPr>
          <p:cNvPr id="38" name="s4-note-5">
            <a:extLst xmlns:a="http://schemas.openxmlformats.org/drawingml/2006/main">
              <a:ext uri="{FF2B5EF4-FFF2-40B4-BE49-F238E27FC236}">
                <a16:creationId xmlns:a16="http://schemas.microsoft.com/office/drawing/2014/main" id="{A420D910-B30E-48DD-BAA9-CC70AD84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62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</a:defRPr>
            </a:pPr>
            <a:r>
              <a:rPr sz="1050" b="0">
                <a:solidFill>
                  <a:srgbClr val="919191"/>
                </a:solidFill>
              </a:rPr>
              <a:t>保留恢复入口</a:t>
            </a:r>
          </a:p>
        </p:txBody>
      </p:sp>
      <p:sp>
        <p:nvSpPr>
          <p:cNvPr id="39" name="label-三类异常必须有明确分支-72-408">
            <a:extLst xmlns:a="http://schemas.openxmlformats.org/drawingml/2006/main">
              <a:ext uri="{FF2B5EF4-FFF2-40B4-BE49-F238E27FC236}">
                <a16:creationId xmlns:a16="http://schemas.microsoft.com/office/drawing/2014/main" id="{E2F40326-2841-4A7E-A51A-D362993D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三类异常必须有明确分支</a:t>
            </a:r>
          </a:p>
        </p:txBody>
      </p:sp>
      <p:sp>
        <p:nvSpPr>
          <p:cNvPr id="40" name="s4-branch-0">
            <a:extLst xmlns:a="http://schemas.openxmlformats.org/drawingml/2006/main">
              <a:ext uri="{FF2B5EF4-FFF2-40B4-BE49-F238E27FC236}">
                <a16:creationId xmlns:a16="http://schemas.microsoft.com/office/drawing/2014/main" id="{FED18A89-47CC-4018-8636-3616649F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352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41" name="s4-branch-h-0">
            <a:extLst xmlns:a="http://schemas.openxmlformats.org/drawingml/2006/main">
              <a:ext uri="{FF2B5EF4-FFF2-40B4-BE49-F238E27FC236}">
                <a16:creationId xmlns:a16="http://schemas.microsoft.com/office/drawing/2014/main" id="{6C3F2805-7EDA-4269-A569-FDE26C1E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解析不完整</a:t>
            </a:r>
          </a:p>
        </p:txBody>
      </p:sp>
      <p:sp>
        <p:nvSpPr>
          <p:cNvPr id="42" name="s4-branch-b-0">
            <a:extLst xmlns:a="http://schemas.openxmlformats.org/drawingml/2006/main">
              <a:ext uri="{FF2B5EF4-FFF2-40B4-BE49-F238E27FC236}">
                <a16:creationId xmlns:a16="http://schemas.microsoft.com/office/drawing/2014/main" id="{186FD607-16E1-41D2-9ED4-07816822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追问缺失条件，不自动补全范围</a:t>
            </a:r>
          </a:p>
        </p:txBody>
      </p:sp>
      <p:sp>
        <p:nvSpPr>
          <p:cNvPr id="43" name="s4-branch-a-0">
            <a:extLst xmlns:a="http://schemas.openxmlformats.org/drawingml/2006/main">
              <a:ext uri="{FF2B5EF4-FFF2-40B4-BE49-F238E27FC236}">
                <a16:creationId xmlns:a16="http://schemas.microsoft.com/office/drawing/2014/main" id="{01EA5C46-F787-4E30-9F72-6DDAECAC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返回可选条件</a:t>
            </a:r>
          </a:p>
        </p:txBody>
      </p:sp>
      <p:sp>
        <p:nvSpPr>
          <p:cNvPr id="44" name="s4-branch-1">
            <a:extLst xmlns:a="http://schemas.openxmlformats.org/drawingml/2006/main">
              <a:ext uri="{FF2B5EF4-FFF2-40B4-BE49-F238E27FC236}">
                <a16:creationId xmlns:a16="http://schemas.microsoft.com/office/drawing/2014/main" id="{46BDD554-3A38-4524-936D-21D8678A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3352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45" name="s4-branch-h-1">
            <a:extLst xmlns:a="http://schemas.openxmlformats.org/drawingml/2006/main">
              <a:ext uri="{FF2B5EF4-FFF2-40B4-BE49-F238E27FC236}">
                <a16:creationId xmlns:a16="http://schemas.microsoft.com/office/drawing/2014/main" id="{AA6A1C2F-2994-4A73-8D7B-BFD312CC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196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候选集过大</a:t>
            </a:r>
          </a:p>
        </p:txBody>
      </p:sp>
      <p:sp>
        <p:nvSpPr>
          <p:cNvPr id="46" name="s4-branch-b-1">
            <a:extLst xmlns:a="http://schemas.openxmlformats.org/drawingml/2006/main">
              <a:ext uri="{FF2B5EF4-FFF2-40B4-BE49-F238E27FC236}">
                <a16:creationId xmlns:a16="http://schemas.microsoft.com/office/drawing/2014/main" id="{460EDCED-4F1B-4892-8E4A-A3779DA0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244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先按时间、来源或类型分组</a:t>
            </a:r>
          </a:p>
        </p:txBody>
      </p:sp>
      <p:sp>
        <p:nvSpPr>
          <p:cNvPr id="47" name="s4-branch-a-1">
            <a:extLst xmlns:a="http://schemas.openxmlformats.org/drawingml/2006/main">
              <a:ext uri="{FF2B5EF4-FFF2-40B4-BE49-F238E27FC236}">
                <a16:creationId xmlns:a16="http://schemas.microsoft.com/office/drawing/2014/main" id="{69908FFC-AA9E-4EDB-85D2-A0025B5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要求二次缩小</a:t>
            </a:r>
          </a:p>
        </p:txBody>
      </p:sp>
      <p:sp>
        <p:nvSpPr>
          <p:cNvPr id="48" name="s4-branch-2">
            <a:extLst xmlns:a="http://schemas.openxmlformats.org/drawingml/2006/main">
              <a:ext uri="{FF2B5EF4-FFF2-40B4-BE49-F238E27FC236}">
                <a16:creationId xmlns:a16="http://schemas.microsoft.com/office/drawing/2014/main" id="{62043C06-25FD-4EBB-B0DA-511D2CFB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86250"/>
            <a:ext cx="3352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49" name="s4-branch-h-2">
            <a:extLst xmlns:a="http://schemas.openxmlformats.org/drawingml/2006/main">
              <a:ext uri="{FF2B5EF4-FFF2-40B4-BE49-F238E27FC236}">
                <a16:creationId xmlns:a16="http://schemas.microsoft.com/office/drawing/2014/main" id="{62C4FF98-0292-4F59-89F5-66884862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96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</a:defRPr>
            </a:pPr>
            <a:r>
              <a:rPr sz="1350" b="1">
                <a:solidFill>
                  <a:srgbClr val="C7000A"/>
                </a:solidFill>
              </a:rPr>
              <a:t>高风险对象</a:t>
            </a:r>
          </a:p>
        </p:txBody>
      </p:sp>
      <p:sp>
        <p:nvSpPr>
          <p:cNvPr id="50" name="s4-branch-b-2">
            <a:extLst xmlns:a="http://schemas.openxmlformats.org/drawingml/2006/main">
              <a:ext uri="{FF2B5EF4-FFF2-40B4-BE49-F238E27FC236}">
                <a16:creationId xmlns:a16="http://schemas.microsoft.com/office/drawing/2014/main" id="{6C5A1F89-A285-410F-B891-1B250569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人物、私密、票据等仅提供筛选</a:t>
            </a:r>
          </a:p>
        </p:txBody>
      </p:sp>
      <p:sp>
        <p:nvSpPr>
          <p:cNvPr id="51" name="s4-branch-a-2">
            <a:extLst xmlns:a="http://schemas.openxmlformats.org/drawingml/2006/main">
              <a:ext uri="{FF2B5EF4-FFF2-40B4-BE49-F238E27FC236}">
                <a16:creationId xmlns:a16="http://schemas.microsoft.com/office/drawing/2014/main" id="{A0FB6970-9731-46E9-B7B9-DCF7E969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196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禁止直接执行</a:t>
            </a:r>
          </a:p>
        </p:txBody>
      </p:sp>
      <p:sp>
        <p:nvSpPr>
          <p:cNvPr id="52" name="s4-action">
            <a:extLst xmlns:a="http://schemas.openxmlformats.org/drawingml/2006/main">
              <a:ext uri="{FF2B5EF4-FFF2-40B4-BE49-F238E27FC236}">
                <a16:creationId xmlns:a16="http://schemas.microsoft.com/office/drawing/2014/main" id="{FF2F5309-F809-4242-B4C6-31E8F73B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4-action-text">
            <a:extLst xmlns:a="http://schemas.openxmlformats.org/drawingml/2006/main">
              <a:ext uri="{FF2B5EF4-FFF2-40B4-BE49-F238E27FC236}">
                <a16:creationId xmlns:a16="http://schemas.microsoft.com/office/drawing/2014/main" id="{A30C1AB2-09BC-47F6-9C4F-B2CA85B8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验收条件：用户在执行前可复述系统选择范围；执行后可在稳定入口恢复；任何异常分支不绕过确认。</a:t>
            </a:r>
          </a:p>
        </p:txBody>
      </p:sp>
      <p:sp>
        <p:nvSpPr>
          <p:cNvPr id="54" name="s4-footer-left">
            <a:extLst xmlns:a="http://schemas.openxmlformats.org/drawingml/2006/main">
              <a:ext uri="{FF2B5EF4-FFF2-40B4-BE49-F238E27FC236}">
                <a16:creationId xmlns:a16="http://schemas.microsoft.com/office/drawing/2014/main" id="{F1E03A54-FA2C-4D7D-9171-96BF387A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9191"/>
                </a:solidFill>
              </a:defRPr>
            </a:pPr>
            <a:r>
              <a:rPr sz="750" b="0">
                <a:solidFill>
                  <a:srgbClr val="919191"/>
                </a:solidFill>
              </a:rPr>
              <a:t>04   Huawei Confidential</a:t>
            </a:r>
          </a:p>
        </p:txBody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74d81453b4cd2"/>
          <a:stretch xmlns:a="http://schemas.openxmlformats.org/drawingml/2006/main"/>
        </p:blipFill>
        <p:spPr>
          <a:xfrm xmlns:a="http://schemas.openxmlformats.org/drawingml/2006/main">
            <a:off x="10496550" y="6413926"/>
            <a:ext cx="1009650" cy="221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0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5-title-accent">
            <a:extLst xmlns:a="http://schemas.openxmlformats.org/drawingml/2006/main">
              <a:ext uri="{FF2B5EF4-FFF2-40B4-BE49-F238E27FC236}">
                <a16:creationId xmlns:a16="http://schemas.microsoft.com/office/drawing/2014/main" id="{4FFDF769-AF0F-4E72-950E-23AB0E5D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5-title">
            <a:extLst xmlns:a="http://schemas.openxmlformats.org/drawingml/2006/main">
              <a:ext uri="{FF2B5EF4-FFF2-40B4-BE49-F238E27FC236}">
                <a16:creationId xmlns:a16="http://schemas.microsoft.com/office/drawing/2014/main" id="{B5EB734C-8625-4DF4-BDEC-48170D8A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五层意图模型将自然语言请求约束为可执行图库查询</a:t>
            </a:r>
          </a:p>
        </p:txBody>
      </p:sp>
      <p:sp>
        <p:nvSpPr>
          <p:cNvPr id="3" name="s5-lead">
            <a:extLst xmlns:a="http://schemas.openxmlformats.org/drawingml/2006/main">
              <a:ext uri="{FF2B5EF4-FFF2-40B4-BE49-F238E27FC236}">
                <a16:creationId xmlns:a16="http://schemas.microsoft.com/office/drawing/2014/main" id="{1A6BB000-052F-4D8F-A9A8-3EAEBFDB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D7D7"/>
                </a:solidFill>
              </a:defRPr>
            </a:pPr>
            <a:r>
              <a:rPr sz="1500" b="1">
                <a:solidFill>
                  <a:srgbClr val="D7D7D7"/>
                </a:solidFill>
              </a:rPr>
              <a:t>解析结果必须同时满足查询可执行、用户可理解和风险可评估三项条件</a:t>
            </a:r>
          </a:p>
        </p:txBody>
      </p:sp>
      <p:sp>
        <p:nvSpPr>
          <p:cNvPr id="4" name="s5-layer-bg-0">
            <a:extLst xmlns:a="http://schemas.openxmlformats.org/drawingml/2006/main">
              <a:ext uri="{FF2B5EF4-FFF2-40B4-BE49-F238E27FC236}">
                <a16:creationId xmlns:a16="http://schemas.microsoft.com/office/drawing/2014/main" id="{930D833C-0C75-4077-8847-2DD2D81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57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" name="s5-layer-title-0">
            <a:extLst xmlns:a="http://schemas.openxmlformats.org/drawingml/2006/main">
              <a:ext uri="{FF2B5EF4-FFF2-40B4-BE49-F238E27FC236}">
                <a16:creationId xmlns:a16="http://schemas.microsoft.com/office/drawing/2014/main" id="{0297062A-A588-4BD7-B870-F4603E43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3D"/>
                </a:solidFill>
              </a:defRPr>
            </a:pPr>
            <a:r>
              <a:rPr sz="1350" b="1">
                <a:solidFill>
                  <a:srgbClr val="E8A33D"/>
                </a:solidFill>
              </a:rPr>
              <a:t>对象层</a:t>
            </a:r>
          </a:p>
        </p:txBody>
      </p:sp>
      <p:sp>
        <p:nvSpPr>
          <p:cNvPr id="6" name="s5-layer-mid-0">
            <a:extLst xmlns:a="http://schemas.openxmlformats.org/drawingml/2006/main">
              <a:ext uri="{FF2B5EF4-FFF2-40B4-BE49-F238E27FC236}">
                <a16:creationId xmlns:a16="http://schemas.microsoft.com/office/drawing/2014/main" id="{C61EB937-B4F4-4E2B-A332-F7F43860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1930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截图 / 重复 / 模糊 / 视频 / 票据</a:t>
            </a:r>
          </a:p>
        </p:txBody>
      </p:sp>
      <p:sp>
        <p:nvSpPr>
          <p:cNvPr id="7" name="s5-layer-out-0">
            <a:extLst xmlns:a="http://schemas.openxmlformats.org/drawingml/2006/main">
              <a:ext uri="{FF2B5EF4-FFF2-40B4-BE49-F238E27FC236}">
                <a16:creationId xmlns:a16="http://schemas.microsoft.com/office/drawing/2014/main" id="{05D0C330-ED7F-4B1E-8BD1-75F40E37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193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EBEBE"/>
                </a:solidFill>
              </a:defRPr>
            </a:pPr>
            <a:r>
              <a:rPr sz="1050" b="0">
                <a:solidFill>
                  <a:srgbClr val="BEBEBE"/>
                </a:solidFill>
              </a:rPr>
              <a:t>识别对象类别</a:t>
            </a:r>
          </a:p>
        </p:txBody>
      </p:sp>
      <p:sp>
        <p:nvSpPr>
          <p:cNvPr id="8" name="s5-layer-bg-1">
            <a:extLst xmlns:a="http://schemas.openxmlformats.org/drawingml/2006/main">
              <a:ext uri="{FF2B5EF4-FFF2-40B4-BE49-F238E27FC236}">
                <a16:creationId xmlns:a16="http://schemas.microsoft.com/office/drawing/2014/main" id="{37D2429C-17C6-4F13-898A-A67CDBA3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657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" name="s5-layer-title-1">
            <a:extLst xmlns:a="http://schemas.openxmlformats.org/drawingml/2006/main">
              <a:ext uri="{FF2B5EF4-FFF2-40B4-BE49-F238E27FC236}">
                <a16:creationId xmlns:a16="http://schemas.microsoft.com/office/drawing/2014/main" id="{25017D90-B1CD-4665-A508-EAE7745F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3D"/>
                </a:solidFill>
              </a:defRPr>
            </a:pPr>
            <a:r>
              <a:rPr sz="1350" b="1">
                <a:solidFill>
                  <a:srgbClr val="E8A33D"/>
                </a:solidFill>
              </a:rPr>
              <a:t>条件层</a:t>
            </a:r>
          </a:p>
        </p:txBody>
      </p:sp>
      <p:sp>
        <p:nvSpPr>
          <p:cNvPr id="10" name="s5-layer-mid-1">
            <a:extLst xmlns:a="http://schemas.openxmlformats.org/drawingml/2006/main">
              <a:ext uri="{FF2B5EF4-FFF2-40B4-BE49-F238E27FC236}">
                <a16:creationId xmlns:a16="http://schemas.microsoft.com/office/drawing/2014/main" id="{85CBB0DA-A306-444C-991A-B0EFAE1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622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时间 / 地点 / 来源 / 质量 / 大小</a:t>
            </a:r>
          </a:p>
        </p:txBody>
      </p:sp>
      <p:sp>
        <p:nvSpPr>
          <p:cNvPr id="11" name="s5-layer-out-1">
            <a:extLst xmlns:a="http://schemas.openxmlformats.org/drawingml/2006/main">
              <a:ext uri="{FF2B5EF4-FFF2-40B4-BE49-F238E27FC236}">
                <a16:creationId xmlns:a16="http://schemas.microsoft.com/office/drawing/2014/main" id="{B1866108-8AF9-494B-B372-4A3DCD8A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622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EBEBE"/>
                </a:solidFill>
              </a:defRPr>
            </a:pPr>
            <a:r>
              <a:rPr sz="1050" b="0">
                <a:solidFill>
                  <a:srgbClr val="BEBEBE"/>
                </a:solidFill>
              </a:rPr>
              <a:t>形成过滤表达式</a:t>
            </a:r>
          </a:p>
        </p:txBody>
      </p:sp>
      <p:sp>
        <p:nvSpPr>
          <p:cNvPr id="12" name="s5-layer-bg-2">
            <a:extLst xmlns:a="http://schemas.openxmlformats.org/drawingml/2006/main">
              <a:ext uri="{FF2B5EF4-FFF2-40B4-BE49-F238E27FC236}">
                <a16:creationId xmlns:a16="http://schemas.microsoft.com/office/drawing/2014/main" id="{52978452-2A96-41AE-9D54-126F1BC3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57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3" name="s5-layer-title-2">
            <a:extLst xmlns:a="http://schemas.openxmlformats.org/drawingml/2006/main">
              <a:ext uri="{FF2B5EF4-FFF2-40B4-BE49-F238E27FC236}">
                <a16:creationId xmlns:a16="http://schemas.microsoft.com/office/drawing/2014/main" id="{CD3E7989-CC10-46AA-9BD5-942D1A9A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3D"/>
                </a:solidFill>
              </a:defRPr>
            </a:pPr>
            <a:r>
              <a:rPr sz="1350" b="1">
                <a:solidFill>
                  <a:srgbClr val="E8A33D"/>
                </a:solidFill>
              </a:rPr>
              <a:t>范围层</a:t>
            </a:r>
          </a:p>
        </p:txBody>
      </p:sp>
      <p:sp>
        <p:nvSpPr>
          <p:cNvPr id="14" name="s5-layer-mid-2">
            <a:extLst xmlns:a="http://schemas.openxmlformats.org/drawingml/2006/main">
              <a:ext uri="{FF2B5EF4-FFF2-40B4-BE49-F238E27FC236}">
                <a16:creationId xmlns:a16="http://schemas.microsoft.com/office/drawing/2014/main" id="{3CF58572-B6B3-4D47-88D0-7E54336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0520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全部 / 某相册 / 某时间段 / 某设备</a:t>
            </a:r>
          </a:p>
        </p:txBody>
      </p:sp>
      <p:sp>
        <p:nvSpPr>
          <p:cNvPr id="15" name="s5-layer-out-2">
            <a:extLst xmlns:a="http://schemas.openxmlformats.org/drawingml/2006/main">
              <a:ext uri="{FF2B5EF4-FFF2-40B4-BE49-F238E27FC236}">
                <a16:creationId xmlns:a16="http://schemas.microsoft.com/office/drawing/2014/main" id="{E547A017-2397-47C3-9A8F-CA300803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052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EBEBE"/>
                </a:solidFill>
              </a:defRPr>
            </a:pPr>
            <a:r>
              <a:rPr sz="1050" b="0">
                <a:solidFill>
                  <a:srgbClr val="BEBEBE"/>
                </a:solidFill>
              </a:rPr>
              <a:t>限制影响边界</a:t>
            </a:r>
          </a:p>
        </p:txBody>
      </p:sp>
      <p:sp>
        <p:nvSpPr>
          <p:cNvPr id="16" name="s5-layer-bg-3">
            <a:extLst xmlns:a="http://schemas.openxmlformats.org/drawingml/2006/main">
              <a:ext uri="{FF2B5EF4-FFF2-40B4-BE49-F238E27FC236}">
                <a16:creationId xmlns:a16="http://schemas.microsoft.com/office/drawing/2014/main" id="{311CB164-44DF-479E-BE6E-FB917944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57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7" name="s5-layer-title-3">
            <a:extLst xmlns:a="http://schemas.openxmlformats.org/drawingml/2006/main">
              <a:ext uri="{FF2B5EF4-FFF2-40B4-BE49-F238E27FC236}">
                <a16:creationId xmlns:a16="http://schemas.microsoft.com/office/drawing/2014/main" id="{82D97DD3-1971-4CEE-BBBB-7EC743CB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3D"/>
                </a:solidFill>
              </a:defRPr>
            </a:pPr>
            <a:r>
              <a:rPr sz="1350" b="1">
                <a:solidFill>
                  <a:srgbClr val="E8A33D"/>
                </a:solidFill>
              </a:rPr>
              <a:t>动作层</a:t>
            </a:r>
          </a:p>
        </p:txBody>
      </p:sp>
      <p:sp>
        <p:nvSpPr>
          <p:cNvPr id="18" name="s5-layer-mid-3">
            <a:extLst xmlns:a="http://schemas.openxmlformats.org/drawingml/2006/main">
              <a:ext uri="{FF2B5EF4-FFF2-40B4-BE49-F238E27FC236}">
                <a16:creationId xmlns:a16="http://schemas.microsoft.com/office/drawing/2014/main" id="{BC7DC5C6-4065-4D44-8D95-15919724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481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筛选 / 建议清理 / 删除 / 归档</a:t>
            </a:r>
          </a:p>
        </p:txBody>
      </p:sp>
      <p:sp>
        <p:nvSpPr>
          <p:cNvPr id="19" name="s5-layer-out-3">
            <a:extLst xmlns:a="http://schemas.openxmlformats.org/drawingml/2006/main">
              <a:ext uri="{FF2B5EF4-FFF2-40B4-BE49-F238E27FC236}">
                <a16:creationId xmlns:a16="http://schemas.microsoft.com/office/drawing/2014/main" id="{02830785-3C4E-4959-8763-A775A455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481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EBEBE"/>
                </a:solidFill>
              </a:defRPr>
            </a:pPr>
            <a:r>
              <a:rPr sz="1050" b="0">
                <a:solidFill>
                  <a:srgbClr val="BEBEBE"/>
                </a:solidFill>
              </a:rPr>
              <a:t>决定确认强度</a:t>
            </a:r>
          </a:p>
        </p:txBody>
      </p:sp>
      <p:sp>
        <p:nvSpPr>
          <p:cNvPr id="20" name="s5-layer-bg-4">
            <a:extLst xmlns:a="http://schemas.openxmlformats.org/drawingml/2006/main">
              <a:ext uri="{FF2B5EF4-FFF2-40B4-BE49-F238E27FC236}">
                <a16:creationId xmlns:a16="http://schemas.microsoft.com/office/drawing/2014/main" id="{4F3E8F89-BB25-420C-961E-402EC860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57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02020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1" name="s5-layer-title-4">
            <a:extLst xmlns:a="http://schemas.openxmlformats.org/drawingml/2006/main">
              <a:ext uri="{FF2B5EF4-FFF2-40B4-BE49-F238E27FC236}">
                <a16:creationId xmlns:a16="http://schemas.microsoft.com/office/drawing/2014/main" id="{3E742ECA-694D-46BE-A182-5C076889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77D"/>
                </a:solidFill>
              </a:defRPr>
            </a:pPr>
            <a:r>
              <a:rPr sz="1350" b="1">
                <a:solidFill>
                  <a:srgbClr val="FF777D"/>
                </a:solidFill>
              </a:rPr>
              <a:t>风险层</a:t>
            </a:r>
          </a:p>
        </p:txBody>
      </p:sp>
      <p:sp>
        <p:nvSpPr>
          <p:cNvPr id="22" name="s5-layer-mid-4">
            <a:extLst xmlns:a="http://schemas.openxmlformats.org/drawingml/2006/main">
              <a:ext uri="{FF2B5EF4-FFF2-40B4-BE49-F238E27FC236}">
                <a16:creationId xmlns:a16="http://schemas.microsoft.com/office/drawing/2014/main" id="{E6119D52-B7C0-4114-A32D-F7BDBB89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敏感对象 / 低置信 / 超大候选集</a:t>
            </a:r>
          </a:p>
        </p:txBody>
      </p:sp>
      <p:sp>
        <p:nvSpPr>
          <p:cNvPr id="23" name="s5-layer-out-4">
            <a:extLst xmlns:a="http://schemas.openxmlformats.org/drawingml/2006/main">
              <a:ext uri="{FF2B5EF4-FFF2-40B4-BE49-F238E27FC236}">
                <a16:creationId xmlns:a16="http://schemas.microsoft.com/office/drawing/2014/main" id="{9699955A-EFCE-43F6-9763-9B2B39F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911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EBEBE"/>
                </a:solidFill>
              </a:defRPr>
            </a:pPr>
            <a:r>
              <a:rPr sz="1050" b="0">
                <a:solidFill>
                  <a:srgbClr val="BEBEBE"/>
                </a:solidFill>
              </a:rPr>
              <a:t>触发降级策略</a:t>
            </a:r>
          </a:p>
        </p:txBody>
      </p:sp>
      <p:sp>
        <p:nvSpPr>
          <p:cNvPr id="24" name="s5-main-arrow">
            <a:extLst xmlns:a="http://schemas.openxmlformats.org/drawingml/2006/main">
              <a:ext uri="{FF2B5EF4-FFF2-40B4-BE49-F238E27FC236}">
                <a16:creationId xmlns:a16="http://schemas.microsoft.com/office/drawing/2014/main" id="{12305903-CA8E-4B8A-BE8C-C4371861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5143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5-query">
            <a:extLst xmlns:a="http://schemas.openxmlformats.org/drawingml/2006/main">
              <a:ext uri="{FF2B5EF4-FFF2-40B4-BE49-F238E27FC236}">
                <a16:creationId xmlns:a16="http://schemas.microsoft.com/office/drawing/2014/main" id="{1152BE10-A040-4338-9614-FEC0C484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33528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19050">
            <a:solidFill>
              <a:srgbClr val="E8A33D"/>
            </a:solidFill>
            <a:prstDash val="solid"/>
          </a:ln>
        </p:spPr>
      </p:sp>
      <p:sp>
        <p:nvSpPr>
          <p:cNvPr id="26" name="s5-query-title">
            <a:extLst xmlns:a="http://schemas.openxmlformats.org/drawingml/2006/main">
              <a:ext uri="{FF2B5EF4-FFF2-40B4-BE49-F238E27FC236}">
                <a16:creationId xmlns:a16="http://schemas.microsoft.com/office/drawing/2014/main" id="{82CAF70F-0EA2-4CAE-B8CF-B242A890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A33D"/>
                </a:solidFill>
              </a:defRPr>
            </a:pPr>
            <a:r>
              <a:rPr sz="1650" b="1">
                <a:solidFill>
                  <a:srgbClr val="E8A33D"/>
                </a:solidFill>
              </a:rPr>
              <a:t>可解释查询计划</a:t>
            </a:r>
          </a:p>
        </p:txBody>
      </p:sp>
      <p:sp>
        <p:nvSpPr>
          <p:cNvPr id="27" name="s5-query-code">
            <a:extLst xmlns:a="http://schemas.openxmlformats.org/drawingml/2006/main">
              <a:ext uri="{FF2B5EF4-FFF2-40B4-BE49-F238E27FC236}">
                <a16:creationId xmlns:a16="http://schemas.microsoft.com/office/drawing/2014/main" id="{24D6C2BF-022A-49F0-9956-00051146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895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对象 = 截图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时间 = 上个月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范围 = 本机图库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动作 = 建议清理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风险 = 低 → 预览后确认</a:t>
            </a:r>
          </a:p>
        </p:txBody>
      </p:sp>
      <p:sp>
        <p:nvSpPr>
          <p:cNvPr id="28" name="ann-1-856-452">
            <a:extLst xmlns:a="http://schemas.openxmlformats.org/drawingml/2006/main">
              <a:ext uri="{FF2B5EF4-FFF2-40B4-BE49-F238E27FC236}">
                <a16:creationId xmlns:a16="http://schemas.microsoft.com/office/drawing/2014/main" id="{E11DDCC5-C683-4829-8618-E69DF021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nn-num-1-856-452">
            <a:extLst xmlns:a="http://schemas.openxmlformats.org/drawingml/2006/main">
              <a:ext uri="{FF2B5EF4-FFF2-40B4-BE49-F238E27FC236}">
                <a16:creationId xmlns:a16="http://schemas.microsoft.com/office/drawing/2014/main" id="{BAD2EA4E-35DB-4C53-B378-58232E3F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243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0D0D"/>
                </a:solidFill>
              </a:defRPr>
            </a:pPr>
            <a:r>
              <a:rPr sz="1050" b="1">
                <a:solidFill>
                  <a:srgbClr val="0D0D0D"/>
                </a:solidFill>
              </a:rPr>
              <a:t>1</a:t>
            </a:r>
          </a:p>
        </p:txBody>
      </p:sp>
      <p:sp>
        <p:nvSpPr>
          <p:cNvPr id="30" name="ann-head-1-856-452">
            <a:extLst xmlns:a="http://schemas.openxmlformats.org/drawingml/2006/main">
              <a:ext uri="{FF2B5EF4-FFF2-40B4-BE49-F238E27FC236}">
                <a16:creationId xmlns:a16="http://schemas.microsoft.com/office/drawing/2014/main" id="{C82C5F9F-4D27-4DB4-899D-1647727D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95775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可执行性</a:t>
            </a:r>
          </a:p>
        </p:txBody>
      </p:sp>
      <p:sp>
        <p:nvSpPr>
          <p:cNvPr id="31" name="ann-body-1-856-452">
            <a:extLst xmlns:a="http://schemas.openxmlformats.org/drawingml/2006/main">
              <a:ext uri="{FF2B5EF4-FFF2-40B4-BE49-F238E27FC236}">
                <a16:creationId xmlns:a16="http://schemas.microsoft.com/office/drawing/2014/main" id="{9196B567-539A-4E34-8EAC-7A670990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0D0"/>
                </a:solidFill>
              </a:defRPr>
            </a:pPr>
            <a:r>
              <a:rPr sz="1050" b="0">
                <a:solidFill>
                  <a:srgbClr val="D0D0D0"/>
                </a:solidFill>
              </a:rPr>
              <a:t>任一条件无法映射到索引能力时，不生成删除计划。</a:t>
            </a:r>
          </a:p>
        </p:txBody>
      </p:sp>
      <p:sp>
        <p:nvSpPr>
          <p:cNvPr id="32" name="ann-2-856-530">
            <a:extLst xmlns:a="http://schemas.openxmlformats.org/drawingml/2006/main">
              <a:ext uri="{FF2B5EF4-FFF2-40B4-BE49-F238E27FC236}">
                <a16:creationId xmlns:a16="http://schemas.microsoft.com/office/drawing/2014/main" id="{C2D293A4-3466-4DFF-B42A-4B27044E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nn-num-2-856-530">
            <a:extLst xmlns:a="http://schemas.openxmlformats.org/drawingml/2006/main">
              <a:ext uri="{FF2B5EF4-FFF2-40B4-BE49-F238E27FC236}">
                <a16:creationId xmlns:a16="http://schemas.microsoft.com/office/drawing/2014/main" id="{7912CA59-CF80-4BF1-BF5C-7D9F84A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67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0D0D"/>
                </a:solidFill>
              </a:defRPr>
            </a:pPr>
            <a:r>
              <a:rPr sz="1050" b="1">
                <a:solidFill>
                  <a:srgbClr val="0D0D0D"/>
                </a:solidFill>
              </a:rPr>
              <a:t>2</a:t>
            </a:r>
          </a:p>
        </p:txBody>
      </p:sp>
      <p:sp>
        <p:nvSpPr>
          <p:cNvPr id="34" name="ann-head-2-856-530">
            <a:extLst xmlns:a="http://schemas.openxmlformats.org/drawingml/2006/main">
              <a:ext uri="{FF2B5EF4-FFF2-40B4-BE49-F238E27FC236}">
                <a16:creationId xmlns:a16="http://schemas.microsoft.com/office/drawing/2014/main" id="{D1D3ED28-355E-4E07-88BC-641054ED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38725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可理解性</a:t>
            </a:r>
          </a:p>
        </p:txBody>
      </p:sp>
      <p:sp>
        <p:nvSpPr>
          <p:cNvPr id="35" name="ann-body-2-856-530">
            <a:extLst xmlns:a="http://schemas.openxmlformats.org/drawingml/2006/main">
              <a:ext uri="{FF2B5EF4-FFF2-40B4-BE49-F238E27FC236}">
                <a16:creationId xmlns:a16="http://schemas.microsoft.com/office/drawing/2014/main" id="{A7090FA3-1187-46B3-9906-772DE58C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0542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0D0"/>
                </a:solidFill>
              </a:defRPr>
            </a:pPr>
            <a:r>
              <a:rPr sz="1050" b="0">
                <a:solidFill>
                  <a:srgbClr val="D0D0D0"/>
                </a:solidFill>
              </a:rPr>
              <a:t>预览页使用用户原词，并展示系统补充或推断的条件。</a:t>
            </a:r>
          </a:p>
        </p:txBody>
      </p:sp>
      <p:sp>
        <p:nvSpPr>
          <p:cNvPr id="36" name="s5-bottom">
            <a:extLst xmlns:a="http://schemas.openxmlformats.org/drawingml/2006/main">
              <a:ext uri="{FF2B5EF4-FFF2-40B4-BE49-F238E27FC236}">
                <a16:creationId xmlns:a16="http://schemas.microsoft.com/office/drawing/2014/main" id="{E6644C51-8D43-4E8D-A60D-17B07CFF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5-bottom-text">
            <a:extLst xmlns:a="http://schemas.openxmlformats.org/drawingml/2006/main">
              <a:ext uri="{FF2B5EF4-FFF2-40B4-BE49-F238E27FC236}">
                <a16:creationId xmlns:a16="http://schemas.microsoft.com/office/drawing/2014/main" id="{A07C67E0-A259-463C-BE5D-88F79024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技术决策：意图模型输出结构化查询，不输出不可解释的“直接删除”指令。</a:t>
            </a:r>
          </a:p>
        </p:txBody>
      </p:sp>
      <p:sp>
        <p:nvSpPr>
          <p:cNvPr id="38" name="s5-footer-left">
            <a:extLst xmlns:a="http://schemas.openxmlformats.org/drawingml/2006/main">
              <a:ext uri="{FF2B5EF4-FFF2-40B4-BE49-F238E27FC236}">
                <a16:creationId xmlns:a16="http://schemas.microsoft.com/office/drawing/2014/main" id="{88AD3A5D-9304-4863-BC72-BCED0874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0"/>
                </a:solidFill>
              </a:defRPr>
            </a:pPr>
            <a:r>
              <a:rPr sz="750" b="0">
                <a:solidFill>
                  <a:srgbClr val="B0B0B0"/>
                </a:solidFill>
              </a:rPr>
              <a:t>05   Huawei Confidential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527cd68b243fa"/>
          <a:stretch xmlns:a="http://schemas.openxmlformats.org/drawingml/2006/main"/>
        </p:blipFill>
        <p:spPr>
          <a:xfrm xmlns:a="http://schemas.openxmlformats.org/drawingml/2006/main">
            <a:off x="10442013" y="6381750"/>
            <a:ext cx="280524" cy="285750"/>
          </a:xfrm>
          <a:prstGeom xmlns:a="http://schemas.openxmlformats.org/drawingml/2006/main" prst="rect">
            <a:avLst/>
          </a:prstGeom>
        </p:spPr>
      </p:pic>
      <p:sp>
        <p:nvSpPr>
          <p:cNvPr id="40" name="s5-footer-brand-dark">
            <a:extLst xmlns:a="http://schemas.openxmlformats.org/drawingml/2006/main">
              <a:ext uri="{FF2B5EF4-FFF2-40B4-BE49-F238E27FC236}">
                <a16:creationId xmlns:a16="http://schemas.microsoft.com/office/drawing/2014/main" id="{947A4293-9A2E-49ED-A41C-493C87F7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2937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HUAWEI</a:t>
            </a:r>
          </a:p>
        </p:txBody>
      </p:sp>
    </p:spTree>
    <p:extLst>
      <p:ext uri="{BB962C8B-B14F-4D97-AF65-F5344CB8AC3E}">
        <p14:creationId xmlns:p14="http://schemas.microsoft.com/office/powerpoint/2010/main" val="18756584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6-title-accent">
            <a:extLst xmlns:a="http://schemas.openxmlformats.org/drawingml/2006/main">
              <a:ext uri="{FF2B5EF4-FFF2-40B4-BE49-F238E27FC236}">
                <a16:creationId xmlns:a16="http://schemas.microsoft.com/office/drawing/2014/main" id="{252AA709-4481-4FE5-861D-B477AA7F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B0FC4ABD-B831-491A-A955-5F50FF64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</a:defRPr>
            </a:pPr>
            <a:r>
              <a:rPr sz="2850" b="1">
                <a:solidFill>
                  <a:srgbClr val="1D1D1A"/>
                </a:solidFill>
              </a:rPr>
              <a:t>风险分级与逐级确认机制将删除动作限定在可恢复范围</a:t>
            </a:r>
          </a:p>
        </p:txBody>
      </p:sp>
      <p:sp>
        <p:nvSpPr>
          <p:cNvPr id="3" name="s6-lead">
            <a:extLst xmlns:a="http://schemas.openxmlformats.org/drawingml/2006/main">
              <a:ext uri="{FF2B5EF4-FFF2-40B4-BE49-F238E27FC236}">
                <a16:creationId xmlns:a16="http://schemas.microsoft.com/office/drawing/2014/main" id="{35B6C862-9E99-4DFF-BCAD-88B11D7D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756"/>
                </a:solidFill>
              </a:defRPr>
            </a:pPr>
            <a:r>
              <a:rPr sz="1500" b="1">
                <a:solidFill>
                  <a:srgbClr val="575756"/>
                </a:solidFill>
              </a:rPr>
              <a:t>风险不是单一置信度，而是对象敏感度、候选规模、语义缺失与模型不确定性的组合</a:t>
            </a:r>
          </a:p>
        </p:txBody>
      </p:sp>
      <p:sp>
        <p:nvSpPr>
          <p:cNvPr id="4" name="s6-level-0">
            <a:extLst xmlns:a="http://schemas.openxmlformats.org/drawingml/2006/main">
              <a:ext uri="{FF2B5EF4-FFF2-40B4-BE49-F238E27FC236}">
                <a16:creationId xmlns:a16="http://schemas.microsoft.com/office/drawing/2014/main" id="{01DF45AD-3DCD-4D8C-9263-05F3AD15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575756"/>
            </a:solidFill>
            <a:prstDash val="solid"/>
          </a:ln>
        </p:spPr>
      </p:sp>
      <p:sp>
        <p:nvSpPr>
          <p:cNvPr id="5" name="s6-level-code-0">
            <a:extLst xmlns:a="http://schemas.openxmlformats.org/drawingml/2006/main">
              <a:ext uri="{FF2B5EF4-FFF2-40B4-BE49-F238E27FC236}">
                <a16:creationId xmlns:a16="http://schemas.microsoft.com/office/drawing/2014/main" id="{FB63A7A2-161C-46EF-B38A-AA87D74C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</a:defRPr>
            </a:pPr>
            <a:r>
              <a:rPr sz="1350" b="1">
                <a:solidFill>
                  <a:srgbClr val="575756"/>
                </a:solidFill>
              </a:rPr>
              <a:t>L0</a:t>
            </a:r>
          </a:p>
        </p:txBody>
      </p:sp>
      <p:sp>
        <p:nvSpPr>
          <p:cNvPr id="6" name="s6-level-name-0">
            <a:extLst xmlns:a="http://schemas.openxmlformats.org/drawingml/2006/main">
              <a:ext uri="{FF2B5EF4-FFF2-40B4-BE49-F238E27FC236}">
                <a16:creationId xmlns:a16="http://schemas.microsoft.com/office/drawing/2014/main" id="{376928AE-F78F-499B-8105-2EC95A7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只读筛选</a:t>
            </a:r>
          </a:p>
        </p:txBody>
      </p:sp>
      <p:sp>
        <p:nvSpPr>
          <p:cNvPr id="7" name="s6-level-cond-0">
            <a:extLst xmlns:a="http://schemas.openxmlformats.org/drawingml/2006/main">
              <a:ext uri="{FF2B5EF4-FFF2-40B4-BE49-F238E27FC236}">
                <a16:creationId xmlns:a16="http://schemas.microsoft.com/office/drawing/2014/main" id="{2856547D-C71A-47B2-B8F4-4FCE0299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002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人物、票据、私密相册；语义缺失或低置信</a:t>
            </a:r>
          </a:p>
        </p:txBody>
      </p:sp>
      <p:sp>
        <p:nvSpPr>
          <p:cNvPr id="8" name="s6-level-act-0">
            <a:extLst xmlns:a="http://schemas.openxmlformats.org/drawingml/2006/main">
              <a:ext uri="{FF2B5EF4-FFF2-40B4-BE49-F238E27FC236}">
                <a16:creationId xmlns:a16="http://schemas.microsoft.com/office/drawing/2014/main" id="{4724A4F5-E66E-4668-B80A-E2BDD35A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025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5756"/>
                </a:solidFill>
              </a:defRPr>
            </a:pPr>
            <a:r>
              <a:rPr sz="1050" b="1">
                <a:solidFill>
                  <a:srgbClr val="575756"/>
                </a:solidFill>
              </a:rPr>
              <a:t>返回结果，不出现执行按钮</a:t>
            </a:r>
          </a:p>
        </p:txBody>
      </p:sp>
      <p:sp>
        <p:nvSpPr>
          <p:cNvPr id="9" name="s6-level-1">
            <a:extLst xmlns:a="http://schemas.openxmlformats.org/drawingml/2006/main">
              <a:ext uri="{FF2B5EF4-FFF2-40B4-BE49-F238E27FC236}">
                <a16:creationId xmlns:a16="http://schemas.microsoft.com/office/drawing/2014/main" id="{20CEA038-1BFC-4647-A38E-9ECF1C4B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723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5"/>
            </a:solidFill>
            <a:prstDash val="solid"/>
          </a:ln>
        </p:spPr>
      </p:sp>
      <p:sp>
        <p:nvSpPr>
          <p:cNvPr id="10" name="s6-level-code-1">
            <a:extLst xmlns:a="http://schemas.openxmlformats.org/drawingml/2006/main">
              <a:ext uri="{FF2B5EF4-FFF2-40B4-BE49-F238E27FC236}">
                <a16:creationId xmlns:a16="http://schemas.microsoft.com/office/drawing/2014/main" id="{7726314F-A9EE-4A44-9408-84324FAE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5"/>
                </a:solidFill>
              </a:defRPr>
            </a:pPr>
            <a:r>
              <a:rPr sz="1350" b="1">
                <a:solidFill>
                  <a:srgbClr val="2E7D55"/>
                </a:solidFill>
              </a:rPr>
              <a:t>L1</a:t>
            </a:r>
          </a:p>
        </p:txBody>
      </p:sp>
      <p:sp>
        <p:nvSpPr>
          <p:cNvPr id="11" name="s6-level-name-1">
            <a:extLst xmlns:a="http://schemas.openxmlformats.org/drawingml/2006/main">
              <a:ext uri="{FF2B5EF4-FFF2-40B4-BE49-F238E27FC236}">
                <a16:creationId xmlns:a16="http://schemas.microsoft.com/office/drawing/2014/main" id="{CA7FCDE0-981B-4C48-9BB4-732A87C7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标准确认</a:t>
            </a:r>
          </a:p>
        </p:txBody>
      </p:sp>
      <p:sp>
        <p:nvSpPr>
          <p:cNvPr id="12" name="s6-level-cond-1">
            <a:extLst xmlns:a="http://schemas.openxmlformats.org/drawingml/2006/main">
              <a:ext uri="{FF2B5EF4-FFF2-40B4-BE49-F238E27FC236}">
                <a16:creationId xmlns:a16="http://schemas.microsoft.com/office/drawing/2014/main" id="{23E26A31-EF5E-4BE5-81B4-1927B083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截图、缓存图、明确时间范围；候选规模可控</a:t>
            </a:r>
          </a:p>
        </p:txBody>
      </p:sp>
      <p:sp>
        <p:nvSpPr>
          <p:cNvPr id="13" name="s6-level-act-1">
            <a:extLst xmlns:a="http://schemas.openxmlformats.org/drawingml/2006/main">
              <a:ext uri="{FF2B5EF4-FFF2-40B4-BE49-F238E27FC236}">
                <a16:creationId xmlns:a16="http://schemas.microsoft.com/office/drawing/2014/main" id="{BA60CB93-1211-4E6B-9857-D96C88C9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5"/>
                </a:solidFill>
              </a:defRPr>
            </a:pPr>
            <a:r>
              <a:rPr sz="1050" b="1">
                <a:solidFill>
                  <a:srgbClr val="2E7D55"/>
                </a:solidFill>
              </a:rPr>
              <a:t>预览 → 全选/排除 → 确认</a:t>
            </a:r>
          </a:p>
        </p:txBody>
      </p:sp>
      <p:sp>
        <p:nvSpPr>
          <p:cNvPr id="14" name="s6-level-2">
            <a:extLst xmlns:a="http://schemas.openxmlformats.org/drawingml/2006/main">
              <a:ext uri="{FF2B5EF4-FFF2-40B4-BE49-F238E27FC236}">
                <a16:creationId xmlns:a16="http://schemas.microsoft.com/office/drawing/2014/main" id="{DBDC7C10-2AF4-41DD-BBCC-FC979090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23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9A6500"/>
            </a:solidFill>
            <a:prstDash val="solid"/>
          </a:ln>
        </p:spPr>
      </p:sp>
      <p:sp>
        <p:nvSpPr>
          <p:cNvPr id="15" name="s6-level-code-2">
            <a:extLst xmlns:a="http://schemas.openxmlformats.org/drawingml/2006/main">
              <a:ext uri="{FF2B5EF4-FFF2-40B4-BE49-F238E27FC236}">
                <a16:creationId xmlns:a16="http://schemas.microsoft.com/office/drawing/2014/main" id="{A68D21AB-5BF0-4A2A-9535-DDF6561E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500"/>
                </a:solidFill>
              </a:defRPr>
            </a:pPr>
            <a:r>
              <a:rPr sz="1350" b="1">
                <a:solidFill>
                  <a:srgbClr val="9A6500"/>
                </a:solidFill>
              </a:rPr>
              <a:t>L2</a:t>
            </a:r>
          </a:p>
        </p:txBody>
      </p:sp>
      <p:sp>
        <p:nvSpPr>
          <p:cNvPr id="16" name="s6-level-name-2">
            <a:extLst xmlns:a="http://schemas.openxmlformats.org/drawingml/2006/main">
              <a:ext uri="{FF2B5EF4-FFF2-40B4-BE49-F238E27FC236}">
                <a16:creationId xmlns:a16="http://schemas.microsoft.com/office/drawing/2014/main" id="{BAC4B82D-8387-4C98-B6F1-CB6CBD6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增强确认</a:t>
            </a:r>
          </a:p>
        </p:txBody>
      </p:sp>
      <p:sp>
        <p:nvSpPr>
          <p:cNvPr id="17" name="s6-level-cond-2">
            <a:extLst xmlns:a="http://schemas.openxmlformats.org/drawingml/2006/main">
              <a:ext uri="{FF2B5EF4-FFF2-40B4-BE49-F238E27FC236}">
                <a16:creationId xmlns:a16="http://schemas.microsoft.com/office/drawing/2014/main" id="{2692E23C-C22E-4BDF-BFE9-EBFD608C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质量判断、重复组、较大候选集或组合条件</a:t>
            </a:r>
          </a:p>
        </p:txBody>
      </p:sp>
      <p:sp>
        <p:nvSpPr>
          <p:cNvPr id="18" name="s6-level-act-2">
            <a:extLst xmlns:a="http://schemas.openxmlformats.org/drawingml/2006/main">
              <a:ext uri="{FF2B5EF4-FFF2-40B4-BE49-F238E27FC236}">
                <a16:creationId xmlns:a16="http://schemas.microsoft.com/office/drawing/2014/main" id="{D693AF33-0074-4114-9189-4CB39FB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6500"/>
                </a:solidFill>
              </a:defRPr>
            </a:pPr>
            <a:r>
              <a:rPr sz="1050" b="1">
                <a:solidFill>
                  <a:srgbClr val="9A6500"/>
                </a:solidFill>
              </a:rPr>
              <a:t>分组解释 → 二次确认 → 回收站</a:t>
            </a:r>
          </a:p>
        </p:txBody>
      </p:sp>
      <p:sp>
        <p:nvSpPr>
          <p:cNvPr id="19" name="s6-level-3">
            <a:extLst xmlns:a="http://schemas.openxmlformats.org/drawingml/2006/main">
              <a:ext uri="{FF2B5EF4-FFF2-40B4-BE49-F238E27FC236}">
                <a16:creationId xmlns:a16="http://schemas.microsoft.com/office/drawing/2014/main" id="{4693EFA1-6F94-4150-B787-E029501A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0" name="s6-level-code-3">
            <a:extLst xmlns:a="http://schemas.openxmlformats.org/drawingml/2006/main">
              <a:ext uri="{FF2B5EF4-FFF2-40B4-BE49-F238E27FC236}">
                <a16:creationId xmlns:a16="http://schemas.microsoft.com/office/drawing/2014/main" id="{8FB22FFC-A0FF-48D1-9A4A-9062ED4F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</a:defRPr>
            </a:pPr>
            <a:r>
              <a:rPr sz="1350" b="1">
                <a:solidFill>
                  <a:srgbClr val="C7000A"/>
                </a:solidFill>
              </a:rPr>
              <a:t>L3</a:t>
            </a:r>
          </a:p>
        </p:txBody>
      </p:sp>
      <p:sp>
        <p:nvSpPr>
          <p:cNvPr id="21" name="s6-level-name-3">
            <a:extLst xmlns:a="http://schemas.openxmlformats.org/drawingml/2006/main">
              <a:ext uri="{FF2B5EF4-FFF2-40B4-BE49-F238E27FC236}">
                <a16:creationId xmlns:a16="http://schemas.microsoft.com/office/drawing/2014/main" id="{DA230F7F-703F-4DD5-8C85-735AA466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禁止自动执行</a:t>
            </a:r>
          </a:p>
        </p:txBody>
      </p:sp>
      <p:sp>
        <p:nvSpPr>
          <p:cNvPr id="22" name="s6-level-cond-3">
            <a:extLst xmlns:a="http://schemas.openxmlformats.org/drawingml/2006/main">
              <a:ext uri="{FF2B5EF4-FFF2-40B4-BE49-F238E27FC236}">
                <a16:creationId xmlns:a16="http://schemas.microsoft.com/office/drawing/2014/main" id="{B23B1EF9-A16C-46FF-9577-D65BA098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敏感对象 + 大范围 + 低置信的任一高危组合</a:t>
            </a:r>
          </a:p>
        </p:txBody>
      </p:sp>
      <p:sp>
        <p:nvSpPr>
          <p:cNvPr id="23" name="s6-level-act-3">
            <a:extLst xmlns:a="http://schemas.openxmlformats.org/drawingml/2006/main">
              <a:ext uri="{FF2B5EF4-FFF2-40B4-BE49-F238E27FC236}">
                <a16:creationId xmlns:a16="http://schemas.microsoft.com/office/drawing/2014/main" id="{E32E3749-3346-4484-BF9A-9B08785D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720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强制降级为筛选并提示原因</a:t>
            </a:r>
          </a:p>
        </p:txBody>
      </p:sp>
      <p:sp>
        <p:nvSpPr>
          <p:cNvPr id="24" name="label-全级别通用护栏-870-190">
            <a:extLst xmlns:a="http://schemas.openxmlformats.org/drawingml/2006/main">
              <a:ext uri="{FF2B5EF4-FFF2-40B4-BE49-F238E27FC236}">
                <a16:creationId xmlns:a16="http://schemas.microsoft.com/office/drawing/2014/main" id="{86C87B64-5C2C-4B7D-AE58-BCE3D3D8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全级别通用护栏</a:t>
            </a:r>
          </a:p>
        </p:txBody>
      </p:sp>
      <p:sp>
        <p:nvSpPr>
          <p:cNvPr id="25" name="s6-ann-num-0">
            <a:extLst xmlns:a="http://schemas.openxmlformats.org/drawingml/2006/main">
              <a:ext uri="{FF2B5EF4-FFF2-40B4-BE49-F238E27FC236}">
                <a16:creationId xmlns:a16="http://schemas.microsoft.com/office/drawing/2014/main" id="{425A00F8-E151-4B77-AF7A-D5634556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01</a:t>
            </a:r>
          </a:p>
        </p:txBody>
      </p:sp>
      <p:sp>
        <p:nvSpPr>
          <p:cNvPr id="26" name="s6-ann-head-0">
            <a:extLst xmlns:a="http://schemas.openxmlformats.org/drawingml/2006/main">
              <a:ext uri="{FF2B5EF4-FFF2-40B4-BE49-F238E27FC236}">
                <a16:creationId xmlns:a16="http://schemas.microsoft.com/office/drawing/2014/main" id="{ABF21A84-499A-4D2A-B49A-37AE09FE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候选可解释</a:t>
            </a:r>
          </a:p>
        </p:txBody>
      </p:sp>
      <p:sp>
        <p:nvSpPr>
          <p:cNvPr id="27" name="s6-ann-body-0">
            <a:extLst xmlns:a="http://schemas.openxmlformats.org/drawingml/2006/main">
              <a:ext uri="{FF2B5EF4-FFF2-40B4-BE49-F238E27FC236}">
                <a16:creationId xmlns:a16="http://schemas.microsoft.com/office/drawing/2014/main" id="{61E88D58-32D8-4917-B867-9D2C1B4A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展示条件、数量、分组与命中理由</a:t>
            </a:r>
          </a:p>
        </p:txBody>
      </p:sp>
      <p:sp>
        <p:nvSpPr>
          <p:cNvPr id="28" name="s6-ann-num-1">
            <a:extLst xmlns:a="http://schemas.openxmlformats.org/drawingml/2006/main">
              <a:ext uri="{FF2B5EF4-FFF2-40B4-BE49-F238E27FC236}">
                <a16:creationId xmlns:a16="http://schemas.microsoft.com/office/drawing/2014/main" id="{F9743E31-5004-42AE-B84D-8F568AEE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02</a:t>
            </a:r>
          </a:p>
        </p:txBody>
      </p:sp>
      <p:sp>
        <p:nvSpPr>
          <p:cNvPr id="29" name="s6-ann-head-1">
            <a:extLst xmlns:a="http://schemas.openxmlformats.org/drawingml/2006/main">
              <a:ext uri="{FF2B5EF4-FFF2-40B4-BE49-F238E27FC236}">
                <a16:creationId xmlns:a16="http://schemas.microsoft.com/office/drawing/2014/main" id="{9D7E0E10-231B-460E-9751-53C5AE6A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动作可预期</a:t>
            </a:r>
          </a:p>
        </p:txBody>
      </p:sp>
      <p:sp>
        <p:nvSpPr>
          <p:cNvPr id="30" name="s6-ann-body-1">
            <a:extLst xmlns:a="http://schemas.openxmlformats.org/drawingml/2006/main">
              <a:ext uri="{FF2B5EF4-FFF2-40B4-BE49-F238E27FC236}">
                <a16:creationId xmlns:a16="http://schemas.microsoft.com/office/drawing/2014/main" id="{BA3A5259-5ACC-4042-946D-A56AD6D3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确认页复述范围、后果与回收站期限</a:t>
            </a:r>
          </a:p>
        </p:txBody>
      </p:sp>
      <p:sp>
        <p:nvSpPr>
          <p:cNvPr id="31" name="s6-ann-num-2">
            <a:extLst xmlns:a="http://schemas.openxmlformats.org/drawingml/2006/main">
              <a:ext uri="{FF2B5EF4-FFF2-40B4-BE49-F238E27FC236}">
                <a16:creationId xmlns:a16="http://schemas.microsoft.com/office/drawing/2014/main" id="{5588AEEF-F951-4480-8418-BA608467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03</a:t>
            </a:r>
          </a:p>
        </p:txBody>
      </p:sp>
      <p:sp>
        <p:nvSpPr>
          <p:cNvPr id="32" name="s6-ann-head-2">
            <a:extLst xmlns:a="http://schemas.openxmlformats.org/drawingml/2006/main">
              <a:ext uri="{FF2B5EF4-FFF2-40B4-BE49-F238E27FC236}">
                <a16:creationId xmlns:a16="http://schemas.microsoft.com/office/drawing/2014/main" id="{9DAE51C8-5765-4595-BDD3-3FD3FC2C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结果可恢复</a:t>
            </a:r>
          </a:p>
        </p:txBody>
      </p:sp>
      <p:sp>
        <p:nvSpPr>
          <p:cNvPr id="33" name="s6-ann-body-2">
            <a:extLst xmlns:a="http://schemas.openxmlformats.org/drawingml/2006/main">
              <a:ext uri="{FF2B5EF4-FFF2-40B4-BE49-F238E27FC236}">
                <a16:creationId xmlns:a16="http://schemas.microsoft.com/office/drawing/2014/main" id="{5729EFFD-814B-45FF-999C-D423A95D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默认进回收站，保留撤销入口</a:t>
            </a:r>
          </a:p>
        </p:txBody>
      </p:sp>
      <p:sp>
        <p:nvSpPr>
          <p:cNvPr id="34" name="s6-ann-num-3">
            <a:extLst xmlns:a="http://schemas.openxmlformats.org/drawingml/2006/main">
              <a:ext uri="{FF2B5EF4-FFF2-40B4-BE49-F238E27FC236}">
                <a16:creationId xmlns:a16="http://schemas.microsoft.com/office/drawing/2014/main" id="{8A9661DD-EE61-431D-BD9B-251159F9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04</a:t>
            </a:r>
          </a:p>
        </p:txBody>
      </p:sp>
      <p:sp>
        <p:nvSpPr>
          <p:cNvPr id="35" name="s6-ann-head-3">
            <a:extLst xmlns:a="http://schemas.openxmlformats.org/drawingml/2006/main">
              <a:ext uri="{FF2B5EF4-FFF2-40B4-BE49-F238E27FC236}">
                <a16:creationId xmlns:a16="http://schemas.microsoft.com/office/drawing/2014/main" id="{A673C9FF-F68A-4CF9-90CC-A1C8F94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149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边界可审计</a:t>
            </a:r>
          </a:p>
        </p:txBody>
      </p:sp>
      <p:sp>
        <p:nvSpPr>
          <p:cNvPr id="36" name="s6-ann-body-3">
            <a:extLst xmlns:a="http://schemas.openxmlformats.org/drawingml/2006/main">
              <a:ext uri="{FF2B5EF4-FFF2-40B4-BE49-F238E27FC236}">
                <a16:creationId xmlns:a16="http://schemas.microsoft.com/office/drawing/2014/main" id="{C7FAAA01-962A-406B-A67E-1B08793C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006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记录解析、确认与执行事件，不保存原图内容</a:t>
            </a:r>
          </a:p>
        </p:txBody>
      </p:sp>
      <p:sp>
        <p:nvSpPr>
          <p:cNvPr id="37" name="s6-decision">
            <a:extLst xmlns:a="http://schemas.openxmlformats.org/drawingml/2006/main">
              <a:ext uri="{FF2B5EF4-FFF2-40B4-BE49-F238E27FC236}">
                <a16:creationId xmlns:a16="http://schemas.microsoft.com/office/drawing/2014/main" id="{D0FDD1AA-659E-4B72-860A-1E7AA9AC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6-decision-text">
            <a:extLst xmlns:a="http://schemas.openxmlformats.org/drawingml/2006/main">
              <a:ext uri="{FF2B5EF4-FFF2-40B4-BE49-F238E27FC236}">
                <a16:creationId xmlns:a16="http://schemas.microsoft.com/office/drawing/2014/main" id="{0C3B6DF4-1B8D-47B3-8831-DAC42BF8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产品红线：不得以“模型置信度高”为由跳过用户确认；不得对高风险对象提供一句话直接删除。</a:t>
            </a:r>
          </a:p>
        </p:txBody>
      </p:sp>
      <p:sp>
        <p:nvSpPr>
          <p:cNvPr id="39" name="s6-footer-left">
            <a:extLst xmlns:a="http://schemas.openxmlformats.org/drawingml/2006/main">
              <a:ext uri="{FF2B5EF4-FFF2-40B4-BE49-F238E27FC236}">
                <a16:creationId xmlns:a16="http://schemas.microsoft.com/office/drawing/2014/main" id="{7883C10F-B2E0-4CD2-B554-DE245673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9191"/>
                </a:solidFill>
              </a:defRPr>
            </a:pPr>
            <a:r>
              <a:rPr sz="750" b="0">
                <a:solidFill>
                  <a:srgbClr val="919191"/>
                </a:solidFill>
              </a:rPr>
              <a:t>06   Huawei Confidential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dff5045cd4daa"/>
          <a:stretch xmlns:a="http://schemas.openxmlformats.org/drawingml/2006/main"/>
        </p:blipFill>
        <p:spPr>
          <a:xfrm xmlns:a="http://schemas.openxmlformats.org/drawingml/2006/main">
            <a:off x="10496550" y="6413926"/>
            <a:ext cx="1009650" cy="221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519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7-title-accent">
            <a:extLst xmlns:a="http://schemas.openxmlformats.org/drawingml/2006/main">
              <a:ext uri="{FF2B5EF4-FFF2-40B4-BE49-F238E27FC236}">
                <a16:creationId xmlns:a16="http://schemas.microsoft.com/office/drawing/2014/main" id="{D93B9102-796A-490C-BB11-D8133FBE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7-title">
            <a:extLst xmlns:a="http://schemas.openxmlformats.org/drawingml/2006/main">
              <a:ext uri="{FF2B5EF4-FFF2-40B4-BE49-F238E27FC236}">
                <a16:creationId xmlns:a16="http://schemas.microsoft.com/office/drawing/2014/main" id="{CBB2EEC3-9DC7-4F17-8BF1-98A6F04A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</a:defRPr>
            </a:pPr>
            <a:r>
              <a:rPr sz="2850" b="1">
                <a:solidFill>
                  <a:srgbClr val="1D1D1A"/>
                </a:solidFill>
              </a:rPr>
              <a:t>搜索并确认执行兼顾任务效率、解释性与误删控制</a:t>
            </a:r>
          </a:p>
        </p:txBody>
      </p:sp>
      <p:sp>
        <p:nvSpPr>
          <p:cNvPr id="3" name="s7-lead">
            <a:extLst xmlns:a="http://schemas.openxmlformats.org/drawingml/2006/main">
              <a:ext uri="{FF2B5EF4-FFF2-40B4-BE49-F238E27FC236}">
                <a16:creationId xmlns:a16="http://schemas.microsoft.com/office/drawing/2014/main" id="{D9AE947A-074B-4EF9-826A-974FB18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756"/>
                </a:solidFill>
              </a:defRPr>
            </a:pPr>
            <a:r>
              <a:rPr sz="1500" b="1">
                <a:solidFill>
                  <a:srgbClr val="575756"/>
                </a:solidFill>
              </a:rPr>
              <a:t>三种方案的核心差异不在语音入口，而在系统是否承担选择责任以及如何控制执行后果</a:t>
            </a:r>
          </a:p>
        </p:txBody>
      </p:sp>
      <p:sp>
        <p:nvSpPr>
          <p:cNvPr id="4" name="s7-opt-0">
            <a:extLst xmlns:a="http://schemas.openxmlformats.org/drawingml/2006/main">
              <a:ext uri="{FF2B5EF4-FFF2-40B4-BE49-F238E27FC236}">
                <a16:creationId xmlns:a16="http://schemas.microsoft.com/office/drawing/2014/main" id="{86E25B6C-94E7-4DD8-A26D-EE13D85A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3528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5" name="s7-opt-title-0">
            <a:extLst xmlns:a="http://schemas.openxmlformats.org/drawingml/2006/main">
              <a:ext uri="{FF2B5EF4-FFF2-40B4-BE49-F238E27FC236}">
                <a16:creationId xmlns:a16="http://schemas.microsoft.com/office/drawing/2014/main" id="{7E9E3101-5A21-4133-90D2-74165332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A"/>
                </a:solidFill>
              </a:defRPr>
            </a:pPr>
            <a:r>
              <a:rPr sz="1650" b="1">
                <a:solidFill>
                  <a:srgbClr val="1D1D1A"/>
                </a:solidFill>
              </a:rPr>
              <a:t>A  语义搜索</a:t>
            </a:r>
          </a:p>
        </p:txBody>
      </p:sp>
      <p:sp>
        <p:nvSpPr>
          <p:cNvPr id="6" name="chip-低风险 / 低闭环-92-262">
            <a:extLst xmlns:a="http://schemas.openxmlformats.org/drawingml/2006/main">
              <a:ext uri="{FF2B5EF4-FFF2-40B4-BE49-F238E27FC236}">
                <a16:creationId xmlns:a16="http://schemas.microsoft.com/office/drawing/2014/main" id="{4360A62B-AD45-45FE-B767-4F1C79E3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9A6500"/>
            </a:solidFill>
            <a:prstDash val="solid"/>
          </a:ln>
        </p:spPr>
      </p:sp>
      <p:sp>
        <p:nvSpPr>
          <p:cNvPr id="7" name="chip-text-低风险 / 低闭环-92-262">
            <a:extLst xmlns:a="http://schemas.openxmlformats.org/drawingml/2006/main">
              <a:ext uri="{FF2B5EF4-FFF2-40B4-BE49-F238E27FC236}">
                <a16:creationId xmlns:a16="http://schemas.microsoft.com/office/drawing/2014/main" id="{AE763784-3529-41FD-8EC1-97F1E17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500"/>
                </a:solidFill>
              </a:defRPr>
            </a:pPr>
            <a:r>
              <a:rPr sz="1050" b="1">
                <a:solidFill>
                  <a:srgbClr val="9A6500"/>
                </a:solidFill>
              </a:rPr>
              <a:t>低风险 / 低闭环</a:t>
            </a:r>
          </a:p>
        </p:txBody>
      </p:sp>
      <p:sp>
        <p:nvSpPr>
          <p:cNvPr id="8" name="s7-bullet-0-0">
            <a:extLst xmlns:a="http://schemas.openxmlformats.org/drawingml/2006/main">
              <a:ext uri="{FF2B5EF4-FFF2-40B4-BE49-F238E27FC236}">
                <a16:creationId xmlns:a16="http://schemas.microsoft.com/office/drawing/2014/main" id="{67CB2298-3649-441C-92B8-4DCC3852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7-row-0-0">
            <a:extLst xmlns:a="http://schemas.openxmlformats.org/drawingml/2006/main">
              <a:ext uri="{FF2B5EF4-FFF2-40B4-BE49-F238E27FC236}">
                <a16:creationId xmlns:a16="http://schemas.microsoft.com/office/drawing/2014/main" id="{73F809DB-0428-4A5F-B415-01C36322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5756"/>
                </a:solidFill>
              </a:defRPr>
            </a:pPr>
            <a:r>
              <a:rPr sz="1200" b="1">
                <a:solidFill>
                  <a:srgbClr val="575756"/>
                </a:solidFill>
              </a:rPr>
              <a:t>仅返回筛选结果</a:t>
            </a:r>
          </a:p>
        </p:txBody>
      </p:sp>
      <p:sp>
        <p:nvSpPr>
          <p:cNvPr id="10" name="s7-bullet-0-1">
            <a:extLst xmlns:a="http://schemas.openxmlformats.org/drawingml/2006/main">
              <a:ext uri="{FF2B5EF4-FFF2-40B4-BE49-F238E27FC236}">
                <a16:creationId xmlns:a16="http://schemas.microsoft.com/office/drawing/2014/main" id="{91C9C76B-E587-4DD1-8350-4053737A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7-row-0-1">
            <a:extLst xmlns:a="http://schemas.openxmlformats.org/drawingml/2006/main">
              <a:ext uri="{FF2B5EF4-FFF2-40B4-BE49-F238E27FC236}">
                <a16:creationId xmlns:a16="http://schemas.microsoft.com/office/drawing/2014/main" id="{9388ABB3-9169-4C9B-B274-8F018891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用户自行全选与删除</a:t>
            </a:r>
          </a:p>
        </p:txBody>
      </p:sp>
      <p:sp>
        <p:nvSpPr>
          <p:cNvPr id="12" name="s7-bullet-0-2">
            <a:extLst xmlns:a="http://schemas.openxmlformats.org/drawingml/2006/main">
              <a:ext uri="{FF2B5EF4-FFF2-40B4-BE49-F238E27FC236}">
                <a16:creationId xmlns:a16="http://schemas.microsoft.com/office/drawing/2014/main" id="{6E8442AC-E6A2-472F-A30C-8E04E75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7-row-0-2">
            <a:extLst xmlns:a="http://schemas.openxmlformats.org/drawingml/2006/main">
              <a:ext uri="{FF2B5EF4-FFF2-40B4-BE49-F238E27FC236}">
                <a16:creationId xmlns:a16="http://schemas.microsoft.com/office/drawing/2014/main" id="{C3AE18DD-7B62-4520-BBD6-06C71EB3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957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解释成本低</a:t>
            </a:r>
          </a:p>
        </p:txBody>
      </p:sp>
      <p:sp>
        <p:nvSpPr>
          <p:cNvPr id="14" name="s7-bullet-0-3">
            <a:extLst xmlns:a="http://schemas.openxmlformats.org/drawingml/2006/main">
              <a:ext uri="{FF2B5EF4-FFF2-40B4-BE49-F238E27FC236}">
                <a16:creationId xmlns:a16="http://schemas.microsoft.com/office/drawing/2014/main" id="{D3B41D66-0292-4FA9-9C97-C1D398E7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7-row-0-3">
            <a:extLst xmlns:a="http://schemas.openxmlformats.org/drawingml/2006/main">
              <a:ext uri="{FF2B5EF4-FFF2-40B4-BE49-F238E27FC236}">
                <a16:creationId xmlns:a16="http://schemas.microsoft.com/office/drawing/2014/main" id="{882A64A7-E4A3-4AE6-9BF0-6291EF2B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价值增量有限</a:t>
            </a:r>
          </a:p>
        </p:txBody>
      </p:sp>
      <p:sp>
        <p:nvSpPr>
          <p:cNvPr id="16" name="s7-verdict-bg-0">
            <a:extLst xmlns:a="http://schemas.openxmlformats.org/drawingml/2006/main">
              <a:ext uri="{FF2B5EF4-FFF2-40B4-BE49-F238E27FC236}">
                <a16:creationId xmlns:a16="http://schemas.microsoft.com/office/drawing/2014/main" id="{C156F5E2-2CC4-451F-AA06-B0D62826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7-verdict-0">
            <a:extLst xmlns:a="http://schemas.openxmlformats.org/drawingml/2006/main">
              <a:ext uri="{FF2B5EF4-FFF2-40B4-BE49-F238E27FC236}">
                <a16:creationId xmlns:a16="http://schemas.microsoft.com/office/drawing/2014/main" id="{29279E1A-D3D8-4F56-BCDB-7B8D5DC9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保留现有操作负担</a:t>
            </a:r>
          </a:p>
        </p:txBody>
      </p:sp>
      <p:sp>
        <p:nvSpPr>
          <p:cNvPr id="18" name="s7-opt-1">
            <a:extLst xmlns:a="http://schemas.openxmlformats.org/drawingml/2006/main">
              <a:ext uri="{FF2B5EF4-FFF2-40B4-BE49-F238E27FC236}">
                <a16:creationId xmlns:a16="http://schemas.microsoft.com/office/drawing/2014/main" id="{960B21A2-20F6-42E2-BA5E-D4C93954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33528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19" name="s7-opt-title-1">
            <a:extLst xmlns:a="http://schemas.openxmlformats.org/drawingml/2006/main">
              <a:ext uri="{FF2B5EF4-FFF2-40B4-BE49-F238E27FC236}">
                <a16:creationId xmlns:a16="http://schemas.microsoft.com/office/drawing/2014/main" id="{76439F84-77C1-42B7-8D3A-C12BF969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0A"/>
                </a:solidFill>
              </a:defRPr>
            </a:pPr>
            <a:r>
              <a:rPr sz="1650" b="1">
                <a:solidFill>
                  <a:srgbClr val="C7000A"/>
                </a:solidFill>
              </a:rPr>
              <a:t>B  一句话直接删除</a:t>
            </a:r>
          </a:p>
        </p:txBody>
      </p:sp>
      <p:sp>
        <p:nvSpPr>
          <p:cNvPr id="20" name="chip-高效率 / 高风险-470-262">
            <a:extLst xmlns:a="http://schemas.openxmlformats.org/drawingml/2006/main">
              <a:ext uri="{FF2B5EF4-FFF2-40B4-BE49-F238E27FC236}">
                <a16:creationId xmlns:a16="http://schemas.microsoft.com/office/drawing/2014/main" id="{90B4006E-DF2F-4239-B6DC-1726A30E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1" name="chip-text-高效率 / 高风险-470-262">
            <a:extLst xmlns:a="http://schemas.openxmlformats.org/drawingml/2006/main">
              <a:ext uri="{FF2B5EF4-FFF2-40B4-BE49-F238E27FC236}">
                <a16:creationId xmlns:a16="http://schemas.microsoft.com/office/drawing/2014/main" id="{A60C3C71-141B-4B5C-A579-86C7BD0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高效率 / 高风险</a:t>
            </a:r>
          </a:p>
        </p:txBody>
      </p:sp>
      <p:sp>
        <p:nvSpPr>
          <p:cNvPr id="22" name="s7-bullet-1-0">
            <a:extLst xmlns:a="http://schemas.openxmlformats.org/drawingml/2006/main">
              <a:ext uri="{FF2B5EF4-FFF2-40B4-BE49-F238E27FC236}">
                <a16:creationId xmlns:a16="http://schemas.microsoft.com/office/drawing/2014/main" id="{61923FD9-3356-4A72-BF81-6A850C2B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7-row-1-0">
            <a:extLst xmlns:a="http://schemas.openxmlformats.org/drawingml/2006/main">
              <a:ext uri="{FF2B5EF4-FFF2-40B4-BE49-F238E27FC236}">
                <a16:creationId xmlns:a16="http://schemas.microsoft.com/office/drawing/2014/main" id="{6E011936-1B88-451F-B277-FE7A0AA5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813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5756"/>
                </a:solidFill>
              </a:defRPr>
            </a:pPr>
            <a:r>
              <a:rPr sz="1200" b="1">
                <a:solidFill>
                  <a:srgbClr val="575756"/>
                </a:solidFill>
              </a:rPr>
              <a:t>系统直接执行删除</a:t>
            </a:r>
          </a:p>
        </p:txBody>
      </p:sp>
      <p:sp>
        <p:nvSpPr>
          <p:cNvPr id="24" name="s7-bullet-1-1">
            <a:extLst xmlns:a="http://schemas.openxmlformats.org/drawingml/2006/main">
              <a:ext uri="{FF2B5EF4-FFF2-40B4-BE49-F238E27FC236}">
                <a16:creationId xmlns:a16="http://schemas.microsoft.com/office/drawing/2014/main" id="{5006217B-D599-4D4E-84D2-7940F471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7-row-1-1">
            <a:extLst xmlns:a="http://schemas.openxmlformats.org/drawingml/2006/main">
              <a:ext uri="{FF2B5EF4-FFF2-40B4-BE49-F238E27FC236}">
                <a16:creationId xmlns:a16="http://schemas.microsoft.com/office/drawing/2014/main" id="{B0E833D9-61A5-4F59-B040-AB32AB0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385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交互最短</a:t>
            </a:r>
          </a:p>
        </p:txBody>
      </p:sp>
      <p:sp>
        <p:nvSpPr>
          <p:cNvPr id="26" name="s7-bullet-1-2">
            <a:extLst xmlns:a="http://schemas.openxmlformats.org/drawingml/2006/main">
              <a:ext uri="{FF2B5EF4-FFF2-40B4-BE49-F238E27FC236}">
                <a16:creationId xmlns:a16="http://schemas.microsoft.com/office/drawing/2014/main" id="{A4D14691-77B8-45E9-9466-B94729C5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7-row-1-2">
            <a:extLst xmlns:a="http://schemas.openxmlformats.org/drawingml/2006/main">
              <a:ext uri="{FF2B5EF4-FFF2-40B4-BE49-F238E27FC236}">
                <a16:creationId xmlns:a16="http://schemas.microsoft.com/office/drawing/2014/main" id="{BD842546-CB13-4068-83C6-EE9C6541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957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歧义放大为误删</a:t>
            </a:r>
          </a:p>
        </p:txBody>
      </p:sp>
      <p:sp>
        <p:nvSpPr>
          <p:cNvPr id="28" name="s7-bullet-1-3">
            <a:extLst xmlns:a="http://schemas.openxmlformats.org/drawingml/2006/main">
              <a:ext uri="{FF2B5EF4-FFF2-40B4-BE49-F238E27FC236}">
                <a16:creationId xmlns:a16="http://schemas.microsoft.com/office/drawing/2014/main" id="{974220B1-C58B-4B6A-B324-3812F782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7-row-1-3">
            <a:extLst xmlns:a="http://schemas.openxmlformats.org/drawingml/2006/main">
              <a:ext uri="{FF2B5EF4-FFF2-40B4-BE49-F238E27FC236}">
                <a16:creationId xmlns:a16="http://schemas.microsoft.com/office/drawing/2014/main" id="{D74540CA-481B-4B93-A5FD-96012336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529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难以满足信任门槛</a:t>
            </a:r>
          </a:p>
        </p:txBody>
      </p:sp>
      <p:sp>
        <p:nvSpPr>
          <p:cNvPr id="30" name="s7-verdict-bg-1">
            <a:extLst xmlns:a="http://schemas.openxmlformats.org/drawingml/2006/main">
              <a:ext uri="{FF2B5EF4-FFF2-40B4-BE49-F238E27FC236}">
                <a16:creationId xmlns:a16="http://schemas.microsoft.com/office/drawing/2014/main" id="{50E4EA4B-22EB-436F-A12E-E2515534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7-verdict-1">
            <a:extLst xmlns:a="http://schemas.openxmlformats.org/drawingml/2006/main">
              <a:ext uri="{FF2B5EF4-FFF2-40B4-BE49-F238E27FC236}">
                <a16:creationId xmlns:a16="http://schemas.microsoft.com/office/drawing/2014/main" id="{96628D7C-9469-45B4-BB7F-0BE2C145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434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不建议进入 MVP</a:t>
            </a:r>
          </a:p>
        </p:txBody>
      </p:sp>
      <p:sp>
        <p:nvSpPr>
          <p:cNvPr id="32" name="s7-opt-2">
            <a:extLst xmlns:a="http://schemas.openxmlformats.org/drawingml/2006/main">
              <a:ext uri="{FF2B5EF4-FFF2-40B4-BE49-F238E27FC236}">
                <a16:creationId xmlns:a16="http://schemas.microsoft.com/office/drawing/2014/main" id="{2F346939-17BD-4800-8E3F-6774FF04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33528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28575">
            <a:solidFill>
              <a:srgbClr val="2E7D55"/>
            </a:solidFill>
            <a:prstDash val="solid"/>
          </a:ln>
        </p:spPr>
      </p:sp>
      <p:sp>
        <p:nvSpPr>
          <p:cNvPr id="33" name="s7-opt-title-2">
            <a:extLst xmlns:a="http://schemas.openxmlformats.org/drawingml/2006/main">
              <a:ext uri="{FF2B5EF4-FFF2-40B4-BE49-F238E27FC236}">
                <a16:creationId xmlns:a16="http://schemas.microsoft.com/office/drawing/2014/main" id="{604AC632-0CBC-4172-AE4D-B5720C45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D55"/>
                </a:solidFill>
              </a:defRPr>
            </a:pPr>
            <a:r>
              <a:rPr sz="1650" b="1">
                <a:solidFill>
                  <a:srgbClr val="2E7D55"/>
                </a:solidFill>
              </a:rPr>
              <a:t>C  搜索并确认执行</a:t>
            </a:r>
          </a:p>
        </p:txBody>
      </p:sp>
      <p:sp>
        <p:nvSpPr>
          <p:cNvPr id="34" name="chip-推荐方案-848-262">
            <a:extLst xmlns:a="http://schemas.openxmlformats.org/drawingml/2006/main">
              <a:ext uri="{FF2B5EF4-FFF2-40B4-BE49-F238E27FC236}">
                <a16:creationId xmlns:a16="http://schemas.microsoft.com/office/drawing/2014/main" id="{C66AA753-256C-4CA5-9832-B740B7A0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955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5"/>
            </a:solidFill>
            <a:prstDash val="solid"/>
          </a:ln>
        </p:spPr>
      </p:sp>
      <p:sp>
        <p:nvSpPr>
          <p:cNvPr id="35" name="chip-text-推荐方案-848-262">
            <a:extLst xmlns:a="http://schemas.openxmlformats.org/drawingml/2006/main">
              <a:ext uri="{FF2B5EF4-FFF2-40B4-BE49-F238E27FC236}">
                <a16:creationId xmlns:a16="http://schemas.microsoft.com/office/drawing/2014/main" id="{936A56BA-C0E0-46DC-A3C7-BF3F72C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431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5"/>
                </a:solidFill>
              </a:defRPr>
            </a:pPr>
            <a:r>
              <a:rPr sz="1050" b="1">
                <a:solidFill>
                  <a:srgbClr val="2E7D55"/>
                </a:solidFill>
              </a:rPr>
              <a:t>推荐方案</a:t>
            </a:r>
          </a:p>
        </p:txBody>
      </p:sp>
      <p:sp>
        <p:nvSpPr>
          <p:cNvPr id="36" name="s7-bullet-2-0">
            <a:extLst xmlns:a="http://schemas.openxmlformats.org/drawingml/2006/main">
              <a:ext uri="{FF2B5EF4-FFF2-40B4-BE49-F238E27FC236}">
                <a16:creationId xmlns:a16="http://schemas.microsoft.com/office/drawing/2014/main" id="{31F7C0FE-B005-417D-B9D8-15E41113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7-row-2-0">
            <a:extLst xmlns:a="http://schemas.openxmlformats.org/drawingml/2006/main">
              <a:ext uri="{FF2B5EF4-FFF2-40B4-BE49-F238E27FC236}">
                <a16:creationId xmlns:a16="http://schemas.microsoft.com/office/drawing/2014/main" id="{2DD094C1-FF95-46D1-8DAA-051BA737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813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5756"/>
                </a:solidFill>
              </a:defRPr>
            </a:pPr>
            <a:r>
              <a:rPr sz="1200" b="1">
                <a:solidFill>
                  <a:srgbClr val="575756"/>
                </a:solidFill>
              </a:rPr>
              <a:t>结构化解析与候选预览</a:t>
            </a:r>
          </a:p>
        </p:txBody>
      </p:sp>
      <p:sp>
        <p:nvSpPr>
          <p:cNvPr id="38" name="s7-bullet-2-1">
            <a:extLst xmlns:a="http://schemas.openxmlformats.org/drawingml/2006/main">
              <a:ext uri="{FF2B5EF4-FFF2-40B4-BE49-F238E27FC236}">
                <a16:creationId xmlns:a16="http://schemas.microsoft.com/office/drawing/2014/main" id="{544004F2-AC45-44E8-9C85-440BD6D1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7-row-2-1">
            <a:extLst xmlns:a="http://schemas.openxmlformats.org/drawingml/2006/main">
              <a:ext uri="{FF2B5EF4-FFF2-40B4-BE49-F238E27FC236}">
                <a16:creationId xmlns:a16="http://schemas.microsoft.com/office/drawing/2014/main" id="{0FBA16C7-EC91-4B43-8BBD-3BF691B3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385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用户可排除并确认</a:t>
            </a:r>
          </a:p>
        </p:txBody>
      </p:sp>
      <p:sp>
        <p:nvSpPr>
          <p:cNvPr id="40" name="s7-bullet-2-2">
            <a:extLst xmlns:a="http://schemas.openxmlformats.org/drawingml/2006/main">
              <a:ext uri="{FF2B5EF4-FFF2-40B4-BE49-F238E27FC236}">
                <a16:creationId xmlns:a16="http://schemas.microsoft.com/office/drawing/2014/main" id="{5A56A24A-6DA1-4764-B875-3C99ACD8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7-row-2-2">
            <a:extLst xmlns:a="http://schemas.openxmlformats.org/drawingml/2006/main">
              <a:ext uri="{FF2B5EF4-FFF2-40B4-BE49-F238E27FC236}">
                <a16:creationId xmlns:a16="http://schemas.microsoft.com/office/drawing/2014/main" id="{02CE85EB-3A05-4243-994E-291C828B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957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默认回收站与撤销</a:t>
            </a:r>
          </a:p>
        </p:txBody>
      </p:sp>
      <p:sp>
        <p:nvSpPr>
          <p:cNvPr id="42" name="s7-bullet-2-3">
            <a:extLst xmlns:a="http://schemas.openxmlformats.org/drawingml/2006/main">
              <a:ext uri="{FF2B5EF4-FFF2-40B4-BE49-F238E27FC236}">
                <a16:creationId xmlns:a16="http://schemas.microsoft.com/office/drawing/2014/main" id="{27624E10-7D72-4BF0-B1B0-17D8AD7B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7-row-2-3">
            <a:extLst xmlns:a="http://schemas.openxmlformats.org/drawingml/2006/main">
              <a:ext uri="{FF2B5EF4-FFF2-40B4-BE49-F238E27FC236}">
                <a16:creationId xmlns:a16="http://schemas.microsoft.com/office/drawing/2014/main" id="{81AF3898-7894-4312-B568-F9B02D8C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529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复杂请求自动降级</a:t>
            </a:r>
          </a:p>
        </p:txBody>
      </p:sp>
      <p:sp>
        <p:nvSpPr>
          <p:cNvPr id="44" name="s7-verdict-bg-2">
            <a:extLst xmlns:a="http://schemas.openxmlformats.org/drawingml/2006/main">
              <a:ext uri="{FF2B5EF4-FFF2-40B4-BE49-F238E27FC236}">
                <a16:creationId xmlns:a16="http://schemas.microsoft.com/office/drawing/2014/main" id="{8FF62C5E-5A05-41B2-82B2-EA1868C6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863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7-verdict-2">
            <a:extLst xmlns:a="http://schemas.openxmlformats.org/drawingml/2006/main">
              <a:ext uri="{FF2B5EF4-FFF2-40B4-BE49-F238E27FC236}">
                <a16:creationId xmlns:a16="http://schemas.microsoft.com/office/drawing/2014/main" id="{7BD779FA-7D5D-4D69-90A6-6663285A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建议批准验证</a:t>
            </a:r>
          </a:p>
        </p:txBody>
      </p:sp>
      <p:sp>
        <p:nvSpPr>
          <p:cNvPr id="46" name="s7-decision">
            <a:extLst xmlns:a="http://schemas.openxmlformats.org/drawingml/2006/main">
              <a:ext uri="{FF2B5EF4-FFF2-40B4-BE49-F238E27FC236}">
                <a16:creationId xmlns:a16="http://schemas.microsoft.com/office/drawing/2014/main" id="{15BB34A4-4451-46A1-8FAB-008C7234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7-decision-title">
            <a:extLst xmlns:a="http://schemas.openxmlformats.org/drawingml/2006/main">
              <a:ext uri="{FF2B5EF4-FFF2-40B4-BE49-F238E27FC236}">
                <a16:creationId xmlns:a16="http://schemas.microsoft.com/office/drawing/2014/main" id="{A29BBFAC-15FC-4117-8FB8-92906FD2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3D"/>
                </a:solidFill>
              </a:defRPr>
            </a:pPr>
            <a:r>
              <a:rPr sz="1350" b="1">
                <a:solidFill>
                  <a:srgbClr val="E8A33D"/>
                </a:solidFill>
              </a:rPr>
              <a:t>决策依据</a:t>
            </a:r>
          </a:p>
        </p:txBody>
      </p:sp>
      <p:sp>
        <p:nvSpPr>
          <p:cNvPr id="48" name="s7-decision-body">
            <a:extLst xmlns:a="http://schemas.openxmlformats.org/drawingml/2006/main">
              <a:ext uri="{FF2B5EF4-FFF2-40B4-BE49-F238E27FC236}">
                <a16:creationId xmlns:a16="http://schemas.microsoft.com/office/drawing/2014/main" id="{B66CFE99-B78D-4E64-B41B-4A0ACB21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927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推荐方案在不承诺“零误删”的前提下，将系统责任限定为可解释候选生成，将最终删除责任保留给用户确认，并提供恢复兜底。</a:t>
            </a:r>
          </a:p>
        </p:txBody>
      </p:sp>
      <p:sp>
        <p:nvSpPr>
          <p:cNvPr id="49" name="s7-footer-left">
            <a:extLst xmlns:a="http://schemas.openxmlformats.org/drawingml/2006/main">
              <a:ext uri="{FF2B5EF4-FFF2-40B4-BE49-F238E27FC236}">
                <a16:creationId xmlns:a16="http://schemas.microsoft.com/office/drawing/2014/main" id="{90B81214-48D4-473F-84E0-FA83B10E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9191"/>
                </a:solidFill>
              </a:defRPr>
            </a:pPr>
            <a:r>
              <a:rPr sz="750" b="0">
                <a:solidFill>
                  <a:srgbClr val="919191"/>
                </a:solidFill>
              </a:rPr>
              <a:t>07   Huawei Confidential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3a46151a54284"/>
          <a:stretch xmlns:a="http://schemas.openxmlformats.org/drawingml/2006/main"/>
        </p:blipFill>
        <p:spPr>
          <a:xfrm xmlns:a="http://schemas.openxmlformats.org/drawingml/2006/main">
            <a:off x="10496550" y="6413926"/>
            <a:ext cx="1009650" cy="221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51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8-title-accent">
            <a:extLst xmlns:a="http://schemas.openxmlformats.org/drawingml/2006/main">
              <a:ext uri="{FF2B5EF4-FFF2-40B4-BE49-F238E27FC236}">
                <a16:creationId xmlns:a16="http://schemas.microsoft.com/office/drawing/2014/main" id="{070A0F27-6AE1-4B11-9FAE-EF822E0B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040E76BD-8438-496A-9423-03B7A331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</a:defRPr>
            </a:pPr>
            <a:r>
              <a:rPr sz="2850" b="1">
                <a:solidFill>
                  <a:srgbClr val="1D1D1A"/>
                </a:solidFill>
              </a:rPr>
              <a:t>MVP聚焦可解释低歧义任务，复杂语义统一降级为筛选</a:t>
            </a:r>
          </a:p>
        </p:txBody>
      </p:sp>
      <p:sp>
        <p:nvSpPr>
          <p:cNvPr id="3" name="s8-lead">
            <a:extLst xmlns:a="http://schemas.openxmlformats.org/drawingml/2006/main">
              <a:ext uri="{FF2B5EF4-FFF2-40B4-BE49-F238E27FC236}">
                <a16:creationId xmlns:a16="http://schemas.microsoft.com/office/drawing/2014/main" id="{261DC1E3-BA84-4A4D-9041-09416B4A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756"/>
                </a:solidFill>
              </a:defRPr>
            </a:pPr>
            <a:r>
              <a:rPr sz="1500" b="1">
                <a:solidFill>
                  <a:srgbClr val="575756"/>
                </a:solidFill>
              </a:rPr>
              <a:t>范围判断以“索引能力可用、候选理由可展示、用户能够核对、删除后可恢复”为统一准入门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381250"/>
                <a:gridCol w="3238500"/>
                <a:gridCol w="1619250"/>
                <a:gridCol w="1619250"/>
              </a:tblGrid>
              <a:tr h="5143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示例表达</a:t>
                      </a:r>
                    </a:p>
                  </a:txBody>
                  <a:tcPr marL="91440" marR="91440" marT="45720" marB="4572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系统处理</a:t>
                      </a:r>
                    </a:p>
                  </a:txBody>
                  <a:tcPr marL="91440" marR="91440" marT="45720" marB="4572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MVP结论</a:t>
                      </a:r>
                    </a:p>
                  </a:txBody>
                  <a:tcPr marL="91440" marR="91440" marT="45720" marB="4572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验证重点</a:t>
                      </a:r>
                    </a:p>
                  </a:txBody>
                  <a:tcPr marL="91440" marR="91440" marT="45720" marB="45720">
                    <a:solidFill>
                      <a:srgbClr val="1D1D1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截图 / 缓存图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清理上个月的截图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时间 + 类型过滤；展示数量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55"/>
                          </a:solidFill>
                        </a:rPr>
                        <a:t>纳入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范围理解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重复照片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清理重复照片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按组展示；默认每组保留一张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55"/>
                          </a:solidFill>
                        </a:rPr>
                        <a:t>纳入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组内误选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模糊 / 低质量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清理拍糊的照片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展示质量理由；逐组确认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9A6500"/>
                          </a:solidFill>
                        </a:rPr>
                        <a:t>条件纳入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解释可信度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人物 / 私密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删掉没有家人的照片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仅筛选；禁止直接执行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7000A"/>
                          </a:solidFill>
                        </a:rPr>
                        <a:t>降级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敏感语义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事件 / 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删掉报销完成的票据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缺少状态证据；提示无法判断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7000A"/>
                          </a:solidFill>
                        </a:rPr>
                        <a:t>暂缓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75756"/>
                          </a:solidFill>
                        </a:rPr>
                        <a:t>能力缺口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abel-MVP验收门-72-548">
            <a:extLst xmlns:a="http://schemas.openxmlformats.org/drawingml/2006/main">
              <a:ext uri="{FF2B5EF4-FFF2-40B4-BE49-F238E27FC236}">
                <a16:creationId xmlns:a16="http://schemas.microsoft.com/office/drawing/2014/main" id="{31EE9DA2-FADB-4C60-B6C7-E4FF843E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MVP验收门</a:t>
            </a:r>
          </a:p>
        </p:txBody>
      </p:sp>
      <p:sp>
        <p:nvSpPr>
          <p:cNvPr id="6" name="chip-候选条件可解释-72-586">
            <a:extLst xmlns:a="http://schemas.openxmlformats.org/drawingml/2006/main">
              <a:ext uri="{FF2B5EF4-FFF2-40B4-BE49-F238E27FC236}">
                <a16:creationId xmlns:a16="http://schemas.microsoft.com/office/drawing/2014/main" id="{70F9EA1A-88D5-4296-9099-1385272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962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5"/>
            </a:solidFill>
            <a:prstDash val="solid"/>
          </a:ln>
        </p:spPr>
      </p:sp>
      <p:sp>
        <p:nvSpPr>
          <p:cNvPr id="7" name="chip-text-候选条件可解释-72-586">
            <a:extLst xmlns:a="http://schemas.openxmlformats.org/drawingml/2006/main">
              <a:ext uri="{FF2B5EF4-FFF2-40B4-BE49-F238E27FC236}">
                <a16:creationId xmlns:a16="http://schemas.microsoft.com/office/drawing/2014/main" id="{EA8E8943-86A6-424D-9E88-B7A80CC7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5"/>
                </a:solidFill>
              </a:defRPr>
            </a:pPr>
            <a:r>
              <a:rPr sz="1050" b="1">
                <a:solidFill>
                  <a:srgbClr val="2E7D55"/>
                </a:solidFill>
              </a:rPr>
              <a:t>候选条件可解释</a:t>
            </a:r>
          </a:p>
        </p:txBody>
      </p:sp>
      <p:sp>
        <p:nvSpPr>
          <p:cNvPr id="8" name="chip-用户可排除误选-298-586">
            <a:extLst xmlns:a="http://schemas.openxmlformats.org/drawingml/2006/main">
              <a:ext uri="{FF2B5EF4-FFF2-40B4-BE49-F238E27FC236}">
                <a16:creationId xmlns:a16="http://schemas.microsoft.com/office/drawing/2014/main" id="{3E732284-1BCD-4C8C-B713-8E638EB5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81650"/>
            <a:ext cx="1962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5"/>
            </a:solidFill>
            <a:prstDash val="solid"/>
          </a:ln>
        </p:spPr>
      </p:sp>
      <p:sp>
        <p:nvSpPr>
          <p:cNvPr id="9" name="chip-text-用户可排除误选-298-586">
            <a:extLst xmlns:a="http://schemas.openxmlformats.org/drawingml/2006/main">
              <a:ext uri="{FF2B5EF4-FFF2-40B4-BE49-F238E27FC236}">
                <a16:creationId xmlns:a16="http://schemas.microsoft.com/office/drawing/2014/main" id="{EA782655-F4B0-4615-9B9B-ED48D883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29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5"/>
                </a:solidFill>
              </a:defRPr>
            </a:pPr>
            <a:r>
              <a:rPr sz="1050" b="1">
                <a:solidFill>
                  <a:srgbClr val="2E7D55"/>
                </a:solidFill>
              </a:rPr>
              <a:t>用户可排除误选</a:t>
            </a:r>
          </a:p>
        </p:txBody>
      </p:sp>
      <p:sp>
        <p:nvSpPr>
          <p:cNvPr id="10" name="chip-执行前显式确认-524-586">
            <a:extLst xmlns:a="http://schemas.openxmlformats.org/drawingml/2006/main">
              <a:ext uri="{FF2B5EF4-FFF2-40B4-BE49-F238E27FC236}">
                <a16:creationId xmlns:a16="http://schemas.microsoft.com/office/drawing/2014/main" id="{F91B2EEA-57C2-44F1-814D-E225D8F3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81650"/>
            <a:ext cx="1962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5"/>
            </a:solidFill>
            <a:prstDash val="solid"/>
          </a:ln>
        </p:spPr>
      </p:sp>
      <p:sp>
        <p:nvSpPr>
          <p:cNvPr id="11" name="chip-text-执行前显式确认-524-586">
            <a:extLst xmlns:a="http://schemas.openxmlformats.org/drawingml/2006/main">
              <a:ext uri="{FF2B5EF4-FFF2-40B4-BE49-F238E27FC236}">
                <a16:creationId xmlns:a16="http://schemas.microsoft.com/office/drawing/2014/main" id="{F8250A80-EE6D-454D-B94F-8A4D39BF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29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5"/>
                </a:solidFill>
              </a:defRPr>
            </a:pPr>
            <a:r>
              <a:rPr sz="1050" b="1">
                <a:solidFill>
                  <a:srgbClr val="2E7D55"/>
                </a:solidFill>
              </a:rPr>
              <a:t>执行前显式确认</a:t>
            </a:r>
          </a:p>
        </p:txBody>
      </p:sp>
      <p:sp>
        <p:nvSpPr>
          <p:cNvPr id="12" name="chip-默认回收站可恢复-750-586">
            <a:extLst xmlns:a="http://schemas.openxmlformats.org/drawingml/2006/main">
              <a:ext uri="{FF2B5EF4-FFF2-40B4-BE49-F238E27FC236}">
                <a16:creationId xmlns:a16="http://schemas.microsoft.com/office/drawing/2014/main" id="{9F1E465E-1173-4ED0-A6C8-3878E606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81650"/>
            <a:ext cx="1962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5"/>
            </a:solidFill>
            <a:prstDash val="solid"/>
          </a:ln>
        </p:spPr>
      </p:sp>
      <p:sp>
        <p:nvSpPr>
          <p:cNvPr id="13" name="chip-text-默认回收站可恢复-750-586">
            <a:extLst xmlns:a="http://schemas.openxmlformats.org/drawingml/2006/main">
              <a:ext uri="{FF2B5EF4-FFF2-40B4-BE49-F238E27FC236}">
                <a16:creationId xmlns:a16="http://schemas.microsoft.com/office/drawing/2014/main" id="{5C61731E-07E3-467B-9AD7-1570C0D1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29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5"/>
                </a:solidFill>
              </a:defRPr>
            </a:pPr>
            <a:r>
              <a:rPr sz="1050" b="1">
                <a:solidFill>
                  <a:srgbClr val="2E7D55"/>
                </a:solidFill>
              </a:rPr>
              <a:t>默认回收站可恢复</a:t>
            </a:r>
          </a:p>
        </p:txBody>
      </p:sp>
      <p:sp>
        <p:nvSpPr>
          <p:cNvPr id="14" name="chip-高风险自动降级-976-586">
            <a:extLst xmlns:a="http://schemas.openxmlformats.org/drawingml/2006/main">
              <a:ext uri="{FF2B5EF4-FFF2-40B4-BE49-F238E27FC236}">
                <a16:creationId xmlns:a16="http://schemas.microsoft.com/office/drawing/2014/main" id="{77717ED0-B3CC-403A-ADE1-EA75C2BC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581650"/>
            <a:ext cx="1962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15" name="chip-text-高风险自动降级-976-586">
            <a:extLst xmlns:a="http://schemas.openxmlformats.org/drawingml/2006/main">
              <a:ext uri="{FF2B5EF4-FFF2-40B4-BE49-F238E27FC236}">
                <a16:creationId xmlns:a16="http://schemas.microsoft.com/office/drawing/2014/main" id="{8DCCE2F9-EDAD-4A55-9E65-A0D12942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29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高风险自动降级</a:t>
            </a:r>
          </a:p>
        </p:txBody>
      </p:sp>
      <p:sp>
        <p:nvSpPr>
          <p:cNvPr id="16" name="s8-footer-left">
            <a:extLst xmlns:a="http://schemas.openxmlformats.org/drawingml/2006/main">
              <a:ext uri="{FF2B5EF4-FFF2-40B4-BE49-F238E27FC236}">
                <a16:creationId xmlns:a16="http://schemas.microsoft.com/office/drawing/2014/main" id="{8A2E91ED-40E2-4931-8DC6-57A9F428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9191"/>
                </a:solidFill>
              </a:defRPr>
            </a:pPr>
            <a:r>
              <a:rPr sz="750" b="0">
                <a:solidFill>
                  <a:srgbClr val="919191"/>
                </a:solidFill>
              </a:rPr>
              <a:t>08   Huawei Confidential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f3c6101b142c2"/>
          <a:stretch xmlns:a="http://schemas.openxmlformats.org/drawingml/2006/main"/>
        </p:blipFill>
        <p:spPr>
          <a:xfrm xmlns:a="http://schemas.openxmlformats.org/drawingml/2006/main">
            <a:off x="10496550" y="6413926"/>
            <a:ext cx="1009650" cy="221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271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9-title-accent">
            <a:extLst xmlns:a="http://schemas.openxmlformats.org/drawingml/2006/main">
              <a:ext uri="{FF2B5EF4-FFF2-40B4-BE49-F238E27FC236}">
                <a16:creationId xmlns:a16="http://schemas.microsoft.com/office/drawing/2014/main" id="{3DBB5BC2-9B8C-43A9-AB30-B661EFCA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9-title">
            <a:extLst xmlns:a="http://schemas.openxmlformats.org/drawingml/2006/main">
              <a:ext uri="{FF2B5EF4-FFF2-40B4-BE49-F238E27FC236}">
                <a16:creationId xmlns:a16="http://schemas.microsoft.com/office/drawing/2014/main" id="{DA00F2E5-21AB-44BF-9D68-86FB56A3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</a:defRPr>
            </a:pPr>
            <a:r>
              <a:rPr sz="2850" b="1">
                <a:solidFill>
                  <a:srgbClr val="1D1D1A"/>
                </a:solidFill>
              </a:rPr>
              <a:t>验证指标应同时约束任务成功、误选风险、时延与隐私</a:t>
            </a:r>
          </a:p>
        </p:txBody>
      </p:sp>
      <p:sp>
        <p:nvSpPr>
          <p:cNvPr id="3" name="s9-lead">
            <a:extLst xmlns:a="http://schemas.openxmlformats.org/drawingml/2006/main">
              <a:ext uri="{FF2B5EF4-FFF2-40B4-BE49-F238E27FC236}">
                <a16:creationId xmlns:a16="http://schemas.microsoft.com/office/drawing/2014/main" id="{3ECE806B-218A-474D-A01F-FCC17D1E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756"/>
                </a:solidFill>
              </a:defRPr>
            </a:pPr>
            <a:r>
              <a:rPr sz="1500" b="1">
                <a:solidFill>
                  <a:srgbClr val="575756"/>
                </a:solidFill>
              </a:rPr>
              <a:t>当前无业务基线；先批准口径与退出条件，再通过原型测试和技术样机确认目标值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5715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62c272b7ac4055"/>
          </a:graphicData>
        </a:graphic>
      </p:graphicFrame>
      <p:sp>
        <p:nvSpPr>
          <p:cNvPr id="5" name="s9-chart-note">
            <a:extLst xmlns:a="http://schemas.openxmlformats.org/drawingml/2006/main">
              <a:ext uri="{FF2B5EF4-FFF2-40B4-BE49-F238E27FC236}">
                <a16:creationId xmlns:a16="http://schemas.microsoft.com/office/drawing/2014/main" id="{0BDAFFC1-FF10-40C8-AB0A-46C78B40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9191"/>
                </a:solidFill>
              </a:defRPr>
            </a:pPr>
            <a:r>
              <a:rPr sz="900" b="0">
                <a:solidFill>
                  <a:srgbClr val="919191"/>
                </a:solidFill>
              </a:rPr>
              <a:t>决策权重建议（合计100%）｜待评审确认，不代表业务现状</a:t>
            </a:r>
          </a:p>
        </p:txBody>
      </p:sp>
      <p:sp>
        <p:nvSpPr>
          <p:cNvPr id="6" name="s9-metric-n-0">
            <a:extLst xmlns:a="http://schemas.openxmlformats.org/drawingml/2006/main">
              <a:ext uri="{FF2B5EF4-FFF2-40B4-BE49-F238E27FC236}">
                <a16:creationId xmlns:a16="http://schemas.microsoft.com/office/drawing/2014/main" id="{D15E4ABC-07C0-46FE-9232-6A2F6C77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431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01</a:t>
            </a:r>
          </a:p>
        </p:txBody>
      </p:sp>
      <p:sp>
        <p:nvSpPr>
          <p:cNvPr id="7" name="s9-metric-h-0">
            <a:extLst xmlns:a="http://schemas.openxmlformats.org/drawingml/2006/main">
              <a:ext uri="{FF2B5EF4-FFF2-40B4-BE49-F238E27FC236}">
                <a16:creationId xmlns:a16="http://schemas.microsoft.com/office/drawing/2014/main" id="{50374A82-9DF8-404B-A126-F7E305F7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24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任务成功率</a:t>
            </a:r>
          </a:p>
        </p:txBody>
      </p:sp>
      <p:sp>
        <p:nvSpPr>
          <p:cNvPr id="8" name="s9-metric-d-0">
            <a:extLst xmlns:a="http://schemas.openxmlformats.org/drawingml/2006/main">
              <a:ext uri="{FF2B5EF4-FFF2-40B4-BE49-F238E27FC236}">
                <a16:creationId xmlns:a16="http://schemas.microsoft.com/office/drawing/2014/main" id="{63F3610E-AE2C-4767-8A0E-713ADD9F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240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完成目标任务且无需改写</a:t>
            </a:r>
          </a:p>
        </p:txBody>
      </p:sp>
      <p:sp>
        <p:nvSpPr>
          <p:cNvPr id="9" name="s9-metric-v-0">
            <a:extLst xmlns:a="http://schemas.openxmlformats.org/drawingml/2006/main">
              <a:ext uri="{FF2B5EF4-FFF2-40B4-BE49-F238E27FC236}">
                <a16:creationId xmlns:a16="http://schemas.microsoft.com/office/drawing/2014/main" id="{DF56863E-60DC-4FF4-84B1-26DA5DFC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240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基线待测｜目标待确认</a:t>
            </a:r>
          </a:p>
        </p:txBody>
      </p:sp>
      <p:sp>
        <p:nvSpPr>
          <p:cNvPr id="10" name="s9-line-0">
            <a:extLst xmlns:a="http://schemas.openxmlformats.org/drawingml/2006/main">
              <a:ext uri="{FF2B5EF4-FFF2-40B4-BE49-F238E27FC236}">
                <a16:creationId xmlns:a16="http://schemas.microsoft.com/office/drawing/2014/main" id="{1E6CF9F8-643D-46D4-A3C9-6A18A57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336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9-metric-n-1">
            <a:extLst xmlns:a="http://schemas.openxmlformats.org/drawingml/2006/main">
              <a:ext uri="{FF2B5EF4-FFF2-40B4-BE49-F238E27FC236}">
                <a16:creationId xmlns:a16="http://schemas.microsoft.com/office/drawing/2014/main" id="{099DE235-9C15-4F25-9FBB-0F4A8568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9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02</a:t>
            </a:r>
          </a:p>
        </p:txBody>
      </p:sp>
      <p:sp>
        <p:nvSpPr>
          <p:cNvPr id="12" name="s9-metric-h-1">
            <a:extLst xmlns:a="http://schemas.openxmlformats.org/drawingml/2006/main">
              <a:ext uri="{FF2B5EF4-FFF2-40B4-BE49-F238E27FC236}">
                <a16:creationId xmlns:a16="http://schemas.microsoft.com/office/drawing/2014/main" id="{F1F7567B-F617-4F24-B1DD-1AE41733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候选误选率</a:t>
            </a:r>
          </a:p>
        </p:txBody>
      </p:sp>
      <p:sp>
        <p:nvSpPr>
          <p:cNvPr id="13" name="s9-metric-d-1">
            <a:extLst xmlns:a="http://schemas.openxmlformats.org/drawingml/2006/main">
              <a:ext uri="{FF2B5EF4-FFF2-40B4-BE49-F238E27FC236}">
                <a16:creationId xmlns:a16="http://schemas.microsoft.com/office/drawing/2014/main" id="{58A98DCF-A01E-4643-9ADD-DA8A5DC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765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候选中被用户排除的比例</a:t>
            </a:r>
          </a:p>
        </p:txBody>
      </p:sp>
      <p:sp>
        <p:nvSpPr>
          <p:cNvPr id="14" name="s9-metric-v-1">
            <a:extLst xmlns:a="http://schemas.openxmlformats.org/drawingml/2006/main">
              <a:ext uri="{FF2B5EF4-FFF2-40B4-BE49-F238E27FC236}">
                <a16:creationId xmlns:a16="http://schemas.microsoft.com/office/drawing/2014/main" id="{52F43033-30D9-4310-8B24-D027980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765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退出条件待定</a:t>
            </a:r>
          </a:p>
        </p:txBody>
      </p:sp>
      <p:sp>
        <p:nvSpPr>
          <p:cNvPr id="15" name="s9-line-1">
            <a:extLst xmlns:a="http://schemas.openxmlformats.org/drawingml/2006/main">
              <a:ext uri="{FF2B5EF4-FFF2-40B4-BE49-F238E27FC236}">
                <a16:creationId xmlns:a16="http://schemas.microsoft.com/office/drawing/2014/main" id="{558A18CD-C02B-46A3-B4EF-E3FBA07A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860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9-metric-n-2">
            <a:extLst xmlns:a="http://schemas.openxmlformats.org/drawingml/2006/main">
              <a:ext uri="{FF2B5EF4-FFF2-40B4-BE49-F238E27FC236}">
                <a16:creationId xmlns:a16="http://schemas.microsoft.com/office/drawing/2014/main" id="{05E4335E-0BDD-47EE-B3A2-C21E9241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03</a:t>
            </a:r>
          </a:p>
        </p:txBody>
      </p:sp>
      <p:sp>
        <p:nvSpPr>
          <p:cNvPr id="17" name="s9-metric-h-2">
            <a:extLst xmlns:a="http://schemas.openxmlformats.org/drawingml/2006/main">
              <a:ext uri="{FF2B5EF4-FFF2-40B4-BE49-F238E27FC236}">
                <a16:creationId xmlns:a16="http://schemas.microsoft.com/office/drawing/2014/main" id="{64E7A1B2-CB8E-4F31-9E99-F5CF57B0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确认放弃率</a:t>
            </a:r>
          </a:p>
        </p:txBody>
      </p:sp>
      <p:sp>
        <p:nvSpPr>
          <p:cNvPr id="18" name="s9-metric-d-2">
            <a:extLst xmlns:a="http://schemas.openxmlformats.org/drawingml/2006/main">
              <a:ext uri="{FF2B5EF4-FFF2-40B4-BE49-F238E27FC236}">
                <a16:creationId xmlns:a16="http://schemas.microsoft.com/office/drawing/2014/main" id="{2339AD60-16C6-4E47-A0D2-B2A0F547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进入确认页后取消或返回</a:t>
            </a:r>
          </a:p>
        </p:txBody>
      </p:sp>
      <p:sp>
        <p:nvSpPr>
          <p:cNvPr id="19" name="s9-metric-v-2">
            <a:extLst xmlns:a="http://schemas.openxmlformats.org/drawingml/2006/main">
              <a:ext uri="{FF2B5EF4-FFF2-40B4-BE49-F238E27FC236}">
                <a16:creationId xmlns:a16="http://schemas.microsoft.com/office/drawing/2014/main" id="{9E9304EC-06FB-4ED1-B152-C176C147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289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解释不足信号</a:t>
            </a:r>
          </a:p>
        </p:txBody>
      </p:sp>
      <p:sp>
        <p:nvSpPr>
          <p:cNvPr id="20" name="s9-line-2">
            <a:extLst xmlns:a="http://schemas.openxmlformats.org/drawingml/2006/main">
              <a:ext uri="{FF2B5EF4-FFF2-40B4-BE49-F238E27FC236}">
                <a16:creationId xmlns:a16="http://schemas.microsoft.com/office/drawing/2014/main" id="{4D22E6FB-A9AD-4BFF-986F-AF5AD8CE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385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9-metric-n-3">
            <a:extLst xmlns:a="http://schemas.openxmlformats.org/drawingml/2006/main">
              <a:ext uri="{FF2B5EF4-FFF2-40B4-BE49-F238E27FC236}">
                <a16:creationId xmlns:a16="http://schemas.microsoft.com/office/drawing/2014/main" id="{79E072AC-B1A9-492B-8491-82AF13B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04</a:t>
            </a:r>
          </a:p>
        </p:txBody>
      </p:sp>
      <p:sp>
        <p:nvSpPr>
          <p:cNvPr id="22" name="s9-metric-h-3">
            <a:extLst xmlns:a="http://schemas.openxmlformats.org/drawingml/2006/main">
              <a:ext uri="{FF2B5EF4-FFF2-40B4-BE49-F238E27FC236}">
                <a16:creationId xmlns:a16="http://schemas.microsoft.com/office/drawing/2014/main" id="{8DE07022-E757-4AF5-9781-BC4F2816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81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撤销 / 恢复率</a:t>
            </a:r>
          </a:p>
        </p:txBody>
      </p:sp>
      <p:sp>
        <p:nvSpPr>
          <p:cNvPr id="23" name="s9-metric-d-3">
            <a:extLst xmlns:a="http://schemas.openxmlformats.org/drawingml/2006/main">
              <a:ext uri="{FF2B5EF4-FFF2-40B4-BE49-F238E27FC236}">
                <a16:creationId xmlns:a16="http://schemas.microsoft.com/office/drawing/2014/main" id="{357C9388-E2B6-46F8-9E64-F15F3BB4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执行后进入回收站并恢复</a:t>
            </a:r>
          </a:p>
        </p:txBody>
      </p:sp>
      <p:sp>
        <p:nvSpPr>
          <p:cNvPr id="24" name="s9-metric-v-3">
            <a:extLst xmlns:a="http://schemas.openxmlformats.org/drawingml/2006/main">
              <a:ext uri="{FF2B5EF4-FFF2-40B4-BE49-F238E27FC236}">
                <a16:creationId xmlns:a16="http://schemas.microsoft.com/office/drawing/2014/main" id="{D2380FDB-DD1B-44CB-97FF-6F76592B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5814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误删风险信号</a:t>
            </a:r>
          </a:p>
        </p:txBody>
      </p:sp>
      <p:sp>
        <p:nvSpPr>
          <p:cNvPr id="25" name="s9-line-3">
            <a:extLst xmlns:a="http://schemas.openxmlformats.org/drawingml/2006/main">
              <a:ext uri="{FF2B5EF4-FFF2-40B4-BE49-F238E27FC236}">
                <a16:creationId xmlns:a16="http://schemas.microsoft.com/office/drawing/2014/main" id="{0F7311DD-A554-4ACB-9AF4-48EF0694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909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9-metric-n-4">
            <a:extLst xmlns:a="http://schemas.openxmlformats.org/drawingml/2006/main">
              <a:ext uri="{FF2B5EF4-FFF2-40B4-BE49-F238E27FC236}">
                <a16:creationId xmlns:a16="http://schemas.microsoft.com/office/drawing/2014/main" id="{2CE1521A-99FB-4E99-8B82-1CF1C977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05</a:t>
            </a:r>
          </a:p>
        </p:txBody>
      </p:sp>
      <p:sp>
        <p:nvSpPr>
          <p:cNvPr id="27" name="s9-metric-h-4">
            <a:extLst xmlns:a="http://schemas.openxmlformats.org/drawingml/2006/main">
              <a:ext uri="{FF2B5EF4-FFF2-40B4-BE49-F238E27FC236}">
                <a16:creationId xmlns:a16="http://schemas.microsoft.com/office/drawing/2014/main" id="{6E53B514-FAD0-432A-9BB1-8DC7DB89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P95端侧时延</a:t>
            </a:r>
          </a:p>
        </p:txBody>
      </p:sp>
      <p:sp>
        <p:nvSpPr>
          <p:cNvPr id="28" name="s9-metric-d-4">
            <a:extLst xmlns:a="http://schemas.openxmlformats.org/drawingml/2006/main">
              <a:ext uri="{FF2B5EF4-FFF2-40B4-BE49-F238E27FC236}">
                <a16:creationId xmlns:a16="http://schemas.microsoft.com/office/drawing/2014/main" id="{2F16B315-5332-48B8-A54C-A73D4DD7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338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输入完成到候选首屏可见</a:t>
            </a:r>
          </a:p>
        </p:txBody>
      </p:sp>
      <p:sp>
        <p:nvSpPr>
          <p:cNvPr id="29" name="s9-metric-v-4">
            <a:extLst xmlns:a="http://schemas.openxmlformats.org/drawingml/2006/main">
              <a:ext uri="{FF2B5EF4-FFF2-40B4-BE49-F238E27FC236}">
                <a16:creationId xmlns:a16="http://schemas.microsoft.com/office/drawing/2014/main" id="{9D897505-2CD5-4973-9094-E5761E71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338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机型分层待测</a:t>
            </a:r>
          </a:p>
        </p:txBody>
      </p:sp>
      <p:sp>
        <p:nvSpPr>
          <p:cNvPr id="30" name="s9-line-4">
            <a:extLst xmlns:a="http://schemas.openxmlformats.org/drawingml/2006/main">
              <a:ext uri="{FF2B5EF4-FFF2-40B4-BE49-F238E27FC236}">
                <a16:creationId xmlns:a16="http://schemas.microsoft.com/office/drawing/2014/main" id="{3467FE87-13DB-48EE-96D7-CBA0698E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434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9-metric-n-5">
            <a:extLst xmlns:a="http://schemas.openxmlformats.org/drawingml/2006/main">
              <a:ext uri="{FF2B5EF4-FFF2-40B4-BE49-F238E27FC236}">
                <a16:creationId xmlns:a16="http://schemas.microsoft.com/office/drawing/2014/main" id="{F19C1724-671D-44ED-850D-49C6028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05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06</a:t>
            </a:r>
          </a:p>
        </p:txBody>
      </p:sp>
      <p:sp>
        <p:nvSpPr>
          <p:cNvPr id="32" name="s9-metric-h-5">
            <a:extLst xmlns:a="http://schemas.openxmlformats.org/drawingml/2006/main">
              <a:ext uri="{FF2B5EF4-FFF2-40B4-BE49-F238E27FC236}">
                <a16:creationId xmlns:a16="http://schemas.microsoft.com/office/drawing/2014/main" id="{0DE410F2-EB30-4FA0-9F9A-F233F9CA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敏感数据外发</a:t>
            </a:r>
          </a:p>
        </p:txBody>
      </p:sp>
      <p:sp>
        <p:nvSpPr>
          <p:cNvPr id="33" name="s9-metric-d-5">
            <a:extLst xmlns:a="http://schemas.openxmlformats.org/drawingml/2006/main">
              <a:ext uri="{FF2B5EF4-FFF2-40B4-BE49-F238E27FC236}">
                <a16:creationId xmlns:a16="http://schemas.microsoft.com/office/drawing/2014/main" id="{F3D66992-B274-41C4-A51C-BC07799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863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</a:defRPr>
            </a:pPr>
            <a:r>
              <a:rPr sz="1050" b="0">
                <a:solidFill>
                  <a:srgbClr val="575756"/>
                </a:solidFill>
              </a:rPr>
              <a:t>原图、人物标签、位置等</a:t>
            </a:r>
          </a:p>
        </p:txBody>
      </p:sp>
      <p:sp>
        <p:nvSpPr>
          <p:cNvPr id="34" name="s9-metric-v-5">
            <a:extLst xmlns:a="http://schemas.openxmlformats.org/drawingml/2006/main">
              <a:ext uri="{FF2B5EF4-FFF2-40B4-BE49-F238E27FC236}">
                <a16:creationId xmlns:a16="http://schemas.microsoft.com/office/drawing/2014/main" id="{3EC8AB5A-F61F-4C28-B43C-C9863E20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6863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D55"/>
                </a:solidFill>
              </a:defRPr>
            </a:pPr>
            <a:r>
              <a:rPr sz="1050" b="1">
                <a:solidFill>
                  <a:srgbClr val="2E7D55"/>
                </a:solidFill>
              </a:rPr>
              <a:t>默认目标：0</a:t>
            </a:r>
          </a:p>
        </p:txBody>
      </p:sp>
      <p:sp>
        <p:nvSpPr>
          <p:cNvPr id="35" name="s9-line-5">
            <a:extLst xmlns:a="http://schemas.openxmlformats.org/drawingml/2006/main">
              <a:ext uri="{FF2B5EF4-FFF2-40B4-BE49-F238E27FC236}">
                <a16:creationId xmlns:a16="http://schemas.microsoft.com/office/drawing/2014/main" id="{8F28DB2D-1E56-4CE6-8476-370F20C3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9-action">
            <a:extLst xmlns:a="http://schemas.openxmlformats.org/drawingml/2006/main">
              <a:ext uri="{FF2B5EF4-FFF2-40B4-BE49-F238E27FC236}">
                <a16:creationId xmlns:a16="http://schemas.microsoft.com/office/drawing/2014/main" id="{BF0C356D-FC5B-4BB1-B846-44486C8B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9-action-head">
            <a:extLst xmlns:a="http://schemas.openxmlformats.org/drawingml/2006/main">
              <a:ext uri="{FF2B5EF4-FFF2-40B4-BE49-F238E27FC236}">
                <a16:creationId xmlns:a16="http://schemas.microsoft.com/office/drawing/2014/main" id="{0B98E936-D87D-4687-A33E-3E45DDA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3D"/>
                </a:solidFill>
              </a:defRPr>
            </a:pPr>
            <a:r>
              <a:rPr sz="1350" b="1">
                <a:solidFill>
                  <a:srgbClr val="E8A33D"/>
                </a:solidFill>
              </a:rPr>
              <a:t>进入下一阶段的必要条件</a:t>
            </a:r>
          </a:p>
        </p:txBody>
      </p:sp>
      <p:sp>
        <p:nvSpPr>
          <p:cNvPr id="38" name="s9-action-body">
            <a:extLst xmlns:a="http://schemas.openxmlformats.org/drawingml/2006/main">
              <a:ext uri="{FF2B5EF4-FFF2-40B4-BE49-F238E27FC236}">
                <a16:creationId xmlns:a16="http://schemas.microsoft.com/office/drawing/2014/main" id="{47822117-3ED9-489C-A80F-66130C95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054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任务成功、候选误选、可理解性三项同时达标；端侧性能满足分层机型预算；隐私评审确认数据最小化方案。任何红线不通过即回到范围或交互设计。</a:t>
            </a:r>
          </a:p>
        </p:txBody>
      </p:sp>
      <p:sp>
        <p:nvSpPr>
          <p:cNvPr id="39" name="s9-footer-left">
            <a:extLst xmlns:a="http://schemas.openxmlformats.org/drawingml/2006/main">
              <a:ext uri="{FF2B5EF4-FFF2-40B4-BE49-F238E27FC236}">
                <a16:creationId xmlns:a16="http://schemas.microsoft.com/office/drawing/2014/main" id="{C07F4A6A-B5A9-481E-A625-9651371E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9191"/>
                </a:solidFill>
              </a:defRPr>
            </a:pPr>
            <a:r>
              <a:rPr sz="750" b="0">
                <a:solidFill>
                  <a:srgbClr val="919191"/>
                </a:solidFill>
              </a:rPr>
              <a:t>09   Huawei Confidential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86f2cd0fd4834"/>
          <a:stretch xmlns:a="http://schemas.openxmlformats.org/drawingml/2006/main"/>
        </p:blipFill>
        <p:spPr>
          <a:xfrm xmlns:a="http://schemas.openxmlformats.org/drawingml/2006/main">
            <a:off x="10496550" y="6413926"/>
            <a:ext cx="1009650" cy="221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986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s10-title-accent">
            <a:extLst xmlns:a="http://schemas.openxmlformats.org/drawingml/2006/main">
              <a:ext uri="{FF2B5EF4-FFF2-40B4-BE49-F238E27FC236}">
                <a16:creationId xmlns:a16="http://schemas.microsoft.com/office/drawing/2014/main" id="{0E1823B8-69B0-4611-AD6F-0926BA62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28FC7055-DC66-4AF7-9037-ECBF9E3D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</a:defRPr>
            </a:pPr>
            <a:r>
              <a:rPr sz="2850" b="1">
                <a:solidFill>
                  <a:srgbClr val="1D1D1A"/>
                </a:solidFill>
              </a:rPr>
              <a:t>端侧优先的分层架构支持语义清理并限制敏感数据外流</a:t>
            </a:r>
          </a:p>
        </p:txBody>
      </p:sp>
      <p:sp>
        <p:nvSpPr>
          <p:cNvPr id="3" name="s10-lead">
            <a:extLst xmlns:a="http://schemas.openxmlformats.org/drawingml/2006/main">
              <a:ext uri="{FF2B5EF4-FFF2-40B4-BE49-F238E27FC236}">
                <a16:creationId xmlns:a16="http://schemas.microsoft.com/office/drawing/2014/main" id="{8A09144E-025B-49DF-86C3-B369DCCF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756"/>
                </a:solidFill>
              </a:defRPr>
            </a:pPr>
            <a:r>
              <a:rPr sz="1500" b="1">
                <a:solidFill>
                  <a:srgbClr val="575756"/>
                </a:solidFill>
              </a:rPr>
              <a:t>原图内容与敏感标签默认留在设备侧；云侧能力仅作为可配置增强，不成为基础体验依赖</a:t>
            </a:r>
          </a:p>
        </p:txBody>
      </p:sp>
      <p:sp>
        <p:nvSpPr>
          <p:cNvPr id="4" name="s10-layer-0">
            <a:extLst xmlns:a="http://schemas.openxmlformats.org/drawingml/2006/main">
              <a:ext uri="{FF2B5EF4-FFF2-40B4-BE49-F238E27FC236}">
                <a16:creationId xmlns:a16="http://schemas.microsoft.com/office/drawing/2014/main" id="{39A389EB-15F4-4466-906B-A8B00FE6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体验层</a:t>
            </a:r>
          </a:p>
        </p:txBody>
      </p:sp>
      <p:sp>
        <p:nvSpPr>
          <p:cNvPr id="5" name="s10-node-0-0">
            <a:extLst xmlns:a="http://schemas.openxmlformats.org/drawingml/2006/main">
              <a:ext uri="{FF2B5EF4-FFF2-40B4-BE49-F238E27FC236}">
                <a16:creationId xmlns:a16="http://schemas.microsoft.com/office/drawing/2014/main" id="{4257BDB6-5243-41F0-A47D-ACC39B6B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431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6" name="s10-node-text-0-0">
            <a:extLst xmlns:a="http://schemas.openxmlformats.org/drawingml/2006/main">
              <a:ext uri="{FF2B5EF4-FFF2-40B4-BE49-F238E27FC236}">
                <a16:creationId xmlns:a16="http://schemas.microsoft.com/office/drawing/2014/main" id="{070A77D9-CA4A-4DF8-A89D-003E90B7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336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文本 / 语音入口</a:t>
            </a:r>
          </a:p>
        </p:txBody>
      </p:sp>
      <p:sp>
        <p:nvSpPr>
          <p:cNvPr id="7" name="s10-node-0-1">
            <a:extLst xmlns:a="http://schemas.openxmlformats.org/drawingml/2006/main">
              <a:ext uri="{FF2B5EF4-FFF2-40B4-BE49-F238E27FC236}">
                <a16:creationId xmlns:a16="http://schemas.microsoft.com/office/drawing/2014/main" id="{CBA2B532-0B68-4100-BA25-594D5E38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8" name="s10-node-text-0-1">
            <a:extLst xmlns:a="http://schemas.openxmlformats.org/drawingml/2006/main">
              <a:ext uri="{FF2B5EF4-FFF2-40B4-BE49-F238E27FC236}">
                <a16:creationId xmlns:a16="http://schemas.microsoft.com/office/drawing/2014/main" id="{EC87C753-2508-434A-B0F3-12968420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336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候选分组</a:t>
            </a:r>
          </a:p>
        </p:txBody>
      </p:sp>
      <p:sp>
        <p:nvSpPr>
          <p:cNvPr id="9" name="s10-node-0-2">
            <a:extLst xmlns:a="http://schemas.openxmlformats.org/drawingml/2006/main">
              <a:ext uri="{FF2B5EF4-FFF2-40B4-BE49-F238E27FC236}">
                <a16:creationId xmlns:a16="http://schemas.microsoft.com/office/drawing/2014/main" id="{496DD6D5-68C7-4CF4-9E49-B55E62F4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431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10" name="s10-node-text-0-2">
            <a:extLst xmlns:a="http://schemas.openxmlformats.org/drawingml/2006/main">
              <a:ext uri="{FF2B5EF4-FFF2-40B4-BE49-F238E27FC236}">
                <a16:creationId xmlns:a16="http://schemas.microsoft.com/office/drawing/2014/main" id="{211A7260-5CF8-4C17-BA4B-1B74C0D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解释预览</a:t>
            </a:r>
          </a:p>
        </p:txBody>
      </p:sp>
      <p:sp>
        <p:nvSpPr>
          <p:cNvPr id="11" name="s10-node-0-3">
            <a:extLst xmlns:a="http://schemas.openxmlformats.org/drawingml/2006/main">
              <a:ext uri="{FF2B5EF4-FFF2-40B4-BE49-F238E27FC236}">
                <a16:creationId xmlns:a16="http://schemas.microsoft.com/office/drawing/2014/main" id="{AE21E12E-0BCB-4A28-9916-36961653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431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12" name="s10-node-text-0-3">
            <a:extLst xmlns:a="http://schemas.openxmlformats.org/drawingml/2006/main">
              <a:ext uri="{FF2B5EF4-FFF2-40B4-BE49-F238E27FC236}">
                <a16:creationId xmlns:a16="http://schemas.microsoft.com/office/drawing/2014/main" id="{B62D89EC-CD06-4F30-9E27-F39A3404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确认 / 撤销</a:t>
            </a:r>
          </a:p>
        </p:txBody>
      </p:sp>
      <p:sp>
        <p:nvSpPr>
          <p:cNvPr id="13" name="s10-layer-1">
            <a:extLst xmlns:a="http://schemas.openxmlformats.org/drawingml/2006/main">
              <a:ext uri="{FF2B5EF4-FFF2-40B4-BE49-F238E27FC236}">
                <a16:creationId xmlns:a16="http://schemas.microsoft.com/office/drawing/2014/main" id="{E324797E-16ED-4188-831B-CAEF690E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</a:defRPr>
            </a:pPr>
            <a:r>
              <a:rPr sz="1350" b="1">
                <a:solidFill>
                  <a:srgbClr val="C7000A"/>
                </a:solidFill>
              </a:rPr>
              <a:t>编排层</a:t>
            </a:r>
          </a:p>
        </p:txBody>
      </p:sp>
      <p:sp>
        <p:nvSpPr>
          <p:cNvPr id="14" name="s10-node-1-0">
            <a:extLst xmlns:a="http://schemas.openxmlformats.org/drawingml/2006/main">
              <a:ext uri="{FF2B5EF4-FFF2-40B4-BE49-F238E27FC236}">
                <a16:creationId xmlns:a16="http://schemas.microsoft.com/office/drawing/2014/main" id="{D707224E-C956-4B3E-861E-973BC650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22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15" name="s10-node-text-1-0">
            <a:extLst xmlns:a="http://schemas.openxmlformats.org/drawingml/2006/main">
              <a:ext uri="{FF2B5EF4-FFF2-40B4-BE49-F238E27FC236}">
                <a16:creationId xmlns:a16="http://schemas.microsoft.com/office/drawing/2014/main" id="{1A1B76FD-EE5C-4600-B78D-E797E51A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52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意图解析</a:t>
            </a:r>
          </a:p>
        </p:txBody>
      </p:sp>
      <p:sp>
        <p:nvSpPr>
          <p:cNvPr id="16" name="s10-node-1-1">
            <a:extLst xmlns:a="http://schemas.openxmlformats.org/drawingml/2006/main">
              <a:ext uri="{FF2B5EF4-FFF2-40B4-BE49-F238E27FC236}">
                <a16:creationId xmlns:a16="http://schemas.microsoft.com/office/drawing/2014/main" id="{5B6387ED-F4B1-4890-BAF7-4DE23D06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17" name="s10-node-text-1-1">
            <a:extLst xmlns:a="http://schemas.openxmlformats.org/drawingml/2006/main">
              <a:ext uri="{FF2B5EF4-FFF2-40B4-BE49-F238E27FC236}">
                <a16:creationId xmlns:a16="http://schemas.microsoft.com/office/drawing/2014/main" id="{AAC892B5-F83B-4D5B-8AE7-9B9E65F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查询计划</a:t>
            </a:r>
          </a:p>
        </p:txBody>
      </p:sp>
      <p:sp>
        <p:nvSpPr>
          <p:cNvPr id="18" name="s10-node-1-2">
            <a:extLst xmlns:a="http://schemas.openxmlformats.org/drawingml/2006/main">
              <a:ext uri="{FF2B5EF4-FFF2-40B4-BE49-F238E27FC236}">
                <a16:creationId xmlns:a16="http://schemas.microsoft.com/office/drawing/2014/main" id="{481B15B5-A6C8-4C70-8EC0-A76DC65C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622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19" name="s10-node-text-1-2">
            <a:extLst xmlns:a="http://schemas.openxmlformats.org/drawingml/2006/main">
              <a:ext uri="{FF2B5EF4-FFF2-40B4-BE49-F238E27FC236}">
                <a16:creationId xmlns:a16="http://schemas.microsoft.com/office/drawing/2014/main" id="{5BEA1033-7529-419F-BB54-4986EE7E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风险分级</a:t>
            </a:r>
          </a:p>
        </p:txBody>
      </p:sp>
      <p:sp>
        <p:nvSpPr>
          <p:cNvPr id="20" name="s10-node-1-3">
            <a:extLst xmlns:a="http://schemas.openxmlformats.org/drawingml/2006/main">
              <a:ext uri="{FF2B5EF4-FFF2-40B4-BE49-F238E27FC236}">
                <a16:creationId xmlns:a16="http://schemas.microsoft.com/office/drawing/2014/main" id="{D4AF60D4-4E6A-4591-A205-BF0AE350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622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21" name="s10-node-text-1-3">
            <a:extLst xmlns:a="http://schemas.openxmlformats.org/drawingml/2006/main">
              <a:ext uri="{FF2B5EF4-FFF2-40B4-BE49-F238E27FC236}">
                <a16:creationId xmlns:a16="http://schemas.microsoft.com/office/drawing/2014/main" id="{D317CD64-ECE3-42AA-8FB8-F8650727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52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降级策略</a:t>
            </a:r>
          </a:p>
        </p:txBody>
      </p:sp>
      <p:sp>
        <p:nvSpPr>
          <p:cNvPr id="22" name="s10-layer-2">
            <a:extLst xmlns:a="http://schemas.openxmlformats.org/drawingml/2006/main">
              <a:ext uri="{FF2B5EF4-FFF2-40B4-BE49-F238E27FC236}">
                <a16:creationId xmlns:a16="http://schemas.microsoft.com/office/drawing/2014/main" id="{20680EC5-1C2F-4227-91D4-A76375B4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能力层</a:t>
            </a:r>
          </a:p>
        </p:txBody>
      </p:sp>
      <p:sp>
        <p:nvSpPr>
          <p:cNvPr id="23" name="s10-node-2-0">
            <a:extLst xmlns:a="http://schemas.openxmlformats.org/drawingml/2006/main">
              <a:ext uri="{FF2B5EF4-FFF2-40B4-BE49-F238E27FC236}">
                <a16:creationId xmlns:a16="http://schemas.microsoft.com/office/drawing/2014/main" id="{DA498FC4-CDD4-4229-8679-5FE88F2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814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24" name="s10-node-text-2-0">
            <a:extLst xmlns:a="http://schemas.openxmlformats.org/drawingml/2006/main">
              <a:ext uri="{FF2B5EF4-FFF2-40B4-BE49-F238E27FC236}">
                <a16:creationId xmlns:a16="http://schemas.microsoft.com/office/drawing/2014/main" id="{566FC0C8-EDCE-48F8-BC23-366490DB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719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图库索引</a:t>
            </a:r>
          </a:p>
        </p:txBody>
      </p:sp>
      <p:sp>
        <p:nvSpPr>
          <p:cNvPr id="25" name="s10-node-2-1">
            <a:extLst xmlns:a="http://schemas.openxmlformats.org/drawingml/2006/main">
              <a:ext uri="{FF2B5EF4-FFF2-40B4-BE49-F238E27FC236}">
                <a16:creationId xmlns:a16="http://schemas.microsoft.com/office/drawing/2014/main" id="{2D87977B-3695-4013-98AA-664A00B8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26" name="s10-node-text-2-1">
            <a:extLst xmlns:a="http://schemas.openxmlformats.org/drawingml/2006/main">
              <a:ext uri="{FF2B5EF4-FFF2-40B4-BE49-F238E27FC236}">
                <a16:creationId xmlns:a16="http://schemas.microsoft.com/office/drawing/2014/main" id="{0E42191A-4E91-456E-A69C-C7E23AE7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719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OCR / 类型</a:t>
            </a:r>
          </a:p>
        </p:txBody>
      </p:sp>
      <p:sp>
        <p:nvSpPr>
          <p:cNvPr id="27" name="s10-node-2-2">
            <a:extLst xmlns:a="http://schemas.openxmlformats.org/drawingml/2006/main">
              <a:ext uri="{FF2B5EF4-FFF2-40B4-BE49-F238E27FC236}">
                <a16:creationId xmlns:a16="http://schemas.microsoft.com/office/drawing/2014/main" id="{CE1A87A0-973E-4D34-AB1B-63A15563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28" name="s10-node-text-2-2">
            <a:extLst xmlns:a="http://schemas.openxmlformats.org/drawingml/2006/main">
              <a:ext uri="{FF2B5EF4-FFF2-40B4-BE49-F238E27FC236}">
                <a16:creationId xmlns:a16="http://schemas.microsoft.com/office/drawing/2014/main" id="{4B30C761-F83C-4E02-BE0F-50D28F3A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719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重复 / 质量</a:t>
            </a:r>
          </a:p>
        </p:txBody>
      </p:sp>
      <p:sp>
        <p:nvSpPr>
          <p:cNvPr id="29" name="s10-node-2-3">
            <a:extLst xmlns:a="http://schemas.openxmlformats.org/drawingml/2006/main">
              <a:ext uri="{FF2B5EF4-FFF2-40B4-BE49-F238E27FC236}">
                <a16:creationId xmlns:a16="http://schemas.microsoft.com/office/drawing/2014/main" id="{7E09BA94-A45E-46E7-8C99-DE79E94E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814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30" name="s10-node-text-2-3">
            <a:extLst xmlns:a="http://schemas.openxmlformats.org/drawingml/2006/main">
              <a:ext uri="{FF2B5EF4-FFF2-40B4-BE49-F238E27FC236}">
                <a16:creationId xmlns:a16="http://schemas.microsoft.com/office/drawing/2014/main" id="{30A64DDD-5A8F-4770-82E5-64CE856E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719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人物与地点*</a:t>
            </a:r>
          </a:p>
        </p:txBody>
      </p:sp>
      <p:sp>
        <p:nvSpPr>
          <p:cNvPr id="31" name="s10-layer-3">
            <a:extLst xmlns:a="http://schemas.openxmlformats.org/drawingml/2006/main">
              <a:ext uri="{FF2B5EF4-FFF2-40B4-BE49-F238E27FC236}">
                <a16:creationId xmlns:a16="http://schemas.microsoft.com/office/drawing/2014/main" id="{2960EF8F-B17D-4D51-98CA-7042F658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数据层</a:t>
            </a:r>
          </a:p>
        </p:txBody>
      </p:sp>
      <p:sp>
        <p:nvSpPr>
          <p:cNvPr id="32" name="s10-node-3-0">
            <a:extLst xmlns:a="http://schemas.openxmlformats.org/drawingml/2006/main">
              <a:ext uri="{FF2B5EF4-FFF2-40B4-BE49-F238E27FC236}">
                <a16:creationId xmlns:a16="http://schemas.microsoft.com/office/drawing/2014/main" id="{4919E84D-8825-4E82-AEE8-B020787C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33" name="s10-node-text-3-0">
            <a:extLst xmlns:a="http://schemas.openxmlformats.org/drawingml/2006/main">
              <a:ext uri="{FF2B5EF4-FFF2-40B4-BE49-F238E27FC236}">
                <a16:creationId xmlns:a16="http://schemas.microsoft.com/office/drawing/2014/main" id="{4434F9F9-458F-4986-9393-9F5CF6E4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本地元数据</a:t>
            </a:r>
          </a:p>
        </p:txBody>
      </p:sp>
      <p:sp>
        <p:nvSpPr>
          <p:cNvPr id="34" name="s10-node-3-1">
            <a:extLst xmlns:a="http://schemas.openxmlformats.org/drawingml/2006/main">
              <a:ext uri="{FF2B5EF4-FFF2-40B4-BE49-F238E27FC236}">
                <a16:creationId xmlns:a16="http://schemas.microsoft.com/office/drawing/2014/main" id="{9B024F24-0150-4CA0-A8BB-99F911C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35" name="s10-node-text-3-1">
            <a:extLst xmlns:a="http://schemas.openxmlformats.org/drawingml/2006/main">
              <a:ext uri="{FF2B5EF4-FFF2-40B4-BE49-F238E27FC236}">
                <a16:creationId xmlns:a16="http://schemas.microsoft.com/office/drawing/2014/main" id="{64A198B9-C20D-401C-A3D3-6AFAB79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91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端侧特征</a:t>
            </a:r>
          </a:p>
        </p:txBody>
      </p:sp>
      <p:sp>
        <p:nvSpPr>
          <p:cNvPr id="36" name="s10-node-3-2">
            <a:extLst xmlns:a="http://schemas.openxmlformats.org/drawingml/2006/main">
              <a:ext uri="{FF2B5EF4-FFF2-40B4-BE49-F238E27FC236}">
                <a16:creationId xmlns:a16="http://schemas.microsoft.com/office/drawing/2014/main" id="{CF1F6B89-C532-4EB6-8578-7842981E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37" name="s10-node-text-3-2">
            <a:extLst xmlns:a="http://schemas.openxmlformats.org/drawingml/2006/main">
              <a:ext uri="{FF2B5EF4-FFF2-40B4-BE49-F238E27FC236}">
                <a16:creationId xmlns:a16="http://schemas.microsoft.com/office/drawing/2014/main" id="{7003BF09-E328-4055-80F2-6A2346CF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91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回收站状态</a:t>
            </a:r>
          </a:p>
        </p:txBody>
      </p:sp>
      <p:sp>
        <p:nvSpPr>
          <p:cNvPr id="38" name="s10-node-3-3">
            <a:extLst xmlns:a="http://schemas.openxmlformats.org/drawingml/2006/main">
              <a:ext uri="{FF2B5EF4-FFF2-40B4-BE49-F238E27FC236}">
                <a16:creationId xmlns:a16="http://schemas.microsoft.com/office/drawing/2014/main" id="{7FDB3CBD-054B-4055-BA5C-DDE80234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005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39" name="s10-node-text-3-3">
            <a:extLst xmlns:a="http://schemas.openxmlformats.org/drawingml/2006/main">
              <a:ext uri="{FF2B5EF4-FFF2-40B4-BE49-F238E27FC236}">
                <a16:creationId xmlns:a16="http://schemas.microsoft.com/office/drawing/2014/main" id="{8A1DFE66-511F-4874-8BD1-07BAED23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91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</a:defRPr>
            </a:pPr>
            <a:r>
              <a:rPr sz="1200" b="1">
                <a:solidFill>
                  <a:srgbClr val="1D1D1A"/>
                </a:solidFill>
              </a:rPr>
              <a:t>审计事件</a:t>
            </a:r>
          </a:p>
        </p:txBody>
      </p:sp>
      <p:sp>
        <p:nvSpPr>
          <p:cNvPr id="40" name="s10-down-0">
            <a:extLst xmlns:a="http://schemas.openxmlformats.org/drawingml/2006/main">
              <a:ext uri="{FF2B5EF4-FFF2-40B4-BE49-F238E27FC236}">
                <a16:creationId xmlns:a16="http://schemas.microsoft.com/office/drawing/2014/main" id="{22F0F639-E891-4EDB-BB38-D99F8075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33650"/>
            <a:ext cx="3619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10-down-1">
            <a:extLst xmlns:a="http://schemas.openxmlformats.org/drawingml/2006/main">
              <a:ext uri="{FF2B5EF4-FFF2-40B4-BE49-F238E27FC236}">
                <a16:creationId xmlns:a16="http://schemas.microsoft.com/office/drawing/2014/main" id="{EABF2F2C-5FA1-4C11-9DDC-ED70F749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52800"/>
            <a:ext cx="3619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0-down-2">
            <a:extLst xmlns:a="http://schemas.openxmlformats.org/drawingml/2006/main">
              <a:ext uri="{FF2B5EF4-FFF2-40B4-BE49-F238E27FC236}">
                <a16:creationId xmlns:a16="http://schemas.microsoft.com/office/drawing/2014/main" id="{D773F223-5409-4E3E-9985-B91A7D44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71950"/>
            <a:ext cx="3619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4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0-cloud">
            <a:extLst xmlns:a="http://schemas.openxmlformats.org/drawingml/2006/main">
              <a:ext uri="{FF2B5EF4-FFF2-40B4-BE49-F238E27FC236}">
                <a16:creationId xmlns:a16="http://schemas.microsoft.com/office/drawing/2014/main" id="{E041223C-1E1C-4375-A9D3-3EC6B49E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43100"/>
            <a:ext cx="2019300" cy="31051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D0D0D"/>
          </a:solidFill>
          <a:ln xmlns:a="http://schemas.openxmlformats.org/drawingml/2006/main" w="9525">
            <a:solidFill>
              <a:srgbClr val="0D0D0D"/>
            </a:solidFill>
            <a:prstDash val="solid"/>
          </a:ln>
        </p:spPr>
      </p:sp>
      <p:sp>
        <p:nvSpPr>
          <p:cNvPr id="44" name="s10-cloud-title">
            <a:extLst xmlns:a="http://schemas.openxmlformats.org/drawingml/2006/main">
              <a:ext uri="{FF2B5EF4-FFF2-40B4-BE49-F238E27FC236}">
                <a16:creationId xmlns:a16="http://schemas.microsoft.com/office/drawing/2014/main" id="{1AE70080-BE2E-439C-AFD2-4DF5C812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A33D"/>
                </a:solidFill>
              </a:defRPr>
            </a:pPr>
            <a:r>
              <a:rPr sz="1500" b="1">
                <a:solidFill>
                  <a:srgbClr val="E8A33D"/>
                </a:solidFill>
              </a:rPr>
              <a:t>云侧可选增强</a:t>
            </a:r>
          </a:p>
        </p:txBody>
      </p:sp>
      <p:sp>
        <p:nvSpPr>
          <p:cNvPr id="45" name="s10-cloud-0">
            <a:extLst xmlns:a="http://schemas.openxmlformats.org/drawingml/2006/main">
              <a:ext uri="{FF2B5EF4-FFF2-40B4-BE49-F238E27FC236}">
                <a16:creationId xmlns:a16="http://schemas.microsoft.com/office/drawing/2014/main" id="{08D6BBAF-2921-4AC5-8A24-2B74401E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• 复杂语言理解</a:t>
            </a:r>
          </a:p>
        </p:txBody>
      </p:sp>
      <p:sp>
        <p:nvSpPr>
          <p:cNvPr id="46" name="s10-cloud-1">
            <a:extLst xmlns:a="http://schemas.openxmlformats.org/drawingml/2006/main">
              <a:ext uri="{FF2B5EF4-FFF2-40B4-BE49-F238E27FC236}">
                <a16:creationId xmlns:a16="http://schemas.microsoft.com/office/drawing/2014/main" id="{AEE81AD7-B3CB-46CB-89EC-117A6425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004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• 模型与规则更新</a:t>
            </a:r>
          </a:p>
        </p:txBody>
      </p:sp>
      <p:sp>
        <p:nvSpPr>
          <p:cNvPr id="47" name="s10-cloud-2">
            <a:extLst xmlns:a="http://schemas.openxmlformats.org/drawingml/2006/main">
              <a:ext uri="{FF2B5EF4-FFF2-40B4-BE49-F238E27FC236}">
                <a16:creationId xmlns:a16="http://schemas.microsoft.com/office/drawing/2014/main" id="{7ED802EF-2CF5-4D69-897F-5CDFFD79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766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• 匿名质量统计</a:t>
            </a:r>
          </a:p>
        </p:txBody>
      </p:sp>
      <p:sp>
        <p:nvSpPr>
          <p:cNvPr id="48" name="s10-cloud-3">
            <a:extLst xmlns:a="http://schemas.openxmlformats.org/drawingml/2006/main">
              <a:ext uri="{FF2B5EF4-FFF2-40B4-BE49-F238E27FC236}">
                <a16:creationId xmlns:a16="http://schemas.microsoft.com/office/drawing/2014/main" id="{F62E10D9-AE27-4B5C-9CE6-1D82ABD2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529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• 地域与能力开关</a:t>
            </a:r>
          </a:p>
        </p:txBody>
      </p:sp>
      <p:sp>
        <p:nvSpPr>
          <p:cNvPr id="49" name="s10-cloud-rule">
            <a:extLst xmlns:a="http://schemas.openxmlformats.org/drawingml/2006/main">
              <a:ext uri="{FF2B5EF4-FFF2-40B4-BE49-F238E27FC236}">
                <a16:creationId xmlns:a16="http://schemas.microsoft.com/office/drawing/2014/main" id="{BB5FF9D8-2EFB-4DCC-B798-9B171BB2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0D0D0"/>
                </a:solidFill>
              </a:defRPr>
            </a:pPr>
            <a:r>
              <a:rPr sz="1050" b="0">
                <a:solidFill>
                  <a:srgbClr val="D0D0D0"/>
                </a:solidFill>
              </a:rPr>
              <a:t>不上传原图</a:t>
            </a:r>
          </a:p>
          <a:p xmlns:a="http://schemas.openxmlformats.org/drawingml/2006/main">
            <a:pPr algn="ctr">
              <a:defRPr sz="1050" b="0">
                <a:solidFill>
                  <a:srgbClr val="D0D0D0"/>
                </a:solidFill>
              </a:defRPr>
            </a:pPr>
            <a:r>
              <a:rPr sz="1050" b="0">
                <a:solidFill>
                  <a:srgbClr val="D0D0D0"/>
                </a:solidFill>
              </a:rPr>
              <a:t>敏感字段默认关闭</a:t>
            </a:r>
          </a:p>
        </p:txBody>
      </p:sp>
      <p:sp>
        <p:nvSpPr>
          <p:cNvPr id="50" name="label-关键依赖与边界-72-556">
            <a:extLst xmlns:a="http://schemas.openxmlformats.org/drawingml/2006/main">
              <a:ext uri="{FF2B5EF4-FFF2-40B4-BE49-F238E27FC236}">
                <a16:creationId xmlns:a16="http://schemas.microsoft.com/office/drawing/2014/main" id="{121235DD-483C-448B-B0C0-5DA9D0D0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关键依赖与边界</a:t>
            </a:r>
          </a:p>
        </p:txBody>
      </p:sp>
      <p:sp>
        <p:nvSpPr>
          <p:cNvPr id="51" name="chip-图库索引字段与刷新时效待核验-72-584">
            <a:extLst xmlns:a="http://schemas.openxmlformats.org/drawingml/2006/main">
              <a:ext uri="{FF2B5EF4-FFF2-40B4-BE49-F238E27FC236}">
                <a16:creationId xmlns:a16="http://schemas.microsoft.com/office/drawing/2014/main" id="{4BA946B9-7B39-40E0-8C9B-2E50EF9C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518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52" name="chip-text-图库索引字段与刷新时效待核验-72-584">
            <a:extLst xmlns:a="http://schemas.openxmlformats.org/drawingml/2006/main">
              <a:ext uri="{FF2B5EF4-FFF2-40B4-BE49-F238E27FC236}">
                <a16:creationId xmlns:a16="http://schemas.microsoft.com/office/drawing/2014/main" id="{AD1362DA-9F5C-4F14-AB94-DCE64981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图库索引字段与刷新时效待核验</a:t>
            </a:r>
          </a:p>
        </p:txBody>
      </p:sp>
      <p:sp>
        <p:nvSpPr>
          <p:cNvPr id="53" name="chip-质量与重复能力需给出可解释理由-640-584">
            <a:extLst xmlns:a="http://schemas.openxmlformats.org/drawingml/2006/main">
              <a:ext uri="{FF2B5EF4-FFF2-40B4-BE49-F238E27FC236}">
                <a16:creationId xmlns:a16="http://schemas.microsoft.com/office/drawing/2014/main" id="{13CC7291-DA6E-4501-BA13-E14F03E7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62600"/>
            <a:ext cx="518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54" name="chip-text-质量与重复能力需给出可解释理由-640-584">
            <a:extLst xmlns:a="http://schemas.openxmlformats.org/drawingml/2006/main">
              <a:ext uri="{FF2B5EF4-FFF2-40B4-BE49-F238E27FC236}">
                <a16:creationId xmlns:a16="http://schemas.microsoft.com/office/drawing/2014/main" id="{9D1C4E4E-5CB8-4F75-844E-E2AEC51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022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</a:defRPr>
            </a:pPr>
            <a:r>
              <a:rPr sz="1050" b="1">
                <a:solidFill>
                  <a:srgbClr val="C7000A"/>
                </a:solidFill>
              </a:rPr>
              <a:t>质量与重复能力需给出可解释理由</a:t>
            </a:r>
          </a:p>
        </p:txBody>
      </p:sp>
      <p:sp>
        <p:nvSpPr>
          <p:cNvPr id="55" name="chip-人物/地点能力受隐私策略与地区限制-72-626">
            <a:extLst xmlns:a="http://schemas.openxmlformats.org/drawingml/2006/main">
              <a:ext uri="{FF2B5EF4-FFF2-40B4-BE49-F238E27FC236}">
                <a16:creationId xmlns:a16="http://schemas.microsoft.com/office/drawing/2014/main" id="{669CF115-B47C-4BA8-ABF6-908706C4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18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9A6500"/>
            </a:solidFill>
            <a:prstDash val="solid"/>
          </a:ln>
        </p:spPr>
      </p:sp>
      <p:sp>
        <p:nvSpPr>
          <p:cNvPr id="56" name="chip-text-人物/地点能力受隐私策略与地区限制-72-626">
            <a:extLst xmlns:a="http://schemas.openxmlformats.org/drawingml/2006/main">
              <a:ext uri="{FF2B5EF4-FFF2-40B4-BE49-F238E27FC236}">
                <a16:creationId xmlns:a16="http://schemas.microsoft.com/office/drawing/2014/main" id="{D2183A83-8EE3-41F4-895D-D991C30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500"/>
                </a:solidFill>
              </a:defRPr>
            </a:pPr>
            <a:r>
              <a:rPr sz="1050" b="1">
                <a:solidFill>
                  <a:srgbClr val="9A6500"/>
                </a:solidFill>
              </a:rPr>
              <a:t>人物/地点能力受隐私策略与地区限制</a:t>
            </a:r>
          </a:p>
        </p:txBody>
      </p:sp>
      <p:sp>
        <p:nvSpPr>
          <p:cNvPr id="57" name="chip-低端机型需建立性能降级路径-640-626">
            <a:extLst xmlns:a="http://schemas.openxmlformats.org/drawingml/2006/main">
              <a:ext uri="{FF2B5EF4-FFF2-40B4-BE49-F238E27FC236}">
                <a16:creationId xmlns:a16="http://schemas.microsoft.com/office/drawing/2014/main" id="{138AA232-8BFD-42AB-9A17-6F654951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62650"/>
            <a:ext cx="518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9A6500"/>
            </a:solidFill>
            <a:prstDash val="solid"/>
          </a:ln>
        </p:spPr>
      </p:sp>
      <p:sp>
        <p:nvSpPr>
          <p:cNvPr id="58" name="chip-text-低端机型需建立性能降级路径-640-626">
            <a:extLst xmlns:a="http://schemas.openxmlformats.org/drawingml/2006/main">
              <a:ext uri="{FF2B5EF4-FFF2-40B4-BE49-F238E27FC236}">
                <a16:creationId xmlns:a16="http://schemas.microsoft.com/office/drawing/2014/main" id="{D7BF5F9A-5CA0-4B10-8DAE-71E0F28F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01027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500"/>
                </a:solidFill>
              </a:defRPr>
            </a:pPr>
            <a:r>
              <a:rPr sz="1050" b="1">
                <a:solidFill>
                  <a:srgbClr val="9A6500"/>
                </a:solidFill>
              </a:rPr>
              <a:t>低端机型需建立性能降级路径</a:t>
            </a:r>
          </a:p>
        </p:txBody>
      </p:sp>
      <p:sp>
        <p:nvSpPr>
          <p:cNvPr id="59" name="s10-footer-left">
            <a:extLst xmlns:a="http://schemas.openxmlformats.org/drawingml/2006/main">
              <a:ext uri="{FF2B5EF4-FFF2-40B4-BE49-F238E27FC236}">
                <a16:creationId xmlns:a16="http://schemas.microsoft.com/office/drawing/2014/main" id="{1F4EC5B9-E7FE-4E9F-B23F-0A0FBD53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9191"/>
                </a:solidFill>
              </a:defRPr>
            </a:pPr>
            <a:r>
              <a:rPr sz="750" b="0">
                <a:solidFill>
                  <a:srgbClr val="919191"/>
                </a:solidFill>
              </a:rPr>
              <a:t>10   Huawei Confidential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dd60a6c544355"/>
          <a:stretch xmlns:a="http://schemas.openxmlformats.org/drawingml/2006/main"/>
        </p:blipFill>
        <p:spPr>
          <a:xfrm xmlns:a="http://schemas.openxmlformats.org/drawingml/2006/main">
            <a:off x="10496550" y="6413926"/>
            <a:ext cx="1009650" cy="221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876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11-title-accent">
            <a:extLst xmlns:a="http://schemas.openxmlformats.org/drawingml/2006/main">
              <a:ext uri="{FF2B5EF4-FFF2-40B4-BE49-F238E27FC236}">
                <a16:creationId xmlns:a16="http://schemas.microsoft.com/office/drawing/2014/main" id="{9F270F60-EE3B-4EAF-BF3D-CEF3B842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1-title">
            <a:extLst xmlns:a="http://schemas.openxmlformats.org/drawingml/2006/main">
              <a:ext uri="{FF2B5EF4-FFF2-40B4-BE49-F238E27FC236}">
                <a16:creationId xmlns:a16="http://schemas.microsoft.com/office/drawing/2014/main" id="{74FE8F66-9B12-4737-BFCF-9A51C908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</a:defRPr>
            </a:pPr>
            <a:r>
              <a:rPr sz="2850" b="1">
                <a:solidFill>
                  <a:srgbClr val="1D1D1A"/>
                </a:solidFill>
              </a:rPr>
              <a:t>分阶段验证与退出条件可降低产品投入和上线决策风险</a:t>
            </a:r>
          </a:p>
        </p:txBody>
      </p:sp>
      <p:sp>
        <p:nvSpPr>
          <p:cNvPr id="3" name="s11-lead">
            <a:extLst xmlns:a="http://schemas.openxmlformats.org/drawingml/2006/main">
              <a:ext uri="{FF2B5EF4-FFF2-40B4-BE49-F238E27FC236}">
                <a16:creationId xmlns:a16="http://schemas.microsoft.com/office/drawing/2014/main" id="{9D344473-8863-4B2C-AA03-1706231E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756"/>
                </a:solidFill>
              </a:defRPr>
            </a:pPr>
            <a:r>
              <a:rPr sz="1500" b="1">
                <a:solidFill>
                  <a:srgbClr val="575756"/>
                </a:solidFill>
              </a:rPr>
              <a:t>建议本次只批准方向、验证资源和阶段门；工程立项与上线范围由验证结果触发，不预先承诺</a:t>
            </a:r>
          </a:p>
        </p:txBody>
      </p:sp>
      <p:sp>
        <p:nvSpPr>
          <p:cNvPr id="4" name="s11-arrow-0">
            <a:extLst xmlns:a="http://schemas.openxmlformats.org/drawingml/2006/main">
              <a:ext uri="{FF2B5EF4-FFF2-40B4-BE49-F238E27FC236}">
                <a16:creationId xmlns:a16="http://schemas.microsoft.com/office/drawing/2014/main" id="{69D17C84-3D3F-4C39-9D93-E63B0B41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1-phase-0">
            <a:extLst xmlns:a="http://schemas.openxmlformats.org/drawingml/2006/main">
              <a:ext uri="{FF2B5EF4-FFF2-40B4-BE49-F238E27FC236}">
                <a16:creationId xmlns:a16="http://schemas.microsoft.com/office/drawing/2014/main" id="{23DBFFDD-073F-4F0A-A64F-D3F7068D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6" name="s11-code-0">
            <a:extLst xmlns:a="http://schemas.openxmlformats.org/drawingml/2006/main">
              <a:ext uri="{FF2B5EF4-FFF2-40B4-BE49-F238E27FC236}">
                <a16:creationId xmlns:a16="http://schemas.microsoft.com/office/drawing/2014/main" id="{6BE3CDDE-D476-4F42-963E-A4BE995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P0</a:t>
            </a:r>
          </a:p>
        </p:txBody>
      </p:sp>
      <p:sp>
        <p:nvSpPr>
          <p:cNvPr id="7" name="s11-name-0">
            <a:extLst xmlns:a="http://schemas.openxmlformats.org/drawingml/2006/main">
              <a:ext uri="{FF2B5EF4-FFF2-40B4-BE49-F238E27FC236}">
                <a16:creationId xmlns:a16="http://schemas.microsoft.com/office/drawing/2014/main" id="{EDB02A49-AB78-495E-872F-CB3EC0FC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193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方案冻结</a:t>
            </a:r>
          </a:p>
        </p:txBody>
      </p:sp>
      <p:sp>
        <p:nvSpPr>
          <p:cNvPr id="8" name="s11-deliver-0">
            <a:extLst xmlns:a="http://schemas.openxmlformats.org/drawingml/2006/main">
              <a:ext uri="{FF2B5EF4-FFF2-40B4-BE49-F238E27FC236}">
                <a16:creationId xmlns:a16="http://schemas.microsoft.com/office/drawing/2014/main" id="{C7E11A0A-363E-46ED-BFFE-6AE9C3C4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交互原型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意图词表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风险分级</a:t>
            </a:r>
          </a:p>
        </p:txBody>
      </p:sp>
      <p:sp>
        <p:nvSpPr>
          <p:cNvPr id="9" name="s11-owner-label-0">
            <a:extLst xmlns:a="http://schemas.openxmlformats.org/drawingml/2006/main">
              <a:ext uri="{FF2B5EF4-FFF2-40B4-BE49-F238E27FC236}">
                <a16:creationId xmlns:a16="http://schemas.microsoft.com/office/drawing/2014/main" id="{AE347E32-6DC7-4FAB-ABB0-D051B3A9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</a:defRPr>
            </a:pPr>
            <a:r>
              <a:rPr sz="1050" b="1">
                <a:solidFill>
                  <a:srgbClr val="919191"/>
                </a:solidFill>
              </a:rPr>
              <a:t>责任</a:t>
            </a:r>
          </a:p>
        </p:txBody>
      </p:sp>
      <p:sp>
        <p:nvSpPr>
          <p:cNvPr id="10" name="s11-owner-0">
            <a:extLst xmlns:a="http://schemas.openxmlformats.org/drawingml/2006/main">
              <a:ext uri="{FF2B5EF4-FFF2-40B4-BE49-F238E27FC236}">
                <a16:creationId xmlns:a16="http://schemas.microsoft.com/office/drawing/2014/main" id="{D193B969-A7B0-40CB-B360-00DE0ADA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9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5756"/>
                </a:solidFill>
              </a:defRPr>
            </a:pPr>
            <a:r>
              <a:rPr sz="1050" b="1">
                <a:solidFill>
                  <a:srgbClr val="575756"/>
                </a:solidFill>
              </a:rPr>
              <a:t>产品 / 体验</a:t>
            </a:r>
          </a:p>
        </p:txBody>
      </p:sp>
      <p:sp>
        <p:nvSpPr>
          <p:cNvPr id="11" name="s11-gate-bg-0">
            <a:extLst xmlns:a="http://schemas.openxmlformats.org/drawingml/2006/main">
              <a:ext uri="{FF2B5EF4-FFF2-40B4-BE49-F238E27FC236}">
                <a16:creationId xmlns:a16="http://schemas.microsoft.com/office/drawing/2014/main" id="{BABFF20F-1522-40FD-89EA-20D3DA37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1-gate-0">
            <a:extLst xmlns:a="http://schemas.openxmlformats.org/drawingml/2006/main">
              <a:ext uri="{FF2B5EF4-FFF2-40B4-BE49-F238E27FC236}">
                <a16:creationId xmlns:a16="http://schemas.microsoft.com/office/drawing/2014/main" id="{5E199AB1-EF2C-4EE4-9363-EC3E50A6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输出可评审</a:t>
            </a:r>
          </a:p>
        </p:txBody>
      </p:sp>
      <p:sp>
        <p:nvSpPr>
          <p:cNvPr id="13" name="s11-arrow-1">
            <a:extLst xmlns:a="http://schemas.openxmlformats.org/drawingml/2006/main">
              <a:ext uri="{FF2B5EF4-FFF2-40B4-BE49-F238E27FC236}">
                <a16:creationId xmlns:a16="http://schemas.microsoft.com/office/drawing/2014/main" id="{FAE20938-5E72-47C6-B635-52FC2DE6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1-phase-1">
            <a:extLst xmlns:a="http://schemas.openxmlformats.org/drawingml/2006/main">
              <a:ext uri="{FF2B5EF4-FFF2-40B4-BE49-F238E27FC236}">
                <a16:creationId xmlns:a16="http://schemas.microsoft.com/office/drawing/2014/main" id="{75D095B1-AD27-41C6-A77A-A50E50B3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669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15" name="s11-code-1">
            <a:extLst xmlns:a="http://schemas.openxmlformats.org/drawingml/2006/main">
              <a:ext uri="{FF2B5EF4-FFF2-40B4-BE49-F238E27FC236}">
                <a16:creationId xmlns:a16="http://schemas.microsoft.com/office/drawing/2014/main" id="{84AE518C-C42E-49A5-8524-44C8DAD8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P1</a:t>
            </a:r>
          </a:p>
        </p:txBody>
      </p:sp>
      <p:sp>
        <p:nvSpPr>
          <p:cNvPr id="16" name="s11-name-1">
            <a:extLst xmlns:a="http://schemas.openxmlformats.org/drawingml/2006/main">
              <a:ext uri="{FF2B5EF4-FFF2-40B4-BE49-F238E27FC236}">
                <a16:creationId xmlns:a16="http://schemas.microsoft.com/office/drawing/2014/main" id="{BCB48A36-601F-463A-B11D-60CF824F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193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可用性验证</a:t>
            </a:r>
          </a:p>
        </p:txBody>
      </p:sp>
      <p:sp>
        <p:nvSpPr>
          <p:cNvPr id="17" name="s11-deliver-1">
            <a:extLst xmlns:a="http://schemas.openxmlformats.org/drawingml/2006/main">
              <a:ext uri="{FF2B5EF4-FFF2-40B4-BE49-F238E27FC236}">
                <a16:creationId xmlns:a16="http://schemas.microsoft.com/office/drawing/2014/main" id="{7393D341-D636-4802-A9FA-F910DD91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任务脚本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原型测试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理解偏差清单</a:t>
            </a:r>
          </a:p>
        </p:txBody>
      </p:sp>
      <p:sp>
        <p:nvSpPr>
          <p:cNvPr id="18" name="s11-owner-label-1">
            <a:extLst xmlns:a="http://schemas.openxmlformats.org/drawingml/2006/main">
              <a:ext uri="{FF2B5EF4-FFF2-40B4-BE49-F238E27FC236}">
                <a16:creationId xmlns:a16="http://schemas.microsoft.com/office/drawing/2014/main" id="{FB4B68A0-8C8A-4ED8-8CC7-063E2D91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48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</a:defRPr>
            </a:pPr>
            <a:r>
              <a:rPr sz="1050" b="1">
                <a:solidFill>
                  <a:srgbClr val="919191"/>
                </a:solidFill>
              </a:rPr>
              <a:t>责任</a:t>
            </a:r>
          </a:p>
        </p:txBody>
      </p:sp>
      <p:sp>
        <p:nvSpPr>
          <p:cNvPr id="19" name="s11-owner-1">
            <a:extLst xmlns:a="http://schemas.openxmlformats.org/drawingml/2006/main">
              <a:ext uri="{FF2B5EF4-FFF2-40B4-BE49-F238E27FC236}">
                <a16:creationId xmlns:a16="http://schemas.microsoft.com/office/drawing/2014/main" id="{1187A6BA-DFB4-405D-ACD0-D73FF66B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09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5756"/>
                </a:solidFill>
              </a:defRPr>
            </a:pPr>
            <a:r>
              <a:rPr sz="1050" b="1">
                <a:solidFill>
                  <a:srgbClr val="575756"/>
                </a:solidFill>
              </a:rPr>
              <a:t>用户研究</a:t>
            </a:r>
          </a:p>
        </p:txBody>
      </p:sp>
      <p:sp>
        <p:nvSpPr>
          <p:cNvPr id="20" name="s11-gate-bg-1">
            <a:extLst xmlns:a="http://schemas.openxmlformats.org/drawingml/2006/main">
              <a:ext uri="{FF2B5EF4-FFF2-40B4-BE49-F238E27FC236}">
                <a16:creationId xmlns:a16="http://schemas.microsoft.com/office/drawing/2014/main" id="{EC8D818C-B8F7-4F24-8374-C4DB27A9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1-gate-1">
            <a:extLst xmlns:a="http://schemas.openxmlformats.org/drawingml/2006/main">
              <a:ext uri="{FF2B5EF4-FFF2-40B4-BE49-F238E27FC236}">
                <a16:creationId xmlns:a16="http://schemas.microsoft.com/office/drawing/2014/main" id="{DA603453-D459-4381-9490-237F5431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7667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口径达标</a:t>
            </a:r>
          </a:p>
        </p:txBody>
      </p:sp>
      <p:sp>
        <p:nvSpPr>
          <p:cNvPr id="22" name="s11-arrow-2">
            <a:extLst xmlns:a="http://schemas.openxmlformats.org/drawingml/2006/main">
              <a:ext uri="{FF2B5EF4-FFF2-40B4-BE49-F238E27FC236}">
                <a16:creationId xmlns:a16="http://schemas.microsoft.com/office/drawing/2014/main" id="{713605D7-84E8-473A-8FAB-7DDB63EC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11-phase-2">
            <a:extLst xmlns:a="http://schemas.openxmlformats.org/drawingml/2006/main">
              <a:ext uri="{FF2B5EF4-FFF2-40B4-BE49-F238E27FC236}">
                <a16:creationId xmlns:a16="http://schemas.microsoft.com/office/drawing/2014/main" id="{93DC4E8B-89F7-4D4A-A2CC-640044F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24" name="s11-code-2">
            <a:extLst xmlns:a="http://schemas.openxmlformats.org/drawingml/2006/main">
              <a:ext uri="{FF2B5EF4-FFF2-40B4-BE49-F238E27FC236}">
                <a16:creationId xmlns:a16="http://schemas.microsoft.com/office/drawing/2014/main" id="{33AC772A-F891-407C-A601-F55D0507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P2</a:t>
            </a:r>
          </a:p>
        </p:txBody>
      </p:sp>
      <p:sp>
        <p:nvSpPr>
          <p:cNvPr id="25" name="s11-name-2">
            <a:extLst xmlns:a="http://schemas.openxmlformats.org/drawingml/2006/main">
              <a:ext uri="{FF2B5EF4-FFF2-40B4-BE49-F238E27FC236}">
                <a16:creationId xmlns:a16="http://schemas.microsoft.com/office/drawing/2014/main" id="{06E9EEFF-35A7-4DD3-90F3-0D4DDF11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技术预研</a:t>
            </a:r>
          </a:p>
        </p:txBody>
      </p:sp>
      <p:sp>
        <p:nvSpPr>
          <p:cNvPr id="26" name="s11-deliver-2">
            <a:extLst xmlns:a="http://schemas.openxmlformats.org/drawingml/2006/main">
              <a:ext uri="{FF2B5EF4-FFF2-40B4-BE49-F238E27FC236}">
                <a16:creationId xmlns:a16="http://schemas.microsoft.com/office/drawing/2014/main" id="{060FDE0D-10A5-480D-AE70-C736AFA8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端侧样机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索引能力核验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隐私设计</a:t>
            </a:r>
          </a:p>
        </p:txBody>
      </p:sp>
      <p:sp>
        <p:nvSpPr>
          <p:cNvPr id="27" name="s11-owner-label-2">
            <a:extLst xmlns:a="http://schemas.openxmlformats.org/drawingml/2006/main">
              <a:ext uri="{FF2B5EF4-FFF2-40B4-BE49-F238E27FC236}">
                <a16:creationId xmlns:a16="http://schemas.microsoft.com/office/drawing/2014/main" id="{5DAB0A89-E3F8-4B71-A93C-088238E7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</a:defRPr>
            </a:pPr>
            <a:r>
              <a:rPr sz="1050" b="1">
                <a:solidFill>
                  <a:srgbClr val="919191"/>
                </a:solidFill>
              </a:rPr>
              <a:t>责任</a:t>
            </a:r>
          </a:p>
        </p:txBody>
      </p:sp>
      <p:sp>
        <p:nvSpPr>
          <p:cNvPr id="28" name="s11-owner-2">
            <a:extLst xmlns:a="http://schemas.openxmlformats.org/drawingml/2006/main">
              <a:ext uri="{FF2B5EF4-FFF2-40B4-BE49-F238E27FC236}">
                <a16:creationId xmlns:a16="http://schemas.microsoft.com/office/drawing/2014/main" id="{BBA99B7D-3ED9-4ECF-A3DB-E43B3B0F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5756"/>
                </a:solidFill>
              </a:defRPr>
            </a:pPr>
            <a:r>
              <a:rPr sz="1050" b="1">
                <a:solidFill>
                  <a:srgbClr val="575756"/>
                </a:solidFill>
              </a:rPr>
              <a:t>算法 / 工程 / 隐私</a:t>
            </a:r>
          </a:p>
        </p:txBody>
      </p:sp>
      <p:sp>
        <p:nvSpPr>
          <p:cNvPr id="29" name="s11-gate-bg-2">
            <a:extLst xmlns:a="http://schemas.openxmlformats.org/drawingml/2006/main">
              <a:ext uri="{FF2B5EF4-FFF2-40B4-BE49-F238E27FC236}">
                <a16:creationId xmlns:a16="http://schemas.microsoft.com/office/drawing/2014/main" id="{35F8DF72-E801-4CD1-AB4B-D1DB8881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1-gate-2">
            <a:extLst xmlns:a="http://schemas.openxmlformats.org/drawingml/2006/main">
              <a:ext uri="{FF2B5EF4-FFF2-40B4-BE49-F238E27FC236}">
                <a16:creationId xmlns:a16="http://schemas.microsoft.com/office/drawing/2014/main" id="{F4D86EF1-C4DD-498C-9A80-FF2C82B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7667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红线通过</a:t>
            </a:r>
          </a:p>
        </p:txBody>
      </p:sp>
      <p:sp>
        <p:nvSpPr>
          <p:cNvPr id="31" name="s11-phase-3">
            <a:extLst xmlns:a="http://schemas.openxmlformats.org/drawingml/2006/main">
              <a:ext uri="{FF2B5EF4-FFF2-40B4-BE49-F238E27FC236}">
                <a16:creationId xmlns:a16="http://schemas.microsoft.com/office/drawing/2014/main" id="{2467C176-D726-4F6B-A297-0A31E551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32" name="s11-code-3">
            <a:extLst xmlns:a="http://schemas.openxmlformats.org/drawingml/2006/main">
              <a:ext uri="{FF2B5EF4-FFF2-40B4-BE49-F238E27FC236}">
                <a16:creationId xmlns:a16="http://schemas.microsoft.com/office/drawing/2014/main" id="{DB321BE5-B114-4B0F-9565-7F78999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38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P3</a:t>
            </a:r>
          </a:p>
        </p:txBody>
      </p:sp>
      <p:sp>
        <p:nvSpPr>
          <p:cNvPr id="33" name="s11-name-3">
            <a:extLst xmlns:a="http://schemas.openxmlformats.org/drawingml/2006/main">
              <a:ext uri="{FF2B5EF4-FFF2-40B4-BE49-F238E27FC236}">
                <a16:creationId xmlns:a16="http://schemas.microsoft.com/office/drawing/2014/main" id="{F406FD09-846D-4340-A747-47D6C918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193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</a:defRPr>
            </a:pPr>
            <a:r>
              <a:rPr sz="1500" b="1">
                <a:solidFill>
                  <a:srgbClr val="1D1D1A"/>
                </a:solidFill>
              </a:rPr>
              <a:t>工程立项</a:t>
            </a:r>
          </a:p>
        </p:txBody>
      </p:sp>
      <p:sp>
        <p:nvSpPr>
          <p:cNvPr id="34" name="s11-deliver-3">
            <a:extLst xmlns:a="http://schemas.openxmlformats.org/drawingml/2006/main">
              <a:ext uri="{FF2B5EF4-FFF2-40B4-BE49-F238E27FC236}">
                <a16:creationId xmlns:a16="http://schemas.microsoft.com/office/drawing/2014/main" id="{00482288-E7B5-4923-9AF7-5360D09A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146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MVP开发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灰度方案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</a:defRPr>
            </a:pPr>
            <a:r>
              <a:rPr sz="1200" b="0">
                <a:solidFill>
                  <a:srgbClr val="575756"/>
                </a:solidFill>
              </a:rPr>
              <a:t>监控与回滚</a:t>
            </a:r>
          </a:p>
        </p:txBody>
      </p:sp>
      <p:sp>
        <p:nvSpPr>
          <p:cNvPr id="35" name="s11-owner-label-3">
            <a:extLst xmlns:a="http://schemas.openxmlformats.org/drawingml/2006/main">
              <a:ext uri="{FF2B5EF4-FFF2-40B4-BE49-F238E27FC236}">
                <a16:creationId xmlns:a16="http://schemas.microsoft.com/office/drawing/2014/main" id="{CE88DC3E-18DF-451E-9DE2-EAC6356E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48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</a:defRPr>
            </a:pPr>
            <a:r>
              <a:rPr sz="1050" b="1">
                <a:solidFill>
                  <a:srgbClr val="919191"/>
                </a:solidFill>
              </a:rPr>
              <a:t>责任</a:t>
            </a:r>
          </a:p>
        </p:txBody>
      </p:sp>
      <p:sp>
        <p:nvSpPr>
          <p:cNvPr id="36" name="s11-owner-3">
            <a:extLst xmlns:a="http://schemas.openxmlformats.org/drawingml/2006/main">
              <a:ext uri="{FF2B5EF4-FFF2-40B4-BE49-F238E27FC236}">
                <a16:creationId xmlns:a16="http://schemas.microsoft.com/office/drawing/2014/main" id="{B6E1C32A-A192-4D64-83DE-0A230AD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09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5756"/>
                </a:solidFill>
              </a:defRPr>
            </a:pPr>
            <a:r>
              <a:rPr sz="1050" b="1">
                <a:solidFill>
                  <a:srgbClr val="575756"/>
                </a:solidFill>
              </a:rPr>
              <a:t>跨团队</a:t>
            </a:r>
          </a:p>
        </p:txBody>
      </p:sp>
      <p:sp>
        <p:nvSpPr>
          <p:cNvPr id="37" name="s11-gate-bg-3">
            <a:extLst xmlns:a="http://schemas.openxmlformats.org/drawingml/2006/main">
              <a:ext uri="{FF2B5EF4-FFF2-40B4-BE49-F238E27FC236}">
                <a16:creationId xmlns:a16="http://schemas.microsoft.com/office/drawing/2014/main" id="{21E6F775-5A9B-4EF6-BA0F-328B51C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11-gate-3">
            <a:extLst xmlns:a="http://schemas.openxmlformats.org/drawingml/2006/main">
              <a:ext uri="{FF2B5EF4-FFF2-40B4-BE49-F238E27FC236}">
                <a16:creationId xmlns:a16="http://schemas.microsoft.com/office/drawing/2014/main" id="{2E78FB63-2F19-49A7-8E20-A0E21C60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阶段门批准</a:t>
            </a:r>
          </a:p>
        </p:txBody>
      </p:sp>
      <p:sp>
        <p:nvSpPr>
          <p:cNvPr id="39" name="label-本次决策项-72-474">
            <a:extLst xmlns:a="http://schemas.openxmlformats.org/drawingml/2006/main">
              <a:ext uri="{FF2B5EF4-FFF2-40B4-BE49-F238E27FC236}">
                <a16:creationId xmlns:a16="http://schemas.microsoft.com/office/drawing/2014/main" id="{1045E05D-C366-4B1A-8C20-D29A2470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</a:defRPr>
            </a:pPr>
            <a:r>
              <a:rPr sz="1200" b="1">
                <a:solidFill>
                  <a:srgbClr val="C7000A"/>
                </a:solidFill>
              </a:rPr>
              <a:t>本次决策项</a:t>
            </a:r>
          </a:p>
        </p:txBody>
      </p:sp>
      <p:sp>
        <p:nvSpPr>
          <p:cNvPr id="40" name="s11-ask-0">
            <a:extLst xmlns:a="http://schemas.openxmlformats.org/drawingml/2006/main">
              <a:ext uri="{FF2B5EF4-FFF2-40B4-BE49-F238E27FC236}">
                <a16:creationId xmlns:a16="http://schemas.microsoft.com/office/drawing/2014/main" id="{57219AF3-5153-4683-A888-C47CE7DA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35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41" name="s11-ask-h-0">
            <a:extLst xmlns:a="http://schemas.openxmlformats.org/drawingml/2006/main">
              <a:ext uri="{FF2B5EF4-FFF2-40B4-BE49-F238E27FC236}">
                <a16:creationId xmlns:a16="http://schemas.microsoft.com/office/drawing/2014/main" id="{4D68C4A8-C058-42D7-A8E9-1FF9267B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</a:defRPr>
            </a:pPr>
            <a:r>
              <a:rPr sz="1350" b="1">
                <a:solidFill>
                  <a:srgbClr val="C7000A"/>
                </a:solidFill>
              </a:rPr>
              <a:t>批准</a:t>
            </a:r>
          </a:p>
        </p:txBody>
      </p:sp>
      <p:sp>
        <p:nvSpPr>
          <p:cNvPr id="42" name="s11-ask-b-0">
            <a:extLst xmlns:a="http://schemas.openxmlformats.org/drawingml/2006/main">
              <a:ext uri="{FF2B5EF4-FFF2-40B4-BE49-F238E27FC236}">
                <a16:creationId xmlns:a16="http://schemas.microsoft.com/office/drawing/2014/main" id="{880242B6-0BE6-4F63-B428-49BD967D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5756"/>
                </a:solidFill>
              </a:defRPr>
            </a:pPr>
            <a:r>
              <a:rPr sz="1050" b="1">
                <a:solidFill>
                  <a:srgbClr val="575756"/>
                </a:solidFill>
              </a:rPr>
              <a:t>推荐交互主链路与低歧义 MVP 范围</a:t>
            </a:r>
          </a:p>
        </p:txBody>
      </p:sp>
      <p:sp>
        <p:nvSpPr>
          <p:cNvPr id="43" name="s11-ask-1">
            <a:extLst xmlns:a="http://schemas.openxmlformats.org/drawingml/2006/main">
              <a:ext uri="{FF2B5EF4-FFF2-40B4-BE49-F238E27FC236}">
                <a16:creationId xmlns:a16="http://schemas.microsoft.com/office/drawing/2014/main" id="{8AE3EA23-E846-4ACA-9B57-C7AAC10E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76800"/>
            <a:ext cx="335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44" name="s11-ask-h-1">
            <a:extLst xmlns:a="http://schemas.openxmlformats.org/drawingml/2006/main">
              <a:ext uri="{FF2B5EF4-FFF2-40B4-BE49-F238E27FC236}">
                <a16:creationId xmlns:a16="http://schemas.microsoft.com/office/drawing/2014/main" id="{C3E55F02-B4B3-4712-81C5-CA2A369D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673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授权</a:t>
            </a:r>
          </a:p>
        </p:txBody>
      </p:sp>
      <p:sp>
        <p:nvSpPr>
          <p:cNvPr id="45" name="s11-ask-b-1">
            <a:extLst xmlns:a="http://schemas.openxmlformats.org/drawingml/2006/main">
              <a:ext uri="{FF2B5EF4-FFF2-40B4-BE49-F238E27FC236}">
                <a16:creationId xmlns:a16="http://schemas.microsoft.com/office/drawing/2014/main" id="{02E83E38-0EA4-477D-86BA-9883145A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5756"/>
                </a:solidFill>
              </a:defRPr>
            </a:pPr>
            <a:r>
              <a:rPr sz="1050" b="1">
                <a:solidFill>
                  <a:srgbClr val="575756"/>
                </a:solidFill>
              </a:rPr>
              <a:t>原型测试、端侧技术样机与隐私预评审资源</a:t>
            </a:r>
          </a:p>
        </p:txBody>
      </p:sp>
      <p:sp>
        <p:nvSpPr>
          <p:cNvPr id="46" name="s11-ask-2">
            <a:extLst xmlns:a="http://schemas.openxmlformats.org/drawingml/2006/main">
              <a:ext uri="{FF2B5EF4-FFF2-40B4-BE49-F238E27FC236}">
                <a16:creationId xmlns:a16="http://schemas.microsoft.com/office/drawing/2014/main" id="{35662261-D829-47F9-AE2D-391398D2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76800"/>
            <a:ext cx="335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4C4C4"/>
            </a:solidFill>
            <a:prstDash val="solid"/>
          </a:ln>
        </p:spPr>
      </p:sp>
      <p:sp>
        <p:nvSpPr>
          <p:cNvPr id="47" name="s11-ask-h-2">
            <a:extLst xmlns:a="http://schemas.openxmlformats.org/drawingml/2006/main">
              <a:ext uri="{FF2B5EF4-FFF2-40B4-BE49-F238E27FC236}">
                <a16:creationId xmlns:a16="http://schemas.microsoft.com/office/drawing/2014/main" id="{E567DB1B-F918-4F2C-99DF-F369DBD3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</a:defRPr>
            </a:pPr>
            <a:r>
              <a:rPr sz="1350" b="1">
                <a:solidFill>
                  <a:srgbClr val="1D1D1A"/>
                </a:solidFill>
              </a:rPr>
              <a:t>确认</a:t>
            </a:r>
          </a:p>
        </p:txBody>
      </p:sp>
      <p:sp>
        <p:nvSpPr>
          <p:cNvPr id="48" name="s11-ask-b-2">
            <a:extLst xmlns:a="http://schemas.openxmlformats.org/drawingml/2006/main">
              <a:ext uri="{FF2B5EF4-FFF2-40B4-BE49-F238E27FC236}">
                <a16:creationId xmlns:a16="http://schemas.microsoft.com/office/drawing/2014/main" id="{F81E795A-BFB2-4463-86DA-B345C2ED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530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5756"/>
                </a:solidFill>
              </a:defRPr>
            </a:pPr>
            <a:r>
              <a:rPr sz="1050" b="1">
                <a:solidFill>
                  <a:srgbClr val="575756"/>
                </a:solidFill>
              </a:rPr>
              <a:t>指标口径、退出条件与跨团队责任</a:t>
            </a:r>
          </a:p>
        </p:txBody>
      </p:sp>
      <p:sp>
        <p:nvSpPr>
          <p:cNvPr id="49" name="s11-exit">
            <a:extLst xmlns:a="http://schemas.openxmlformats.org/drawingml/2006/main">
              <a:ext uri="{FF2B5EF4-FFF2-40B4-BE49-F238E27FC236}">
                <a16:creationId xmlns:a16="http://schemas.microsoft.com/office/drawing/2014/main" id="{44F4D3E0-8B84-4AD3-97C4-13064824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11-exit-text">
            <a:extLst xmlns:a="http://schemas.openxmlformats.org/drawingml/2006/main">
              <a:ext uri="{FF2B5EF4-FFF2-40B4-BE49-F238E27FC236}">
                <a16:creationId xmlns:a16="http://schemas.microsoft.com/office/drawing/2014/main" id="{38113E1B-0724-443E-B5A1-289724FD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769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退出条件：候选误选不可控、用户无法理解系统选择、端侧性能不满足预算或隐私红线不通过时，停止工程立项。</a:t>
            </a:r>
          </a:p>
        </p:txBody>
      </p:sp>
      <p:sp>
        <p:nvSpPr>
          <p:cNvPr id="51" name="s11-footer-left">
            <a:extLst xmlns:a="http://schemas.openxmlformats.org/drawingml/2006/main">
              <a:ext uri="{FF2B5EF4-FFF2-40B4-BE49-F238E27FC236}">
                <a16:creationId xmlns:a16="http://schemas.microsoft.com/office/drawing/2014/main" id="{0184C32A-DFD2-4DAA-969C-4AE22E20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9191"/>
                </a:solidFill>
              </a:defRPr>
            </a:pPr>
            <a:r>
              <a:rPr sz="750" b="0">
                <a:solidFill>
                  <a:srgbClr val="919191"/>
                </a:solidFill>
              </a:rPr>
              <a:t>11   Huawei Confidential</a:t>
            </a:r>
          </a:p>
        </p:txBody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cd97ddd03490e"/>
          <a:stretch xmlns:a="http://schemas.openxmlformats.org/drawingml/2006/main"/>
        </p:blipFill>
        <p:spPr>
          <a:xfrm xmlns:a="http://schemas.openxmlformats.org/drawingml/2006/main">
            <a:off x="10496550" y="6413926"/>
            <a:ext cx="1009650" cy="221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05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2026-08-30T15:05:02.4810000Z</dcterms:created>
  <dcterms:modified xsi:type="dcterms:W3CDTF">2026-08-30T15:05:02.4810000Z</dcterms:modified>
</coreProperties>
</file>