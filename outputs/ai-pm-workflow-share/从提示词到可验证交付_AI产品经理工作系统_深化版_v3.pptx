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94a9e598664bd8" /><Relationship Type="http://schemas.openxmlformats.org/officeDocument/2006/relationships/extended-properties" Target="/docProps/app.xml" Id="R014983ad53a64489" /><Relationship Type="http://schemas.openxmlformats.org/officeDocument/2006/relationships/officeDocument" Target="/ppt/presentation.xml" Id="Rad3ad5f70cdf42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96363065f84de8"/>
  </p:sldMasterIdLst>
  <p:notesMasterIdLst>
    <p:notesMasterId xmlns:r="http://schemas.openxmlformats.org/officeDocument/2006/relationships" r:id="R4daba292006d4054"/>
  </p:notesMasterIdLst>
  <p:sldIdLst>
    <p:sldId xmlns:r="http://schemas.openxmlformats.org/officeDocument/2006/relationships" id="256" r:id="R379f98b74ff54712"/>
    <p:sldId xmlns:r="http://schemas.openxmlformats.org/officeDocument/2006/relationships" id="257" r:id="R77ec65be50ba4e1f"/>
    <p:sldId xmlns:r="http://schemas.openxmlformats.org/officeDocument/2006/relationships" id="258" r:id="Rf900dfd8612e41ee"/>
    <p:sldId xmlns:r="http://schemas.openxmlformats.org/officeDocument/2006/relationships" id="259" r:id="R53ebc657a3b24323"/>
    <p:sldId xmlns:r="http://schemas.openxmlformats.org/officeDocument/2006/relationships" id="260" r:id="R4c688464646f4d90"/>
    <p:sldId xmlns:r="http://schemas.openxmlformats.org/officeDocument/2006/relationships" id="261" r:id="Rcc6a54fbc9e64edb"/>
    <p:sldId xmlns:r="http://schemas.openxmlformats.org/officeDocument/2006/relationships" id="262" r:id="R85af3fbaad834681"/>
    <p:sldId xmlns:r="http://schemas.openxmlformats.org/officeDocument/2006/relationships" id="263" r:id="Rda51ed5709094d13"/>
    <p:sldId xmlns:r="http://schemas.openxmlformats.org/officeDocument/2006/relationships" id="264" r:id="R2ff7d2b3ae404a0b"/>
    <p:sldId xmlns:r="http://schemas.openxmlformats.org/officeDocument/2006/relationships" id="265" r:id="Rd93c0aeb1f8a417f"/>
    <p:sldId xmlns:r="http://schemas.openxmlformats.org/officeDocument/2006/relationships" id="266" r:id="R4ee013f935dd43f7"/>
    <p:sldId xmlns:r="http://schemas.openxmlformats.org/officeDocument/2006/relationships" id="267" r:id="Ra1ca144346044f44"/>
    <p:sldId xmlns:r="http://schemas.openxmlformats.org/officeDocument/2006/relationships" id="268" r:id="R0c9ce64cadcb4e72"/>
    <p:sldId xmlns:r="http://schemas.openxmlformats.org/officeDocument/2006/relationships" id="269" r:id="Rb261a478e6f8453f"/>
    <p:sldId xmlns:r="http://schemas.openxmlformats.org/officeDocument/2006/relationships" id="270" r:id="R5bf3d8f9ac2848cf"/>
    <p:sldId xmlns:r="http://schemas.openxmlformats.org/officeDocument/2006/relationships" id="271" r:id="R5011042caa3b4c83"/>
    <p:sldId xmlns:r="http://schemas.openxmlformats.org/officeDocument/2006/relationships" id="272" r:id="R3211d8cd8a8440e9"/>
    <p:sldId xmlns:r="http://schemas.openxmlformats.org/officeDocument/2006/relationships" id="273" r:id="R12986325f94b4328"/>
    <p:sldId xmlns:r="http://schemas.openxmlformats.org/officeDocument/2006/relationships" id="274" r:id="R15e6090d53384ab9"/>
    <p:sldId xmlns:r="http://schemas.openxmlformats.org/officeDocument/2006/relationships" id="275" r:id="R12c6852ce05a47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ca52704b644b8f" /><Relationship Type="http://schemas.openxmlformats.org/officeDocument/2006/relationships/slideMaster" Target="/ppt/slideMasters/slideMaster1.xml" Id="Rf396363065f84de8" /><Relationship Type="http://schemas.openxmlformats.org/officeDocument/2006/relationships/notesMaster" Target="/ppt/notesMasters/notesMaster1.xml" Id="R4daba292006d4054" /><Relationship Type="http://schemas.openxmlformats.org/officeDocument/2006/relationships/presProps" Target="/ppt/presProps.xml" Id="Ra9ea9c29993e4255" /><Relationship Type="http://schemas.openxmlformats.org/officeDocument/2006/relationships/tableStyles" Target="/ppt/tableStyles.xml" Id="R68f6d830f37f4e87" /><Relationship Type="http://schemas.openxmlformats.org/officeDocument/2006/relationships/slide" Target="/ppt/slides/slide1.xml" Id="R379f98b74ff54712" /><Relationship Type="http://schemas.openxmlformats.org/officeDocument/2006/relationships/slide" Target="/ppt/slides/slide2.xml" Id="R77ec65be50ba4e1f" /><Relationship Type="http://schemas.openxmlformats.org/officeDocument/2006/relationships/slide" Target="/ppt/slides/slide3.xml" Id="Rf900dfd8612e41ee" /><Relationship Type="http://schemas.openxmlformats.org/officeDocument/2006/relationships/slide" Target="/ppt/slides/slide4.xml" Id="R53ebc657a3b24323" /><Relationship Type="http://schemas.openxmlformats.org/officeDocument/2006/relationships/slide" Target="/ppt/slides/slide5.xml" Id="R4c688464646f4d90" /><Relationship Type="http://schemas.openxmlformats.org/officeDocument/2006/relationships/slide" Target="/ppt/slides/slide6.xml" Id="Rcc6a54fbc9e64edb" /><Relationship Type="http://schemas.openxmlformats.org/officeDocument/2006/relationships/slide" Target="/ppt/slides/slide7.xml" Id="R85af3fbaad834681" /><Relationship Type="http://schemas.openxmlformats.org/officeDocument/2006/relationships/slide" Target="/ppt/slides/slide8.xml" Id="Rda51ed5709094d13" /><Relationship Type="http://schemas.openxmlformats.org/officeDocument/2006/relationships/slide" Target="/ppt/slides/slide9.xml" Id="R2ff7d2b3ae404a0b" /><Relationship Type="http://schemas.openxmlformats.org/officeDocument/2006/relationships/slide" Target="/ppt/slides/slide10.xml" Id="Rd93c0aeb1f8a417f" /><Relationship Type="http://schemas.openxmlformats.org/officeDocument/2006/relationships/slide" Target="/ppt/slides/slide11.xml" Id="R4ee013f935dd43f7" /><Relationship Type="http://schemas.openxmlformats.org/officeDocument/2006/relationships/slide" Target="/ppt/slides/slide12.xml" Id="Ra1ca144346044f44" /><Relationship Type="http://schemas.openxmlformats.org/officeDocument/2006/relationships/slide" Target="/ppt/slides/slide13.xml" Id="R0c9ce64cadcb4e72" /><Relationship Type="http://schemas.openxmlformats.org/officeDocument/2006/relationships/slide" Target="/ppt/slides/slide14.xml" Id="Rb261a478e6f8453f" /><Relationship Type="http://schemas.openxmlformats.org/officeDocument/2006/relationships/slide" Target="/ppt/slides/slide15.xml" Id="R5bf3d8f9ac2848cf" /><Relationship Type="http://schemas.openxmlformats.org/officeDocument/2006/relationships/slide" Target="/ppt/slides/slide16.xml" Id="R5011042caa3b4c83" /><Relationship Type="http://schemas.openxmlformats.org/officeDocument/2006/relationships/slide" Target="/ppt/slides/slide17.xml" Id="R3211d8cd8a8440e9" /><Relationship Type="http://schemas.openxmlformats.org/officeDocument/2006/relationships/slide" Target="/ppt/slides/slide18.xml" Id="R12986325f94b4328" /><Relationship Type="http://schemas.openxmlformats.org/officeDocument/2006/relationships/slide" Target="/ppt/slides/slide19.xml" Id="R15e6090d53384ab9" /><Relationship Type="http://schemas.openxmlformats.org/officeDocument/2006/relationships/slide" Target="/ppt/slides/slide20.xml" Id="R12c6852ce05a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954b5a4f7d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61bc075823414d" /><Relationship Type="http://schemas.openxmlformats.org/officeDocument/2006/relationships/notesMaster" Target="/ppt/notesMasters/notesMaster1.xml" Id="Rc19bf8936eeb42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32d989ba284b51" /><Relationship Type="http://schemas.openxmlformats.org/officeDocument/2006/relationships/notesMaster" Target="/ppt/notesMasters/notesMaster1.xml" Id="R291175b803704d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5f0910d31b41da" /><Relationship Type="http://schemas.openxmlformats.org/officeDocument/2006/relationships/notesMaster" Target="/ppt/notesMasters/notesMaster1.xml" Id="R04caf806e40749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836195c4e34d6f" /><Relationship Type="http://schemas.openxmlformats.org/officeDocument/2006/relationships/notesMaster" Target="/ppt/notesMasters/notesMaster1.xml" Id="R998ce4d7577b4e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bc29c2f9734045" /><Relationship Type="http://schemas.openxmlformats.org/officeDocument/2006/relationships/notesMaster" Target="/ppt/notesMasters/notesMaster1.xml" Id="R084e56284f1a48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83a89e705d4dc0" /><Relationship Type="http://schemas.openxmlformats.org/officeDocument/2006/relationships/notesMaster" Target="/ppt/notesMasters/notesMaster1.xml" Id="Rb133eac7714243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cd836af3fc4e18" /><Relationship Type="http://schemas.openxmlformats.org/officeDocument/2006/relationships/notesMaster" Target="/ppt/notesMasters/notesMaster1.xml" Id="Rb479903b99074c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e4f6ff209d4154" /><Relationship Type="http://schemas.openxmlformats.org/officeDocument/2006/relationships/notesMaster" Target="/ppt/notesMasters/notesMaster1.xml" Id="R39d6aabc03664c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4228fa5ef74d5d" /><Relationship Type="http://schemas.openxmlformats.org/officeDocument/2006/relationships/notesMaster" Target="/ppt/notesMasters/notesMaster1.xml" Id="R8c0984fff13946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1aef12d62c41d7" /><Relationship Type="http://schemas.openxmlformats.org/officeDocument/2006/relationships/notesMaster" Target="/ppt/notesMasters/notesMaster1.xml" Id="R122d2bac83b744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8899651775456a" /><Relationship Type="http://schemas.openxmlformats.org/officeDocument/2006/relationships/notesMaster" Target="/ppt/notesMasters/notesMaster1.xml" Id="Rd6ae2464579741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bca373bcfd4c95" /><Relationship Type="http://schemas.openxmlformats.org/officeDocument/2006/relationships/notesMaster" Target="/ppt/notesMasters/notesMaster1.xml" Id="Rb21287939ed844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ade06ce7fd4b7c" /><Relationship Type="http://schemas.openxmlformats.org/officeDocument/2006/relationships/notesMaster" Target="/ppt/notesMasters/notesMaster1.xml" Id="R7396443bc96844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e34d557ef148d7" /><Relationship Type="http://schemas.openxmlformats.org/officeDocument/2006/relationships/notesMaster" Target="/ppt/notesMasters/notesMaster1.xml" Id="Ra772ab8474a64d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3b0302cb8e47d6" /><Relationship Type="http://schemas.openxmlformats.org/officeDocument/2006/relationships/notesMaster" Target="/ppt/notesMasters/notesMaster1.xml" Id="Rcf7b10a741824a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19e958802a4ce6" /><Relationship Type="http://schemas.openxmlformats.org/officeDocument/2006/relationships/notesMaster" Target="/ppt/notesMasters/notesMaster1.xml" Id="Rc7875164916d43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ed95f38db6430f" /><Relationship Type="http://schemas.openxmlformats.org/officeDocument/2006/relationships/notesMaster" Target="/ppt/notesMasters/notesMaster1.xml" Id="R48b52416a32749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f494a4eaf7477a" /><Relationship Type="http://schemas.openxmlformats.org/officeDocument/2006/relationships/notesMaster" Target="/ppt/notesMasters/notesMaster1.xml" Id="R5eb9e78712a549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2906f327664b9b" /><Relationship Type="http://schemas.openxmlformats.org/officeDocument/2006/relationships/notesMaster" Target="/ppt/notesMasters/notesMaster1.xml" Id="R6da84e83e517417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0d9927f6ce406e" /><Relationship Type="http://schemas.openxmlformats.org/officeDocument/2006/relationships/notesMaster" Target="/ppt/notesMasters/notesMaster1.xml" Id="R05cfdc4d35bf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>开场：过去一年我最大的变化，不是换了哪个模型，而是不断把自己的判断方式、任务状态和质量标准移出聊天框。今天不做名词科普，我想拆解为什么这些控制信息必须被外置，以及我怎样把它们做成 Skill、文件契约和验证器。</a:t>
            </a:r>
          </a:p>
          <a:p xmlns:a="http://schemas.openxmlformats.org/drawingml/2006/main">
            <a:r>
              <a:t>主视觉由图像生成工具制作。背景节点从单点对话扩展为工作系统，对应本次分享的核心叙事。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 分钟</a:t>
            </a:r>
          </a:p>
          <a:p xmlns:a="http://schemas.openxmlformats.org/drawingml/2006/main">
            <a:r>
              <a:t>先把问题从‘提示词写得好不好’扩大到交付系统。同一个图库 AI 清理任务，会在事实、决策、执行和最终交付四处失败。四种失败无法只靠换模型解决。后面每一层演进，都对应消除一类系统性失败。</a:t>
            </a:r>
          </a:p>
          <a:p xmlns:a="http://schemas.openxmlformats.org/drawingml/2006/main">
            <a:r>
              <a:t>可以现场问：大家最近一次 AI 返工，属于这四类里的哪一类？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我把演变理解成四种契约。Prompt 规定怎样回答，Context 规定哪些事实和状态可以进入判断，Agent 规定可以采取哪些行动，Harness 规定行动如何在可恢复、可验证和可审计的环境中发生。</a:t>
            </a:r>
          </a:p>
          <a:p xmlns:a="http://schemas.openxmlformats.org/drawingml/2006/main">
            <a:r>
              <a:t>这是全场的分析框架。后面讲每个 Skill 时都问四个问题：回答要求是什么、证据从哪里来、允许采取什么动作、如何证明交付合格。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提示词工程没有过时。它仍然负责把一次回答的目标、受众、约束和输出写清楚。问题在于，很多团队用一个巨型 Prompt 同时承担知识库、流程、状态、权限和检查清单。Prompt 越来越长，其实是在替其他层级打补丁。</a:t>
            </a:r>
          </a:p>
          <a:p xmlns:a="http://schemas.openxmlformats.org/drawingml/2006/main">
            <a:r>
              <a:t>转折点：当我开始复制历史 PRD、竞品资料和检查清单时，我需要的不再是更长的提示词，而是一个有生命周期的上下文系统。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上下文不是越多越好，而是一组为当前决策服务的工作集。稳定规则和任务契约尽量保持短而稳定；动态证据按 Research Question 检索；运行状态用于跨轮次、跨工具恢复。</a:t>
            </a:r>
          </a:p>
          <a:p xmlns:a="http://schemas.openxmlformats.org/drawingml/2006/main">
            <a:r>
              <a:t>RAG 是动态证据进入上下文的一种操作。它不能自动解决过期、冲突、权限、检索停止和下游污染。</a:t>
            </a:r>
          </a:p>
          <a:p xmlns:a="http://schemas.openxmlformats.org/drawingml/2006/main">
            <a:r>
              <a:t>来源：Lewis 等，Retrieval-Augmented Generation for Knowledge-Intensive NLP Tasks，https://arxiv.org/abs/2005.11401</a:t>
            </a:r>
          </a:p>
          <a:p xmlns:a="http://schemas.openxmlformats.org/drawingml/2006/main">
            <a:r>
              <a:t>来源：Anthropic，Contextual Retrieval，https://www.anthropic.com/engineering/contextual-retrieval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Agent 的核心不是多调用几个工具，而是根据观察结果更新状态并改变下一步。产品经理要把成功、动作、停止和升级四类条件产品化。</a:t>
            </a:r>
          </a:p>
          <a:p xmlns:a="http://schemas.openxmlformats.org/drawingml/2006/main">
            <a:r>
              <a:t>预定义 Workflow 与动态 Agent 不冲突。研究确认、发布审批等关键门禁可以固定；证据搜索、文件定位和修复可以让 Agent 动态选择。</a:t>
            </a:r>
          </a:p>
          <a:p xmlns:a="http://schemas.openxmlformats.org/drawingml/2006/main">
            <a:r>
              <a:t>来源：Anthropic，Building Effective Agents，https://www.anthropic.com/engineering/building-effective-agents</a:t>
            </a:r>
          </a:p>
          <a:p xmlns:a="http://schemas.openxmlformats.org/drawingml/2006/main">
            <a:r>
              <a:t>来源：OpenAI Model Guidance，工具调用、状态管理与 stopping conditions，https://developers.openai.com/api/docs/guides/latest-model?model=gpt-5.5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Harness 不是一个单独软件名称，而是包围 Agent 的运行时产品。它设计的不是正常路径，而是状态丢失、工具副作用、无限搜索、假完成和上下文污染这些失败路径。</a:t>
            </a:r>
          </a:p>
          <a:p xmlns:a="http://schemas.openxmlformats.org/drawingml/2006/main">
            <a:r>
              <a:t>OpenAI 的 Agent environment template 已经把 files、network、packages、plugins、skills 和 setup commands 当作可复用环境配置。这说明 Agent 能力正在从模型调用扩展到环境配置。</a:t>
            </a:r>
          </a:p>
          <a:p xmlns:a="http://schemas.openxmlformats.org/drawingml/2006/main">
            <a:r>
              <a:t>来源：OpenAI，Create an agent environment template，https://developers.openai.com/api/reference/typescript/resources/beta/subresources/agents/subresources/environments/subresources/templates/methods/create</a:t>
            </a:r>
          </a:p>
          <a:p xmlns:a="http://schemas.openxmlformats.org/drawingml/2006/main">
            <a:r>
              <a:t>来源：Anthropic，Effective Harnesses for Long-Running Agents，https://www.anthropic.com/engineering/effective-harnesses-for-long-running-agents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 分钟</a:t>
            </a:r>
          </a:p>
          <a:p xmlns:a="http://schemas.openxmlformats.org/drawingml/2006/main">
            <a:r>
              <a:t>这页不按厂商列时间线，而按能力栈解释。工具从回答界面变成真实运行环境；连接标准化以后，新的瓶颈变成路由、权限和可观察性。</a:t>
            </a:r>
          </a:p>
          <a:p xmlns:a="http://schemas.openxmlformats.org/drawingml/2006/main">
            <a:r>
              <a:t>官方模型指南建议把工具用途、时机、输入、副作用、重试安全和错误模式放进工具描述。大型工具目录还需要延迟加载或 tool search。</a:t>
            </a:r>
          </a:p>
          <a:p xmlns:a="http://schemas.openxmlformats.org/drawingml/2006/main">
            <a:r>
              <a:t>来源：OpenAI Model Guidance，https://developers.openai.com/api/docs/guides/latest-model?model=gpt-5.5</a:t>
            </a:r>
          </a:p>
          <a:p xmlns:a="http://schemas.openxmlformats.org/drawingml/2006/main">
            <a:r>
              <a:t>来源：MCP Specification，https://modelcontextprotocol.io/specification/2024-11-05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这条链路是后半场的主线。每个节点由一个 Skill 负责，有稳定输入输出，并保留上游 evidence_ref。出错时从失败节点局部重跑。</a:t>
            </a:r>
          </a:p>
          <a:p xmlns:a="http://schemas.openxmlformats.org/drawingml/2006/main">
            <a:r>
              <a:t>最重要的变化是：聊天记录不再承担唯一状态。文件、run_id 和 requirement_id 让任务可以跨轮次、跨工具恢复，也让另一位产品经理能够复查。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Skill 不是把一个长 Prompt 保存为 Markdown。主文件负责路由和核心判断，references 按步骤加载专业方法，templates 固定交付结构，scripts 处理确定性工作，tests/evals 防止迭代漂移。</a:t>
            </a:r>
          </a:p>
          <a:p xmlns:a="http://schemas.openxmlformats.org/drawingml/2006/main">
            <a:r>
              <a:t>设计原则是把不同类型的认知工作放到最适合的位置。模型处理无法穷举的判断；代码处理可确定验证的规则；任务状态留在工作目录。</a:t>
            </a:r>
          </a:p>
          <a:p xmlns:a="http://schemas.openxmlformats.org/drawingml/2006/main">
            <a:r>
              <a:t>OpenAI Skills API 已把 Skill 作为可创建和版本化的资源，说明 Skill 正在从本地约定走向可管理能力。</a:t>
            </a:r>
          </a:p>
          <a:p xmlns:a="http://schemas.openxmlformats.org/drawingml/2006/main">
            <a:r>
              <a:t>来源：OpenAI，Create Skill，https://developers.openai.com/api/reference/python/resources/skills/methods/create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建议用时：1.5 分钟</a:t>
            </a:r>
          </a:p>
          <a:p xmlns:a="http://schemas.openxmlformats.org/drawingml/2006/main">
            <a:r>
              <a:t>这次不再用 9 个 Skill、29 个 reference 这类文件统计证明成熟度。统一用契约、规则、脚本、工作流和回归验证五个维度。</a:t>
            </a:r>
          </a:p>
          <a:p xmlns:a="http://schemas.openxmlformats.org/drawingml/2006/main">
            <a:r>
              <a:t>结论很明确：用研和竞品体系最完整，但仍有工程问题；PRD 和原型目前没有形成完整 Skill。后面分别拆一个成熟案例、一个暴露问题的案例和一组下一阶段设计。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这个 Skill 的核心产物不是问卷文本，而是研究目标到证据再到决策的映射。它要求先在确认卡中锁定课题、调研目标和四选一问卷场景；再为每个目标定义判断变量和证据；之后才决定模块、分支和题目。</a:t>
            </a:r>
          </a:p>
          <a:p xmlns:a="http://schemas.openxmlformats.org/drawingml/2006/main">
            <a:r>
              <a:t>三个重要规则：概念测试不能污染行为基线；没有使用经历的人不能评价体验；无法说明怎样进入分析和改变决策的问题不进入问卷。</a:t>
            </a:r>
          </a:p>
          <a:p xmlns:a="http://schemas.openxmlformats.org/drawingml/2006/main">
            <a:r>
              <a:t>依据：pm-user-research/skills/ur-design-survey/SKILL.md 与 questionnaire-logic-checklist.md。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这是真实仓库产物，不是为了 PPT 编的例子。Q1 到 Q3 只是分组变量，Q4 到 Q6 建立使用与任务基础，Q7 到 Q8证明问题和后果，Q9 到 Q12形成需求范围、强制取舍和理由。</a:t>
            </a:r>
          </a:p>
          <a:p xmlns:a="http://schemas.openxmlformats.org/drawingml/2006/main">
            <a:r>
              <a:t>脚本实际检查结果为 12 题、0 个结构风险、结构门禁通过。但必须强调：lint 只能证明格式和部分启发式规则没有阻断，不能证明研究目标正确、选项穷尽或结论有效。语义质量仍需要专家评审和真实 Pilot。</a:t>
            </a:r>
          </a:p>
          <a:p xmlns:a="http://schemas.openxmlformats.org/drawingml/2006/main">
            <a:r>
              <a:t>依据：pm-user-research/用户调研/20260913手机图库AI功能需求/questionnaire.md 与 lint_questionnaire.py。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这个 Workflow 不是把四个 Skill 顺序调用一遍，而是定义一台文件状态机。下游只读取契约列出的文件。画像不读取问卷，是为了避免把调研期待写入人设；每个人独立作答，是为了避免交叉污染；报告使用显式 run_id，是为了避免自动拿到错误批次。</a:t>
            </a:r>
          </a:p>
          <a:p xmlns:a="http://schemas.openxmlformats.org/drawingml/2006/main">
            <a:r>
              <a:t>文件契约还决定返工范围。问卷变化只影响模拟和报告，报告失败不需要重新生成问卷。</a:t>
            </a:r>
          </a:p>
          <a:p xmlns:a="http://schemas.openxmlformats.org/drawingml/2006/main">
            <a:r>
              <a:t>依据：pm-user-research/workflows/synthetic-survey.md 与 shared-context-schema.md。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这是我建议保留的坦诚页。当前用户研究模块实跑 43 项测试，28 项通过、15 项失败。失败主要集中在画像生成器 CLI：测试要求 sample-size、seed、group-quota，而当前脚本不再接受这些参数；Windows 中文输出也有编码问题。</a:t>
            </a:r>
          </a:p>
          <a:p xmlns:a="http://schemas.openxmlformats.org/drawingml/2006/main">
            <a:r>
              <a:t>这不是为了展示测试数量，而是说明 Harness 怎样暴露假完成。没有回归测试时，SKILL.md 仍然很完整，真正的 Workflow 却可能已无法按原契约运行。</a:t>
            </a:r>
          </a:p>
          <a:p xmlns:a="http://schemas.openxmlformats.org/drawingml/2006/main">
            <a:r>
              <a:t>实跑命令：python -m unittest discover -s tests -v。执行日期：2026-09-14。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竞品分析 Skill 先把研究对象数据化。FeatureSchema 从用户任务拆出真正可比的 feature；ResearchUnit 把最小检索单元限定为 competitor × feature；EvidenceRecord 记录 claim、支持方向、来源、版本地区、事实、截图和置信度。</a:t>
            </a:r>
          </a:p>
          <a:p xmlns:a="http://schemas.openxmlformats.org/drawingml/2006/main">
            <a:r>
              <a:t>只有 EvidenceRecords 完成后，系统才能判 Feature 状态和产品定位。这样产品方向可以反向追溯到具体证据，而不是从品牌印象直接得出。</a:t>
            </a:r>
          </a:p>
          <a:p xmlns:a="http://schemas.openxmlformats.org/drawingml/2006/main">
            <a:r>
              <a:t>依据：pm-competitor-analysis/pm-system-app-competitor-matrix/config/schemas.md 与 SKILL.md。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每个重要 ResearchUnit 不是只搜一个关键词。它至少考虑官方术语、用户任务表达、同义机制、界面证据；当结论倾向不支持时必须做反向验证；有冲突时进一步查版本和地区。</a:t>
            </a:r>
          </a:p>
          <a:p xmlns:a="http://schemas.openxmlformats.org/drawingml/2006/main">
            <a:r>
              <a:t>停止条件比查询数量更重要。当前版本官方证据可以直接停止；两个独立高质量来源一致也可停止；搜索失败只能得到 unknown；达到预算或仍冲突时进入人工确认。</a:t>
            </a:r>
          </a:p>
          <a:p xmlns:a="http://schemas.openxmlformats.org/drawingml/2006/main">
            <a:r>
              <a:t>这页示例不代表 Apple Photos 的真实支持状态。</a:t>
            </a:r>
          </a:p>
          <a:p xmlns:a="http://schemas.openxmlformats.org/drawingml/2006/main">
            <a:r>
              <a:t>依据：references/research-evidence.md。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当前仓库还没有完整 PRD 和原型 Skill，所以这页明确标记为下一阶段设计。关键不是让模型写一份更长的 PRD，而是建立 requirement_ledger。每条需求有稳定 ID、上游证据、问题、场景、要求和验收。</a:t>
            </a:r>
          </a:p>
          <a:p xmlns:a="http://schemas.openxmlformats.org/drawingml/2006/main">
            <a:r>
              <a:t>写 PRD、生成原型和设计评审都围绕同一个 ID 工作。评审要检查每个需求是否有界面落点，是否覆盖空、加载、失败、权限、离线、处理中、部分成功、撤销和恢复等状态。</a:t>
            </a:r>
          </a:p>
          <a:p xmlns:a="http://schemas.openxmlformats.org/drawingml/2006/main">
            <a:r>
              <a:t>这样用户反馈、竞品证据、PRD、原型和验收可以双向追溯。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开发从失败样本开始，而不是从写 SKILL.md 开始。先选高频、边界清楚、可验收的任务，收集真实案例和返工原因；再定义契约，拆判断资源和确定性脚本；最小试跑之后，把返工原因变成测试。</a:t>
            </a:r>
          </a:p>
          <a:p xmlns:a="http://schemas.openxmlformats.org/drawingml/2006/main">
            <a:r>
              <a:t>如果一项能力能跨任务复用并独立验收，适合做 Skill。如果任务需要管理多个能力的依赖、状态和人工门禁，适合做 Workflow。团队最值钱的资产是失败处理和验收标准。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分钟总结，随后 5 分钟 Q&amp;A</a:t>
            </a:r>
          </a:p>
          <a:p xmlns:a="http://schemas.openxmlformats.org/drawingml/2006/main">
            <a:r>
              <a:t>团队落地不应建立一个提示词收藏夹，而应建立 Skill Registry。每项能力有 owner、版本、边界、契约、依赖、eval 状态和已知限制。</a:t>
            </a:r>
          </a:p>
          <a:p xmlns:a="http://schemas.openxmlformats.org/drawingml/2006/main">
            <a:r>
              <a:t>试点指标优先看首轮可接受率、证据覆盖、校验通过、人工返工和版本回归，不只看生成速度。</a:t>
            </a:r>
          </a:p>
          <a:p xmlns:a="http://schemas.openxmlformats.org/drawingml/2006/main">
            <a:r>
              <a:t>结尾：当专业判断、证据、动作和验收都被外置，AI 才从个人效率工具变成团队可以依赖的交付系统。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b4c4386df41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dfc621c98d49e0" /><Relationship Type="http://schemas.openxmlformats.org/officeDocument/2006/relationships/slideLayout" Target="/ppt/slideLayouts/slideLayout1.xml" Id="Re83c1a501e1a40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3c1a501e1a40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4b3c1f86f4ea2" /><Relationship Type="http://schemas.openxmlformats.org/officeDocument/2006/relationships/image" Target="/ppt/media/image.png" Id="R431c4426b5eb4602" /><Relationship Type="http://schemas.openxmlformats.org/officeDocument/2006/relationships/notesSlide" Target="/ppt/notesSlides/notesSlide1.xml" Id="R609cce47790042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688aced7b44f0" /><Relationship Type="http://schemas.openxmlformats.org/officeDocument/2006/relationships/notesSlide" Target="/ppt/notesSlides/notesSlide2.xml" Id="R7d5b192c9a3547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7bbdaed54757" /><Relationship Type="http://schemas.openxmlformats.org/officeDocument/2006/relationships/notesSlide" Target="/ppt/notesSlides/notesSlide3.xml" Id="Re3871eab27bf4b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ecef96c7546b6" /><Relationship Type="http://schemas.openxmlformats.org/officeDocument/2006/relationships/notesSlide" Target="/ppt/notesSlides/notesSlide4.xml" Id="R7efcb993e8bd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008e89bca43cc" /><Relationship Type="http://schemas.openxmlformats.org/officeDocument/2006/relationships/notesSlide" Target="/ppt/notesSlides/notesSlide5.xml" Id="R6f6a3c57fbd94e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54fb64c134324" /><Relationship Type="http://schemas.openxmlformats.org/officeDocument/2006/relationships/notesSlide" Target="/ppt/notesSlides/notesSlide6.xml" Id="R4bf57fd1987342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90c5ea22c4dd6" /><Relationship Type="http://schemas.openxmlformats.org/officeDocument/2006/relationships/notesSlide" Target="/ppt/notesSlides/notesSlide7.xml" Id="Rc9ed98d689434e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c0c74588749ed" /><Relationship Type="http://schemas.openxmlformats.org/officeDocument/2006/relationships/notesSlide" Target="/ppt/notesSlides/notesSlide8.xml" Id="R4f67bf0816d74a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e03a41e6e4107" /><Relationship Type="http://schemas.openxmlformats.org/officeDocument/2006/relationships/notesSlide" Target="/ppt/notesSlides/notesSlide9.xml" Id="R836cdd06217e41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ce07de0b147ad" /><Relationship Type="http://schemas.openxmlformats.org/officeDocument/2006/relationships/notesSlide" Target="/ppt/notesSlides/notesSlide10.xml" Id="R38b5b82d91814b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edc94db594911" /><Relationship Type="http://schemas.openxmlformats.org/officeDocument/2006/relationships/notesSlide" Target="/ppt/notesSlides/notesSlide11.xml" Id="Rfa6faee6db8741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5041b1aaa4e80" /><Relationship Type="http://schemas.openxmlformats.org/officeDocument/2006/relationships/notesSlide" Target="/ppt/notesSlides/notesSlide12.xml" Id="R514acb4432544f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8294dde5e4213" /><Relationship Type="http://schemas.openxmlformats.org/officeDocument/2006/relationships/notesSlide" Target="/ppt/notesSlides/notesSlide13.xml" Id="R5a98583318a64d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ad915bd2b4e40" /><Relationship Type="http://schemas.openxmlformats.org/officeDocument/2006/relationships/notesSlide" Target="/ppt/notesSlides/notesSlide14.xml" Id="R2a6b20ada1924b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b4888eacb4aa5" /><Relationship Type="http://schemas.openxmlformats.org/officeDocument/2006/relationships/notesSlide" Target="/ppt/notesSlides/notesSlide15.xml" Id="R90a7534c7ec447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eacd7317a4432" /><Relationship Type="http://schemas.openxmlformats.org/officeDocument/2006/relationships/notesSlide" Target="/ppt/notesSlides/notesSlide16.xml" Id="R3ef35cb231794b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ccd77ce5a47ab" /><Relationship Type="http://schemas.openxmlformats.org/officeDocument/2006/relationships/notesSlide" Target="/ppt/notesSlides/notesSlide17.xml" Id="Rb63029b89ee246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c8cfe60244685" /><Relationship Type="http://schemas.openxmlformats.org/officeDocument/2006/relationships/notesSlide" Target="/ppt/notesSlides/notesSlide18.xml" Id="R042e20ca768149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ad71aaaef4923" /><Relationship Type="http://schemas.openxmlformats.org/officeDocument/2006/relationships/notesSlide" Target="/ppt/notesSlides/notesSlide19.xml" Id="R7d51d8845b5c4e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92592f59c444a" /><Relationship Type="http://schemas.openxmlformats.org/officeDocument/2006/relationships/notesSlide" Target="/ppt/notesSlides/notesSlide20.xml" Id="R45ac753c70a846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c4426b5eb46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ABD4B-C008-46A4-B460-3C8867F0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3">
              <a:alpha val="8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1B09F-40B9-4D48-8ACB-E8A32364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42D62-18B9-4F1B-B44F-21AEC1D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1440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从提示词到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DAD04-9148-4424-B0E9-4017EA7A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  <a:cs typeface="Microsoft YaHei"/>
              </a:rPr>
              <a:t>我的 AI 产品经理工作系统、Skill 与 Harness 实践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55EDD-6394-436A-AEB9-1A2234C1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2C354-82EE-4D2A-B44B-7A84E7DE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  <a:cs typeface="Microsoft YaHei"/>
              </a:rPr>
              <a:t>Intent  ·  Evidence  ·  Action  · 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EC6EA-DA1A-4615-A689-8A48D52D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产品经理团队分享  /  45 min</a:t>
            </a:r>
          </a:p>
        </p:txBody>
      </p:sp>
    </p:spTree>
    <p:extLst>
      <p:ext uri="{BB962C8B-B14F-4D97-AF65-F5344CB8AC3E}">
        <p14:creationId xmlns:p14="http://schemas.microsoft.com/office/powerpoint/2010/main" val="605564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4FC27-8259-4662-8321-EA2E6547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ED052-C96F-4479-ACB7-AEBFB1F7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模型更强，交付为什么仍然不稳定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96289-225B-4CF6-B5EF-CA74B766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2DB6-CB36-40F4-A861-EFF55AEB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贯穿案例：为“手机图库 AI 清理”完成研究、竞品判断、PRD 与原型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EDEA1-DB45-42B0-A00D-85C1B670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49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1F6F4-90D2-4A6E-A029-9B47701D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1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C5DDA-2393-4E9D-837A-4D854859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事实失败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41E40-7694-433C-A992-DECF03AD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573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资料过期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把“没搜到”写成“不支持”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DDA62-0C5E-4C55-A6E1-43AC8819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9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83F27-4C84-49FB-8B3B-9E41F711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384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4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C5562-17D1-451B-93FB-1842FBC7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71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决策失败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73E0E-E70F-44E4-8C49-03AD9E3C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内容完整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却没有回答做不做、先做什么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3B396-5A8C-4F0E-903C-45BF02F8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9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74A54-94B8-47F1-AED0-2A406841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528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7B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DDE2A-9F8C-43D7-A475-A064EE82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执行失败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2A7AD-9885-43BE-9B0C-CBF92AF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61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中间状态留在聊天里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下游读不到上游边界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9D10E-79F1-4286-BD6E-EC77B25B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49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24BEF-7FE0-46B5-B564-60CFE168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672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781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656CA-9DEE-423C-8439-4776F447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交付失败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8D8D5-B2DB-42A5-AB12-14ECE272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005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格式正确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需求、状态、证据与验收没有映射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EFC1E-8999-4EA4-8643-C4E65BC9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5918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9E695-EAC9-4472-9E4A-9F559DCF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模型决定局部推理上限；工作系统决定任务能否稳定完成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B0888-83E9-4CF8-B815-A632EE8B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5727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790778-3C10-4F34-968E-098672F7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1B884-FA91-4D9B-ACAD-2EBC9AAA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四层控制面与四种契约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6B109-D0D6-46C1-9734-0FD7B513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分析框架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EE49C-EE99-4CD8-AAFE-F3235335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AFC8C-E858-4997-8627-F9E7456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573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84B36-A4E6-41AE-8C1B-9A27F0AF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2573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2878B-E04F-4C5F-B827-C73F7782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573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外置的控制信息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7942E-A153-4B94-942D-B3366CB9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2573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95FD0-AA6C-47C1-A680-89BE78A0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57300"/>
            <a:ext cx="2152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形成的契约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270E6-8210-4408-BE96-02043468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57300"/>
            <a:ext cx="363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E7A2B-5FDE-4273-9E8F-F1A1D7E6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57300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仍会失败的地方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DED0F-330B-40B1-8A1E-7AAB3256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0EE94-00E1-428F-8C06-1542EE9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B50B7-1D71-40DC-B8CB-C35BC111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E69C1-6435-4480-9DB3-D15A881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335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613E3-A68F-42E1-96D7-086E019F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335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表达意图与输出要求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F4733-25C2-4233-B408-F10255D3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335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CFC78-FBCF-4D8E-A4EB-3C10141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335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回答契约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CC4C2-59CB-4CB9-ACD0-606D281F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33550"/>
            <a:ext cx="3638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4299E-2261-4170-9545-4BAF16A0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33550"/>
            <a:ext cx="3409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事实、状态和执行仍留在外部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9E24A-96FE-4C35-918C-413D3A6B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1BFC4-CC79-48C2-99C5-90955384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91856-04BD-409F-9127-AE2D1E3A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7F2EE-A24C-413B-B86F-8475E9D6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146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54AC6-6950-4555-8FBB-CAAD9D3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146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知识、证据与运行状态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DEBA4-14F6-4DE8-B937-98AF2A05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146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F71ABF-254B-4018-8423-38E85DC1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146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证据契约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4D8CC-3F37-4916-A6A6-BC8BF232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14600"/>
            <a:ext cx="3638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66A35-8A75-4571-BD04-BEB13179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3409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模型知道什么，但还不能行动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7A233B-C0C4-47DA-9CA8-602D61B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587118-31EE-41F9-8EE3-FF0D0F4B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C44AEE-E085-47D7-B1FD-4E4C444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9317CA-7869-403D-A150-DC1298F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B578EB-204C-4F0C-B136-2BDB1CD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956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动作选择与工具循环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FF4922-AE29-4E30-B635-DB036443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956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8B195C-2BB6-48A8-BBD9-4DDEC0B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行动契约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EE125B-B679-468E-9655-5EEBFE33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638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B7A77E-DB7C-488A-B459-C56AF7A5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3409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能行动，但不一定安全和可恢复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E832B9-0103-4EFD-9760-552531E4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54F40C-F7B2-47A9-B638-50DA6908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3F7B6A-AF82-4AA8-B6BA-7F32B5A4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390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F1EB88-84E4-42E3-9B81-85ACE754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6700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614FA-9D12-4B5E-A672-6F10C877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767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权限、状态、验证与审计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9ACE1E-1C31-4C7E-98E8-BFDFD71D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76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36BB8F-EB37-43C8-8B72-FBABB088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76700"/>
            <a:ext cx="215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交付契约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7A35DD-5188-4F4C-8BA3-CDD5B94F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76700"/>
            <a:ext cx="3638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C9C933-637E-4A5C-A38C-337FF05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76700"/>
            <a:ext cx="3409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需要持续治理版本与评估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A316F9-DDF5-4EF5-A302-D8EF833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FFA4CD-77C6-4092-8055-726F870A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59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后面的层级不会替代前面的层级；它只是把更多隐性控制信息变成显式系统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AD7013-0400-494B-AB57-3711D918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983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F98CD-A60E-4FA9-A53B-0A676314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A4253-C60F-4678-B690-0AB1D1E8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Prompt 工程的边界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85255-34BF-4C7A-B0CA-3BA64CC1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65A52-F901-42E1-A065-7171993D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53340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1962A-F408-4BC4-AE42-52059C14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969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30520-689B-47F4-AA76-7DF4FC21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回答契约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77591-EEE4-4442-A9D4-5DD8A42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61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受众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输出形态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少量示例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AA0B9-278F-4A07-A8F2-F646FEAA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383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AC436-E446-4CBD-A508-2416AB3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2514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把一次回答写清楚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适合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快速启动、改写、单次分析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优化目标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74000"/>
                  </a:srgbClr>
                </a:solidFill>
                <a:latin typeface="Microsoft YaHei"/>
                <a:ea typeface="Microsoft YaHei"/>
                <a:cs typeface="Microsoft YaHei"/>
              </a:rPr>
              <a:t>局部内容的相关性与表达稳定性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A7B99-D7C9-4CF0-BCEA-2CB4E883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47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Prompt 外部仍未被控制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CEBA6-B767-40E1-A188-3236C75B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33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4D4D9-4E18-477B-9C00-4DD4A597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材料可信度与版本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1D35B-861F-4333-BFD1-907FBB4E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DD79B-EF8C-46A2-964A-A2FBB9F0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长任务完成状态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FE128-5CFD-4028-B4FA-2635823A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2C8A6-0D4A-45E7-A89D-190FE0A0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工具权限与副作用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D44E2-C9D1-4019-9927-96A8A21C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934CD-AD59-4C86-910D-3B7691C7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43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交付物验证方式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4F5B7-E309-4724-8AA0-8F83E34E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43243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5483F">
              <a:alpha val="10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E01F1-98E7-4406-9ECB-B6CB0B6A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0150"/>
            <a:ext cx="3867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rPr>
              <a:t>当提示词开始塞入知识库、流程、模板和历史状态时，问题已经不再只是提示词问题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7A7A3-E7B8-4A42-8434-6E332BE4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8573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FE741-6596-44E7-A10D-311DF511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D716F-C189-4A87-8A7A-A540AC8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Context 工程的四层工作集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131DE-5F7F-4B24-A2BF-D7C116C0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Context /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40AA1-93B8-458D-8617-21E4BCD0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6191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181D">
              <a:alpha val="16000"/>
            </a:srgbClr>
          </a:solidFill>
          <a:ln xmlns:a="http://schemas.openxmlformats.org/drawingml/2006/main" w="9525">
            <a:solidFill>
              <a:srgbClr val="13181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44301-96AA-44FB-BB40-5E65F7EB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稳定规则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F60A1-A983-4D13-9938-06B7BC6F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3716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角色边界、隐私、事实标准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0A216-4A69-4F0E-BA31-F0911B2B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5772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5483F">
              <a:alpha val="16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81172-A7CB-474B-8A67-5CD01657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098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任务契约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07541-9583-4D66-B3B3-2D0836B3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3486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目标、用户、成功标准、交付要求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1A743-0FA6-4056-A6FD-9FCD805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53530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E718D">
              <a:alpha val="16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43BC4-0DB7-4005-992E-B625AB77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480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动态证据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302A4-D18F-4B6A-873E-9B5476DD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3067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围绕当前判断检索的材料与来源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EB6F9-94C1-47AA-B94E-49403A33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49339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4E7B68">
              <a:alpha val="16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B2375-741B-4517-B54B-108F2D2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862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5BE3D-69C5-421C-84C1-BDD6EB5E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8620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已完成动作、关键决定、文件位置、阻塞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60941-21D3-4197-A404-854E6F1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668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A3B35-270F-4694-A753-B4DDD4EC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28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RAG 只处理其中一层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F0CB9-147A-4252-9370-643F9A9A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3257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检索只是把候选证据放进窗口。真正的上下文工程还要回答：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57BB5-2F8F-4B37-9B40-0172EF59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E8AF4-491B-413A-92BE-C23F89BB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最小证据集是什么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2E82F-0C6B-4C77-B904-D836708A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18976-2037-48A3-AE85-7E0C4490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版本或来源冲突怎么处理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D0018-C8B0-41D5-A47F-95AE6B7D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E1BAA-09B2-4AC3-8474-0F22EDED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检索到什么程度必须停止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CF36C-B46B-4568-8C1A-E527088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B31D41-6C10-40D8-A26B-0F314DB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哪些信息不能传给下游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FB51F-B2FD-42F0-9259-9DE87CE8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382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264F6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E174BD-C888-4578-BDE3-58DB52B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9925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产品问题：这个决策最少需要哪些证据；证据不足时系统怎样保留不确定性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3BE04E-2911-42D4-BB33-B15CC435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1299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6B92C-BE80-48A9-BD5F-753F1987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6F5E5-94E9-4357-842B-B7012B9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Agent：任务被建模为状态迁移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491AF-8A94-4924-B492-7FD8472C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6029B-93D7-448C-9AC5-B1C1AC63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10515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24A9C-6412-4E7B-A032-F9809AC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716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S(t)  +  目标 / 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F4654-1B38-4FC5-9AAD-7A6A8839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716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2EB79-ADD4-4733-80AA-13C3DD2E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71600"/>
            <a:ext cx="1981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工具结果 O(t)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0DE8D-FD8C-4F94-9030-238AB0AD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71600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S(t+1)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49366-6A4C-43FF-849A-E88377E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621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18179-6122-4DCF-AA67-00CC17A0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DB9FAA-EE49-4C93-8430-BEB605B3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621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38E7-1ED2-456E-A68C-7DAC02C5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产品经理需要定义的控制信息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A00D3-2562-42BE-96FC-2858C910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9716D-17AE-4464-B2B0-87AECED0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D2C97-4514-4FC5-BAAD-D5FF8FAF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194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什么结果算真正完成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8AAF7-B13A-4499-BBCD-9853CAEF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919B9-77F9-4207-965A-018440ED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动作空间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CFFC3-9A43-42BA-92B1-9BAE0148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290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允许访问哪些工具、数据和应用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6C642-FCBA-49DF-A937-947B375A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0EB982-6C67-4DE6-9825-334044E7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CBC31-E1EC-471C-945A-5553A27B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386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何时证据已经足够；何时必须终止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FF347E-C163-4624-B671-CB94A5EB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1FB4E-B833-4551-85A6-6383AFDF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49ED8-4CE1-444B-8FB6-2216EDB8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482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  <a:cs typeface="Microsoft YaHei"/>
              </a:rPr>
              <a:t>哪些判断、权限或风险需要人工接管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5BEF3-828C-46BA-B433-16FA972C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30670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3C3C5A-1A8C-4530-A054-4A3FF13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动态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EB7067-595B-4E47-AC1C-7043ADD1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43300"/>
            <a:ext cx="2438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根据观察结果改变路径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适合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信息不完整、需要探索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工具结果会改变下一步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307E5-131C-4334-B8D5-D9AD5699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Workflow 可以固定关键门禁，Agent 在门禁之间动态工作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EFF64A-020F-4174-8FE4-4BF8F019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3850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CC86E1-CB98-43A7-9EC7-8832FFAF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F9E17-09F2-4951-A611-9E3B88E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Harness：围绕失败模式设计控制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E3528-B001-4931-9BD1-CE3FE8DA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4492D-A110-4BD2-9FCE-FD41238F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B091A-5503-4621-8F70-51E451B5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763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长任务失败模式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0B709-8DA0-4A3A-BD06-CD3E782A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276350"/>
            <a:ext cx="7448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B2D6A-545C-4C05-A584-B27AEF06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76350"/>
            <a:ext cx="721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 控制机制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1D91B-CE17-446F-9F9B-59FF2789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2D4B6-BE23-4C1E-80DB-B87413DE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971BE-EB55-4D96-875D-D41B9438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上下文漂移，任务无法恢复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08B78-4786-4430-A0C6-64E9B2A9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52600"/>
            <a:ext cx="744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7AAC2-710C-456B-A086-54120902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526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结构化文件状态、压缩摘要、恢复点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BAC89-9771-4292-A696-64F947D4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8C421-0F78-403C-AC86-999B4220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95700-A6B4-4708-A236-0AE4545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工具有副作用，重复执行造成损失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00B81-A6D1-4BD4-B0C0-7CDF7A99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38400"/>
            <a:ext cx="7448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24161-55F1-4F9D-9578-AF3F3FA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384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沙箱、最小权限、人工审批、幂等与重试规则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AB87B-86FA-4F79-82AD-E3471E14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C49CD-7567-47EE-ACB8-16F61314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FE64C-E5D6-4CB6-9D94-6B56BFBF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搜索不断扩张，成本和时间失控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5F5E7-C071-44A6-ABD9-A9D66410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744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F8350-98CE-4EBE-901D-ED025DFA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Research Unit、检索预算、停止条件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98DBCE-7726-442A-B326-2DC1001E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09B62-FA72-4C69-971E-8987F528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6F9A9-1432-4832-946A-B21A070F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输出看似正确，实际无法交付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89C14-A8E0-4EDF-AC49-957F3197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10000"/>
            <a:ext cx="7448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C063C-3852-44F5-B8F0-E1016EC5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100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Schema、lint、测试、渲染检查和人工评审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18556-D056-47DC-87E5-52A240E8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A5C6B6-ACE6-4BD0-A9E0-392EA3D2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FE930F-8C4F-41B2-8CEA-2B376BE1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多个 Skill 读取过多信息，互相污染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8FC104-49AB-4A8B-A5E0-EBD99C3F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95800"/>
            <a:ext cx="744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3F647-B58A-4BAD-BFA1-47A54EF4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95800"/>
            <a:ext cx="721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最小输入原则、文件契约、隔离上下文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299557-DC35-47E1-A830-B82745C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3BCB90-373A-4B43-AB21-77727394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5918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3724FF-437D-4102-B6A8-C48C6770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 的设计对象：工作目录、权限、工具描述、错误信息、日志、验证器和人工门禁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F85D30-FFDC-4F53-A967-F50E09F9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44677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ED6BA3-79EE-4475-A48D-47D08E72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FB7F0-BE58-44CA-B951-3B86D6A4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Agent 工具的能力栈演变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A25A0-E42A-4C51-BC9A-2704DE83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B867E-B29C-4A64-A7C0-0986C7BF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86D47-ED77-42EF-9C73-013878C3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B96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5C29B-8A76-4447-80BA-F867F5E4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56C66-F4D4-4F5A-AEA8-E611307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人决定每一步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模型生成内容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924A6-B524-4707-A294-61590F8E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5B076-CB6B-4119-B42E-B23A0B6C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E784B-B872-4F4A-BBBC-014AE42B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Retrieval / Functions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EBB52-9B80-4DC8-AE4E-4F3D3B22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取得外部事实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调用结构化能力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F7B6C-12D0-48C5-BFB4-50576AB4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86DF8-0605-4F76-AF92-DF97397C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E02C7-C004-4049-B36F-EF84A191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MCP / Connectors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6EC13-DA83-4BCC-BF76-0C70719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资源与工具连接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逐步标准化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F6439-C697-4EC2-9FB7-625883D9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8600E-609F-4E71-A2B6-413A2FF1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9EE55-8117-4405-AE67-73950A24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Workspace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96E26-9D4B-439D-A28E-35841D82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观察并修改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真实工作状态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67A2A-2D89-4AD6-8445-5562EADD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15F75-3301-42F1-B54E-AB8DC4B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33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181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7056A-F790-4A08-A884-9445F9BD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Skills / Trace / Evals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A345B-E78B-441C-878C-1CAA1EFC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179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专业流程复用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行为可追踪与回归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819D3-B0E4-4BD3-9793-D5312176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C0C1D-3478-4221-BAEE-5AE56992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一个可用的工具描述必须暴露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1CD7B-C7FE-4EF9-8881-DFA9B93C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8FAE8-32CE-42CB-B39A-68F17209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用途与调用时机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9B2A4-5FEE-421C-9B80-1547D212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00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2D2A40-1470-4546-8F24-5049872F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00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输入字段和约束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ACE6F7-544D-4356-B191-71CB1865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483F">
              <a:alpha val="10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A0312-4534-4B81-AB56-4D12B2C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rPr>
              <a:t>影响范围与副作用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EB3E22-CF97-4798-BFD6-E2C32CED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03F0E0-3554-4B8A-BEF9-3AEA28DA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006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重试安全与常见错误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332053-FCD6-4ABD-84CF-726AAA9F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工具目录越大，路由、延迟加载和权限边界越重要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050312-5F00-4BBE-9D3F-9CB6DA80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64012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F49160-C79B-4C76-8481-DD3E47F5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32288-1F9C-4F04-AA66-35AF5CDA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PM 任务的端到端产物链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4BAF1-299E-4631-B202-5DDC4232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系统地图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36128-C844-4629-A8BE-1DC0B4F5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手机图库 AI 清理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F3CA4-A7F7-4871-B5E2-16C8A0A4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8B96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FBDAA-ADDE-4F2C-AC7A-AD6DD710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8CD16-6BBE-4465-A20F-8D1B35E5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988EE-6041-4DDE-9046-943B80DA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95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68043-EA64-4675-8BAE-97ADBDA8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D6F43-89B5-4BA0-BD7C-BA1BBD72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00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evidence_ledger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EACBE-A360-485B-A2F6-95D97E42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5D46B-ABA0-4ED9-B654-DFFF4323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95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62C3E-B21A-4AC8-85DD-280079F0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2D3D8-70A5-488B-8D01-DF62B3F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research_design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AA0BD-A819-4BDE-81EF-7497D09F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用研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CBDF0-874A-47B9-B3EB-A8C9461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95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E443F-9EB6-416B-9793-937BF566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0E4AC-D005-46D9-B8F2-7E1ABCB8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0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questionnaire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4299A-A7A1-447C-89A2-FF9171F8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问卷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C2F19-D4D0-4B40-B5A5-5E565A8B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955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04A43-FE1E-4FF7-A9DB-42DA6596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050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73F64-3A30-4C71-9E69-AD66A785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02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competitor_matrix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7068B-540C-4BCC-9B76-30B5AAFD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FE605-207E-4DAA-8584-53D3E337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A6655-0ECE-4969-8A97-227B16C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requirement_ledger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5AF7D-16D3-42FA-8F73-00A3D5D1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C6EA89-C446-473D-8D3E-9A1BAACC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24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DB3E3-2D90-4174-90DE-581B2BA7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F2F23-E4EB-455D-9243-48D98DC6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29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0E3D20-3E22-42BF-B021-F749B198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A234D-B103-457A-A81F-90EC4938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24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51D4C-9116-402A-A0E1-F11240DA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6AC72-6278-4859-96F8-2AE2082B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ux_contract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EC3F36-C684-4C73-AD7F-9AFC76CC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9A1E7-3C57-47AD-B4ED-AFEF1E86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8A491B-1CA6-4FF6-A2FE-E22909F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F5BC09-4074-4393-801A-5F41EA7E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29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prototype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53424E-3C45-4387-B89F-092F0A9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原型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C4FC5C-0FA2-4D71-B49B-1D5FC179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243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EFDA2C-456B-4435-94F5-8C100923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33800"/>
            <a:ext cx="1809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563FD-B966-4A56-8684-A9329136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29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review_report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97450D-BA89-44DC-B886-46D5DC4F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62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E9CC2D-1761-4125-B2EC-25887793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860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DA3B12-74A9-4CF9-8FDE-54689B15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528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CB51D2-C0B8-4DE0-A202-4646E00F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2D5AFF-B512-4A96-B9A6-8F7A4FE9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62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Owner Skill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10F7C7-FBD0-48EC-8F6A-3B95E2E6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9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F9E1F3-5EF1-4020-9B5D-6A91B8FC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62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稳定契约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589E7D-5404-4E6F-B3A7-FC365FEC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9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9C9819-70E9-4ACA-905A-44DDD432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62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证据引用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3081EA-A9C8-4123-B2DC-5E167CC8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9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E034A-CFCD-443A-8963-70190DDC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62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局部重跑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28889D-82D4-4338-9F02-5CFB9344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聊天记录只是交互界面；文件与 ID 才是跨步骤的系统状态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C41064-BAF2-4C57-9FF7-D77468B6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795005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9E1E41-1FFC-46DB-B797-E27EDDAE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2C6F0-EE05-4231-AC40-01A322C4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 包的工程结构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476E0-CC1D-4E81-97CF-6C170D7C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4B32D-92F4-4AAA-B34A-D2DB3A9F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pm-user-research/skills/ur-design-survey/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EFE3A-ACD0-474D-B3BD-DD21EE40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C0688-C97C-4584-86E3-B7CB09EF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SKILL.md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0EB63-99BE-49D5-B683-E02ED2C9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192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路由与契约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55DF6-D3AE-405A-AC38-AA4766B9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192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触发、排除、输入输出、判断流程、停止条件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A07AB-6191-4F2C-8146-0419273B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DCF4C-1FA6-4C05-A001-44E734EB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references/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B281B-ABE8-4982-8E6E-C5B2DB4A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241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专业判断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B81E0-0A4A-479C-820F-1D1255B6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241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研究方法、题目标准、逻辑清单、共享上下文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E788C-DDCB-47F9-9D98-49048B10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2C1C1-8FEA-44E9-A6B5-B3A89C9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templates/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0B776-F8DB-4F29-9CEC-726C000E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28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交付结构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DE333-EBDB-4121-9C21-7BED17BD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四类问卷场景、确认卡、HTML 与平台格式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F046F-9E64-4F95-8BA5-64FB4983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858FE-8C0A-40CD-A681-E78B3104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338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scripts/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DC077-4E50-4596-ADBD-B60A29A2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确定性检查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2B95A-313F-483B-9507-66009D21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338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字段、格式、题号、逻辑、文件一致性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74528-A41B-49B9-8876-5E95DCF7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8D65C3-ECBA-4A69-9497-71A8B4E6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tests/evals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20884F-BC6F-48C1-96AE-D46AD481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386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回归资产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CF20C2-88EC-475A-B59C-39CF1498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386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契约变更、示例质量、跨 Skill 协作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964FC-25F3-412A-9433-94D6008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63C994-75C3-43E9-8617-C472CC0F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模型判断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A34D22-A302-4177-AD1B-4B891117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24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研究目标、证据强弱、产品取舍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83A454-C385-4D94-9F94-3C5EFB8E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代码约束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AB733-CEDB-4606-BEFD-D27B3468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24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格式、字段、统计、路径与完整性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CEB6A-F449-4AB3-86C1-8BAEDEEC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59285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2EEECF-EA5E-4032-87A3-D2681CC9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7A0D1-812E-4C22-BA7F-465E9C53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当前仓库的能力成熟度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5408C-AC7E-4A83-B8BF-4F25BD28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现状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75E6E-A9A5-4B22-B723-D8F9B0AC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14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E7749-BC97-43D6-91F2-6FA21474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1445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F2685-91CD-44DF-A9A4-457BA64F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D0121-77E4-4ED3-ADFB-33607640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144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输入输出契约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F9DF5-9071-463B-A28B-B0C31BA6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65A2B-9FBC-49C3-B01C-EBF707CC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3144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D46C0-5A97-4BBD-8D36-19D571CC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D6146-ADEE-480E-A9E4-5B1C882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144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确定性脚本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262A0-47EB-49E0-83D9-09A0E43D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6391E-6C81-4450-ADDC-5D69AC01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144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9EDCD-A639-438C-A6AA-898BC2E9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1790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0A2F5-38E2-4A7D-AF91-A33D8CF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144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回归验证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F8EEA-8799-49FE-B484-9CDD7A3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用户研究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AA546-679C-4E4E-9396-1EEB0AC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E814C-304F-4707-A33B-519528F6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09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4A55C-1D4D-44AB-A112-A9C2A61B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BE7CE-E513-4ADD-8EC9-30319BD7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746FD-FDFC-4BB5-8C60-5886926C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DBB18-DCB1-4764-ACAE-D7CFE561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3FBE6-6B17-48A5-A476-77A00A2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4245A-C55E-4E66-BFA0-2952BEF6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31C3A-FABC-440B-B533-5B351259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CED28-937C-4BA4-B55A-A70070CF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097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有，当前失败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36157-18A6-44C5-8EFE-3132DAD9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30D5C-1FA1-4B4D-ADEA-057E4C97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4587A8-D68D-4FD7-B5B4-88C60179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3B42DE-E5BD-4C33-B36E-7F93BD60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竞品矩阵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E54576-01C0-4DD2-A325-34194D6B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2D4822-1954-40C5-80CD-19A01761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955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CA36FB-90A6-41BC-AA55-306209EB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926094-F4DA-4F51-A8D4-50181C18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E8F7B7-7DCD-4867-9649-566F955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26D181-FC4D-46AC-A3E9-D39053F9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955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2031CB-B479-4564-996C-06EF1B68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3B7C5C-E398-4B64-BB92-68C9299D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DFE540-11D6-4A44-96F3-76DC89A5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73B6D3-A455-4AE3-BA58-1808940A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C3ADDB-6C13-4FAA-B7C1-EF4D0BAE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7F307A-899B-4AFD-88B9-5EF70BB5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单 Skill 编排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8CFF36-399F-4714-8978-4AD79576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4740DC-8EF5-4363-BF76-1A8A005E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955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0B6B35-31D4-42F1-871A-831A3732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955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缺系统回归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0604A6-A9A5-4B7B-8FBE-5B5BB53A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174914-B8D7-499B-8A13-1347DE7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570806-4843-41AF-9987-FEB72543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新品洞察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B4654D-E459-4D0B-BE73-F2939E2C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FFB5AD-3616-42C1-850C-4AFB07D8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813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15DE36-86E5-449D-A4AE-BC59E36B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4B39F9-C1C6-4A39-B259-90B83119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78CC28-E2EC-4364-8198-2E3D0607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06AB11-0931-4F5C-A84E-0FA78DA1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768275-50F5-42E0-B046-B7DFA047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33AA69-7D66-42D4-99DD-8B809A6D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3708EA-202D-4D96-B58D-9F4FC2B5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4F7E3A-3B33-460C-8168-A340A955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813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局部验证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167A0B1-B860-4EFD-9140-D05DE871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10D436E-9D27-44E7-A40E-BF84117B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0B2268-AF1F-485A-AE5A-5F7CAD63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747F4C-DD57-45A9-96AD-FFA825A3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产品文案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E85628B-B1A1-4444-8DE0-34BD8D3D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46BFC9-39B3-4590-B85C-48480B48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671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251F69-3BE8-443B-ADF3-85A68CF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671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FADF4A-4974-4E52-B270-7C3C2E12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106490-9064-4293-B793-A3AEB695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3CB839-9454-4F00-BF94-58A67AD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671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0C8099-BC6D-4A7A-AC4F-53349DFB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870CFF-110E-4E35-8837-1A78F1DD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671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E9B429-A67C-4F99-BBB1-ED1B09A9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8AEBE7-F175-4B47-AD46-C1B4E204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49E7C3-CFDB-4112-A0F8-525E0D2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D53E87-4579-4687-8F2A-387B64D3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1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2D4EC1-F702-4EAF-BD5E-6B524E3C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86D0308-E617-44CA-B2AB-13E4943B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67150"/>
            <a:ext cx="1790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B37FF1-4EE4-412E-91FB-66082AB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671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局部验证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60D57A-64A8-4460-B5C8-F13D5A87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11A26F-E8FC-4DA6-BB6E-044ABFCC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19ECED-11DE-421A-B7D4-94A075EF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94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PRD / 原型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6AEA95-C452-4510-A805-9E10FD55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41110D-76E8-4C59-96A5-B164E21A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529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B2E747-0FFD-4366-8BDF-0A373BB3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0BD515-341F-4E8A-9B64-165CA1AE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D17456-8C4A-4B48-80BE-B04AE2A7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D63FE9-5E23-41F4-87D8-E12FAA58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3F04631-F5EE-4544-828E-E923A663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AD4C4E9-6F00-4B5E-8AAE-D888BF2E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2950"/>
            <a:ext cx="152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F47A23C-3FD4-471E-9C5C-43D15775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6C51D73-737B-453E-A4BB-EC10340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5295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尚未形成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2ED59B-811B-4802-B273-42E8EA04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144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9C29071-F725-415A-AE0A-251A6251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5528482-B472-493E-BBEF-55D19D38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1059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有文件不等于团队可以依赖；成熟度取决于契约、验证和失败恢复是否一起成立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87CB37-90F3-4197-8B5A-7D4F842F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85829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5472D1-7698-49E4-90CB-4B7D3E1D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F8234-0074-48BE-922B-D77AA1C6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用研 Skill：先编码决策，再生成题目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F7A4B-98E0-48D1-9979-A5582B2F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ur-design-survey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99AD2-01BD-42D2-83AF-44F2BCDA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503DB-0C04-49C3-8838-4089D07E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F1BD0-C93F-490D-843E-67DAC22B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287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确认研究方向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5F631-6C23-458C-8B3F-E563EEEE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287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课题、目标、四选一场景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D0765-4BFF-4132-A90E-93F194BB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9240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01681-F7D2-46B7-95D0-34F75328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52115-B221-4FA0-AA65-E1D11112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3C552-ACCC-42BB-A39E-7F15356E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目标与证据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92894-DDB1-432B-9B2A-B8205686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需要判断什么；什么证据支持决策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4CF5B-120B-4158-847D-780498BC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384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2FBDF-5ACD-4E53-9245-74E35704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E7320-5D8A-4682-A9C1-A12009DE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BC10B-02BE-4EF5-BBFB-17676163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模块与分支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20F24-22BC-47E5-8859-B6783E71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575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谁回答什么；先测行为还是概念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F312C-6B6B-485B-A3C6-FC2C0313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528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49008-2D10-40F5-9AC6-84DC532C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89B6A-9CFD-4019-8DC1-96F1EEA1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13DEC-5790-4382-BDDC-B4582DA3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题目与平台逻辑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891C8-65F2-433F-81AE-D79885D2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题干、选项、跳转、导入格式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C6F320-1FD0-42A3-B777-2B2F5334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591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95D2E-1BCC-4EF2-A4B0-0CBB2162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硬规则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10640-21CB-47E8-9A0E-A55B0D33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57800"/>
            <a:ext cx="878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概念后置；未用用户不评价体验；每道题必须能说明如何进入分析和影响产品决策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DFB03-C300-4259-B0A4-7080B81E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851184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3CFBA-0B50-4A7A-83ED-F5D355A7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0D4BE-C7AF-4B91-B851-9FC7BF1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真实问卷：12 道题背后的证据链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91DF-7DB9-41DE-ACB0-82C86696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用研案例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FDB54-7E55-4670-B889-5585E969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969C"/>
                </a:solidFill>
                <a:latin typeface="Microsoft YaHei"/>
                <a:ea typeface="Microsoft YaHei"/>
                <a:cs typeface="Microsoft YaHei"/>
              </a:rPr>
              <a:t>Q1–Q3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66DA0-7444-4715-81B5-EAAE4E20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764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96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F91B6-8B29-4B58-9FC2-BC0E6E18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716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分组变量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72695-93EE-4C99-AAC6-9649B650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716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性别、年龄、手机品牌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用于切片，不直接证明需求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B8414-B033-449D-A20D-2E17AD68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Q4–Q6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5CFB8-DB24-48D9-B65F-57D011F9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14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1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BCAC0-ECFD-4DA9-9D37-6C018CB0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行为基础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32013-E601-41EE-A372-0207AB0B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098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使用状态、近期频率、最近一次任务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证明对象真实存在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E5078-C94C-449D-97A7-B773F2AA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Q7–Q8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6D973-A35C-497D-B62F-44BAB7BE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528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48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14521-AAA3-4777-831B-560F8C49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问题价值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19EDE-48EE-4D83-BE03-752F33A6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亲历问题与实际后果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避免只问‘想不想要’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B73B7-26F0-4BD0-AA03-B69779F1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Q9–Q12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AD650-C74C-4FB5-890C-A9BFBE47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910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7B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C12EA-815B-4674-81A9-10B7787A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862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优先级决策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4DEDA-BE8D-484C-8869-98FAA13D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862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需求范围、强制 Top 1、选择原因、触发场景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CD5CE-9A47-404C-9262-4CA110F2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6667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4564C-C584-425C-A492-3AC5FE19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逻辑门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82B38-D675-482F-B120-32558C2D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5105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Q4 控制经历题；Q9 的‘目前不需要’阻断后续取舍；Q10 只显示 Q9 已选项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EBC867-52A7-4EC1-8DCA-2C5B294F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7750"/>
            <a:ext cx="3619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3E718D">
              <a:alpha val="12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3FEB7-87B3-4A08-9EBC-F464E9D4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Lint 实跑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26D6A-CA58-4EF4-B814-7C948D3D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149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12 题  /  0 个结构风险信号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337E4-187E-4E37-9EA8-271189F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067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结构通过 ≠ 研究有效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23E4D-62BB-429A-B7F3-A775809D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6517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62BE14-76AC-4F96-B69A-2B7C7581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4C3DC-429F-42B0-B006-38262248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Synthetic Survey：文件状态机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E9F37-D9E6-4082-B0E8-8244F767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A7612-330E-46C3-933A-6A81164D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Skill 之间只传文件路径，不传上一步的对话内容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3B8C3-8FA7-44B9-B513-6641F2CF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2000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3181D">
              <a:alpha val="13000"/>
            </a:srgbClr>
          </a:solidFill>
          <a:ln xmlns:a="http://schemas.openxmlformats.org/drawingml/2006/main" w="9525">
            <a:solidFill>
              <a:srgbClr val="1318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40793-C0F8-417A-8314-4DC07740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shared_context.md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7A2B0-BED2-4F4F-8703-2E518F2C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任务与受众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0BBEE-21A5-4042-8B35-25D306C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431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CC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15C18-DD86-438A-9C56-B875D221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000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3E718D">
              <a:alpha val="13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563EF-18CF-44F9-805C-A075A0A2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47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questionnaire.md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DCE2A-C357-4F28-A3EA-CBBF35F7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问卷权威来源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446C7-E8AD-45EA-A80C-0C05188F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CC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72B93-AFEC-42F7-8288-3B28527E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2000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4E7B68">
              <a:alpha val="13000"/>
            </a:srgbClr>
          </a:solidFill>
          <a:ln xmlns:a="http://schemas.openxmlformats.org/drawingml/2006/main" w="9525">
            <a:solidFill>
              <a:srgbClr val="4E7B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29360-9081-4E39-A3E9-80DC8FC5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47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personas.json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3A947-A4AC-4E2E-8083-773B7BF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审计后画像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9EB2B-7967-482A-B91B-909EF70B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431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CC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51D62-3A2E-48A1-912E-3BCC61C5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2000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5483F">
              <a:alpha val="13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8F9BA-FE3D-4102-84CB-226DE364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47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responses_&lt;run_id&gt;.xlsx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F3D00-7487-4172-A587-9A39B24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选定回答批次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90A7E-F5C3-4257-BE0C-9CA09058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431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2CC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5D884-1E48-4D31-A09D-F368D060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752600"/>
            <a:ext cx="13716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B78136">
              <a:alpha val="13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F102B-A6C7-4C13-9A75-E855C8DE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47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report_&lt;run_id&gt;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5A2C3-8D63-46D5-90B9-A96B4BF9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对应批次报告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ADE63-65D5-427A-B241-19A0D96A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795DE-96DA-45DC-BC47-31323B44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隔离边界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7B211-E895-40A6-9C25-9F37CD5F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5B890D-CF22-4E87-8E49-7891D20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画像不读取问卷和研究假设，避免把期待结论写进人设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57563-636F-4CA9-A37D-A230D263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C0DBA5-F740-4BF8-A0F5-6BE1DF06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每个画像在独立上下文中作答，避免角色之间互相污染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174A4-E0F2-4DBC-AC41-7230EC9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03301-4AF5-4431-B5D3-7F92118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报告只读取问卷、设计文档和显式选择的回答批次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6F73D-D2F0-456B-BCB3-43B41AE1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39E861-E21A-408E-B660-363DA0CB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返工传播：问卷变化重跑模拟和报告；画像变化重跑画像之后；报告失败无需重做问卷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3BEAA4-D08F-4D06-8FCF-80B972FD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625356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FBDB4-2F21-4EEF-9068-B03C15C0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C8895-3D12-4DC0-8FB1-1FDC0029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测试暴露了真实的契约漂移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A98EF-AE34-4102-8121-76D45B2F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43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  <a:cs typeface="Microsoft YaHei"/>
              </a:rPr>
              <a:t>Harness 实跑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A3617-8D61-4B0B-BD2B-09F1F2C8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1C362-AA5B-4519-B5D6-F296BB5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58000"/>
                  </a:srgbClr>
                </a:solidFill>
                <a:latin typeface="Microsoft YaHei"/>
                <a:ea typeface="Microsoft YaHei"/>
                <a:cs typeface="Microsoft YaHei"/>
              </a:rPr>
              <a:t>项测试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4A1C4-CDF9-470B-91A0-922EAE65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7239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CF0BB-784E-4A75-A20E-0A5BA256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7148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1B8FE-A3DC-4AE2-AFB5-FD5BC978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305050"/>
            <a:ext cx="252412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7A4E8-A8F6-45FA-B939-BAAB0B6A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28 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B7128-5500-4834-91AA-E0A6C027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2305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A216E-E060-4AE0-80DB-B6B2D48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0150"/>
            <a:ext cx="2857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E1021-29D0-49A8-A178-2041D9C9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716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失败集中位置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A3414-B396-4E52-BE71-0252BA57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画像生成器 CLI 契约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Windows 中文输出编码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53844-8856-4E4F-B58F-EFCD2CDA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7DE7B-4C26-4012-A41A-0C3BEE26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测试仍要求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BFD25-446C-4B1B-80B9-B66D2E7C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5280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--sample-size     --seed     --group-quota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87F3D-90DD-4C30-9D3E-ADF83A38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当前脚本不再接受这些参数，文档、脚本和测试已经独立演化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4F882-E203-4DA2-85FF-9F6CDB02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5483F">
              <a:alpha val="14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C96F51-3789-48AD-B079-6C791661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工程结论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935A1-1E9F-4436-BED9-FD7AE442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 文档看起来完整，不代表 Workflow 仍可运行。Harness 应让契约漂移在下游启动前变成明确失败。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7AA9D-AFEB-4448-8645-DEDF03E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当前能力仍在工程化过程中；测试结果用于确定修复优先级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84316E-E5D7-491E-9FBE-F6AD6164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620411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F25C22-FECE-4ECB-9618-DF03FC92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C9657-529E-4AD4-9AFF-38901FC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竞品矩阵：先建立证据对象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7F520-7B3B-400F-8055-F8F3F0B5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A6777-6282-452C-9E1E-8D43D979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52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F2B9E-B831-46C7-8222-84FFF590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71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369C8-ABE7-4E02-A8BC-37C3F70B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FeatureSchema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B0E49-0EA5-4D98-BFFF-822877EE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User Task / Module / Feature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类型与期望值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5EBEF-3F51-45DA-A718-F918F926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ED16-E89F-4C6D-B536-A731E7D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52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B6A32-F9B4-41B5-BD48-C2CC55F5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335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48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0444D-5BE8-4AD3-955B-746D6BA7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ResearchUnit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17683-ABEF-431C-8AD9-449E260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Competitor × Feature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版本、地区、优先级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FB6E4-1050-47CC-81D7-5369028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A1CEA-0810-4D41-BCA8-92DC107B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CCC21-1E35-4786-93DB-6EE622A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E7B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AE30C-66AC-4B58-97DF-3B369111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EvidenceRecord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18AC7-7199-4BA0-B72A-3FACC83F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Claim、支持方向、来源等级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事实、截图、置信度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C0E73-0A19-4179-87B7-3F3F689D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02E55-D099-45CD-B17D-258C3C5A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52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FD136-C827-4FAD-9F19-5145F5C2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335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813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4FBAD-38CE-44F5-BD09-3A17EEFE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AD34E-08AE-4587-81A7-7E1476B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Feature 状态、产品定位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方向与人工确认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A876D-7EDD-4BBE-9663-E3DC3430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0591800" cy="156210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7D7F1-20A5-4257-98AB-B35EE0D9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EvidenceRecord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34A3B0-48BA-47DF-8202-52D271F3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ECA57-AD25-4290-A8CD-D14E998A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support_direction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F45B5-05AD-4144-A525-15B69D07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source_tier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DF4C6-CFB4-4EE1-8D74-6BC5845C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version / region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978D7D-7027-4B39-9D49-A9580024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939FBA-F8B4-41EE-B41C-6B554911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manual_confirmation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418516-9A20-4E56-91ED-11F895AB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1002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04649-E6CB-48DB-A22A-535C90C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1002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先记录 Claim 与证据，再判断 Feature 状态；最后才抽象定位和产品方向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DE04EC-6792-4942-ACCF-8FC130ED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rPr>
              <a:t>品牌印象不能直接跳到战略建议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E4BB8F-54C1-4AB1-B9BF-BC1447DD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47027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283A24-BEEC-43F1-A364-FFEF75DA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2A0E-3666-41DC-8EBA-826B920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Research Unit 的查询与停止条件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012E3-444C-4554-A419-374E42AD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F7928-372E-496E-BD50-EEF9820B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05918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C050E-ABE6-4AF2-AAB3-2C76B3BF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573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示例单元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3AA3E-4CD4-4059-A13B-65F5509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2573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Apple Photos × 是否支持按未同步状态筛选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3539-BDB7-4D7A-BACC-BB22B81B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查询集合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0CC5E-9614-4948-AEAA-938F7B3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9A6C1-5BB9-47D7-AF9F-65575BE9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官方术语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88ACA-D3A8-41ED-8A57-A066D081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2B901-1D87-4963-86E9-D6D21CE5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用户任务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CCFB3-88DF-472A-85D4-027735E2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E248A-1CDC-473F-8036-B5FCA49B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同义机制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E89E9-BA72-4756-B575-EF9764DB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8F63F-A8A4-4F35-8B45-27CD6C15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界面证据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F00FA-F243-418F-9A5E-8FCB0ABB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483F">
              <a:alpha val="10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3E627-7FE0-48D7-87DF-1243A271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9342E"/>
                </a:solidFill>
                <a:latin typeface="Microsoft YaHei"/>
                <a:ea typeface="Microsoft YaHei"/>
                <a:cs typeface="Microsoft YaHei"/>
              </a:rPr>
              <a:t>反向验证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4584F-8D91-4C1C-8704-35052410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5100"/>
            <a:ext cx="14668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E718D">
              <a:alpha val="9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06030-A3C6-44FA-8FD1-D289992B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版本 / 地区冲突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E3138-CA2F-4BBE-AF5B-A1CA3156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1241E-B020-423E-B3A2-9663D2E7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停止与状态规则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74F0D-1028-41F5-964F-AED183B7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27A04-A878-436F-9E53-51083123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Tier 1 当前版本直接证明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A150F-4065-40FC-9984-81DBBAE7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高置信判断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C4BD98-2D26-41B5-A23D-2DF759BB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2CE3BC-F916-4924-B8EA-81A2B4FF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两个独立 Tier 2/3 一致且无反证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E3E83-6D6E-4EFD-815E-A003446B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停止检索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ABDC8-9CBF-4002-AC52-EA4E96FE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3FD611-5B67-4788-8967-75865210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只得到搜索失败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4FFE3E-F824-4B96-9B6E-6B10C56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62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未知；不能写不支持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793A0-A697-4336-B68A-BDDB06A0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8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7B1D50-5E37-4AC5-98E2-590CECF0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626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达到最大 Pass 或冲突仍未解决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8F6D2-C821-42A9-8175-E5538267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62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未知 / 冲突 + 请人工确认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2188FA-D1A4-4940-A11F-9F265DD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本页只演示研究过程，不预设 Apple 的真实支持状态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18B71D-6B54-405D-A59E-65FBA947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844671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18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E9FEA-D408-490F-8DEF-610D9E35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F48EF-EC4E-4F49-BA18-69881449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PRD 与原型：用追溯关系连接证据和界面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2C859-F41F-492C-BB34-CE0888E2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23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0647A-04C3-4207-B7A3-48A228C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23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BE5C1-F440-4F22-B2C1-21FED95B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1445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78FF9-FFF6-4197-BD13-4AA17EE7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requirement_ledger.yaml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694A6-061E-4829-9405-4B99B382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286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id: REQ-001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evidence_refs: [UR-Q7, COMP-EV-023]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problem: 用户担心 AI 清理误删原图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scenario: 存储空间不足时批量清理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requirement: 删除前显示可恢复范围与保留期限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acceptance: 支持预览、撤销和恢复状态说明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B5D93-E82C-4EB8-8C18-31298033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02B35-EF15-49CE-9F01-7266F8E8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906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pm-write-prd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55DB3-3C25-49C8-9503-5242753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90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范围、场景、状态、验收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756B4-15BB-490D-A44F-399C4BFA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05CD2-2ED5-41ED-A061-3AA12805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4C266-D351-4E80-AF38-EF65BA9A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pm-prototype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F3DA2-9AAA-4575-8E2D-52A9EAE6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页面、跳转、状态、文案契约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D203E-334E-4554-9162-AC9F8F17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ED531-D4AD-40CD-8DCC-B567A96D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06E8D-D765-4B04-A5FC-9C99CD6A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E7B68"/>
                </a:solidFill>
                <a:latin typeface="Microsoft YaHei"/>
                <a:ea typeface="Microsoft YaHei"/>
                <a:cs typeface="Microsoft YaHei"/>
              </a:rPr>
              <a:t>pm-design-review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CA321-2E0E-4326-A42B-41A7DAB6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需求覆盖、异常状态、一致性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74584-36E0-4E9F-9F07-54CC3B28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1625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0B257">
              <a:alpha val="10000"/>
            </a:srgbClr>
          </a:solidFill>
          <a:ln xmlns:a="http://schemas.openxmlformats.org/drawingml/2006/main" w="9525">
            <a:solidFill>
              <a:srgbClr val="B781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F3F9E-F839-43B4-8EB2-7D8AAC30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78136"/>
                </a:solidFill>
                <a:latin typeface="Microsoft YaHei"/>
                <a:ea typeface="Microsoft YaHei"/>
                <a:cs typeface="Microsoft YaHei"/>
              </a:rPr>
              <a:t>状态覆盖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D5228-6016-4584-A2BF-521B9DF7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72000"/>
            <a:ext cx="329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空 / 加载 / 失败 / 权限拒绝 / 离线 / 处理中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部分成功 / 撤销 / 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7984E-469E-42B6-BC13-2D1F5553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每个需求必须同时找到证据来源、PRD 条目、界面落点和验收项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59606-7BB9-4AEE-BA17-BCFB1EF1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336841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1A9C52-0F2C-4123-AE1E-01DFEEF9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EB1BE-029B-4341-8239-E425F95E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Skill 开发：从失败样本到回归资产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8002C-331C-4D1E-8942-BC267159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开发方法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044A8-2839-49BB-893E-80A3EFD3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48BD6-0029-41C8-947F-68E2CFFC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35A3F-BE51-4AF6-A2A8-A5D0E3AC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选任务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BDF98-B6B0-4B7B-B898-0F8653D1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高频、边界清楚、可验收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7F5B2-A006-4540-9F83-0080A1D8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4E6E9-DA58-4404-AE14-A670021C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7936C-325F-4764-960B-C5FF510D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28E9B-5CC3-4368-84D1-60DBBE43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收失败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7306B-FD4C-45A9-8C2C-3736D592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至少 3 个真实案例与返工原因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CE956-F0C2-48B3-833B-8050BD6D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C09BB-6547-4BD4-BCE6-8425A776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B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BB212-25DF-46EE-BDCF-7DDF83BF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642AD-C1AB-4F6F-B9B3-BA74B9BA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定契约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DF5A7-1FF9-40DB-86E4-6DCC4281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触发、排除、输入输出、确认与停止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6D4754-C0C7-4231-BA1C-72926DA3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2377D-A0B8-4316-B7B0-6FED97EC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13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3DA82-268A-4EFB-83E2-B7687A03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AFDD6-6F75-4056-9420-857188D0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拆资源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D3BFC-236F-4A96-81B3-C3C1659A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判断写 Reference，确定性写 Script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10DC4-238D-4B71-B52A-C0242BE9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FAD82-8ADC-4113-A59B-C3286867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18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970BF-0A32-4356-A337-9D446809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A1EABA-8369-4EA2-8914-E9E2F395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最小试跑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9BC60-FC54-42F9-A6F7-C59828DE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先闭环，再扩模板和平台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16968-0CF9-40C5-B300-772AFCC1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A75A7-51FF-4FF7-8E11-DAAED724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F85CD9-EE33-44E1-96E8-34CFF2B9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25FF5F-F5D0-4294-A3B7-43F9A02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做回归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F32790-680B-40BB-8974-3A966C6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把每次返工转成 test 或 eval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2C441-D82C-4B69-B0A1-9E88FB3A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28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CC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B29A8C-BE8D-4EA6-9702-0C5DE7A4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34875B-2576-4D81-A8B1-FA47A8ED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459035-00D1-45B5-AD88-EBA45520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81200"/>
            <a:ext cx="135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版本化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9BEB70-12D6-44A4-8E62-C4CE4CC8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35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记录上下游契约和迁移影响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A9C4FB-E494-4620-BCB1-4A35D578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C0CCD5-DEC1-4B73-9D72-8C4B493A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49530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3E718D">
              <a:alpha val="10000"/>
            </a:srgbClr>
          </a:solidFill>
          <a:ln xmlns:a="http://schemas.openxmlformats.org/drawingml/2006/main" w="9525">
            <a:solidFill>
              <a:srgbClr val="3E718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AFF319-3ABB-4625-8FB7-D083A5E5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做 Skill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AA50EE-76D3-495F-99AC-BD8BB534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跨任务复用，并且可以独立验收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28438D-CB19-4162-B7C3-6F4E55EA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5483F">
              <a:alpha val="9000"/>
            </a:srgbClr>
          </a:solidFill>
          <a:ln xmlns:a="http://schemas.openxmlformats.org/drawingml/2006/main" w="9525">
            <a:solidFill>
              <a:srgbClr val="E5483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A2C64B-E6F9-4990-854C-C53490FB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做 Workflow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CDF75D-72BD-442B-8F77-1852C983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434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需要管理多个 Skill 的依赖、状态、人工门禁和局部重跑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3CF26E-567B-4FFC-BCE5-A86F6284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4F65"/>
                </a:solidFill>
                <a:latin typeface="Microsoft YaHei"/>
                <a:ea typeface="Microsoft YaHei"/>
                <a:cs typeface="Microsoft YaHei"/>
              </a:rPr>
              <a:t>团队真正复用的是失败处理和验收标准，不是某一句提示词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649171-660E-4B9D-9873-100A25E0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65584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CA5098-E64E-47E4-9597-0C3F44C8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5B465-94C7-4C5F-ACBD-E5A8073D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团队落地：管理能力，而不是管理提示词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94A78-6A7E-4917-B61C-BCDA3B9E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2BB2A-710A-4E6D-B58F-88CBC28D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Skill Registry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E8C54-1650-4D15-B145-03636F0A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54EB8-99CC-4FC3-A622-DA8FF075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Owner / 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02716-9B39-4F06-8B2C-F0BF735F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EA834-6897-4F9D-AEC3-23FC6406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适用与排除边界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6B180-AC80-485A-B66E-89AA60FA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4935E-ABB5-47BC-8D5B-DDF5FBD9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输入输出与依赖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971E8-E480-41CA-AEBB-8CEE5332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8171E-C5FD-4F20-AB00-CBC872A6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最近 Eval 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742C2-5C97-42C5-927A-E93882AA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4BBC7-35DC-4079-92FF-2B65F35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481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已知限制与升级影响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93CBC-C3D1-4185-93C5-2088189E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954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CC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6E7A5-781B-4026-8E15-79958ABE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333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试点看什么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D4838-9A6A-4FC6-B698-6897CCA6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24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11099-97CA-4BEB-9E1F-F22FB539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首轮交付可接受率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CC6C4-C671-4460-AC2D-6B257BD2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193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DBD1A-CF72-4C58-AB44-E20A61F2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证据覆盖与人工确认项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F6ACC-216D-43F5-A056-67AEC00A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146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2B24C-645B-4C64-A366-A18B4150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关键校验通过率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532B2-6D12-4BB3-B7C0-C1E7F632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0B359-606A-475A-A4DB-29856435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人工返工时间与原因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CB34D-3381-4457-BF40-8DEEE8C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052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E718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AE7ED3-2D9E-4203-A7F4-E70BBF23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181D"/>
                </a:solidFill>
                <a:latin typeface="Microsoft YaHei"/>
                <a:ea typeface="Microsoft YaHei"/>
                <a:cs typeface="Microsoft YaHei"/>
              </a:rPr>
              <a:t>版本升级后的回归情况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51435-B57A-4935-AE35-4DA4270B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0591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81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03CE4-1D10-404D-8A31-AA0814AB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33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5483F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3C436-E0FF-4862-88E8-383A9AF8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29200"/>
            <a:ext cx="8305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团队中哪一个高频任务，最值得先做成有契约、有证据、有验证的 Skill？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0AB855-BB1A-463D-9CBD-51B26A07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17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79144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2026-09-14T05:06:30.6460000Z</dcterms:created>
  <dcterms:modified xsi:type="dcterms:W3CDTF">2026-09-14T05:06:30.6460000Z</dcterms:modified>
</coreProperties>
</file>