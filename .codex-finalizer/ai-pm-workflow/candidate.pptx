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44bff056246e1" /><Relationship Type="http://schemas.openxmlformats.org/officeDocument/2006/relationships/extended-properties" Target="/docProps/app.xml" Id="Rdf7a26b38a4e4c82" /><Relationship Type="http://schemas.openxmlformats.org/officeDocument/2006/relationships/officeDocument" Target="/ppt/presentation.xml" Id="Rda569c975b12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185c96c454172"/>
  </p:sldMasterIdLst>
  <p:notesMasterIdLst>
    <p:notesMasterId xmlns:r="http://schemas.openxmlformats.org/officeDocument/2006/relationships" r:id="R0c73450de4f84c75"/>
  </p:notesMasterIdLst>
  <p:sldIdLst>
    <p:sldId xmlns:r="http://schemas.openxmlformats.org/officeDocument/2006/relationships" id="256" r:id="Rdac6dc0e4f9a4af0"/>
    <p:sldId xmlns:r="http://schemas.openxmlformats.org/officeDocument/2006/relationships" id="257" r:id="R4f2abe6afdf146f9"/>
    <p:sldId xmlns:r="http://schemas.openxmlformats.org/officeDocument/2006/relationships" id="258" r:id="Ra76fb7d621f54c02"/>
    <p:sldId xmlns:r="http://schemas.openxmlformats.org/officeDocument/2006/relationships" id="259" r:id="R191242f0bcda4e83"/>
    <p:sldId xmlns:r="http://schemas.openxmlformats.org/officeDocument/2006/relationships" id="260" r:id="Rd82ec981602f4b1b"/>
    <p:sldId xmlns:r="http://schemas.openxmlformats.org/officeDocument/2006/relationships" id="261" r:id="Rba98d9fd821740c5"/>
    <p:sldId xmlns:r="http://schemas.openxmlformats.org/officeDocument/2006/relationships" id="262" r:id="Rc461b4052fde40f5"/>
    <p:sldId xmlns:r="http://schemas.openxmlformats.org/officeDocument/2006/relationships" id="263" r:id="Rcb5ff09b55a04a50"/>
    <p:sldId xmlns:r="http://schemas.openxmlformats.org/officeDocument/2006/relationships" id="264" r:id="R6403a43ead4c41d3"/>
    <p:sldId xmlns:r="http://schemas.openxmlformats.org/officeDocument/2006/relationships" id="265" r:id="Rc33e535f50df43ae"/>
    <p:sldId xmlns:r="http://schemas.openxmlformats.org/officeDocument/2006/relationships" id="266" r:id="R8934b8d1f5754d99"/>
    <p:sldId xmlns:r="http://schemas.openxmlformats.org/officeDocument/2006/relationships" id="267" r:id="R3695f2cdee0b4e0f"/>
    <p:sldId xmlns:r="http://schemas.openxmlformats.org/officeDocument/2006/relationships" id="268" r:id="Rcf9f800782914ced"/>
    <p:sldId xmlns:r="http://schemas.openxmlformats.org/officeDocument/2006/relationships" id="269" r:id="Rd0d881b1107e4090"/>
    <p:sldId xmlns:r="http://schemas.openxmlformats.org/officeDocument/2006/relationships" id="270" r:id="R18b970d3e9da4b91"/>
    <p:sldId xmlns:r="http://schemas.openxmlformats.org/officeDocument/2006/relationships" id="271" r:id="R8db2655211fa4250"/>
    <p:sldId xmlns:r="http://schemas.openxmlformats.org/officeDocument/2006/relationships" id="272" r:id="R55be6b59abad4ef5"/>
    <p:sldId xmlns:r="http://schemas.openxmlformats.org/officeDocument/2006/relationships" id="273" r:id="R933246aece93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4064eebe34c95" /><Relationship Type="http://schemas.openxmlformats.org/officeDocument/2006/relationships/slideMaster" Target="/ppt/slideMasters/slideMaster1.xml" Id="Rfa7185c96c454172" /><Relationship Type="http://schemas.openxmlformats.org/officeDocument/2006/relationships/notesMaster" Target="/ppt/notesMasters/notesMaster1.xml" Id="R0c73450de4f84c75" /><Relationship Type="http://schemas.openxmlformats.org/officeDocument/2006/relationships/presProps" Target="/ppt/presProps.xml" Id="R470ef2aa08f94a32" /><Relationship Type="http://schemas.openxmlformats.org/officeDocument/2006/relationships/tableStyles" Target="/ppt/tableStyles.xml" Id="R76a54e1abbaf4c12" /><Relationship Type="http://schemas.openxmlformats.org/officeDocument/2006/relationships/slide" Target="/ppt/slides/slide1.xml" Id="Rdac6dc0e4f9a4af0" /><Relationship Type="http://schemas.openxmlformats.org/officeDocument/2006/relationships/slide" Target="/ppt/slides/slide2.xml" Id="R4f2abe6afdf146f9" /><Relationship Type="http://schemas.openxmlformats.org/officeDocument/2006/relationships/slide" Target="/ppt/slides/slide3.xml" Id="Ra76fb7d621f54c02" /><Relationship Type="http://schemas.openxmlformats.org/officeDocument/2006/relationships/slide" Target="/ppt/slides/slide4.xml" Id="R191242f0bcda4e83" /><Relationship Type="http://schemas.openxmlformats.org/officeDocument/2006/relationships/slide" Target="/ppt/slides/slide5.xml" Id="Rd82ec981602f4b1b" /><Relationship Type="http://schemas.openxmlformats.org/officeDocument/2006/relationships/slide" Target="/ppt/slides/slide6.xml" Id="Rba98d9fd821740c5" /><Relationship Type="http://schemas.openxmlformats.org/officeDocument/2006/relationships/slide" Target="/ppt/slides/slide7.xml" Id="Rc461b4052fde40f5" /><Relationship Type="http://schemas.openxmlformats.org/officeDocument/2006/relationships/slide" Target="/ppt/slides/slide8.xml" Id="Rcb5ff09b55a04a50" /><Relationship Type="http://schemas.openxmlformats.org/officeDocument/2006/relationships/slide" Target="/ppt/slides/slide9.xml" Id="R6403a43ead4c41d3" /><Relationship Type="http://schemas.openxmlformats.org/officeDocument/2006/relationships/slide" Target="/ppt/slides/slide10.xml" Id="Rc33e535f50df43ae" /><Relationship Type="http://schemas.openxmlformats.org/officeDocument/2006/relationships/slide" Target="/ppt/slides/slide11.xml" Id="R8934b8d1f5754d99" /><Relationship Type="http://schemas.openxmlformats.org/officeDocument/2006/relationships/slide" Target="/ppt/slides/slide12.xml" Id="R3695f2cdee0b4e0f" /><Relationship Type="http://schemas.openxmlformats.org/officeDocument/2006/relationships/slide" Target="/ppt/slides/slide13.xml" Id="Rcf9f800782914ced" /><Relationship Type="http://schemas.openxmlformats.org/officeDocument/2006/relationships/slide" Target="/ppt/slides/slide14.xml" Id="Rd0d881b1107e4090" /><Relationship Type="http://schemas.openxmlformats.org/officeDocument/2006/relationships/slide" Target="/ppt/slides/slide15.xml" Id="R18b970d3e9da4b91" /><Relationship Type="http://schemas.openxmlformats.org/officeDocument/2006/relationships/slide" Target="/ppt/slides/slide16.xml" Id="R8db2655211fa4250" /><Relationship Type="http://schemas.openxmlformats.org/officeDocument/2006/relationships/slide" Target="/ppt/slides/slide17.xml" Id="R55be6b59abad4ef5" /><Relationship Type="http://schemas.openxmlformats.org/officeDocument/2006/relationships/slide" Target="/ppt/slides/slide18.xml" Id="R933246aece93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e874a71abb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a2fa9a22b442c" /><Relationship Type="http://schemas.openxmlformats.org/officeDocument/2006/relationships/notesMaster" Target="/ppt/notesMasters/notesMaster1.xml" Id="R8cd175005e10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cb462a9372480c" /><Relationship Type="http://schemas.openxmlformats.org/officeDocument/2006/relationships/notesMaster" Target="/ppt/notesMasters/notesMaster1.xml" Id="R6522b881bfef46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85489323304d09" /><Relationship Type="http://schemas.openxmlformats.org/officeDocument/2006/relationships/notesMaster" Target="/ppt/notesMasters/notesMaster1.xml" Id="Rb4bebb5766c64f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a90c16c5714022" /><Relationship Type="http://schemas.openxmlformats.org/officeDocument/2006/relationships/notesMaster" Target="/ppt/notesMasters/notesMaster1.xml" Id="R4058fdfa48294c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31cd06fdb9496f" /><Relationship Type="http://schemas.openxmlformats.org/officeDocument/2006/relationships/notesMaster" Target="/ppt/notesMasters/notesMaster1.xml" Id="Rb276f34c07ef4a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2444ca831465f" /><Relationship Type="http://schemas.openxmlformats.org/officeDocument/2006/relationships/notesMaster" Target="/ppt/notesMasters/notesMaster1.xml" Id="R19d1897dbb8c4d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eaab73449647b3" /><Relationship Type="http://schemas.openxmlformats.org/officeDocument/2006/relationships/notesMaster" Target="/ppt/notesMasters/notesMaster1.xml" Id="R8dcf4f79ccfa4a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7197a1e5be439f" /><Relationship Type="http://schemas.openxmlformats.org/officeDocument/2006/relationships/notesMaster" Target="/ppt/notesMasters/notesMaster1.xml" Id="R7d5a152c5f73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3aa3081b5040fb" /><Relationship Type="http://schemas.openxmlformats.org/officeDocument/2006/relationships/notesMaster" Target="/ppt/notesMasters/notesMaster1.xml" Id="R187a887115b049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33cbdbfd854f70" /><Relationship Type="http://schemas.openxmlformats.org/officeDocument/2006/relationships/notesMaster" Target="/ppt/notesMasters/notesMaster1.xml" Id="R8e41ab29a44145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0ff66bb8554f43" /><Relationship Type="http://schemas.openxmlformats.org/officeDocument/2006/relationships/notesMaster" Target="/ppt/notesMasters/notesMaster1.xml" Id="Re8ba4eb724764f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d28ad76da34e53" /><Relationship Type="http://schemas.openxmlformats.org/officeDocument/2006/relationships/notesMaster" Target="/ppt/notesMasters/notesMaster1.xml" Id="Ra6a167d18cc64c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2c81502d494eed" /><Relationship Type="http://schemas.openxmlformats.org/officeDocument/2006/relationships/notesMaster" Target="/ppt/notesMasters/notesMaster1.xml" Id="R3b4bf281761e43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1f33dec5f94e20" /><Relationship Type="http://schemas.openxmlformats.org/officeDocument/2006/relationships/notesMaster" Target="/ppt/notesMasters/notesMaster1.xml" Id="R838bd76a7b614d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66e3937a934f67" /><Relationship Type="http://schemas.openxmlformats.org/officeDocument/2006/relationships/notesMaster" Target="/ppt/notesMasters/notesMaster1.xml" Id="R45b1be3dc00349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52ab8eb0ea4b6c" /><Relationship Type="http://schemas.openxmlformats.org/officeDocument/2006/relationships/notesMaster" Target="/ppt/notesMasters/notesMaster1.xml" Id="Redb9fa3dda9c42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b3123e9e474880" /><Relationship Type="http://schemas.openxmlformats.org/officeDocument/2006/relationships/notesMaster" Target="/ppt/notesMasters/notesMaster1.xml" Id="R4ebeef8893004b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0f73358d4b4e0d" /><Relationship Type="http://schemas.openxmlformats.org/officeDocument/2006/relationships/notesMaster" Target="/ppt/notesMasters/notesMaster1.xml" Id="R9c3bc52f7ea84d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开场：过去一年，我不断更换 AI 使用方式。变化最大的并不是模型名称，而是我逐渐把工作方法变成了一个可执行、可检查的系统。今天分享这条演进路线，以及我如何把产品经理经验沉淀成 Skill。</a:t>
            </a:r>
          </a:p>
          <a:p xmlns:a="http://schemas.openxmlformats.org/drawingml/2006/main">
            <a:r>
              <a:t>主视觉由图像生成工具制作，用于表达从单点对话到多工具工作系统的扩展。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用一个大家熟悉的任务做对照。聊天框适合快速启动，加入检索后事实基础更好，Agent 可以真正行动，Harness 则让这些行动在稳定的边界里发生。</a:t>
            </a:r>
          </a:p>
          <a:p xmlns:a="http://schemas.openxmlformats.org/drawingml/2006/main">
            <a:r>
              <a:t>互动问题：大家最近一次因为 AI 输出看起来正确、但无法直接交付而返工，问题出在哪里？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这四层并非相互替代。好的 Agent 仍然需要好提示词，也需要好上下文。演变发生在控制面扩展：从回答、知识、行动到整个运行系统。后面的案例都可以放回这四层看。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提示词工程让我第一次能稳定获得结构化内容。我逐渐形成角色、任务、格式、示例、限制等写法。瓶颈也很明显：同类任务每次重新写，资料散落在对话里，结果很难复查。</a:t>
            </a:r>
          </a:p>
          <a:p xmlns:a="http://schemas.openxmlformats.org/drawingml/2006/main">
            <a:r>
              <a:t>这一阶段的关键经验是：提示词适合定义一轮回答，无法单独承担长任务的状态管理。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RAG 把外部知识引入生成过程。对产品经理来说，历史 PRD、用户反馈、规范和竞品证据都能成为可检索上下文。</a:t>
            </a:r>
          </a:p>
          <a:p xmlns:a="http://schemas.openxmlformats.org/drawingml/2006/main">
            <a:r>
              <a:t>需要强调：检索命中不代表结论可靠。仍然要治理版本、冲突、来源等级和权限。</a:t>
            </a:r>
          </a:p>
          <a:p xmlns:a="http://schemas.openxmlformats.org/drawingml/2006/main">
            <a:r>
              <a:t>来源：Lewis 等，Retrieval-Augmented Generation for Knowledge-Intensive NLP Tasks，2020，https://arxiv.org/abs/2005.11401</a:t>
            </a:r>
          </a:p>
          <a:p xmlns:a="http://schemas.openxmlformats.org/drawingml/2006/main">
            <a:r>
              <a:t>来源：Anthropic，Contextual Retrieval，https://www.anthropic.com/engineering/contextual-retrieval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Agent 的最小特征是模型能动态决定下一步并使用工具。工作方式从复制粘贴每一步，变为定义目标和边界，再审查关键决策与最终产物。</a:t>
            </a:r>
          </a:p>
          <a:p xmlns:a="http://schemas.openxmlformats.org/drawingml/2006/main">
            <a:r>
              <a:t>要区分 workflow 和 agent。预定义路径更可控，动态路径更灵活。实际工作常常混合使用。</a:t>
            </a:r>
          </a:p>
          <a:p xmlns:a="http://schemas.openxmlformats.org/drawingml/2006/main">
            <a:r>
              <a:t>来源：Anthropic，Building Effective Agents，https://www.anthropic.com/engineering/building-effective-agents</a:t>
            </a:r>
          </a:p>
          <a:p xmlns:a="http://schemas.openxmlformats.org/drawingml/2006/main">
            <a:r>
              <a:t>来源：OpenAI API Quickstart，工具与 Agents SDK，https://platform.openai.com/docs/quickstart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我把 Harness 理解为 Agent 的工作环境与控制系统。它包括模型之外的规则、工具、目录、权限、状态、测试和人工确认点。</a:t>
            </a:r>
          </a:p>
          <a:p xmlns:a="http://schemas.openxmlformats.org/drawingml/2006/main">
            <a:r>
              <a:t>长任务失败经常来自状态丢失、一次做太多、没有验证、错误覆盖产物。结构化文件、增量推进和 evaluator 能显著改善这些问题。</a:t>
            </a:r>
          </a:p>
          <a:p xmlns:a="http://schemas.openxmlformats.org/drawingml/2006/main">
            <a:r>
              <a:t>来源：Anthropic，Effective Harnesses for Long-Running Agents，https://www.anthropic.com/engineering/effective-harnesses-for-long-running-agents</a:t>
            </a:r>
          </a:p>
          <a:p xmlns:a="http://schemas.openxmlformats.org/drawingml/2006/main">
            <a:r>
              <a:t>来源：Anthropic，Harness Design for Long-Running Application Development，https://www.anthropic.com/engineering/harness-design-long-running-apps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这页讲能力形态，不追求列全厂商。工具演变大致经历聊天生成、外部检索、结构化工具调用、标准化连接、真实工作区执行，以及 Skill 和多 Agent 复用。</a:t>
            </a:r>
          </a:p>
          <a:p xmlns:a="http://schemas.openxmlformats.org/drawingml/2006/main">
            <a:r>
              <a:t>MCP 把资源、提示和工具抽象为标准连接。Coding Agent 把文件、命令、浏览器和验证放进同一个工作台。</a:t>
            </a:r>
          </a:p>
          <a:p xmlns:a="http://schemas.openxmlformats.org/drawingml/2006/main">
            <a:r>
              <a:t>时间点用于表达典型演进，不代表某个单一产品的精确发布时间。</a:t>
            </a:r>
          </a:p>
          <a:p xmlns:a="http://schemas.openxmlformats.org/drawingml/2006/main">
            <a:r>
              <a:t>来源：MCP 规范，https://modelcontextprotocol.io/specification/2024-11-05</a:t>
            </a:r>
          </a:p>
          <a:p xmlns:a="http://schemas.openxmlformats.org/drawingml/2006/main">
            <a:r>
              <a:t>来源：OpenAI Developers，Codex 能力与插件，https://developers.openai.com/</a:t>
            </a:r>
          </a:p>
          <a:p xmlns:a="http://schemas.openxmlformats.org/drawingml/2006/main">
            <a:r>
              <a:t>来源：OpenAI Model Guidance，工具调用与多 Agent，https://developers.openai.com/api/docs/guides/latest-model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我用产品流程来组织 Skill，而不是按模型或软件分类。发现、定义、设计、验证和沉淀构成一条闭环。原子 Skill 保持单一职责，Workflow 围绕业务终点组合它们。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数据来自当前仓库文件清单。9 个 Skill、29 个 reference 文件、21 个模板、19 个脚本和 2 个 Workflow。</a:t>
            </a:r>
          </a:p>
          <a:p xmlns:a="http://schemas.openxmlformats.org/drawingml/2006/main">
            <a:r>
              <a:t>这里要主动说明现状：用研和竞品已经形成较完整系统，PRD 与原型仍是下一组要建设的能力，当前只有系统应用文案 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Skill 类似岗位能力说明书，Workflow 类似跨岗位项目 SOP。拆分标准不是文件大小，而是能否独立验收。</a:t>
            </a:r>
          </a:p>
          <a:p xmlns:a="http://schemas.openxmlformats.org/drawingml/2006/main">
            <a:r>
              <a:t>一个 Skill 应该能在不同任务中单独使用。一个 Workflow 需要管理多个 Skill 之间的依赖、状态和人工确认点。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用户研究最初是一条很长的提示词，后来我发现问卷、画像、作答和报告拥有完全不同的输入契约与风险，因此拆成四个原子 Skill。</a:t>
            </a:r>
          </a:p>
          <a:p xmlns:a="http://schemas.openxmlformats.org/drawingml/2006/main">
            <a:r>
              <a:t>合成研究必须明确使用边界：它适合检查问卷和数据管线、暴露假设，不能用于估计真实市场比例或替代真实用户。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现场可以打开 SKILL.md，只展示三块：触发与排除、输入契约、六步流程。</a:t>
            </a:r>
          </a:p>
          <a:p xmlns:a="http://schemas.openxmlformats.org/drawingml/2006/main">
            <a:r>
              <a:t>这个 Skill 的关键设计有两点。第一，生成前用确认卡锁定研究方向，避免问卷做完才发现目标错了。第二，Agent 负责专业判断，脚本负责题目结构、跳转和格式等确定性检查。</a:t>
            </a:r>
          </a:p>
          <a:p xmlns:a="http://schemas.openxmlformats.org/drawingml/2006/main">
            <a:r>
              <a:t>本页内容依据仓库：pm-user-research/skills/ur-design-survey/SKILL.md。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Workflow 的价值不是连续调用四次，而是管理依赖和状态。每一步通过文件契约交付，下一步只读取约定文件。这样任务跨多轮甚至跨工具时仍能恢复。</a:t>
            </a:r>
          </a:p>
          <a:p xmlns:a="http://schemas.openxmlformats.org/drawingml/2006/main">
            <a:r>
              <a:t>需要保留人工确认点，包括研究方向、问卷定稿、异常样本排除和结论审阅。</a:t>
            </a:r>
          </a:p>
          <a:p xmlns:a="http://schemas.openxmlformats.org/drawingml/2006/main">
            <a:r>
              <a:t>本页内容依据仓库：pm-user-research/workflows/synthetic-survey.md 与 pm-user-research/README.md。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竞品分析最容易退化成搜索结果拼贴。这个 Skill 先定义问题、竞品选择和 Feature Schema，再收集 UI、机制、定量与来源证据，最后才做状态判断和产品建议。</a:t>
            </a:r>
          </a:p>
          <a:p xmlns:a="http://schemas.openxmlformats.org/drawingml/2006/main">
            <a:r>
              <a:t>一个关键硬规则是：没有找到证据只能标记未知，不能自动推断为竞品不支持。</a:t>
            </a:r>
          </a:p>
          <a:p xmlns:a="http://schemas.openxmlformats.org/drawingml/2006/main">
            <a:r>
              <a:t>目录设计采用瘦主 Skill。References 放专业判断，Config 放常量，Scripts 放并行研究与图表重生成，Templates 固定交付结构。</a:t>
            </a:r>
          </a:p>
          <a:p xmlns:a="http://schemas.openxmlformats.org/drawingml/2006/main">
            <a:r>
              <a:t>本页内容依据仓库：pm-competitor-analysis/pm-system-app-competitor-matrix/SKILL.md 与 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这一页必须明确区分现状和规划。当前仓库已有用户研究、竞品分析和产品文案，但没有完整 PRD 与原型 Skill。</a:t>
            </a:r>
          </a:p>
          <a:p xmlns:a="http://schemas.openxmlformats.org/drawingml/2006/main">
            <a:r>
              <a:t>建议新增三项能力：写 PRD、从 PRD 生成原型、对 PRD 与原型做覆盖检查。关键机制是需求 ID 映射，让证据、需求、界面和验收标准可以追溯。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以用研 Skill 为例，开发从真实任务和失败模式开始。先定义边界与契约，再拆主 Skill、Reference、Template 和 Script。试跑之后，把重复失败变成规则，把确定性检查写成脚本。</a:t>
            </a:r>
          </a:p>
          <a:p xmlns:a="http://schemas.openxmlformats.org/drawingml/2006/main">
            <a:r>
              <a:t>评估要覆盖结构、样例与最终产物。测试存在的意义不是追求数量，而是让能力变更可以被发现。</a:t>
            </a:r>
          </a:p>
          <a:p xmlns:a="http://schemas.openxmlformats.org/drawingml/2006/main">
            <a:r>
              <a:t>参考：Anthropic，Writing Effective Tools for Agents，https://www.anthropic.com/engineering/writing-tools-for-agents</a:t>
            </a:r>
          </a:p>
          <a:p xmlns:a="http://schemas.openxmlformats.org/drawingml/2006/main">
            <a:r>
              <a:t>参考：OpenAI Skills API 提供版本化的 Skill 资源，https://developers.openai.com/api/reference/python/resources/skills/methods/create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分钟总结，随后留 5 分钟 Q&amp;A</a:t>
            </a:r>
          </a:p>
          <a:p xmlns:a="http://schemas.openxmlformats.org/drawingml/2006/main">
            <a:r>
              <a:t>给团队一个四周小实验，不要求一次建设完整平台。先挑高频任务，做最小 Skill，让同事交叉使用，再把成熟能力组合成 Workflow。</a:t>
            </a:r>
          </a:p>
          <a:p xmlns:a="http://schemas.openxmlformats.org/drawingml/2006/main">
            <a:r>
              <a:t>结尾问题：你最想先做成 Skill 的产品经理任务是什么？</a:t>
            </a:r>
          </a:p>
          <a:p xmlns:a="http://schemas.openxmlformats.org/drawingml/2006/main">
            <a:r>
              <a:t>总结句：当工作方法具备可复用、可组合、可验证和可追溯四个特征时，AI 才从个人技巧变成团队工作系统。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819f1599b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125e14bfd4303" /><Relationship Type="http://schemas.openxmlformats.org/officeDocument/2006/relationships/slideLayout" Target="/ppt/slideLayouts/slideLayout1.xml" Id="R01517757621a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17757621a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9ec5a24874f23" /><Relationship Type="http://schemas.openxmlformats.org/officeDocument/2006/relationships/image" Target="/ppt/media/image.png" Id="R08789234e1f14e0a" /><Relationship Type="http://schemas.openxmlformats.org/officeDocument/2006/relationships/notesSlide" Target="/ppt/notesSlides/notesSlide1.xml" Id="R4303c77437f7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8d3c9cb844983" /><Relationship Type="http://schemas.openxmlformats.org/officeDocument/2006/relationships/notesSlide" Target="/ppt/notesSlides/notesSlide2.xml" Id="Ra23dea08793b4b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e3ffff43246d4" /><Relationship Type="http://schemas.openxmlformats.org/officeDocument/2006/relationships/notesSlide" Target="/ppt/notesSlides/notesSlide3.xml" Id="R326efbe92ad24f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d4e36b5ca4eb4" /><Relationship Type="http://schemas.openxmlformats.org/officeDocument/2006/relationships/notesSlide" Target="/ppt/notesSlides/notesSlide4.xml" Id="Rc602e37e26e44a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8a4cf686e4a32" /><Relationship Type="http://schemas.openxmlformats.org/officeDocument/2006/relationships/notesSlide" Target="/ppt/notesSlides/notesSlide5.xml" Id="Rd8a554daa0294c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f2263181e4397" /><Relationship Type="http://schemas.openxmlformats.org/officeDocument/2006/relationships/notesSlide" Target="/ppt/notesSlides/notesSlide6.xml" Id="Rfe1eb00a94c14a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93cb2d09a4faa" /><Relationship Type="http://schemas.openxmlformats.org/officeDocument/2006/relationships/notesSlide" Target="/ppt/notesSlides/notesSlide7.xml" Id="R818bb80cc47a46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c98c4bf9f4d18" /><Relationship Type="http://schemas.openxmlformats.org/officeDocument/2006/relationships/notesSlide" Target="/ppt/notesSlides/notesSlide8.xml" Id="R4997787c184646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db11f3634d74" /><Relationship Type="http://schemas.openxmlformats.org/officeDocument/2006/relationships/notesSlide" Target="/ppt/notesSlides/notesSlide9.xml" Id="R0df5179829c944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e33779014cda" /><Relationship Type="http://schemas.openxmlformats.org/officeDocument/2006/relationships/notesSlide" Target="/ppt/notesSlides/notesSlide10.xml" Id="R9450c8c8823e46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e601206fe4d58" /><Relationship Type="http://schemas.openxmlformats.org/officeDocument/2006/relationships/notesSlide" Target="/ppt/notesSlides/notesSlide11.xml" Id="R4121dc15799a47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eaabddb384569" /><Relationship Type="http://schemas.openxmlformats.org/officeDocument/2006/relationships/notesSlide" Target="/ppt/notesSlides/notesSlide12.xml" Id="Rf748ceda644649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0cbe495aa46b5" /><Relationship Type="http://schemas.openxmlformats.org/officeDocument/2006/relationships/notesSlide" Target="/ppt/notesSlides/notesSlide13.xml" Id="R8c7daf05bd2c4a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1dfd9cc634bda" /><Relationship Type="http://schemas.openxmlformats.org/officeDocument/2006/relationships/notesSlide" Target="/ppt/notesSlides/notesSlide14.xml" Id="R7587b83db0034a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93a5420f8421c" /><Relationship Type="http://schemas.openxmlformats.org/officeDocument/2006/relationships/notesSlide" Target="/ppt/notesSlides/notesSlide15.xml" Id="Rc3ad48d2e57842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23100e3944383" /><Relationship Type="http://schemas.openxmlformats.org/officeDocument/2006/relationships/notesSlide" Target="/ppt/notesSlides/notesSlide16.xml" Id="R6a08ce63684442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93cbebb4446c" /><Relationship Type="http://schemas.openxmlformats.org/officeDocument/2006/relationships/notesSlide" Target="/ppt/notesSlides/notesSlide17.xml" Id="R688bfbedfc3244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b3390f6b147aa" /><Relationship Type="http://schemas.openxmlformats.org/officeDocument/2006/relationships/notesSlide" Target="/ppt/notesSlides/notesSlide18.xml" Id="Rdf30d49cf7ef48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89234e1f14e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2F4FE-E082-42C9-B50F-4417B03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6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C11AE-806B-424E-A840-156E1994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E266-87BC-4C71-9A1E-8638A446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953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从会聊天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到能交付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A4E82-FD1B-41CA-BB95-48B4FF2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我的 AI 产品经理工作流演变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B415F-9E53-401C-A1A3-20160D3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24D62-7AE1-4FA1-A48F-8A79AC8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Prompt    Context    Agent   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6C688-C158-46EC-B289-0F593356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4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  <a:cs typeface="Microsoft YaHei"/>
              </a:rPr>
              <a:t>产品经理团队分享  |  45 min</a:t>
            </a:r>
          </a:p>
        </p:txBody>
      </p:sp>
    </p:spTree>
    <p:extLst>
      <p:ext uri="{BB962C8B-B14F-4D97-AF65-F5344CB8AC3E}">
        <p14:creationId xmlns:p14="http://schemas.microsoft.com/office/powerpoint/2010/main" val="192350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0D98C-E805-473F-8990-CFD4E62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E1A5F-D6C9-4209-BC37-759A896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同一个产品任务，四种完成方式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6399-0F3D-4001-815E-1A3B73B0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9AA60-3DD4-43EC-A2AB-5391DC6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图库 AI 清理：需求研究、竞品判断、PRD 与原型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17B41-4F6D-4A40-93DF-3465257A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88115-B2F9-4844-BBD0-79175504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794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68C0D-9FF9-49FE-89FF-4035230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对话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E9EB5-3B5B-49BC-AC19-B9A010EE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生成一份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看起来完整的答案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3B228-1798-42AB-BD93-22ED4793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48BF0-90B4-4EE5-BFE9-6FCBE334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44E13-E24E-4B64-8DD8-6349CC5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AE6F5-CB86-483C-9D6E-47E65B9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基于资料回答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结论更贴近事实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C4690-A08A-454C-9CB6-64673F2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4C704-567B-462A-8748-A476B6E2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BEF5A-BF80-4C08-B090-72F7BBD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D974F-192C-4543-8AD1-76C3D3A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查、写、运行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完成多步任务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E0DFF-F9C1-49C1-8EC3-1AC0E2F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672CD-9187-4318-B46E-6D3184D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71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78993-423F-4628-B82C-1C6857B5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3759F-C82A-4206-940B-9EB90282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按规则执行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验证后再交付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7C547-1ECB-475D-8224-661C5F1D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F7E55-1854-4038-9E7F-BC377AA3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输出质量不仅由模型决定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02102-AA6D-4B0F-9E57-1339166E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cs typeface="Microsoft YaHei"/>
              </a:rPr>
              <a:t>材料、工具、权限、规则和验证方式共同决定交付结果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5518B-4782-4877-AAD5-B86DC99D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3230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2E12A-3A25-442A-862E-2CBA910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BF1F5-E303-45F8-9DD7-C7C0551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AI 工作流的四层控制面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E8359-4F40-47AB-B03F-A5E5D80E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55786-E70F-47BB-9372-7703114F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F0F8D-D01B-4409-A2EA-691F03C1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430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28E08-A027-471F-AEEF-E9F72C8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5257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这一轮怎么说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4F746-4FE1-4D2A-87AF-D0EF54C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EE6A4-4353-4D99-8C0B-FF78709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F1925-DBE5-43D2-97CB-40EC3A11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4317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看见什么材料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17DAD-4ABA-4928-AB0C-AA6DCB29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685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D1888-8925-4950-92FA-0956F7AA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B2F96-E8D6-42B7-B33C-AD2BA1AB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337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如何调用工具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0C311-93F9-4ECD-B5D5-49B33F88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E0BF2-EBED-4C03-B1EE-24A4C3B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AAC69-AE4B-4194-B957-04380AF2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24375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在什么边界内完成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63CB8-2BC6-446B-A003-2FCC4B55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62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DF08B-00D4-487E-B592-99E667B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Context /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8E1F5-2DEA-45FE-AB94-32F682BC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106C0-5E6F-48E3-8F9D-206BDD8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33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8469C-A549-48FE-9AE3-19A7CD6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每次升级都保留前一层，并增加新的可控对象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2CD4C-CACE-4834-AC71-410BC12B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1014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CCFD1-F704-4B7D-B93C-F96E2BC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C303-6366-4C14-B53C-AAFAE466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第一阶段：提示词工程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6BD34-4523-4B8C-AE0D-EBCA02C9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56007-9191-4C06-AAAB-06885BBA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CF5E4-F351-4CFE-8A79-8B88B0EF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5E5D4-D597-4643-8F7F-5420CB43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33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把需求写清楚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3D237-2869-4687-A9A8-E09C9BAA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5581650" cy="3009900"/>
          </a:xfrm>
          <a:prstGeom xmlns:a="http://schemas.openxmlformats.org/drawingml/2006/main" prst="roundRect">
            <a:avLst>
              <a:gd name="adj" fmla="val 5696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D5997-6DCA-46FD-90E7-51C08DE6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4914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你是一名资深产品经理。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请分析图库 AI 清理需求，输出：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1. 用户痛点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2. 核心场景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3. 功能优先级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参考下面示例格式……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77EEB-999B-4044-85F7-471ACC05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43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22522-0306-44DC-8771-214A1A7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快速启动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表达结构更稳定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适合单次创作与分析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4D46E-E52C-45FF-A67C-AB2E337C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B7394-FF2C-4EEB-B832-C82F1E85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为什么继续升级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B63B8-DCE5-4846-ABB7-503867D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背景反复输入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长对话逐渐漂移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来源与质量难复查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910A2-EBF5-4854-B821-28D57CB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6221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2DBE0-932B-4D96-9B92-71059AF3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C0368-AEFF-4014-9C38-54A3D70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第二阶段：上下文工程与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16254-51F7-4A98-8277-89BCD22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9DB40-BC9C-41F1-83A0-CB0B45AB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C70EF-AAB8-4A22-8C1D-9A5545D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A580B-ECDF-4862-B28D-5452C8F0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38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让模型看到正确材料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3FF25-CB83-4636-8713-7A6BC3C3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87E2E-B947-4C01-9A61-E7BA2100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历史 PRD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00EB7-CA16-42B4-9C24-B46C227E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66975"/>
            <a:ext cx="108585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B5A80-758F-4EAE-A167-59C8A41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8555E-2A74-4DB6-8C7E-96B43A5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46F1B-F2E1-4F26-BE82-C830996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14675"/>
            <a:ext cx="10858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4A775-F25B-4413-A2BF-446F7B4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A75EF-8A18-47F0-A53E-E87C4F6B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设计规范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29A31-F30E-42AF-A957-01844A4A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43275"/>
            <a:ext cx="10858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E868A-5AE5-4F25-AD69-96C16CE6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63DA8-D3B0-4FBE-A4EF-35976B80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竞品证据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448D9-4D87-4972-9CF9-3F86FDDC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43275"/>
            <a:ext cx="10858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63554-1FEE-4CE8-84AD-EBCD8C06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4BC29-CE84-46DE-B5D3-C5A5835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CD901-1B33-4B69-A24D-B81828D1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分块 / 元数据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FD4CA-327E-4E85-9389-206826E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956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1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A838A-D611-40BC-9486-4C9A288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6764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798E7-E818-4188-AD30-3B4F3AB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6938C-E203-4EA6-B638-98BD64B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基于材料生成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9EAE7-43EC-427A-AFE2-F1760BE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95675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6B44A-8A2C-4B26-B388-D54FBFA3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247650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7BB89-317F-4020-8DBA-7832745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带来源的回答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68B5B-75DC-41E8-AEA3-0152627B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1943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事实更贴近业务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版本边界更清楚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可以追溯依据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CAA61-9F44-42D2-87DF-59213B3C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63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3E718D">
              <a:alpha val="12000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3FAEC0-CF06-4528-A4B0-7D739A3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88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新的治理问题：检索结果是否相关、是否过期、是否冲突、是否有权限使用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C41F99-639A-47BD-81E6-048F5C7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2855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74C6DA-2EBA-489F-B341-F242EAC4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40322-350F-4C93-9D38-5CFCE64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第三阶段：Agent 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CE43A-A205-4E5F-A301-A03F9ED8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F6495-4587-453D-ADC9-1877588E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E702E-E91F-4BB6-B396-97B08393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21D9F-2C7C-4537-9A80-61A36956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38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把语言模型接入行动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AA24A-61CC-4F44-BE76-C5D6DD22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59564-40C9-4495-9399-8A2AA0E6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5BEA-56CE-456F-B09B-EB2DEF2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38425"/>
            <a:ext cx="7048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A08D0-8B80-4105-80F2-2A859F8A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BD5A1-5B82-4893-A8E9-E1833E3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规划步骤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A22AC-E5A3-43E1-BE45-C50A6C4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38425"/>
            <a:ext cx="8953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BF075-EBAE-4072-AE76-4C7AFE3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D8DAA-2A78-45BC-B4D2-2C768C6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A697F-9957-4928-9632-E8DBA944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38425"/>
            <a:ext cx="8001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13EB7-B82A-47C9-B0EB-DABC74C8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B9592-0269-4934-931E-092773D2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21362-5D50-4BAE-BBAD-557AFA4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38425"/>
            <a:ext cx="8763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93A82-26A2-45B7-927C-25A5507C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08A9B-8BAF-4E71-940C-2F2F8440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20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修正交付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2D2B8-6677-47E7-B84F-8244EC0D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800100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30AA0-E516-4AB4-8686-4F954D1D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2B2BF-2776-48CA-8C8C-7F8F07C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488E1-53A1-47BB-947D-257F4D66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2F905-EBE3-4563-8EBA-B20E002F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2592D-925D-407B-ADB7-DFC4972D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D8109-F87D-4A1E-BE03-463AED5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F7E38D-2B49-4F23-9886-26A0775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068E41-98E4-4639-B68B-7EB5A0EA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AA58D-E09E-485A-A18A-98E2749A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1409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DD63C-1D9F-404E-8482-6A4DA2C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办公应用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393EA-D316-455C-A5D9-3478BD4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产品经理开始审查目标、边界和关键决策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4DC19-CC54-4BC9-8E6B-D3C9F8DB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7201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0BD61-9AD5-495A-A5B4-052A8CA2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74636-F8A9-4915-BDE6-84A7FDE0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第四阶段：Harness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764DB-8E61-4D83-964F-C8EB5A7D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工作流演变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AAD31-6711-4D64-A528-E603F047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6E783-571C-4D26-8721-FF14BF55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06776-A960-4A4D-9DA0-0C0BDB66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38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让 Agent 在受控环境中持续交付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431D7-A2D6-4D6A-A24A-FFDA0E8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8572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483F">
              <a:alpha val="18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18836-B779-42A1-B267-832138AF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002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目标与人工判断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2F8B8-CB2B-4E49-BAFF-8FF04A31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任务边界、确认点、审批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32BDE-F27D-467A-B38C-678C316E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7924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E718D">
              <a:alpha val="18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C22E7-282D-440D-9DCB-20EAD50E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Skill 与规则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E17E9-25C0-41A1-8078-2DCF2FBD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449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专业流程、输入输出、使用边界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A5A33-2DF5-4936-A335-E6259D05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0400"/>
            <a:ext cx="72771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E7B68">
              <a:alpha val="18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2FDE6-D230-4996-B379-BA9E9390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A993B-9E7C-431A-98F3-F20012B9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0400"/>
            <a:ext cx="384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搜索、文件、代码、应用、沙箱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85DAF-F854-4217-A108-DB07ACAC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66294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B78136">
              <a:alpha val="18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4F21C-7CC1-4FD3-9FEE-E8D85614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005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状态与产物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B44EB-CC1D-425A-BA24-A0A5B3A6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工作目录、版本、日志、共享上下文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AE97B-B810-4CC3-8DA7-DB7285C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5981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2E4D0-D314-4E95-A7D1-27F6F9AC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00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验证与反馈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D816A-869C-436D-9B33-6D0B532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006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测试、检查器、渲染、评审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6F2DB-88BD-4788-B405-40306A44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管理长任务中的状态、边界与质量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18753-EA2E-40FB-A3D6-FE25B41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6723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1A057-4175-474B-AD87-450359D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E60DE-CEE0-4C32-BEE4-6A5856E4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Agent 工具的能力演变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ED480-0ED8-4DD4-8ACB-4573DF9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工具演变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607CD-B370-464C-887F-3EFB0B13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1FF1B-1983-4C21-8521-02121A54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51F91-928E-4EA6-AD53-F25BFB4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4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FA0FD-54C1-44CD-A29A-D392E8C9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7949C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67FA6-E0C0-4B32-9FA4-F87E4D0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聊天框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39296-C498-496A-AF95-D420D44F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生成与改写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B293C-01AE-4E0F-A352-CE98F71C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AC3E3-6C63-4D48-9AF6-13F2B7EF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71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35D7B-11EF-4C8E-A7D0-462DFBA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B13FF-C11F-48F4-ABB8-0CAB49BE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检索与函数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B00AE-2313-45D5-810C-D104AEB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外部知识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结构化调用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BC74C-259C-4811-8169-DEA5CE3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7A85B-4D2D-4D0E-BDED-E5289A81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860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7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60EAE-7F6D-4318-922C-D4CD441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DF3E0-8945-4898-BDF6-4932DD75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85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代码与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05EF4-70F6-49C8-BEB5-66BEC01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标准化连接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DC067-F5D2-420A-AC11-A961F4FE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E9BF8-BC11-4ADD-A7B7-BBC6B49E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48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3A32A-EB60-4BA4-9830-AF2DC20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E9E25-9569-4FBA-B14A-2642312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Coding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E4B47-8B58-4D20-ADBF-0F793D20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真实工作区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持续迭代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F282C-FBB8-4198-A81F-F5F0293E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92094-4CC1-4F27-8BA8-1234725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18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BF656-7EC3-444E-8EFB-A8AE39DA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2026+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F09A8-C500-45F1-9DB1-9EC390E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Skills 与协作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ADEA7-2628-4205-944B-5DE26DF4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复用流程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多 Agent 编排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D98D9-A9E9-476F-85ED-6F7CEB15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38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81D">
              <a:alpha val="8000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A3DABE-A11E-4CD8-9625-D7293B40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996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任务越长、动作越多、风险越高，越需要清晰的权限和验证机制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63A64-FA75-461F-8ABE-DEB774FC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0923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856AB9-0C4B-4DB9-845A-BC91FE68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B18F7-DE33-4421-9910-BDAE5CC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我的产品经理 AI 工作流地图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3C42D-A559-4B54-9E7D-F9A77B4D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02C6-BA80-48A1-A0CB-E12C0DE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63FFE-32F8-4F7C-9F41-332D4868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10B63-55C7-49A8-9F54-8791FD1C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7D0C-EB47-457F-855C-26691F65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行业洞察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9DADE-A4FD-4624-8750-295B3935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B5AF9-CCA1-446C-A53E-CB472DD8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CABB7-7A05-4088-AF85-C4A17770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0A0C9-1CC0-4B51-86DC-9EE193B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00654-DDAB-4298-BAAF-5856AAE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机会判断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需求拆解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DC21E-47F7-4E7E-98B1-AFC9D332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DFB6A-49FD-4AC8-BD01-343BE544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69A96-C431-4290-AE08-563C6BDD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81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4633E-7B48-4000-98BA-C64B3A95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0957D-400E-444E-9B95-EA2C3CDE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交互文案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3F0B7-664F-46AC-8F9F-6FCB3B4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74F34-FE09-4C7A-9A50-D3D8A21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E9720-2B40-4ABA-8383-DE5A76E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D39F3-5DEC-4E1C-8E96-14F1287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23A99-C0F0-4C78-B713-F145E353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Pilot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规则检查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C2B64-DA24-44D5-A018-F247119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70B63-32AE-4BF6-B22A-0130D205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525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B50A8-DF13-49E1-8323-2852C68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09F72-E14C-4A1E-8B83-09A002E5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431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1F3DA-3023-4DB8-9FB4-0EC9A1C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98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7BB9E-076B-444D-9789-16D79887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4584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EFE70-870C-41E5-8003-B601CADF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原子 Skill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F14C08-7B61-42D1-B45F-F186236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问卷设计、画像、模拟作答、数据综合、竞品矩阵、产品文案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63BDF-F876-4652-9613-8749BC3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1DD95-07FF-4351-ABEB-07483411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32E58-41F0-4889-8EFF-BA6C247B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围绕业务终点组合能力，并管理共享上下文、检查点和产物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583B2-745A-4DFC-99D3-5346FE80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6903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3B75B-F1A2-4F59-B7D0-E499A657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6FAF2-B08A-4EE3-AA40-05A1F4BB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当前仓库：9 个 Skill 的产品经理能力栈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3C110-CD82-48B3-84D5-4C240DEC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C0C6E-4E23-47A4-9872-E18C95C9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AF666-8303-4AD5-AEAB-AE1A6473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8E9F8-6D94-4833-936E-CE3F899E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4AF08-EB0F-4FD6-B605-FCAEA57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254B1-6060-4043-972B-FD036BB9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06109-65BD-41D5-8A74-41D69612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Templates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38942-BBD7-4FBD-9125-9583B50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B043-58D4-4258-9BCE-C9779DEA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Scripts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3BDDA-C6BD-42D3-A30C-BE524A0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E8553-8683-4D93-8B8A-791AD36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497AF-E72C-483C-91AE-5409B71C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E5EEC-711C-4836-B19C-37409E5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126DC-CE75-4F17-9089-47E70AD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用户研究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E0E95-202E-4640-9B32-7163D9B3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问卷设计 / 画像 / 模拟作答 / 研究报告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92236-8A27-4601-98B2-E71DE1B3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D615B-EF44-4403-BF3D-C647810B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037D1-1B86-47A2-9BF3-DA3EC53F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957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单功能对比 / 动态追踪 / 系统应用矩阵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32B67-1554-4DE6-A0E9-4B0DC3BA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152E8-B7E3-49AD-8A99-6682B4B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洞察表达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F3CA9-94E9-40ED-904F-C3B50F30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815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手机发布会速递 / 证据账本 / PPTX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45B30-59AB-4DA6-995F-B559B5C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8BF7D-BC46-4B58-B150-E9097C3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产品设计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F08B03-3A22-49FB-8559-3DD6E2D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811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系统应用文案已完成，PRD 与原型待补齐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A7473-700F-4464-B36F-D76C82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0197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CB0C7-AF73-44BE-B9BC-420BE24D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4176C-56FA-485B-B4F5-2360E63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 与 Workflow 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FA355-5D52-40A6-8D99-5EAE535D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Skill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56492-7C7E-4F30-8788-2C80D3E0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6482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3E718D">
              <a:alpha val="10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DD948-C65B-46B5-AE78-E8F04354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895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91A72-CB11-4D08-9027-F2A530F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7AAE3-ACA6-420D-A333-5233361B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一个可独立验收的专业能力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734A1-EBE4-480A-A46B-4E3FBFB1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371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输入与输出契约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判断规则与使用边界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模板、脚本和质量检查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E7D6F-0788-4D55-BE19-4F691E3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28750"/>
            <a:ext cx="52197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5483F">
              <a:alpha val="9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F7524-3B96-48B2-B61A-F2763B69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7C072-F516-466B-A9BA-F5DD1B9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Workflow /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7EEB4-9692-4169-88F5-14263645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围绕业务终点组合多项能力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27673-D0F6-4A54-BA99-C54C79F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000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调用顺序与依赖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共享上下文与文件状态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人工确认点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失败恢复与最终交付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9350D-4E27-46D1-B108-B184212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能单独验收的能力做 Skill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需要管理依赖和状态的端到端任务做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5EE22-F77C-4314-8480-D818B1D0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8540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9B908-2502-4418-AA69-B0A140F0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D2F9E-C649-47F5-A2FD-D6A055EB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案例一：用户研究拆成四个原子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DAB74-DEFF-488F-94CA-7D067259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3BFC-DB49-4C3C-8848-1C84BDD7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C9D0E-0EB6-4972-BFA3-66E6346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781D-21A7-4B92-8383-EAC36FD3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ur-design-survey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C4F04-20F4-48F3-A942-CE8F2A58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把模糊课题变成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可分析问卷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D4FD4-6908-4B3A-834F-DFA01032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B2651-5B0E-4AE9-B237-85EB919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6491-CDEF-4332-923E-20AD2EF2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ur-generate-personas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13B9-CD56-4CE4-B0F3-D17C76E1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生成分层、可审计的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合成画像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261AF-1C1E-47E4-89DE-069CFC4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6DCFF-42B4-4C23-AE38-EC6D57A7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D529C-2618-4946-BA8A-31779065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ur-user-simulator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A760B-B91D-4341-B796-66EEE74A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隔离模拟作答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记录质量与模型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878B7-B6C5-45E0-A6E6-1954DC0A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1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0C12F-16C8-4392-A971-433CCFFE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81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CD781-9582-4B72-88D5-23A07CAF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ur-synthesize-report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272DF-4353-4D88-956C-31C52FCE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清理数据并完成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  <a:cs typeface="Microsoft YaHei"/>
              </a:rPr>
              <a:t>统计与证据综合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6B03C-8B4F-4BDA-B345-312ECE1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05918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37EDD-1BFD-49EF-A32E-A7B0FD1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为什么拆分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5AAE6-02A5-4E40-A4D8-39A8CA2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每一步的输入、风险和验收方式不同，可以单用，也可以组合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818E0-07F5-42CC-8C7D-BBADB474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79DE0-9CE2-4D7C-8FF0-88CF4C5C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合成用户用于 Pilot、管线验证和提出假设，不替代真实用户研究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FBE103-3652-4546-AD04-3D8E58A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7894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95A073-119E-4172-9B94-700686DA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BC478-A625-4650-B8CD-4E989B6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深拆 Skill：ur-design-survey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59E32-7BBF-44EF-B46F-9373E5B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6A144-EE2F-42A6-9499-CE92D50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F004F-AA6C-4B42-9BD4-3EB1830A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FB30B-4827-4BE1-B8F3-168EA1A5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确认研究方向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79315-9749-4503-B6DE-A41D4F66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F2860-E79C-4187-B1BD-E7CD2D1E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FAE44-F32F-4F18-A830-50344A3E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D1E1A-AF00-4947-8B0D-51299F5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目标与证据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EC30B-AD99-4FA8-A4C1-BACCBDBE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6A73E-916D-4663-ADFB-3228639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86E0D-8EF9-4F73-BF67-9B46460C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318C8-DC5F-4CC8-B3C1-A88340DC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模块蓝图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FFD40-1606-4E27-8D76-C9910D73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5A52A-C782-4D55-8312-E1BC6AFB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B25E1-B59F-4381-8320-98B5870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DC45D-C207-4880-9F2B-0A93B951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设计题目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B28CF-C247-43F3-9A27-CBD736B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D65C8-9CB8-4D49-B690-FBFA5630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1613A-DFB4-4AE4-8177-E687FDD1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3A09F-3117-4585-BBEC-7CEDDB38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逻辑审查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427D4-B413-4222-BC9F-CFDB782B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859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7E2F0-B913-4A21-9976-949F96AF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7FA34-69AD-4F67-9BD6-1C9708F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3CD5A-BFC6-4320-B9B3-8BE0A867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383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双格式交付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12DED1-DD6C-456B-9B3F-968A3BAE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4BF25-71FB-4549-92C7-7326D47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0BAA7D-A3DB-43B5-8098-3934500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E453A-C4D7-4545-8997-27FADA89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主 Skill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8A685-84B1-4F73-B9B6-46F867EE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流程合同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触发与排除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F8DC3F-79FC-42DF-A15B-FE82024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AD9493-B7E4-4E14-8DF5-251457D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C9FE54-CF2F-4608-9388-454610B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6CB39A-1241-42BA-8EC3-D518FEB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题目标准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逻辑清单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00E602-6D4D-4606-9254-EA456A7B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1A0F57-67FE-4396-81BA-FDBFE2F5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973713-4355-4D93-94AD-B9CA39BE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Templates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D92072-5DF7-40B4-96C2-51AACA4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四类场景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确认卡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平台格式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58667C-4073-4378-A948-A7EBCE78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266950" cy="18478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0692B3-C1F3-44CD-B034-590E3E75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B2B682-B96C-485A-AA2A-DA67BF2E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Scripts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CF9014-6A07-4331-8D7A-CDC2B16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38600"/>
            <a:ext cx="1847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结构检查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逻辑 lint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文件校验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CDD630-72BF-4AE7-BE6C-08A22723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生成前确认方向，交付前运行确定性校验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453164-F1AC-4847-9DE3-D011C12A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24668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68287-BF34-4A4B-8850-887484A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BD70-603C-466B-94AC-793BB0A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深拆 Command：synthetic-survey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08A21-1380-4C5B-AFF2-40E80C09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155A8-1D2A-447F-B448-56434E35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文件契约把状态从聊天记忆中移出来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F4689-F5D8-43E6-A747-ABF03B32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8E996-72E3-493F-A335-AAB96B1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shared_context.md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A9419-D1C8-43A8-AC8C-D4694D1C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80086-4217-40A2-B75F-4694020E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EAA61-67AA-47DD-85AE-9013AE6C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82FE4-188C-4BAB-974B-114896D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DB642-6EA6-4D66-9834-23BEEB0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D6FC9-09AB-4F7C-8CF9-F25EBC4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personas.json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FDEED-E47E-4BB8-9338-C6B1A4B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335DA-CEEA-4AEB-97B1-10D1BECA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924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D80AC-A81D-4AE5-976B-88ED613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responses.xlsx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BE150-2AD2-4199-97B9-A169770E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BCD7B-8084-4B96-98B4-24E4F205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43100"/>
            <a:ext cx="1219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5869A-771D-4195-B2CF-9063CBAF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43100"/>
            <a:ext cx="121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B467D-8072-4189-A999-DA958DBE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EAEFC-7BAA-47B4-AED4-DD535FB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画像生成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7537F-4E79-4914-A00F-18E1B404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并行模拟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D8264-F695-443D-99E4-C0BAA01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数据综合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80004-0C96-455B-B56E-FCE6C6E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05918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C41AD-B247-4527-9523-E10A2A8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管理的不是调用次数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361F8-8E02-42E6-A63E-8D73B25D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4519A-5229-4723-A559-ADCAACA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依赖顺序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9D97C-19E4-4D56-BF2B-8638307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4150B-668E-4A07-BF9E-E2D66D48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共享状态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4D04D-9060-4628-B540-1AA1501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4DB3F-F4D4-4611-BFD0-9FBF42BB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人工确认点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76CE35-7F9B-4913-8BDB-88D3A9D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813F61-80B1-4070-87E5-1B2A340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失败恢复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CD53A7-7D0C-41E8-8D2D-290A782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B1932-233D-4086-850F-3527AA6B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291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产物路径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3AC464-DF3A-4959-9936-C00EAB44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问卷、画像、个人答卷、Excel、质量报告和离线报告均可独立复查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12E91-AFEC-4110-BC5D-B63B855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832140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448C4-55B8-423A-ABBE-E98F11B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2B7AF-C198-444F-9660-D141252C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案例二：竞品矩阵是一套证据系统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34C65-9B96-4C1B-AB82-2E920FC7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竞品案例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3A012-9382-4258-BF7C-5C470E4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9906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3181D">
              <a:alpha val="16000"/>
            </a:srgbClr>
          </a:solidFill>
          <a:ln xmlns:a="http://schemas.openxmlformats.org/drawingml/2006/main" w="9525">
            <a:solidFill>
              <a:srgbClr val="1318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85E5-FD01-4B49-8460-947DDF7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99504-02BF-4546-9778-E4C23CBB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8572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3E718D">
              <a:alpha val="1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AD558-AAA0-49E9-A7DD-26188BB7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竞品集合 + Feature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B36DB-36C0-4F7F-80C9-32ED886E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57500"/>
            <a:ext cx="7239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4E7B68">
              <a:alpha val="1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537BD-4D12-4E3B-AB5E-2B672453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UI / 机制 / 定量 / 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21497-78D6-4382-9C61-5CC65620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5905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5483F">
              <a:alpha val="1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80E27-AE91-4F68-A6B7-F2168AE8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Feature Matrix + 证据明细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31F46-913C-42B4-967C-F0F0863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4572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B78136">
              <a:alpha val="16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FAEA2-8E29-4603-BA58-B83A8D6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评分 / 定位图 / 产品方向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9CCB9-134D-4E8E-AD36-4FB60CEA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82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6F6CB-FB47-484D-AB4A-17614F72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92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“没有找到”保持未知，不自动写成“不支持”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8DB2B-060B-4222-A847-F8CF2D31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022386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BCA89-918C-41BD-811C-B41DD35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26E61-F75D-4B68-BC56-C335004A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PRD 与原型：下一组需要补齐的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6A019-EB76-4931-A11C-42D14DF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设计闭环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755BF-67C5-4015-88ED-B0FE2ABB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71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02BD1-143F-438A-A22D-58C8BF7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研究证据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74F1E-FC41-4DB1-B529-D32B951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用研结果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竞品证据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78765-FF4D-4A70-A218-3BD4026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85B76-8516-47A1-AA3D-C7672B9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48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E6002-2BD4-4902-AE13-C1D1601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pm-write-prd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E1BB0-C229-45DD-9519-37A915AE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范围 / 场景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状态 / 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1D19E-2B4C-4B57-B1D6-8506758F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09C81-0938-4D57-AE41-ADBB6AFC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1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7E26A-8A1B-4CD1-BB64-19A5F6AE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pm-prototype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EBAAD-E210-4D5D-AF9D-BACE145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信息架构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流程 / 可点击原型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9F3A6-3DEB-4E56-B1EA-7111A9F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4A655-30FF-4554-A5D3-3DF03C0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0383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E7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F59EE-915C-464B-A1AE-570510C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0E19B-5843-435D-8E82-EA325AA2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需求覆盖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分支 / 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CB2A2-52C7-419D-BE52-8822408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86150"/>
            <a:ext cx="480060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2C8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5FC96-8B6B-4148-8EBD-E2C2008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9239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2A73F-E097-4FB1-8001-EEC5DC54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需求 ID 保持映射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CC14A-6F71-410E-97F8-EAD223A3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证据进入 PRD，PRD 驱动原型，评审问题回写 PRD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23A03-5A18-4E0F-B99D-47A48A48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当前已有：系统应用命名、Slogan、微文案和版本说明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456DF-E2E9-4941-9C68-9F35ED08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478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A7E59-CA59-4161-AE34-9F0C328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478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5D08D8-EC05-4C70-9BFE-6B3B1294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45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当前仓库还没有完整 PRD / 原型 Skill，本页表达下一阶段设计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738594-5624-4D57-8992-3267611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4714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3F197B-AB40-40DA-B640-1EADF57C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9FA0A-A95E-45B5-863F-ED434F2C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Skill 的开发流程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74CFE-B648-4D22-937E-1E11DD9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开发方法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F3D3D-79D4-4399-B76F-54A67BC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79D34-FA94-4BBC-B9D9-F646B28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E9EC1-AF37-48EF-9F77-3ABB2603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3B3A2-CCCF-404C-B3FF-1F890105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边界清楚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可验收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47AD8-D146-47ED-B9F2-81E6F130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92F07-C02E-4FC4-BBA7-3D5CD6E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77188-038B-4BB9-A0B2-C0B3E2F2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58B40-4666-4676-B8E0-2169EC2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D07A3-B34F-4C86-A220-87C0F301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真实案例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错误模式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专业判断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8E86C-A705-4544-B5F0-67F9F69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D1535-4BBB-42AF-97EA-94CDD8AB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C167D-3876-401D-82D4-8AD8E50D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FE26E-1D8A-450B-9D52-E82AFFE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F6F60-BB30-4194-97E0-D8B0124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确认点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06C10-3A62-4049-ADF3-4E2003DD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F19A5-0559-49CB-8C23-10C3C62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4E7F6-B64B-46D6-AB2C-76FFDEC3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15849-298C-4F96-8663-8033B26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D6F0C-7CCA-44DB-8683-9BA8D1EF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主 Skill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参考与模板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脚本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FC926-3A6F-42F3-9487-F7BB2625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58DF6-B0F2-4420-8176-725E8C68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9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A0AF0-7667-419A-A3A3-E432CF64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682C9-F72D-478C-8B13-CA11FB11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C9A01-6E8B-45BC-8DA3-AD9501F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最小任务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记录偏差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补规则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43B55-8E4F-4E9C-9DC3-1BD7EE8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4307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1F44E-BCB5-4BAF-A362-BE005B3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BB743A-D1D5-40C1-978D-AD3E6A62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24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704C6-BA40-42A2-8107-2A6B760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17E34F-4AE0-4377-86C5-2BFF52A7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结构测试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样例评估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产物验证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2DD70-B0D2-4BC3-AD88-B67CE6E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05918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F775F-E39D-4ACF-B78C-2F42493D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判断交给 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5CC1E7-786E-403A-AE35-476D245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研究目标、证据强弱、产品取舍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F1C91-474B-4F17-98EF-1DE31C0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122852-99DA-4F87-9C92-D4F3DBF0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确定性工作交给脚本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BF38C4-8B8B-4356-8505-08B776D9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格式、字段、逻辑、统计和文件完整性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B5436D-7EE1-45A9-BC68-5476B3E3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优先固化判断与验收，再补充更多知识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798F2F-F0FA-434B-9CEA-15DCAFBC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6296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17F51-FD08-4334-90A7-9AC3B0DE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6456D-6259-437B-A2C7-481123E1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把个人技巧变成团队工作系统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7BE33-818E-43F0-AB63-99939FB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98E7-845F-417B-8678-9C3B85F1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2459E-4B41-42AA-9A86-EF292F0A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305AA-1CEA-4787-BE8D-B90C947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选一个高频任务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EAD4C-3418-4BEA-88B8-D0FA003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记录 3 个真实案例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和主要失败模式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A4C70-8172-44CC-B3F6-73AFE9FA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D4DF7-C993-488F-B019-DBCB79B6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E0B87-1D9F-4FD0-A28B-45C5EC27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做最小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F0FD4-F8CC-4B7D-AA85-58098FA7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明确输入输出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增加 1 个质量门槛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63CDF-92BC-4923-9090-BC5F53BB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60552-A896-4090-BC96-A14E904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D3748-AF40-4A75-A0F8-885015D1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交叉使用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575DF-7B7E-4568-AA10-F7CC4CF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由另一位产品经理试跑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检查能否复现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BACCB-423D-41E4-8B64-1722F4A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47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EB6AF-9B06-439E-8E21-4F89EF99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2A11C-BA74-478F-B96D-D13EE8E3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组合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12612-BA6D-47C8-960B-55082870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连接相关 Skill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建立共享仓库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12C55-7F87-4B9E-AFE3-A52BE82C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32332-B9CE-46F9-BEDB-11AC92A5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4A2AA-5FEA-4121-83A9-0B47FBF0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可组合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F44F9-C675-4957-AB33-FE2195D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55513-6345-4054-B695-808F41A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E619C-688A-4216-9B5F-EADF5498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从一个任务开始，建立团队的 AI 交付标准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21EE5-8305-4877-8818-E3F6F4C8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EA021-967B-4962-BAAE-2D4C6EB6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你最想先做成 Skill 的产品经理任务是什么？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B87AB-C176-4CFE-8A44-A9BB362E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76F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2463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2026-09-13T17:35:34.3860000Z</dcterms:created>
  <dcterms:modified xsi:type="dcterms:W3CDTF">2026-09-13T17:35:34.3860000Z</dcterms:modified>
</coreProperties>
</file>