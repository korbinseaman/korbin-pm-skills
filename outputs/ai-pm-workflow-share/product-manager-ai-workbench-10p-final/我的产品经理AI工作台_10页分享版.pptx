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55" r:id="rId4"/>
    <p:sldMasterId id="2147483657" r:id="rId5"/>
  </p:sldMasterIdLst>
  <p:notesMasterIdLst>
    <p:notesMasterId r:id="rId7"/>
  </p:notes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6445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 分钟</a:t>
            </a:r>
          </a:p>
          <a:p>
            <a:r>
              <a:t>开场直接定义工作台：它不是一组常用提示词，也不是一份工具清单。它是一套持续保存证据、任务状态、决策规则与验收门槛的工作环境。分享会用两个真实案例说明，这套工作台如何改变产品判断。</a:t>
            </a:r>
          </a:p>
          <a:p/>
          <a:p>
            <a:r>
              <a:t>[Sources]</a:t>
            </a:r>
          </a:p>
          <a:p>
            <a:r>
              <a:t>- 本地案例：手机图库 AI 功能需求问卷</a:t>
            </a:r>
          </a:p>
          <a:p>
            <a:r>
              <a:t>- 本地案例：鸿蒙图库一句话清理图片产品方案决策汇报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 分钟</a:t>
            </a:r>
          </a:p>
          <a:p>
            <a:r>
              <a:t>先讲整体架构。横向是产品生命周期，纵向是四层控制面。Prompt 只说明这次要什么，Context 保存证据和状态，Agent 调用工具执行，Harness 管理权限、文件契约、门禁和恢复。工作台的价值在于让一次任务的结论可以被下一步可靠复用。</a:t>
            </a:r>
          </a:p>
          <a:p/>
          <a:p>
            <a:r>
              <a:t>[Sources]</a:t>
            </a:r>
          </a:p>
          <a:p>
            <a:r>
              <a:t>- 基于本地 PM Skills 与工作区实践归纳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 分钟</a:t>
            </a:r>
          </a:p>
          <a:p>
            <a:r>
              <a:t>把工具演变和工作方法演变放在一页讲。对话式工具优化回答，知识式工具扩充证据，Agent 获得行动能力，Harness 才处理交付可靠性。重点不是工具名，而是每一阶段解决了哪类失败，以及 PM 的注意力如何变化。</a:t>
            </a:r>
          </a:p>
          <a:p/>
          <a:p>
            <a:r>
              <a:t>[Sources]</a:t>
            </a:r>
          </a:p>
          <a:p>
            <a:r>
              <a:t>- 基于对话式、检索式、工具调用与工作区 Agent 的能力抽象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建议用时：6 分钟</a:t>
            </a:r>
          </a:p>
          <a:p>
            <a:r>
              <a:t>用真实题号讲一遍。Q4 是分流点：有近期经历的人回答最近任务和问题，没有经历的人不评价实际体验。Q9 先收集需求广度，Q10 强制选择一个，Q11 问原因，Q12 落到发生场景。问卷的 PM 价值是提前规定每道题如何影响需求取舍。最后解释结构检查边界，避免把脚本通过说成研究有效。</a:t>
            </a:r>
          </a:p>
          <a:p/>
          <a:p>
            <a:r>
              <a:t>[Sources]</a:t>
            </a:r>
          </a:p>
          <a:p>
            <a:r>
              <a:t>- pm-user-research/用户调研/20260913手机图库AI功能需求/questionnaire.md</a:t>
            </a:r>
          </a:p>
          <a:p>
            <a:r>
              <a:t>- pm-user-research/skills/ur-design-survey/scripts/lint_questionnaire.py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 分钟</a:t>
            </a:r>
          </a:p>
          <a:p>
            <a:r>
              <a:t>这是工作台里 Harness 的真实价值。测试暴露的不是模型写得差，而是画像脚本与测试约定不一致。若没有门禁，系统仍可能生成答卷和报告，团队会在错误基础上讨论。讲清楚合成调研的边界：可以试跑流程，不能替代真实用户研究。</a:t>
            </a:r>
          </a:p>
          <a:p/>
          <a:p>
            <a:r>
              <a:t>[Sources]</a:t>
            </a:r>
          </a:p>
          <a:p>
            <a:r>
              <a:t>- pm-user-research/tests/test_project.py</a:t>
            </a:r>
          </a:p>
          <a:p>
            <a:r>
              <a:t>- pm-user-research/skills/ur-generate-personas/scripts/generate_personas.py</a:t>
            </a:r>
          </a:p>
          <a:p>
            <a:r>
              <a:t>- 本地测试结果：43 tests / 28 pass / 15 fail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建议用时：6 分钟</a:t>
            </a:r>
          </a:p>
          <a:p>
            <a:r>
              <a:t>先讲竞品证据合同，再讲方案改变。没找到某竞品的撤销期限或端侧处理证据，不能写成不支持，也不能写成行业基线。真实方案最终放弃一句话直接删除，改为搜索、解释预览、显式确认和可撤销执行。这个决定限制了系统责任，同时保留效率收益。</a:t>
            </a:r>
          </a:p>
          <a:p/>
          <a:p>
            <a:r>
              <a:t>[Sources]</a:t>
            </a:r>
          </a:p>
          <a:p>
            <a:r>
              <a:t>- pm-competitor-analysis/pm-system-app-competitor-matrix/SKILL.md</a:t>
            </a:r>
          </a:p>
          <a:p>
            <a:r>
              <a:t>- workspace/鸿蒙图库_一句话清理图片_产品方案决策汇报.pptx，第 2 页；机制为待验证方案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建议用时：7 分钟</a:t>
            </a:r>
          </a:p>
          <a:p>
            <a:r>
              <a:t>这一页把 PRD 与原型放回同一条风险链。先按后果、可解释性和恢复性分层，而不是按模型能否识别划范围。然后逐步讲六个状态，重点讲四类异常。验收不能写成页面正确展示，而要观察用户是否理解范围、是否能排除误选、异常是否绕过确认、执行后是否能恢复。</a:t>
            </a:r>
          </a:p>
          <a:p/>
          <a:p>
            <a:r>
              <a:t>[Sources]</a:t>
            </a:r>
          </a:p>
          <a:p>
            <a:r>
              <a:t>- workspace/鸿蒙图库_一句话清理图片_产品方案决策汇报.pptx，第 3–6、8 页；本页为 PRD 与原型状态重构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 分钟</a:t>
            </a:r>
          </a:p>
          <a:p>
            <a:r>
              <a:t>用两个 Skill 讲同一套开发流程。先从一次性提示词中提取稳定部分，再定义触发、输入输出、步骤和停止条件。方法论放 references，交付格式放 templates，可确定判断放 scripts，最后用真实案例评估。Command 只负责触发，不承担全部方法。</a:t>
            </a:r>
          </a:p>
          <a:p/>
          <a:p>
            <a:r>
              <a:t>[Sources]</a:t>
            </a:r>
          </a:p>
          <a:p>
            <a:r>
              <a:t>- pm-user-research/skills/ur-design-survey/SKILL.md</a:t>
            </a:r>
          </a:p>
          <a:p>
            <a:r>
              <a:t>- pm-competitor-analysis/pm-system-app-competitor-matrix/SKILL.md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 分钟</a:t>
            </a:r>
          </a:p>
          <a:p>
            <a:r>
              <a:t>这页作为工作台全景收束。不要逐个念 Skill 名称，讲共享产物如何连接阶段：研究设计成为后续输入，竞品证据进入方案，方案边界进入 PRD 与原型，新指标和反馈再回到下一轮。最后明确 Agent 能承担的工作与 PM 必须保留的判断。</a:t>
            </a:r>
          </a:p>
          <a:p/>
          <a:p>
            <a:r>
              <a:t>[Sources]</a:t>
            </a:r>
          </a:p>
          <a:p>
            <a:r>
              <a:t>- README.md</a:t>
            </a:r>
          </a:p>
          <a:p>
            <a:r>
              <a:t>- pm-user-research/workflows/synthetic-survey.md</a:t>
            </a:r>
          </a:p>
          <a:p>
            <a:r>
              <a:t>- 本地 PM Skills 目录结构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 分钟 + 5 分钟 Q&amp;A</a:t>
            </a:r>
          </a:p>
          <a:p>
            <a:r>
              <a:t>结尾只重复一件事：工作台的目标不是让产品经理少思考，而是让证据、判断、执行和验收可以连续发生。建议从一个高频、返工昂贵、可检查的任务开始建设，而不是直接追求万能 Agent。</a:t>
            </a:r>
          </a:p>
          <a:p/>
          <a:p>
            <a:r>
              <a:t>[Sources]</a:t>
            </a:r>
          </a:p>
          <a:p>
            <a:r>
              <a:t>- 本次分享总结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/>
      <p:pic>
        <p:nvPicPr>
          <p:cNvPr id="12" name="图片 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>
            <a:spLocks noGrp="1"/>
          </p:cNvSpPr>
          <p:nvPr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buNone/>
              <a:defRPr sz="3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单击此处添加标题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t>单击此处添加文本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/>
      <p:pic>
        <p:nvPicPr>
          <p:cNvPr id="20" name="图片 13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>
            <a:spLocks noGrp="1"/>
          </p:cNvSpPr>
          <p:nvPr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buNone/>
              <a:defRPr sz="3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单击此处添加标题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t>单击此处添加文本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/>
      <p:pic>
        <p:nvPicPr>
          <p:cNvPr id="10" name="图片 3"/>
          <p:cNvPicPr>
            <a:picLocks noChangeAspect="1"/>
          </p:cNvPicPr>
          <p:nvPr/>
        </p:nvPicPr>
        <p:blipFill rotWithShape="1">
          <a:blip r:embed="rId2"/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buNone/>
              <a:defRPr sz="3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单击此处添加标题</a:t>
            </a:r>
          </a:p>
        </p:txBody>
      </p:sp>
      <p:sp>
        <p:nvSpPr>
          <p:cNvPr id="8" name="L 形 7"/>
          <p:cNvSpPr>
            <a:spLocks noGrp="1"/>
          </p:cNvSpPr>
          <p:nvPr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900"/>
          </a:p>
        </p:txBody>
      </p:sp>
      <p:sp>
        <p:nvSpPr>
          <p:cNvPr id="5" name="Text Placeholder 5"/>
          <p:cNvSpPr>
            <a:spLocks noGrp="1"/>
          </p:cNvSpPr>
          <p:nvPr>
            <p:ph type="body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t>单击此处添加文本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/>
      <p:pic>
        <p:nvPicPr>
          <p:cNvPr id="15" name="图片 2"/>
          <p:cNvPicPr>
            <a:picLocks noChangeAspect="1"/>
          </p:cNvPicPr>
          <p:nvPr/>
        </p:nvPicPr>
        <p:blipFill rotWithShape="1">
          <a:blip r:embed="rId2"/>
          <a:srcRect l="1538" t="7030" b="11599"/>
          <a:stretch>
            <a:fillRect/>
          </a:stretch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/>
          <p:cNvSpPr>
            <a:spLocks noGrp="1"/>
          </p:cNvSpPr>
          <p:nvPr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90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buNone/>
              <a:defRPr sz="3200" b="0" i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t>单击此处添加标题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>
              <a:buNone/>
            </a:pPr>
            <a:r>
              <a:t>单击此处添加文本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 Placeholder 7"/>
          <p:cNvSpPr>
            <a:spLocks noGrp="1"/>
          </p:cNvSpPr>
          <p:nvPr>
            <p:ph type="body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</a:lstStyle>
          <a:p>
            <a:pPr lvl="0">
              <a:buNone/>
            </a:pPr>
            <a:r>
              <a:t>单击此处添加文本</a:t>
            </a:r>
          </a:p>
        </p:txBody>
      </p:sp>
      <p:sp>
        <p:nvSpPr>
          <p:cNvPr id="3" name="直线连接符 14"/>
          <p:cNvSpPr>
            <a:spLocks noGrp="1"/>
          </p:cNvSpPr>
          <p:nvPr/>
        </p:nv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" name="文本框 16"/>
          <p:cNvSpPr>
            <a:spLocks noGrp="1"/>
          </p:cNvSpPr>
          <p:nvPr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35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3635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t>单击此处添加标题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525780" indent="-171450">
              <a:buFont typeface="Arial" panose="020B0604020202020204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>
              <a:buNone/>
            </a:pPr>
            <a:r>
              <a:t>单击此处添加文本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>
            <a:spLocks noGrp="1"/>
          </p:cNvSpPr>
          <p:nvPr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4940">
                <a:solidFill>
                  <a:schemeClr val="tx1"/>
                </a:solidFill>
              </a:rPr>
              <a:t>Thank you.</a:t>
            </a:r>
            <a:endParaRPr sz="494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sz="1000"/>
              <a:t>Security Level:</a:t>
            </a:r>
            <a:endParaRPr sz="1000"/>
          </a:p>
        </p:txBody>
      </p:sp>
      <p:pic>
        <p:nvPicPr>
          <p:cNvPr id="18" name="图片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0" indent="0" algn="l" defTabSz="914400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L="4572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L="9144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L="13716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L="1828800" indent="0" algn="l" defTabSz="914400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118808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97180" indent="-297180" algn="l" defTabSz="1188085">
        <a:lnSpc>
          <a:spcPct val="90000"/>
        </a:lnSpc>
        <a:spcBef>
          <a:spcPts val="1300"/>
        </a:spcBef>
        <a:buFont typeface="Arial" panose="020B0604020202020204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marL="890905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marL="1484630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marL="2078355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marL="2672715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marL="3266440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marL="3860165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marL="4454525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marL="5048250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>
            <a:spLocks noGrp="1"/>
          </p:cNvSpPr>
          <p:nvPr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75" b="0">
                <a:solidFill>
                  <a:srgbClr val="1D1D1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Huawei Confidential</a:t>
            </a:r>
            <a:endParaRPr sz="975" b="0">
              <a:solidFill>
                <a:srgbClr val="1D1D1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89090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3837181-38C6-AD4F-B8BA-B444770388BB}" type="slidenum">
              <a:rPr sz="975">
                <a:solidFill>
                  <a:srgbClr val="1D1D1B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</a:fld>
            <a:endParaRPr sz="975">
              <a:solidFill>
                <a:srgbClr val="1D1D1B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50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sp>
        <p:nvSpPr>
          <p:cNvPr id="44" name="矩形 5"/>
          <p:cNvSpPr>
            <a:spLocks noGrp="1"/>
          </p:cNvSpPr>
          <p:nvPr/>
        </p:nvSpPr>
        <p:spPr>
          <a:xfrm>
            <a:off x="12315635" y="3097895"/>
            <a:ext cx="911019" cy="42595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ANTONE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186C</a:t>
            </a:r>
            <a:endParaRPr sz="700" b="1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RGB 200/16/46</a:t>
            </a:r>
            <a:endParaRPr sz="700" b="1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5" name="矩形 9"/>
          <p:cNvSpPr>
            <a:spLocks noGrp="1"/>
          </p:cNvSpPr>
          <p:nvPr/>
        </p:nvSpPr>
        <p:spPr>
          <a:xfrm>
            <a:off x="13288175" y="3097895"/>
            <a:ext cx="911019" cy="425955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ANTONE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185C</a:t>
            </a:r>
            <a:endParaRPr sz="700" b="1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RGB 199/0/11</a:t>
            </a:r>
            <a:endParaRPr sz="700" b="1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6" name="文本框 31"/>
          <p:cNvSpPr>
            <a:spLocks noGrp="1"/>
          </p:cNvSpPr>
          <p:nvPr/>
        </p:nvSpPr>
        <p:spPr>
          <a:xfrm>
            <a:off x="12326898" y="2931937"/>
            <a:ext cx="384721" cy="1315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品牌色</a:t>
            </a:r>
            <a:endParaRPr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12"/>
          <p:cNvSpPr>
            <a:spLocks noGrp="1"/>
          </p:cNvSpPr>
          <p:nvPr/>
        </p:nvSpPr>
        <p:spPr>
          <a:xfrm>
            <a:off x="12315640" y="4233909"/>
            <a:ext cx="885201" cy="395397"/>
          </a:xfrm>
          <a:prstGeom prst="rect">
            <a:avLst/>
          </a:prstGeom>
          <a:solidFill>
            <a:srgbClr val="EA5A4F"/>
          </a:solidFill>
          <a:ln>
            <a:solidFill>
              <a:srgbClr val="EA5A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RGB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234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90/79</a:t>
            </a:r>
            <a:endParaRPr sz="700" b="1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矩形 13"/>
          <p:cNvSpPr>
            <a:spLocks noGrp="1"/>
          </p:cNvSpPr>
          <p:nvPr/>
        </p:nvSpPr>
        <p:spPr>
          <a:xfrm>
            <a:off x="12315640" y="3783828"/>
            <a:ext cx="885201" cy="395397"/>
          </a:xfrm>
          <a:prstGeom prst="rect">
            <a:avLst/>
          </a:prstGeom>
          <a:solidFill>
            <a:srgbClr val="780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RGB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120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0/15</a:t>
            </a:r>
            <a:endParaRPr sz="700" b="1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文本框 15"/>
          <p:cNvSpPr>
            <a:spLocks noGrp="1"/>
          </p:cNvSpPr>
          <p:nvPr/>
        </p:nvSpPr>
        <p:spPr>
          <a:xfrm>
            <a:off x="12216278" y="3631294"/>
            <a:ext cx="569387" cy="13151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辅助色</a:t>
            </a:r>
            <a:endParaRPr sz="10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16"/>
          <p:cNvSpPr>
            <a:spLocks noGrp="1"/>
          </p:cNvSpPr>
          <p:nvPr/>
        </p:nvSpPr>
        <p:spPr>
          <a:xfrm>
            <a:off x="12315640" y="5131937"/>
            <a:ext cx="885201" cy="395397"/>
          </a:xfrm>
          <a:prstGeom prst="rect">
            <a:avLst/>
          </a:prstGeom>
          <a:solidFill>
            <a:srgbClr val="F8B5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RGB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248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181/60</a:t>
            </a:r>
            <a:endParaRPr sz="700" b="1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2" name="矩形 17"/>
          <p:cNvSpPr>
            <a:spLocks noGrp="1"/>
          </p:cNvSpPr>
          <p:nvPr/>
        </p:nvSpPr>
        <p:spPr>
          <a:xfrm>
            <a:off x="12315640" y="4689671"/>
            <a:ext cx="885201" cy="395397"/>
          </a:xfrm>
          <a:prstGeom prst="rect">
            <a:avLst/>
          </a:prstGeom>
          <a:solidFill>
            <a:srgbClr val="EB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RGB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235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92/1</a:t>
            </a:r>
            <a:endParaRPr sz="700" b="1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矩形 18"/>
          <p:cNvSpPr>
            <a:spLocks noGrp="1"/>
          </p:cNvSpPr>
          <p:nvPr/>
        </p:nvSpPr>
        <p:spPr>
          <a:xfrm>
            <a:off x="12315636" y="6023709"/>
            <a:ext cx="911019" cy="395397"/>
          </a:xfrm>
          <a:prstGeom prst="rect">
            <a:avLst/>
          </a:prstGeom>
          <a:solidFill>
            <a:srgbClr val="8989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RGB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137/137/137</a:t>
            </a:r>
            <a:endParaRPr sz="700" b="1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" name="矩形 19"/>
          <p:cNvSpPr>
            <a:spLocks noGrp="1"/>
          </p:cNvSpPr>
          <p:nvPr/>
        </p:nvSpPr>
        <p:spPr>
          <a:xfrm>
            <a:off x="12315636" y="5581443"/>
            <a:ext cx="911019" cy="395397"/>
          </a:xfrm>
          <a:prstGeom prst="rect">
            <a:avLst/>
          </a:prstGeom>
          <a:solidFill>
            <a:srgbClr val="2318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RGB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35/24/21</a:t>
            </a:r>
            <a:endParaRPr sz="700" b="1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" name="矩形 22"/>
          <p:cNvSpPr>
            <a:spLocks noGrp="1"/>
          </p:cNvSpPr>
          <p:nvPr/>
        </p:nvSpPr>
        <p:spPr>
          <a:xfrm>
            <a:off x="12315636" y="6471222"/>
            <a:ext cx="911019" cy="395397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RGB</a:t>
            </a:r>
            <a:r>
              <a:rPr sz="7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221</a:t>
            </a:r>
            <a:r>
              <a:rPr sz="7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7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221/221</a:t>
            </a:r>
            <a:endParaRPr sz="700" b="1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6" name="矩形 12"/>
          <p:cNvSpPr>
            <a:spLocks noGrp="1"/>
          </p:cNvSpPr>
          <p:nvPr/>
        </p:nvSpPr>
        <p:spPr>
          <a:xfrm>
            <a:off x="13288175" y="4233909"/>
            <a:ext cx="885201" cy="395397"/>
          </a:xfrm>
          <a:prstGeom prst="rect">
            <a:avLst/>
          </a:prstGeom>
          <a:solidFill>
            <a:srgbClr val="E98C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RGB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233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140/128</a:t>
            </a:r>
            <a:endParaRPr sz="700" b="1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" name="矩形 13"/>
          <p:cNvSpPr>
            <a:spLocks noGrp="1"/>
          </p:cNvSpPr>
          <p:nvPr/>
        </p:nvSpPr>
        <p:spPr>
          <a:xfrm>
            <a:off x="13288175" y="3783828"/>
            <a:ext cx="885201" cy="395397"/>
          </a:xfrm>
          <a:prstGeom prst="rect">
            <a:avLst/>
          </a:prstGeom>
          <a:solidFill>
            <a:srgbClr val="A72126"/>
          </a:solidFill>
          <a:ln>
            <a:solidFill>
              <a:srgbClr val="9F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RGB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159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0/1</a:t>
            </a:r>
            <a:endParaRPr sz="700" b="1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" name="矩形 16"/>
          <p:cNvSpPr>
            <a:spLocks noGrp="1"/>
          </p:cNvSpPr>
          <p:nvPr/>
        </p:nvSpPr>
        <p:spPr>
          <a:xfrm>
            <a:off x="13288175" y="5131937"/>
            <a:ext cx="885201" cy="395397"/>
          </a:xfrm>
          <a:prstGeom prst="rect">
            <a:avLst/>
          </a:prstGeom>
          <a:solidFill>
            <a:srgbClr val="F5DC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RGB</a:t>
            </a:r>
            <a:r>
              <a:rPr sz="7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245</a:t>
            </a:r>
            <a:r>
              <a:rPr sz="7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7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220/87</a:t>
            </a:r>
            <a:endParaRPr sz="700" b="1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9" name="矩形 17"/>
          <p:cNvSpPr>
            <a:spLocks noGrp="1"/>
          </p:cNvSpPr>
          <p:nvPr/>
        </p:nvSpPr>
        <p:spPr>
          <a:xfrm>
            <a:off x="13288175" y="4689671"/>
            <a:ext cx="885201" cy="395397"/>
          </a:xfrm>
          <a:prstGeom prst="rect">
            <a:avLst/>
          </a:prstGeom>
          <a:solidFill>
            <a:srgbClr val="F0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RGB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240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133/0</a:t>
            </a:r>
            <a:endParaRPr sz="700" b="1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" name="矩形 18"/>
          <p:cNvSpPr>
            <a:spLocks noGrp="1"/>
          </p:cNvSpPr>
          <p:nvPr/>
        </p:nvSpPr>
        <p:spPr>
          <a:xfrm>
            <a:off x="13288171" y="6023709"/>
            <a:ext cx="911019" cy="395397"/>
          </a:xfrm>
          <a:prstGeom prst="rect">
            <a:avLst/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RGB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181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181/181</a:t>
            </a:r>
            <a:endParaRPr sz="700" b="1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矩形 19"/>
          <p:cNvSpPr>
            <a:spLocks noGrp="1"/>
          </p:cNvSpPr>
          <p:nvPr/>
        </p:nvSpPr>
        <p:spPr>
          <a:xfrm>
            <a:off x="13288171" y="5581443"/>
            <a:ext cx="911019" cy="395397"/>
          </a:xfrm>
          <a:prstGeom prst="rect">
            <a:avLst/>
          </a:prstGeom>
          <a:solidFill>
            <a:srgbClr val="5957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RGB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89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700" b="1">
                <a:solidFill>
                  <a:schemeClr val="tx2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87/87</a:t>
            </a:r>
            <a:endParaRPr sz="700" b="1">
              <a:solidFill>
                <a:schemeClr val="tx2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3" name="矩形 22"/>
          <p:cNvSpPr>
            <a:spLocks noGrp="1"/>
          </p:cNvSpPr>
          <p:nvPr/>
        </p:nvSpPr>
        <p:spPr>
          <a:xfrm>
            <a:off x="13288171" y="6471222"/>
            <a:ext cx="911019" cy="395397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00000"/>
              </a:lnSpc>
              <a:buNone/>
            </a:pPr>
            <a:r>
              <a:rPr sz="7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RGB</a:t>
            </a:r>
            <a:r>
              <a:rPr sz="7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255</a:t>
            </a:r>
            <a:r>
              <a:rPr sz="7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7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255/255</a:t>
            </a:r>
            <a:endParaRPr sz="700" b="1">
              <a:solidFill>
                <a:schemeClr val="bg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1188085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97180" indent="-297180" algn="l" defTabSz="1188085">
        <a:lnSpc>
          <a:spcPct val="90000"/>
        </a:lnSpc>
        <a:spcBef>
          <a:spcPts val="1300"/>
        </a:spcBef>
        <a:buFont typeface="Arial" panose="020B0604020202020204"/>
        <a:buChar char="•"/>
        <a:defRPr sz="3635" kern="1200">
          <a:solidFill>
            <a:schemeClr val="tx1"/>
          </a:solidFill>
          <a:latin typeface="+mn-lt"/>
          <a:ea typeface="+mn-lt"/>
          <a:cs typeface="+mn-lt"/>
        </a:defRPr>
      </a:lvl1pPr>
      <a:lvl2pPr marL="890905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marL="1484630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marL="2078355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marL="2672715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marL="3266440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marL="3860165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marL="4454525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marL="5048250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5" name="Text Placeholder 1"/>
          <p:cNvSpPr>
            <a:spLocks noGrp="1"/>
          </p:cNvSpPr>
          <p:nvPr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/>
              <a:buNone/>
              <a:defRPr sz="1400" kern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ts val="1065"/>
              </a:lnSpc>
              <a:buNone/>
            </a:pPr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Copyright©2021 </a:t>
            </a:r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Huawei Technologies Co., Ltd.</a:t>
            </a:r>
            <a:b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</a:br>
            <a:r>
              <a:rPr sz="850" b="1">
                <a:solidFill>
                  <a:srgbClr val="1D1D1B"/>
                </a:solidFill>
                <a:latin typeface="+mj-lt"/>
                <a:ea typeface="+mj-lt"/>
                <a:cs typeface="+mj-lt"/>
              </a:rPr>
              <a:t>All Rights Reserved.</a:t>
            </a:r>
            <a:br>
              <a:rPr sz="78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br>
              <a:rPr sz="78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 information in this document may contain predictive </a:t>
            </a:r>
            <a:b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statements including, without limitation, statements regarding </a:t>
            </a:r>
            <a:b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 future financial and operating results, future product </a:t>
            </a:r>
            <a:b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portfolio, new technology, etc. There are a number of factors that </a:t>
            </a:r>
            <a:b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could cause actual results and developments to differ materially </a:t>
            </a:r>
            <a:b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from those expressed or implied in the predictive statements. </a:t>
            </a:r>
            <a:b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Therefore, such information is provided for reference purpose </a:t>
            </a:r>
            <a:b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only and constitutes neither an offer nor an acceptance. Huawei </a:t>
            </a:r>
            <a:b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85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may change the information at any time without notice. </a:t>
            </a:r>
            <a:endParaRPr sz="850">
              <a:solidFill>
                <a:srgbClr val="1D1D1B"/>
              </a:solidFill>
              <a:latin typeface="+mn-lt"/>
              <a:ea typeface="+mn-lt"/>
              <a:cs typeface="+mn-lt"/>
            </a:endParaRPr>
          </a:p>
          <a:p>
            <a:pPr>
              <a:lnSpc>
                <a:spcPts val="1065"/>
              </a:lnSpc>
              <a:buNone/>
            </a:pPr>
            <a:endParaRPr sz="780">
              <a:solidFill>
                <a:srgbClr val="1D1D1B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6" name="Subtitle 6"/>
          <p:cNvSpPr>
            <a:spLocks noGrp="1"/>
          </p:cNvSpPr>
          <p:nvPr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/>
              <a:buNone/>
              <a:defRPr sz="1400" kern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  <a:buNone/>
            </a:pPr>
            <a:r>
              <a:rPr sz="130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把数字世界带入每个人、每个家庭、</a:t>
            </a:r>
            <a:br>
              <a:rPr sz="130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300">
                <a:solidFill>
                  <a:srgbClr val="1D1D1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每个组织，构建万物互联的智能世界。</a:t>
            </a:r>
            <a:endParaRPr sz="1300">
              <a:solidFill>
                <a:srgbClr val="1D1D1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ubtitle 6"/>
          <p:cNvSpPr>
            <a:spLocks noGrp="1"/>
          </p:cNvSpPr>
          <p:nvPr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anchor="t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/>
              <a:buNone/>
              <a:defRPr sz="1400" kern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ts val="1295"/>
              </a:lnSpc>
              <a:buNone/>
            </a:pPr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Bring digital to every person, home, and </a:t>
            </a:r>
            <a:b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organization for a fully connected, </a:t>
            </a:r>
            <a:b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</a:br>
            <a:r>
              <a:rPr sz="1200">
                <a:solidFill>
                  <a:srgbClr val="1D1D1B"/>
                </a:solidFill>
                <a:latin typeface="+mn-lt"/>
                <a:ea typeface="+mn-lt"/>
                <a:cs typeface="+mn-lt"/>
              </a:rPr>
              <a:t>intelligent world.</a:t>
            </a:r>
            <a:endParaRPr sz="1200">
              <a:solidFill>
                <a:srgbClr val="1D1D1B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3" name="图片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l" defTabSz="1188085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/>
          <a:ea typeface="Arial" panose="020B0604020202020204"/>
          <a:cs typeface="Arial" panose="020B0604020202020204"/>
        </a:defRPr>
      </a:lvl1pPr>
    </p:titleStyle>
    <p:bodyStyle>
      <a:lvl1pPr marL="0" indent="0" algn="l" defTabSz="1188085">
        <a:lnSpc>
          <a:spcPct val="90000"/>
        </a:lnSpc>
        <a:spcBef>
          <a:spcPts val="1300"/>
        </a:spcBef>
        <a:buFont typeface="Arial" panose="020B0604020202020204"/>
        <a:buNone/>
        <a:defRPr sz="1820" kern="1200">
          <a:solidFill>
            <a:srgbClr val="FFFFFF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593725" indent="0" algn="l" defTabSz="1188085">
        <a:lnSpc>
          <a:spcPct val="90000"/>
        </a:lnSpc>
        <a:spcBef>
          <a:spcPts val="650"/>
        </a:spcBef>
        <a:buFont typeface="Arial" panose="020B0604020202020204"/>
        <a:buNone/>
        <a:defRPr sz="3120" kern="1200">
          <a:solidFill>
            <a:schemeClr val="tx1"/>
          </a:solidFill>
          <a:latin typeface="+mn-lt"/>
          <a:ea typeface="+mn-lt"/>
          <a:cs typeface="+mn-lt"/>
        </a:defRPr>
      </a:lvl2pPr>
      <a:lvl3pPr marL="1188085" indent="0" algn="l" defTabSz="1188085">
        <a:lnSpc>
          <a:spcPct val="90000"/>
        </a:lnSpc>
        <a:spcBef>
          <a:spcPts val="650"/>
        </a:spcBef>
        <a:buFont typeface="Arial" panose="020B0604020202020204"/>
        <a:buNone/>
        <a:defRPr sz="2600" kern="1200">
          <a:solidFill>
            <a:schemeClr val="tx1"/>
          </a:solidFill>
          <a:latin typeface="+mn-lt"/>
          <a:ea typeface="+mn-lt"/>
          <a:cs typeface="+mn-lt"/>
        </a:defRPr>
      </a:lvl3pPr>
      <a:lvl4pPr marL="1781810" indent="0" algn="l" defTabSz="1188085">
        <a:lnSpc>
          <a:spcPct val="90000"/>
        </a:lnSpc>
        <a:spcBef>
          <a:spcPts val="650"/>
        </a:spcBef>
        <a:buFont typeface="Arial" panose="020B0604020202020204"/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marL="2375535" indent="0" algn="l" defTabSz="1188085">
        <a:lnSpc>
          <a:spcPct val="90000"/>
        </a:lnSpc>
        <a:spcBef>
          <a:spcPts val="650"/>
        </a:spcBef>
        <a:buFont typeface="Arial" panose="020B0604020202020204"/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marL="3266440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marL="3860165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marL="4454525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marL="5048250" indent="-297180" algn="l" defTabSz="1188085">
        <a:lnSpc>
          <a:spcPct val="90000"/>
        </a:lnSpc>
        <a:spcBef>
          <a:spcPts val="650"/>
        </a:spcBef>
        <a:buFont typeface="Arial" panose="020B0604020202020204"/>
        <a:buChar char="•"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1pPr>
      <a:lvl2pPr marL="59372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2pPr>
      <a:lvl3pPr marL="118808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3pPr>
      <a:lvl4pPr marL="178181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4pPr>
      <a:lvl5pPr marL="237553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5pPr>
      <a:lvl6pPr marL="296926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6pPr>
      <a:lvl7pPr marL="356362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7pPr>
      <a:lvl8pPr marL="4157345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8pPr>
      <a:lvl9pPr marL="4751070" algn="l" defTabSz="1188085">
        <a:buNone/>
        <a:defRPr sz="234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sz="1000"/>
              <a:t>Security Level: Internal</a:t>
            </a:r>
            <a:endParaRPr sz="1000"/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7575" y="2572385"/>
            <a:ext cx="2921000" cy="408940"/>
          </a:xfrm>
          <a:prstGeom prst="rect">
            <a:avLst/>
          </a:prstGeom>
          <a:solidFill>
            <a:srgbClr val="FFFFFF">
              <a:alpha val="84000"/>
            </a:srgbClr>
          </a:solidFill>
          <a:ln w="0"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876300"/>
            <a:ext cx="6477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我的产品经理AI工作台</a:t>
            </a:r>
            <a:endParaRPr sz="4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1695450"/>
            <a:ext cx="628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从对话式工具到可验证的产品决策系统</a:t>
            </a:r>
            <a:endParaRPr sz="18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96950" y="2647950"/>
            <a:ext cx="309689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050" b="0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马海斌</a:t>
            </a:r>
            <a:endParaRPr lang="zh-CN" sz="1050" b="0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3440"/>
              </a:lnSpc>
              <a:buNone/>
            </a:pPr>
            <a:endParaRPr sz="3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476250"/>
            <a:ext cx="514350" cy="4762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" name="slide-title"/>
          <p:cNvSpPr>
            <a:spLocks noGrp="1"/>
          </p:cNvSpPr>
          <p:nvPr/>
        </p:nvSpPr>
        <p:spPr>
          <a:xfrm>
            <a:off x="781050" y="590550"/>
            <a:ext cx="10629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产品经理 AI 工作台由四层控制面构成</a:t>
            </a:r>
            <a:endParaRPr sz="28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lide-lead"/>
          <p:cNvSpPr>
            <a:spLocks noGrp="1"/>
          </p:cNvSpPr>
          <p:nvPr/>
        </p:nvSpPr>
        <p:spPr>
          <a:xfrm>
            <a:off x="781050" y="1104900"/>
            <a:ext cx="10629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工作台贯穿机会识别、问题研究、方案设计、协同交付与持续学习</a:t>
            </a:r>
            <a:endParaRPr sz="1350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619250" y="16002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619250" y="1847850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机会识别</a:t>
            </a:r>
            <a:endParaRPr sz="13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124200" y="1809750"/>
            <a:ext cx="361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65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543300" y="16002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543300" y="1847850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问题研究</a:t>
            </a:r>
            <a:endParaRPr sz="13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048250" y="1809750"/>
            <a:ext cx="361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65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467350" y="16002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467350" y="1847850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方案设计</a:t>
            </a:r>
            <a:endParaRPr sz="13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972300" y="1809750"/>
            <a:ext cx="361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65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391400" y="16002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391400" y="1847850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协同交付</a:t>
            </a:r>
            <a:endParaRPr sz="13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896350" y="1809750"/>
            <a:ext cx="361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65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315450" y="160020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315450" y="1847850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持续学习</a:t>
            </a:r>
            <a:endParaRPr sz="13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81050" y="2381250"/>
            <a:ext cx="10629900" cy="55245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71550" y="245745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</a:t>
            </a:r>
            <a:endParaRPr sz="15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705100" y="2457450"/>
            <a:ext cx="2724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明确任务与输出</a:t>
            </a:r>
            <a:endParaRPr sz="13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657850" y="2457450"/>
            <a:ext cx="5467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研究目标、角色、格式</a:t>
            </a:r>
            <a:endParaRPr sz="120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81050" y="3067050"/>
            <a:ext cx="10629900" cy="552450"/>
          </a:xfrm>
          <a:prstGeom prst="rect">
            <a:avLst/>
          </a:prstGeom>
          <a:solidFill>
            <a:srgbClr val="EAF1F8"/>
          </a:solidFill>
          <a:ln w="0">
            <a:noFill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71550" y="314325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315C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15C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</a:t>
            </a:r>
            <a:endParaRPr sz="1500" b="1">
              <a:solidFill>
                <a:srgbClr val="315C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705100" y="3143250"/>
            <a:ext cx="2724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保存事实与状态</a:t>
            </a:r>
            <a:endParaRPr sz="13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657850" y="3143250"/>
            <a:ext cx="5467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材料、证据、版本、边界</a:t>
            </a:r>
            <a:endParaRPr sz="120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81050" y="3752850"/>
            <a:ext cx="10629900" cy="552450"/>
          </a:xfrm>
          <a:prstGeom prst="rect">
            <a:avLst/>
          </a:prstGeom>
          <a:solidFill>
            <a:srgbClr val="E8F3ED"/>
          </a:solidFill>
          <a:ln w="0">
            <a:noFill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71550" y="382905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267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67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sz="1500" b="1">
              <a:solidFill>
                <a:srgbClr val="267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705100" y="3829050"/>
            <a:ext cx="2724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调用工具完成动作</a:t>
            </a:r>
            <a:endParaRPr sz="13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657850" y="3829050"/>
            <a:ext cx="5467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检索、分析、写文件、生成原型</a:t>
            </a:r>
            <a:endParaRPr sz="120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81050" y="4438650"/>
            <a:ext cx="10629900" cy="552450"/>
          </a:xfrm>
          <a:prstGeom prst="rect">
            <a:avLst/>
          </a:prstGeom>
          <a:solidFill>
            <a:srgbClr val="FCEBED"/>
          </a:solidFill>
          <a:ln w="0">
            <a:noFill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71550" y="451485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Harness</a:t>
            </a:r>
            <a:endParaRPr sz="15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705100" y="4514850"/>
            <a:ext cx="27241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限制执行并验证交付</a:t>
            </a:r>
            <a:endParaRPr sz="13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657850" y="4514850"/>
            <a:ext cx="5467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权限、文件契约、质量门禁、失败恢复</a:t>
            </a:r>
            <a:endParaRPr sz="120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81050" y="5276850"/>
            <a:ext cx="106299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模型负责生成与执行；产品经理仍负责问题定义、取舍、证据判断和验收。</a:t>
            </a:r>
            <a:endParaRPr sz="15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extBox 7"/>
          <p:cNvSpPr>
            <a:spLocks noGrp="1"/>
          </p:cNvSpPr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3440"/>
              </a:lnSpc>
              <a:buNone/>
            </a:pPr>
            <a:endParaRPr sz="3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476250"/>
            <a:ext cx="514350" cy="4762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" name="slide-title"/>
          <p:cNvSpPr>
            <a:spLocks noGrp="1"/>
          </p:cNvSpPr>
          <p:nvPr/>
        </p:nvSpPr>
        <p:spPr>
          <a:xfrm>
            <a:off x="781050" y="590550"/>
            <a:ext cx="10629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工作流从回答优化演变为交付可靠性管理</a:t>
            </a:r>
            <a:endParaRPr sz="28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lide-lead"/>
          <p:cNvSpPr>
            <a:spLocks noGrp="1"/>
          </p:cNvSpPr>
          <p:nvPr/>
        </p:nvSpPr>
        <p:spPr>
          <a:xfrm>
            <a:off x="781050" y="1104900"/>
            <a:ext cx="10629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工具能力不断扩大，产品经理的重点从写提示词转向设计任务与门禁</a:t>
            </a:r>
            <a:endParaRPr sz="1350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1162050" y="3124200"/>
            <a:ext cx="9620250" cy="0"/>
          </a:xfrm>
          <a:prstGeom prst="line">
            <a:avLst/>
          </a:prstGeom>
          <a:noFill/>
          <a:ln w="28575">
            <a:solidFill>
              <a:srgbClr val="D2D2D2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1619250" y="30099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919191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16573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对话式</a:t>
            </a:r>
            <a:endParaRPr sz="157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52500" y="20002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 工程</a:t>
            </a:r>
            <a:endParaRPr sz="1125" b="1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62000" y="2343150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回答更符合格式</a:t>
            </a:r>
            <a:endParaRPr sz="120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62000" y="3429000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0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事实和状态仍在聊天里</a:t>
            </a:r>
            <a:endParaRPr sz="1125" b="0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52500" y="4095750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PM：写清问题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3714750" y="30099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315C88"/>
          </a:solidFill>
          <a:ln w="0"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238500" y="16573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知识式</a:t>
            </a:r>
            <a:endParaRPr sz="157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048000" y="20002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315C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315C8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 / RAG</a:t>
            </a:r>
            <a:endParaRPr sz="1125" b="1">
              <a:solidFill>
                <a:srgbClr val="315C8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857500" y="2343150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可引用内部资料</a:t>
            </a:r>
            <a:endParaRPr sz="120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857500" y="3429000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0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资料多不等于能做取舍</a:t>
            </a:r>
            <a:endParaRPr sz="1125" b="0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048000" y="4095750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PM：组织证据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000750" y="30099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47B00"/>
          </a:solidFill>
          <a:ln w="0">
            <a:noFill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524500" y="16573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sz="157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334000" y="20002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C47B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47B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工具调用与循环</a:t>
            </a:r>
            <a:endParaRPr sz="1125" b="1">
              <a:solidFill>
                <a:srgbClr val="C47B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143500" y="2343150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搜索、分析、生成文件</a:t>
            </a:r>
            <a:endParaRPr sz="120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143500" y="3429000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0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能行动但可能越界或失控</a:t>
            </a:r>
            <a:endParaRPr sz="1125" b="0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334000" y="4095750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PM：定义动作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286750" y="30099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C7000A"/>
          </a:solidFill>
          <a:ln w="0">
            <a:noFill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7810500" y="16573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Harness</a:t>
            </a:r>
            <a:endParaRPr sz="157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620000" y="2000250"/>
            <a:ext cx="1905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工作区与质量门禁</a:t>
            </a:r>
            <a:endParaRPr sz="112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429500" y="2343150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任务可恢复、可验证、可审计</a:t>
            </a:r>
            <a:endParaRPr sz="120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429500" y="3429000"/>
            <a:ext cx="22860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0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需要维护契约与评估</a:t>
            </a:r>
            <a:endParaRPr sz="1125" b="0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620000" y="4095750"/>
            <a:ext cx="1905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PM：设计系统</a:t>
            </a:r>
            <a:endParaRPr sz="12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81050" y="4762500"/>
            <a:ext cx="10629900" cy="838200"/>
          </a:xfrm>
          <a:prstGeom prst="rect">
            <a:avLst/>
          </a:prstGeom>
          <a:solidFill>
            <a:srgbClr val="0D0D0D"/>
          </a:solidFill>
          <a:ln w="0">
            <a:noFill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90600" y="48958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判断工作流是否升级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3390900" y="4838700"/>
            <a:ext cx="77343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同一任务能否继续执行？失败是否停止？结论能否追溯到证据？下游能否读取同一份状态？</a:t>
            </a:r>
            <a:endParaRPr sz="127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390900" y="5276850"/>
            <a:ext cx="77343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若四个问题仍靠人工记忆，工具再多也只是更快的对话。</a:t>
            </a:r>
            <a:endParaRPr sz="1050" b="0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extBox 7"/>
          <p:cNvSpPr>
            <a:spLocks noGrp="1"/>
          </p:cNvSpPr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3440"/>
              </a:lnSpc>
              <a:buNone/>
            </a:pPr>
            <a:endParaRPr sz="3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476250"/>
            <a:ext cx="514350" cy="4762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" name="slide-title"/>
          <p:cNvSpPr>
            <a:spLocks noGrp="1"/>
          </p:cNvSpPr>
          <p:nvPr/>
        </p:nvSpPr>
        <p:spPr>
          <a:xfrm>
            <a:off x="781050" y="590550"/>
            <a:ext cx="10629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图库 AI 问卷将功能意愿转化为产品决策证据</a:t>
            </a:r>
            <a:endParaRPr sz="28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lide-lead"/>
          <p:cNvSpPr>
            <a:spLocks noGrp="1"/>
          </p:cNvSpPr>
          <p:nvPr/>
        </p:nvSpPr>
        <p:spPr>
          <a:xfrm>
            <a:off x="781050" y="1104900"/>
            <a:ext cx="10629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真实问卷共 12 题，题目顺序用于区分真实行为、体验问题与未来诉求</a:t>
            </a:r>
            <a:endParaRPr sz="1350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1676400"/>
            <a:ext cx="742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Q4</a:t>
            </a:r>
            <a:endParaRPr sz="105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1962150"/>
            <a:ext cx="1866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近期使用</a:t>
            </a:r>
            <a:endParaRPr sz="14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2324100"/>
            <a:ext cx="18669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是否有真实经历</a:t>
            </a:r>
            <a:endParaRPr sz="105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590800" y="2019300"/>
            <a:ext cx="266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895600" y="1676400"/>
            <a:ext cx="742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Q5–Q6</a:t>
            </a:r>
            <a:endParaRPr sz="105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895600" y="1962150"/>
            <a:ext cx="1866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功能与任务</a:t>
            </a:r>
            <a:endParaRPr sz="14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895600" y="2324100"/>
            <a:ext cx="18669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最近一次想完成什么</a:t>
            </a:r>
            <a:endParaRPr sz="105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05350" y="2019300"/>
            <a:ext cx="266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010150" y="1676400"/>
            <a:ext cx="742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Q7–Q8</a:t>
            </a:r>
            <a:endParaRPr sz="105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10150" y="1962150"/>
            <a:ext cx="1866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问题与后果</a:t>
            </a:r>
            <a:endParaRPr sz="14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010150" y="2324100"/>
            <a:ext cx="18669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返工、换工具、放弃或失去信任</a:t>
            </a:r>
            <a:endParaRPr sz="105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19900" y="2019300"/>
            <a:ext cx="266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124700" y="1676400"/>
            <a:ext cx="742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Q9–Q10</a:t>
            </a:r>
            <a:endParaRPr sz="105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124700" y="1962150"/>
            <a:ext cx="1866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需求与 Top 1</a:t>
            </a:r>
            <a:endParaRPr sz="14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124700" y="2324100"/>
            <a:ext cx="18669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愿望清单压缩为一个取舍</a:t>
            </a:r>
            <a:endParaRPr sz="105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934450" y="2019300"/>
            <a:ext cx="2667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239250" y="1676400"/>
            <a:ext cx="7429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Q11–Q12</a:t>
            </a:r>
            <a:endParaRPr sz="105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239250" y="1962150"/>
            <a:ext cx="1866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原因与场景</a:t>
            </a:r>
            <a:endParaRPr sz="14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239250" y="2324100"/>
            <a:ext cx="18669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解释优先级并确定切入点</a:t>
            </a:r>
            <a:endParaRPr sz="105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781050" y="2990850"/>
            <a:ext cx="10629900" cy="9525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914400" y="32385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真实需求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876550" y="3238500"/>
            <a:ext cx="1962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Q4 + Q6</a:t>
            </a:r>
            <a:endParaRPr sz="12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029200" y="323850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近期使用频率与最近任务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362950" y="32385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区分行为与概念兴趣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14400" y="37719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问题优先级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876550" y="3771900"/>
            <a:ext cx="1962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Q7 + Q8</a:t>
            </a:r>
            <a:endParaRPr sz="12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029200" y="377190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问题类型与实际后果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8362950" y="37719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区分效果问题与信任问题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81050" y="4248150"/>
            <a:ext cx="10629900" cy="457200"/>
          </a:xfrm>
          <a:prstGeom prst="rect">
            <a:avLst/>
          </a:prstGeom>
          <a:solidFill>
            <a:srgbClr val="FCEBED"/>
          </a:solidFill>
          <a:ln w="0">
            <a:noFill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914400" y="43053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功能优先级</a:t>
            </a:r>
            <a:endParaRPr sz="12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2876550" y="4305300"/>
            <a:ext cx="1962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Q9 + Q10 + Q11</a:t>
            </a:r>
            <a:endParaRPr sz="12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029200" y="430530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需求广度、强制选择与原因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362950" y="43053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形成可解释的 Top 1 假设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14400" y="4838700"/>
            <a:ext cx="180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MVP 场景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2876550" y="4838700"/>
            <a:ext cx="19621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Q12</a:t>
            </a:r>
            <a:endParaRPr sz="12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5029200" y="4838700"/>
            <a:ext cx="3143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任务发生的具体情境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362950" y="48387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确定入口、触发与使用范围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81050" y="5448300"/>
            <a:ext cx="10629900" cy="457200"/>
          </a:xfrm>
          <a:prstGeom prst="rect">
            <a:avLst/>
          </a:prstGeom>
          <a:solidFill>
            <a:srgbClr val="0D0D0D"/>
          </a:solidFill>
          <a:ln w="0">
            <a:noFill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90600" y="5524500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真实检查：12 题　0 个结构风险信号　PASS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5181600" y="5524500"/>
            <a:ext cx="6000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125" b="0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结构通过不代表效度已证明，仍需研究员复核、认知访谈与小样本试填</a:t>
            </a:r>
            <a:endParaRPr sz="1125" b="0">
              <a:solidFill>
                <a:srgbClr val="FFFFFF">
                  <a:alpha val="78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extBox 7"/>
          <p:cNvSpPr>
            <a:spLocks noGrp="1"/>
          </p:cNvSpPr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3440"/>
              </a:lnSpc>
              <a:buNone/>
            </a:pPr>
            <a:endParaRPr sz="3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476250"/>
            <a:ext cx="514350" cy="4762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" name="slide-title"/>
          <p:cNvSpPr>
            <a:spLocks noGrp="1"/>
          </p:cNvSpPr>
          <p:nvPr/>
        </p:nvSpPr>
        <p:spPr>
          <a:xfrm>
            <a:off x="781050" y="590550"/>
            <a:ext cx="10629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质量门禁在研究结论生成前阻断错误样本</a:t>
            </a:r>
            <a:endParaRPr sz="28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lide-lead"/>
          <p:cNvSpPr>
            <a:spLocks noGrp="1"/>
          </p:cNvSpPr>
          <p:nvPr/>
        </p:nvSpPr>
        <p:spPr>
          <a:xfrm>
            <a:off x="781050" y="1104900"/>
            <a:ext cx="10629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合成调研只用于试跑问卷逻辑与数据管线，不用于估计真实市场比例</a:t>
            </a:r>
            <a:endParaRPr sz="1350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1619250"/>
            <a:ext cx="14287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6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</a:t>
            </a:r>
            <a:endParaRPr sz="46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828800" y="1943100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项测试</a:t>
            </a:r>
            <a:endParaRPr sz="1275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086100" y="1619250"/>
            <a:ext cx="1238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650" b="1">
                <a:solidFill>
                  <a:srgbClr val="267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0" b="1">
                <a:solidFill>
                  <a:srgbClr val="267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</a:t>
            </a:r>
            <a:endParaRPr sz="4650" b="1">
              <a:solidFill>
                <a:srgbClr val="267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038600" y="194310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267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7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</a:t>
            </a:r>
            <a:endParaRPr sz="1275" b="1">
              <a:solidFill>
                <a:srgbClr val="267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124450" y="1619250"/>
            <a:ext cx="12382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46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465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76950" y="1943100"/>
            <a:ext cx="762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</a:t>
            </a:r>
            <a:endParaRPr sz="12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505700" y="1752600"/>
            <a:ext cx="3714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6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失败来自接口契约，不是模型内容</a:t>
            </a:r>
            <a:endParaRPr sz="16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81050" y="2514600"/>
            <a:ext cx="10629900" cy="9525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27813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75" b="1">
                <a:solidFill>
                  <a:srgbClr val="267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267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 b="1">
              <a:solidFill>
                <a:srgbClr val="267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1050" y="30670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问卷</a:t>
            </a:r>
            <a:endParaRPr sz="14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81050" y="340995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267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267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questionnaire.md</a:t>
            </a:r>
            <a:endParaRPr sz="1125" b="0">
              <a:solidFill>
                <a:srgbClr val="267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048000" y="310515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65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38525" y="27813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438525" y="30670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画像</a:t>
            </a:r>
            <a:endParaRPr sz="14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438525" y="340995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参数契约失败</a:t>
            </a:r>
            <a:endParaRPr sz="1125" b="0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705475" y="310515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65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096000" y="27813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75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1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0" y="30670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模拟答卷</a:t>
            </a:r>
            <a:endParaRPr sz="14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96000" y="340995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被门禁阻断</a:t>
            </a:r>
            <a:endParaRPr sz="1125" b="0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362950" y="3105150"/>
            <a:ext cx="3238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6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65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753475" y="2781300"/>
            <a:ext cx="381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75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75" b="1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753475" y="30670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研究报告</a:t>
            </a:r>
            <a:endParaRPr sz="14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753475" y="3409950"/>
            <a:ext cx="2286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不允许生成</a:t>
            </a:r>
            <a:endParaRPr sz="1125" b="0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81050" y="4000500"/>
            <a:ext cx="5105400" cy="1238250"/>
          </a:xfrm>
          <a:prstGeom prst="rect">
            <a:avLst/>
          </a:prstGeom>
          <a:solidFill>
            <a:srgbClr val="FCEBED"/>
          </a:solidFill>
          <a:ln w="0">
            <a:noFill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71550" y="41338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真实错误</a:t>
            </a:r>
            <a:endParaRPr sz="12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71550" y="4476750"/>
            <a:ext cx="46863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测试要求：sample-size / seed / group-quota</a:t>
            </a:r>
            <a:endParaRPr sz="120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当前脚本不接受参数；Windows 中文错误仍有乱码</a:t>
            </a:r>
            <a:endParaRPr sz="120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115050" y="4000500"/>
            <a:ext cx="5295900" cy="123825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305550" y="41338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修复与产品价值</a:t>
            </a:r>
            <a:endParaRPr sz="127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305550" y="4476750"/>
            <a:ext cx="48768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先统一命令与文件契约，再重跑画像。门禁把返工从结论阶段提前到接口阶段，避免不可复现样本进入漂亮报告。</a:t>
            </a:r>
            <a:endParaRPr sz="120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81050" y="5467350"/>
            <a:ext cx="106299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边界：合成用户可以验证题目分支和分析管线，但不能证明真实需求规模、购买率或统计显著性。</a:t>
            </a:r>
            <a:endParaRPr sz="12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extBox 7"/>
          <p:cNvSpPr>
            <a:spLocks noGrp="1"/>
          </p:cNvSpPr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3440"/>
              </a:lnSpc>
              <a:buNone/>
            </a:pPr>
            <a:endParaRPr sz="3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476250"/>
            <a:ext cx="514350" cy="4762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" name="slide-title"/>
          <p:cNvSpPr>
            <a:spLocks noGrp="1"/>
          </p:cNvSpPr>
          <p:nvPr/>
        </p:nvSpPr>
        <p:spPr>
          <a:xfrm>
            <a:off x="781050" y="590550"/>
            <a:ext cx="10629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竞品证据链将一句话删除收敛为可控自动化</a:t>
            </a:r>
            <a:endParaRPr sz="28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lide-lead"/>
          <p:cNvSpPr>
            <a:spLocks noGrp="1"/>
          </p:cNvSpPr>
          <p:nvPr/>
        </p:nvSpPr>
        <p:spPr>
          <a:xfrm>
            <a:off x="781050" y="1104900"/>
            <a:ext cx="10629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证据不足的行业判断进入待核验清单，产品方案不预设竞品基线</a:t>
            </a:r>
            <a:endParaRPr sz="1350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165735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200150" y="16573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ResearchUnit</a:t>
            </a:r>
            <a:endParaRPr sz="13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200150" y="19431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竞品 × Feature</a:t>
            </a:r>
            <a:endParaRPr sz="105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81050" y="23622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00150" y="23622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EvidenceRecord</a:t>
            </a:r>
            <a:endParaRPr sz="13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200150" y="26479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主张、来源、版本、地区</a:t>
            </a:r>
            <a:endParaRPr sz="105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306705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200150" y="306705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Confidence</a:t>
            </a:r>
            <a:endParaRPr sz="13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00150" y="335280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/ B / C</a:t>
            </a:r>
            <a:endParaRPr sz="105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1050" y="3771900"/>
            <a:ext cx="3619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200150" y="37719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Decision Input</a:t>
            </a:r>
            <a:endParaRPr sz="13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200150" y="4057650"/>
            <a:ext cx="2571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事实、推断、建议分栏</a:t>
            </a:r>
            <a:endParaRPr sz="105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4591050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检索停止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1050" y="4914900"/>
            <a:ext cx="3143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官方当前版本直接证据，或两条独立间接证据一致；达到上限仍冲突则标记 UNKNOWN。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4210050" y="1657350"/>
            <a:ext cx="7200900" cy="3429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9525">
            <a:solidFill>
              <a:srgbClr val="D2D2D2"/>
            </a:solidFill>
            <a:prstDash val="solid"/>
          </a:ln>
        </p:spPr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700" y="1771650"/>
            <a:ext cx="5689600" cy="3200400"/>
          </a:xfrm>
          <a:prstGeom prst="rect">
            <a:avLst/>
          </a:prstGeom>
        </p:spPr>
      </p:pic>
      <p:sp>
        <p:nvSpPr>
          <p:cNvPr id="28" name="矩形 27"/>
          <p:cNvSpPr>
            <a:spLocks noGrp="1"/>
          </p:cNvSpPr>
          <p:nvPr/>
        </p:nvSpPr>
        <p:spPr>
          <a:xfrm>
            <a:off x="4210050" y="5276850"/>
            <a:ext cx="7200900" cy="590550"/>
          </a:xfrm>
          <a:prstGeom prst="rect">
            <a:avLst/>
          </a:prstGeom>
          <a:solidFill>
            <a:srgbClr val="0D0D0D"/>
          </a:solidFill>
          <a:ln w="0">
            <a:noFill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400550" y="53911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最终决策</a:t>
            </a:r>
            <a:endParaRPr sz="12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657850" y="5353050"/>
            <a:ext cx="54864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系统负责生成可解释候选；用户保留最终删除责任；默认进入回收站。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extBox 7"/>
          <p:cNvSpPr>
            <a:spLocks noGrp="1"/>
          </p:cNvSpPr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3440"/>
              </a:lnSpc>
              <a:buNone/>
            </a:pPr>
            <a:endParaRPr sz="3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476250"/>
            <a:ext cx="514350" cy="4762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" name="slide-title"/>
          <p:cNvSpPr>
            <a:spLocks noGrp="1"/>
          </p:cNvSpPr>
          <p:nvPr/>
        </p:nvSpPr>
        <p:spPr>
          <a:xfrm>
            <a:off x="781050" y="590550"/>
            <a:ext cx="10629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风险分层同步约束 PRD、原型状态与验收口径</a:t>
            </a:r>
            <a:endParaRPr sz="28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lide-lead"/>
          <p:cNvSpPr>
            <a:spLocks noGrp="1"/>
          </p:cNvSpPr>
          <p:nvPr/>
        </p:nvSpPr>
        <p:spPr>
          <a:xfrm>
            <a:off x="781050" y="1104900"/>
            <a:ext cx="10629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MVP 只开放低歧义任务的确认执行，高风险语义统一降级为筛选</a:t>
            </a:r>
            <a:endParaRPr sz="1350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1600200"/>
            <a:ext cx="10629900" cy="419100"/>
          </a:xfrm>
          <a:prstGeom prst="rect">
            <a:avLst/>
          </a:prstGeom>
          <a:solidFill>
            <a:srgbClr val="E8F3ED"/>
          </a:solidFill>
          <a:ln w="0"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33450" y="16573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267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67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低风险</a:t>
            </a:r>
            <a:endParaRPr sz="1275" b="1">
              <a:solidFill>
                <a:srgbClr val="267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686050" y="16573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 / 明确类型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76950" y="1657350"/>
            <a:ext cx="504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预览后确认执行</a:t>
            </a:r>
            <a:endParaRPr sz="120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81050" y="2114550"/>
            <a:ext cx="10629900" cy="419100"/>
          </a:xfrm>
          <a:prstGeom prst="rect">
            <a:avLst/>
          </a:prstGeom>
          <a:solidFill>
            <a:srgbClr val="FFF3DC"/>
          </a:solidFill>
          <a:ln w="0"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33450" y="21717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C47B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47B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中风险</a:t>
            </a:r>
            <a:endParaRPr sz="1275" b="1">
              <a:solidFill>
                <a:srgbClr val="C47B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686050" y="217170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 / 重复 / 大候选集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76950" y="2171700"/>
            <a:ext cx="504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解释理由并二次确认</a:t>
            </a:r>
            <a:endParaRPr sz="120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2628900"/>
            <a:ext cx="10629900" cy="419100"/>
          </a:xfrm>
          <a:prstGeom prst="rect">
            <a:avLst/>
          </a:prstGeom>
          <a:solidFill>
            <a:srgbClr val="FCEBED"/>
          </a:solidFill>
          <a:ln w="0"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33450" y="268605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高风险</a:t>
            </a:r>
            <a:endParaRPr sz="12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686050" y="26860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人物 / 票据 / 私密 / 事件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076950" y="2686050"/>
            <a:ext cx="5048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只返回筛选，不出现删除按钮</a:t>
            </a:r>
            <a:endParaRPr sz="120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3276600"/>
            <a:ext cx="2667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PRD 主链路与原型状态</a:t>
            </a:r>
            <a:endParaRPr sz="13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81050" y="3638550"/>
            <a:ext cx="1466850" cy="609600"/>
          </a:xfrm>
          <a:prstGeom prst="roundRect">
            <a:avLst>
              <a:gd name="adj" fmla="val 7813"/>
            </a:avLst>
          </a:prstGeom>
          <a:solidFill>
            <a:srgbClr val="F5F5F5"/>
          </a:solidFill>
          <a:ln w="0">
            <a:noFill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876300" y="36957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76300" y="3905250"/>
            <a:ext cx="1276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输入意图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247900" y="3771900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2552700" y="3638550"/>
            <a:ext cx="1466850" cy="609600"/>
          </a:xfrm>
          <a:prstGeom prst="roundRect">
            <a:avLst>
              <a:gd name="adj" fmla="val 7813"/>
            </a:avLst>
          </a:prstGeom>
          <a:solidFill>
            <a:srgbClr val="F5F5F5"/>
          </a:solidFill>
          <a:ln w="0">
            <a:noFill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2647950" y="36957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647950" y="3905250"/>
            <a:ext cx="1276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结构化解析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019550" y="3771900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4324350" y="3638550"/>
            <a:ext cx="1466850" cy="609600"/>
          </a:xfrm>
          <a:prstGeom prst="roundRect">
            <a:avLst>
              <a:gd name="adj" fmla="val 7813"/>
            </a:avLst>
          </a:prstGeom>
          <a:solidFill>
            <a:srgbClr val="F5F5F5"/>
          </a:solidFill>
          <a:ln w="0">
            <a:noFill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419600" y="36957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4419600" y="3905250"/>
            <a:ext cx="1276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检索候选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91200" y="3771900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6096000" y="3638550"/>
            <a:ext cx="1466850" cy="609600"/>
          </a:xfrm>
          <a:prstGeom prst="roundRect">
            <a:avLst>
              <a:gd name="adj" fmla="val 7813"/>
            </a:avLst>
          </a:prstGeom>
          <a:solidFill>
            <a:srgbClr val="F5F5F5"/>
          </a:solidFill>
          <a:ln w="0">
            <a:noFill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191250" y="36957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191250" y="3905250"/>
            <a:ext cx="1276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解释预览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562850" y="3771900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7867650" y="3638550"/>
            <a:ext cx="1466850" cy="609600"/>
          </a:xfrm>
          <a:prstGeom prst="roundRect">
            <a:avLst>
              <a:gd name="adj" fmla="val 7813"/>
            </a:avLst>
          </a:prstGeom>
          <a:solidFill>
            <a:srgbClr val="FCEBED"/>
          </a:solidFill>
          <a:ln w="9525">
            <a:solidFill>
              <a:srgbClr val="C7000A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7962900" y="36957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962900" y="3905250"/>
            <a:ext cx="1276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显式确认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334500" y="3771900"/>
            <a:ext cx="3048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9639300" y="3638550"/>
            <a:ext cx="1466850" cy="609600"/>
          </a:xfrm>
          <a:prstGeom prst="roundRect">
            <a:avLst>
              <a:gd name="adj" fmla="val 7813"/>
            </a:avLst>
          </a:prstGeom>
          <a:solidFill>
            <a:srgbClr val="F5F5F5"/>
          </a:solidFill>
          <a:ln w="0">
            <a:noFill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734550" y="3695700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9734550" y="3905250"/>
            <a:ext cx="12763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执行与撤销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781050" y="45148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解析不完整</a:t>
            </a:r>
            <a:endParaRPr sz="11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81050" y="48006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追问缺失条件</a:t>
            </a:r>
            <a:endParaRPr sz="105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3438525" y="45148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候选集过大</a:t>
            </a:r>
            <a:endParaRPr sz="11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3438525" y="48006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要求二次缩小</a:t>
            </a:r>
            <a:endParaRPr sz="105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096000" y="45148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高风险对象</a:t>
            </a:r>
            <a:endParaRPr sz="112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6096000" y="48006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解释降级原因</a:t>
            </a:r>
            <a:endParaRPr sz="105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8753475" y="451485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执行失败</a:t>
            </a:r>
            <a:endParaRPr sz="11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753475" y="480060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展示回收站与恢复入口</a:t>
            </a:r>
            <a:endParaRPr sz="105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781050" y="5276850"/>
            <a:ext cx="10629900" cy="609600"/>
          </a:xfrm>
          <a:prstGeom prst="rect">
            <a:avLst/>
          </a:prstGeom>
          <a:solidFill>
            <a:srgbClr val="0D0D0D"/>
          </a:solidFill>
          <a:ln w="0">
            <a:noFill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990600" y="5410200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</a:t>
            </a:r>
            <a:endParaRPr sz="12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1885950" y="5353050"/>
            <a:ext cx="9277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执行前用户能复述候选范围；执行后能找到恢复入口；任何异常分支不得绕过确认。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extBox 7"/>
          <p:cNvSpPr>
            <a:spLocks noGrp="1"/>
          </p:cNvSpPr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3440"/>
              </a:lnSpc>
              <a:buNone/>
            </a:pPr>
            <a:endParaRPr sz="3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476250"/>
            <a:ext cx="514350" cy="4762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" name="slide-title"/>
          <p:cNvSpPr>
            <a:spLocks noGrp="1"/>
          </p:cNvSpPr>
          <p:nvPr/>
        </p:nvSpPr>
        <p:spPr>
          <a:xfrm>
            <a:off x="781050" y="590550"/>
            <a:ext cx="10629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通过契约、资源、校验和评估形成可复用能力</a:t>
            </a:r>
            <a:endParaRPr sz="28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lide-lead"/>
          <p:cNvSpPr>
            <a:spLocks noGrp="1"/>
          </p:cNvSpPr>
          <p:nvPr/>
        </p:nvSpPr>
        <p:spPr>
          <a:xfrm>
            <a:off x="781050" y="1104900"/>
            <a:ext cx="10629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Command 只是入口，稳定性来自明确的输入输出、停止条件与真实案例测试</a:t>
            </a:r>
            <a:endParaRPr sz="1350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16573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1924050"/>
            <a:ext cx="1257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一次性提示词</a:t>
            </a:r>
            <a:endParaRPr sz="11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038350" y="1962150"/>
            <a:ext cx="247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286000" y="16573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286000" y="1924050"/>
            <a:ext cx="1257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触发与输入</a:t>
            </a:r>
            <a:endParaRPr sz="11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543300" y="1962150"/>
            <a:ext cx="247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790950" y="16573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790950" y="1924050"/>
            <a:ext cx="1257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步骤与停止条件</a:t>
            </a:r>
            <a:endParaRPr sz="11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048250" y="1962150"/>
            <a:ext cx="247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295900" y="16573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295900" y="1924050"/>
            <a:ext cx="1257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参考与模板</a:t>
            </a:r>
            <a:endParaRPr sz="11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53200" y="1962150"/>
            <a:ext cx="247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00850" y="16573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800850" y="1924050"/>
            <a:ext cx="1257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脚本门禁</a:t>
            </a:r>
            <a:endParaRPr sz="112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058150" y="1962150"/>
            <a:ext cx="247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05800" y="16573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305800" y="1924050"/>
            <a:ext cx="1257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真实案例评估</a:t>
            </a:r>
            <a:endParaRPr sz="11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563100" y="1962150"/>
            <a:ext cx="2476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810750" y="16573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810750" y="1924050"/>
            <a:ext cx="1257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版本复盘</a:t>
            </a:r>
            <a:endParaRPr sz="11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781050" y="2571750"/>
            <a:ext cx="10629900" cy="9525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781050" y="2800350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$ur-design-survey</a:t>
            </a:r>
            <a:endParaRPr sz="15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81050" y="320040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输入契约</a:t>
            </a:r>
            <a:endParaRPr sz="1050" b="1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847850" y="3162300"/>
            <a:ext cx="3619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课题、研究目标、问卷场景、题量与材料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81050" y="358140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方法与门禁</a:t>
            </a:r>
            <a:endParaRPr sz="1050" b="1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1847850" y="3543300"/>
            <a:ext cx="3619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决策—证据—题目；分支、互斥和题间关联检查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81050" y="396240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sz="1050" b="1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1847850" y="3924300"/>
            <a:ext cx="3619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Markdown 事实源、评审 HTML、平台配置文本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962650" y="2800350"/>
            <a:ext cx="4476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$pm-system-app-competitor-matrix</a:t>
            </a:r>
            <a:endParaRPr sz="15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962650" y="320040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输入契约</a:t>
            </a:r>
            <a:endParaRPr sz="1050" b="1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029450" y="31623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研究问题、竞品范围与 FeatureSchema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962650" y="358140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方法与门禁</a:t>
            </a:r>
            <a:endParaRPr sz="1050" b="1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029450" y="35433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ResearchUnit、EvidenceRecord、置信度与停止规则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962650" y="396240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sz="1050" b="1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7029450" y="3924300"/>
            <a:ext cx="39814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Feature Matrix、证据明细、冲突与待确认项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81050" y="4400550"/>
            <a:ext cx="10629900" cy="952500"/>
          </a:xfrm>
          <a:prstGeom prst="rect">
            <a:avLst/>
          </a:prstGeom>
          <a:solidFill>
            <a:srgbClr val="0D0D0D"/>
          </a:solidFill>
          <a:ln w="0">
            <a:noFill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90600" y="4591050"/>
            <a:ext cx="1676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Command 示例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2838450" y="4514850"/>
            <a:ext cx="8286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$ur-design-survey 课题：手机图库 AI；目标：识别高频任务、主要问题与 Top 1；场景：原始需求洞察；不超过 12 题</a:t>
            </a:r>
            <a:endParaRPr sz="1125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781050" y="5524500"/>
            <a:ext cx="106299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开发判断：高频、跨人协作、返工昂贵且质量可检查的任务，优先做成 Skill。</a:t>
            </a:r>
            <a:endParaRPr sz="135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3440"/>
              </a:lnSpc>
              <a:buNone/>
            </a:pPr>
            <a:endParaRPr sz="3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476250"/>
            <a:ext cx="514350" cy="47625"/>
          </a:xfrm>
          <a:prstGeom prst="rect">
            <a:avLst/>
          </a:prstGeom>
          <a:solidFill>
            <a:srgbClr val="C7000A"/>
          </a:solidFill>
          <a:ln w="0">
            <a:noFill/>
          </a:ln>
        </p:spPr>
      </p:sp>
      <p:sp>
        <p:nvSpPr>
          <p:cNvPr id="10" name="slide-title"/>
          <p:cNvSpPr>
            <a:spLocks noGrp="1"/>
          </p:cNvSpPr>
          <p:nvPr/>
        </p:nvSpPr>
        <p:spPr>
          <a:xfrm>
            <a:off x="781050" y="590550"/>
            <a:ext cx="10629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8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当前工作台以共享产物连接产品生命周期</a:t>
            </a:r>
            <a:endParaRPr sz="28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lide-lead"/>
          <p:cNvSpPr>
            <a:spLocks noGrp="1"/>
          </p:cNvSpPr>
          <p:nvPr/>
        </p:nvSpPr>
        <p:spPr>
          <a:xfrm>
            <a:off x="781050" y="1104900"/>
            <a:ext cx="10629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之间传递文件与状态，产品经理在关键决策点保留判断权</a:t>
            </a:r>
            <a:endParaRPr sz="1350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81050" y="1657350"/>
            <a:ext cx="8191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</a:t>
            </a:r>
            <a:endParaRPr sz="1050" b="1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81050" y="262890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 与流程</a:t>
            </a:r>
            <a:endParaRPr sz="1050" b="1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3829050"/>
            <a:ext cx="95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91919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共享产物</a:t>
            </a:r>
            <a:endParaRPr sz="1050" b="1">
              <a:solidFill>
                <a:srgbClr val="91919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866900" y="16192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866900" y="1885950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机会识别</a:t>
            </a:r>
            <a:endParaRPr sz="14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1866900" y="2305050"/>
            <a:ext cx="1562100" cy="9525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866900" y="2533650"/>
            <a:ext cx="15621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新品速递</a:t>
            </a:r>
            <a:endParaRPr sz="1200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竞品追踪</a:t>
            </a:r>
            <a:endParaRPr sz="1200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1866900" y="3562350"/>
            <a:ext cx="1562100" cy="9525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866900" y="3771900"/>
            <a:ext cx="15621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机会清单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证据索引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429000" y="3009900"/>
            <a:ext cx="28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752850" y="16192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752850" y="1885950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问题定义</a:t>
            </a:r>
            <a:endParaRPr sz="14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3752850" y="2305050"/>
            <a:ext cx="1562100" cy="9525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752850" y="2533650"/>
            <a:ext cx="15621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问卷设计</a:t>
            </a:r>
            <a:endParaRPr sz="1200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用户模拟与研究报告</a:t>
            </a:r>
            <a:endParaRPr sz="1200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3752850" y="3562350"/>
            <a:ext cx="1562100" cy="9525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3752850" y="3771900"/>
            <a:ext cx="15621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研究设计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问题优先级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314950" y="3009900"/>
            <a:ext cx="28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638800" y="16192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638800" y="1885950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方案设计</a:t>
            </a:r>
            <a:endParaRPr sz="14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5638800" y="2305050"/>
            <a:ext cx="1562100" cy="9525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638800" y="2533650"/>
            <a:ext cx="15621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竞品矩阵</a:t>
            </a:r>
            <a:endParaRPr sz="1200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产品方案</a:t>
            </a:r>
            <a:endParaRPr sz="1200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5638800" y="3562350"/>
            <a:ext cx="1562100" cy="9525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638800" y="3771900"/>
            <a:ext cx="15621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范围判断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风险分层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200900" y="3009900"/>
            <a:ext cx="28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524750" y="16192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7524750" y="1885950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规格与体验</a:t>
            </a:r>
            <a:endParaRPr sz="14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7524750" y="2305050"/>
            <a:ext cx="1562100" cy="9525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7524750" y="2533650"/>
            <a:ext cx="15621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PRD 账本</a:t>
            </a:r>
            <a:endParaRPr sz="12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原型状态</a:t>
            </a:r>
            <a:endParaRPr sz="12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产品文案</a:t>
            </a:r>
            <a:endParaRPr sz="12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7524750" y="3562350"/>
            <a:ext cx="1562100" cy="9525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7524750" y="3771900"/>
            <a:ext cx="15621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状态模型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验收口径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9086850" y="3009900"/>
            <a:ext cx="28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endParaRPr sz="15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9410700" y="1619250"/>
            <a:ext cx="3238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9410700" y="1885950"/>
            <a:ext cx="15621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持续学习</a:t>
            </a:r>
            <a:endParaRPr sz="1425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9410700" y="2305050"/>
            <a:ext cx="1562100" cy="9525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9410700" y="2533650"/>
            <a:ext cx="15621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指标复盘</a:t>
            </a:r>
            <a:endParaRPr sz="1200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20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竞品变化</a:t>
            </a:r>
            <a:endParaRPr sz="1200" b="1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9410700" y="3562350"/>
            <a:ext cx="1562100" cy="9525"/>
          </a:xfrm>
          <a:prstGeom prst="line">
            <a:avLst/>
          </a:prstGeom>
          <a:noFill/>
          <a:ln w="9525">
            <a:solidFill>
              <a:srgbClr val="D2D2D2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9410700" y="3771900"/>
            <a:ext cx="15621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新证据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buNone/>
              <a:def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版本调整</a:t>
            </a:r>
            <a:endParaRPr sz="1125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781050" y="4686300"/>
            <a:ext cx="10629900" cy="104775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90600" y="48387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267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67A5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可以承担</a:t>
            </a:r>
            <a:endParaRPr sz="1200" b="1">
              <a:solidFill>
                <a:srgbClr val="267A5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2895600" y="4819650"/>
            <a:ext cx="805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757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检索、格式转换、批量分析、文件生成、结构检查和重复验证</a:t>
            </a:r>
            <a:endParaRPr sz="1200" b="0">
              <a:solidFill>
                <a:srgbClr val="5757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990600" y="5257800"/>
            <a:ext cx="1809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产品经理必须保留</a:t>
            </a:r>
            <a:endParaRPr sz="120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2895600" y="5238750"/>
            <a:ext cx="80581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问题定义、证据可信度、价值取舍、风险接受、需求边界和最终验收</a:t>
            </a:r>
            <a:endParaRPr sz="120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781050" y="2590800"/>
            <a:ext cx="6191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5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D1D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我的产品经理AI工作台</a:t>
            </a:r>
            <a:endParaRPr sz="2550" b="1">
              <a:solidFill>
                <a:srgbClr val="1D1D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19150" y="3219450"/>
            <a:ext cx="62865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让证据、判断与交付在同一套系统中连续发生</a:t>
            </a:r>
            <a:endParaRPr sz="1575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4686300"/>
            <a:ext cx="1714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C700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Q&amp;A</a:t>
            </a:r>
            <a:endParaRPr sz="1950" b="1">
              <a:solidFill>
                <a:srgbClr val="C700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pdated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2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210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2478</Words>
  <Application>WPS 演示</Application>
  <PresentationFormat>Converted Presentation</PresentationFormat>
  <Paragraphs>528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</vt:lpstr>
      <vt:lpstr>Arial Unicode MS</vt:lpstr>
      <vt:lpstr>黑体</vt:lpstr>
      <vt:lpstr>1_Title Slide</vt:lpstr>
      <vt:lpstr>Chart page</vt:lpstr>
      <vt:lpstr>4_Chart page</vt:lpstr>
      <vt:lpstr>End page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korbin</cp:lastModifiedBy>
  <cp:revision>3</cp:revision>
  <dcterms:created xsi:type="dcterms:W3CDTF">2026-09-14T16:19:26Z</dcterms:created>
  <dcterms:modified xsi:type="dcterms:W3CDTF">2026-09-14T16:22:52Z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7325F449E06B47A3B231B894C96C58F1_12</vt:lpwstr>
  </property>
  <property fmtid="{D5CDD505-2E9C-101B-9397-08002B2CF9AE}" pid="3" name="KSOProductBuildVer">
    <vt:lpwstr>2052-12.1.0.28505</vt:lpwstr>
  </property>
</Properties>
</file>