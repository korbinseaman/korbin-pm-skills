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602fac9b5e423a" /><Relationship Type="http://schemas.openxmlformats.org/officeDocument/2006/relationships/extended-properties" Target="/docProps/app.xml" Id="Ree99c4b37b1249bc" /><Relationship Type="http://schemas.openxmlformats.org/officeDocument/2006/relationships/officeDocument" Target="/ppt/presentation.xml" Id="R974469f68d3446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f73df57bd34089"/>
    <p:sldMasterId xmlns:r="http://schemas.openxmlformats.org/officeDocument/2006/relationships" id="2147483653" r:id="Rbcb35c5c919548f0"/>
    <p:sldMasterId xmlns:r="http://schemas.openxmlformats.org/officeDocument/2006/relationships" id="2147483655" r:id="Rbd84fe9b7a444777"/>
    <p:sldMasterId xmlns:r="http://schemas.openxmlformats.org/officeDocument/2006/relationships" id="2147483657" r:id="R90201fd7c22c4b57"/>
  </p:sldMasterIdLst>
  <p:notesMasterIdLst>
    <p:notesMasterId xmlns:r="http://schemas.openxmlformats.org/officeDocument/2006/relationships" r:id="Rdf7e6f636b924944"/>
  </p:notesMasterIdLst>
  <p:sldIdLst>
    <p:sldId xmlns:r="http://schemas.openxmlformats.org/officeDocument/2006/relationships" id="256" r:id="Re350562332ab4742"/>
    <p:sldId xmlns:r="http://schemas.openxmlformats.org/officeDocument/2006/relationships" id="257" r:id="R6846d336854342df"/>
    <p:sldId xmlns:r="http://schemas.openxmlformats.org/officeDocument/2006/relationships" id="258" r:id="Rf36674bd8e24494f"/>
    <p:sldId xmlns:r="http://schemas.openxmlformats.org/officeDocument/2006/relationships" id="259" r:id="R11ade996109f487e"/>
    <p:sldId xmlns:r="http://schemas.openxmlformats.org/officeDocument/2006/relationships" id="260" r:id="R3d0dfd7a054343d5"/>
    <p:sldId xmlns:r="http://schemas.openxmlformats.org/officeDocument/2006/relationships" id="261" r:id="R304fb85f362446e8"/>
    <p:sldId xmlns:r="http://schemas.openxmlformats.org/officeDocument/2006/relationships" id="262" r:id="R89846402e7e44ebd"/>
    <p:sldId xmlns:r="http://schemas.openxmlformats.org/officeDocument/2006/relationships" id="263" r:id="R798cd765bbf54c9c"/>
    <p:sldId xmlns:r="http://schemas.openxmlformats.org/officeDocument/2006/relationships" id="264" r:id="R4d54be519a2d47c6"/>
    <p:sldId xmlns:r="http://schemas.openxmlformats.org/officeDocument/2006/relationships" id="265" r:id="R4d30d74dea04493d"/>
    <p:sldId xmlns:r="http://schemas.openxmlformats.org/officeDocument/2006/relationships" id="266" r:id="R82d499ba4f4244f6"/>
    <p:sldId xmlns:r="http://schemas.openxmlformats.org/officeDocument/2006/relationships" id="267" r:id="Rcb55cb102c9a42b7"/>
    <p:sldId xmlns:r="http://schemas.openxmlformats.org/officeDocument/2006/relationships" id="268" r:id="R8f1bf2d5deeb4fe3"/>
    <p:sldId xmlns:r="http://schemas.openxmlformats.org/officeDocument/2006/relationships" id="269" r:id="Raf4430a2ec964eb0"/>
  </p:sldIdLst>
  <p:sldSz cx="12196763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586a9c5a264e10" /><Relationship Type="http://schemas.openxmlformats.org/officeDocument/2006/relationships/slideMaster" Target="/ppt/slideMasters/slideMaster1.xml" Id="R35f73df57bd34089" /><Relationship Type="http://schemas.openxmlformats.org/officeDocument/2006/relationships/slideMaster" Target="/ppt/slideMasters/slideMaster2.xml" Id="Rbcb35c5c919548f0" /><Relationship Type="http://schemas.openxmlformats.org/officeDocument/2006/relationships/slideMaster" Target="/ppt/slideMasters/slideMaster3.xml" Id="Rbd84fe9b7a444777" /><Relationship Type="http://schemas.openxmlformats.org/officeDocument/2006/relationships/slideMaster" Target="/ppt/slideMasters/slideMaster4.xml" Id="R90201fd7c22c4b57" /><Relationship Type="http://schemas.openxmlformats.org/officeDocument/2006/relationships/notesMaster" Target="/ppt/notesMasters/notesMaster1.xml" Id="Rdf7e6f636b924944" /><Relationship Type="http://schemas.openxmlformats.org/officeDocument/2006/relationships/presProps" Target="/ppt/presProps.xml" Id="Rd42cd8ccb412442d" /><Relationship Type="http://schemas.openxmlformats.org/officeDocument/2006/relationships/viewProps" Target="/ppt/viewProps.xml" Id="R23f2b891b54e4dd6" /><Relationship Type="http://schemas.openxmlformats.org/officeDocument/2006/relationships/tableStyles" Target="/ppt/tableStyles.xml" Id="Re1bd9265e1ef401c" /><Relationship Type="http://schemas.openxmlformats.org/officeDocument/2006/relationships/slide" Target="/ppt/slides/slide1.xml" Id="Re350562332ab4742" /><Relationship Type="http://schemas.openxmlformats.org/officeDocument/2006/relationships/slide" Target="/ppt/slides/slide2.xml" Id="R6846d336854342df" /><Relationship Type="http://schemas.openxmlformats.org/officeDocument/2006/relationships/slide" Target="/ppt/slides/slide3.xml" Id="Rf36674bd8e24494f" /><Relationship Type="http://schemas.openxmlformats.org/officeDocument/2006/relationships/slide" Target="/ppt/slides/slide4.xml" Id="R11ade996109f487e" /><Relationship Type="http://schemas.openxmlformats.org/officeDocument/2006/relationships/slide" Target="/ppt/slides/slide5.xml" Id="R3d0dfd7a054343d5" /><Relationship Type="http://schemas.openxmlformats.org/officeDocument/2006/relationships/slide" Target="/ppt/slides/slide6.xml" Id="R304fb85f362446e8" /><Relationship Type="http://schemas.openxmlformats.org/officeDocument/2006/relationships/slide" Target="/ppt/slides/slide7.xml" Id="R89846402e7e44ebd" /><Relationship Type="http://schemas.openxmlformats.org/officeDocument/2006/relationships/slide" Target="/ppt/slides/slide8.xml" Id="R798cd765bbf54c9c" /><Relationship Type="http://schemas.openxmlformats.org/officeDocument/2006/relationships/slide" Target="/ppt/slides/slide9.xml" Id="R4d54be519a2d47c6" /><Relationship Type="http://schemas.openxmlformats.org/officeDocument/2006/relationships/slide" Target="/ppt/slides/slide10.xml" Id="R4d30d74dea04493d" /><Relationship Type="http://schemas.openxmlformats.org/officeDocument/2006/relationships/slide" Target="/ppt/slides/slide11.xml" Id="R82d499ba4f4244f6" /><Relationship Type="http://schemas.openxmlformats.org/officeDocument/2006/relationships/slide" Target="/ppt/slides/slide12.xml" Id="Rcb55cb102c9a42b7" /><Relationship Type="http://schemas.openxmlformats.org/officeDocument/2006/relationships/slide" Target="/ppt/slides/slide13.xml" Id="R8f1bf2d5deeb4fe3" /><Relationship Type="http://schemas.openxmlformats.org/officeDocument/2006/relationships/slide" Target="/ppt/slides/slide14.xml" Id="Raf4430a2ec964e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573eef37f54b43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1d93ed57554b19" /><Relationship Type="http://schemas.openxmlformats.org/officeDocument/2006/relationships/notesMaster" Target="/ppt/notesMasters/notesMaster1.xml" Id="R7148cd50f23b4b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27a71b36b04bb1" /><Relationship Type="http://schemas.openxmlformats.org/officeDocument/2006/relationships/notesMaster" Target="/ppt/notesMasters/notesMaster1.xml" Id="R6b22f7032cda41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ba4445672b41ba" /><Relationship Type="http://schemas.openxmlformats.org/officeDocument/2006/relationships/notesMaster" Target="/ppt/notesMasters/notesMaster1.xml" Id="R93d8687a5ef542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6c81a217034cb5" /><Relationship Type="http://schemas.openxmlformats.org/officeDocument/2006/relationships/notesMaster" Target="/ppt/notesMasters/notesMaster1.xml" Id="R29808bca7e9a4f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beeb1d55bc4f28" /><Relationship Type="http://schemas.openxmlformats.org/officeDocument/2006/relationships/notesMaster" Target="/ppt/notesMasters/notesMaster1.xml" Id="R905edbee42c34e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2b7fb5efb84074" /><Relationship Type="http://schemas.openxmlformats.org/officeDocument/2006/relationships/notesMaster" Target="/ppt/notesMasters/notesMaster1.xml" Id="R035ec1323f604c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a57fef62db4cb9" /><Relationship Type="http://schemas.openxmlformats.org/officeDocument/2006/relationships/notesMaster" Target="/ppt/notesMasters/notesMaster1.xml" Id="R9b6b88b63c7c44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ed27e9cef743df" /><Relationship Type="http://schemas.openxmlformats.org/officeDocument/2006/relationships/notesMaster" Target="/ppt/notesMasters/notesMaster1.xml" Id="R91ec895581124d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9c4dc41d5c452d" /><Relationship Type="http://schemas.openxmlformats.org/officeDocument/2006/relationships/notesMaster" Target="/ppt/notesMasters/notesMaster1.xml" Id="R6a992299104c4e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c09f9435304be3" /><Relationship Type="http://schemas.openxmlformats.org/officeDocument/2006/relationships/notesMaster" Target="/ppt/notesMasters/notesMaster1.xml" Id="R0efafb3a4a5b4d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0aa6f041894050" /><Relationship Type="http://schemas.openxmlformats.org/officeDocument/2006/relationships/notesMaster" Target="/ppt/notesMasters/notesMaster1.xml" Id="Rd999c02733334e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3c26421d404d71" /><Relationship Type="http://schemas.openxmlformats.org/officeDocument/2006/relationships/notesMaster" Target="/ppt/notesMasters/notesMaster1.xml" Id="R0b4b8c2057934e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ff150fb2534cae" /><Relationship Type="http://schemas.openxmlformats.org/officeDocument/2006/relationships/notesMaster" Target="/ppt/notesMasters/notesMaster1.xml" Id="Redf157dc19554a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b9e67922804e44" /><Relationship Type="http://schemas.openxmlformats.org/officeDocument/2006/relationships/notesMaster" Target="/ppt/notesMasters/notesMaster1.xml" Id="Rc02c09850c554d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场用一个任务建立共同情境：收到“做一下这个功能的需求调研”后，如何从一句请求开始，最后得到能评审、能配置、能支持决策的产物？本次分享分三部分：工具为什么变化，当前的工作流怎样使用，产品经理如何把重复工作沉淀成Skill。重点放在真实问卷和本地方法文件，不用没有记录的提效百分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用户提供的主题、受众与分享目标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用三分钟解释能力变化。2020年，GPT-3展示了通过示例适配任务的能力，RAG研究外部知识检索。2022年的CoT与ReAct分别讨论复杂推理和推理与行动结合，同年11月ChatGPT让对话使用普及。2024年末的工程总结明确了预定义工作流与动态Agent的区别。2025年Claude Code等工具让模型可以在工作区读写文件并执行任务。9月上下文工程、11月长任务Harness文章系统讨论了证据、状态和恢复。这些是代表性节点，不是各概念唯一的诞生日。RAG比ChatGPT早，Context Engineering也持续服务Agent。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https://arxiv.org/abs/2005.14165</a:t>
            </a:r>
          </a:p>
          <a:p xmlns:a="http://schemas.openxmlformats.org/drawingml/2006/main">
            <a:r>
              <a:t>- https://arxiv.org/abs/2005.11401</a:t>
            </a:r>
          </a:p>
          <a:p xmlns:a="http://schemas.openxmlformats.org/drawingml/2006/main">
            <a:r>
              <a:t>- https://arxiv.org/abs/2201.11903</a:t>
            </a:r>
          </a:p>
          <a:p xmlns:a="http://schemas.openxmlformats.org/drawingml/2006/main">
            <a:r>
              <a:t>- https://arxiv.org/abs/2210.03629</a:t>
            </a:r>
          </a:p>
          <a:p xmlns:a="http://schemas.openxmlformats.org/drawingml/2006/main">
            <a:r>
              <a:t>- https://openai.com/index/chatgpt/</a:t>
            </a:r>
          </a:p>
          <a:p xmlns:a="http://schemas.openxmlformats.org/drawingml/2006/main">
            <a:r>
              <a:t>- https://www.anthropic.com/engineering/building-effective-agents</a:t>
            </a:r>
          </a:p>
          <a:p xmlns:a="http://schemas.openxmlformats.org/drawingml/2006/main">
            <a:r>
              <a:t>- https://www.anthropic.com/news/claude-3-7-sonnet</a:t>
            </a:r>
          </a:p>
          <a:p xmlns:a="http://schemas.openxmlformats.org/drawingml/2006/main">
            <a:r>
              <a:t>- https://www.anthropic.com/engineering/effective-context-engineering-for-ai-agents</a:t>
            </a:r>
          </a:p>
          <a:p xmlns:a="http://schemas.openxmlformats.org/drawingml/2006/main">
            <a:r>
              <a:t>- https://www.anthropic.com/engineering/effective-harnesses-for-long-running-agents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先说个人变化，再说技术名词。问答阶段主要在聊天窗口中追问、整理和生成初稿。知识库阶段把材料交给Cherry Studio RAG，让回答能够利用固定资料；工作流进一步把重复步骤串起来。Agent阶段交付从一段文字扩展到文件、检索和可执行任务。现在关注Harness，意味着开始设计目录、Skill、状态、检查和恢复。每次变化都围绕任务需要补哪一块能力。本页按用户给出的经历整理，不将未记录的个人使用年份写成确定事实。Cloud Code按语境理解为Claude Code，其他未确认工具不归入个人已用名单。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用户口述的工具使用演变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pm-user-research/workflows/survey-design.md</a:t>
            </a:r>
          </a:p>
          <a:p xmlns:a="http://schemas.openxmlformats.org/drawingml/2006/main">
            <a:r>
              <a:t>- pm-user-research/workflows/synthetic-survey.md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解释两个层次：模型决定可用的推理、多模态和结构化输出能力，应用和Agent环境决定它能访问什么材料、调用什么工具以及交付什么文件。GPT、Claude、Gemini以及DeepSeek、Qwen、Kimi等是可比较的模型家族，具体版本还受账号与部署条件影响。针对相同真实任务比较输出、人工修订和成本，不按品牌笼统排名。对话适合澄清与初稿，RAG适合围绕固定资料问答，工作流适合路径稳定的重复处理，Agent适合需要工具与文件的多步任务。原型任务还需要能够预览交互的环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- https://www.anthropic.com/news/claude-3-7-sonnet</a:t>
            </a:r>
          </a:p>
          <a:p xmlns:a="http://schemas.openxmlformats.org/drawingml/2006/main">
            <a:r>
              <a:t>- https://opencode.ai/docs/agents/</a:t>
            </a:r>
          </a:p>
          <a:p xmlns:a="http://schemas.openxmlformats.org/drawingml/2006/main">
            <a:r>
              <a:t>- https://www.dify.ai/workflows</a:t>
            </a:r>
          </a:p>
          <a:p xmlns:a="http://schemas.openxmlformats.org/drawingml/2006/main">
            <a:r>
              <a:t>- https://docs.cherry-ai.com/en-us/knowledge-base/knowledge-base-tutorial</a:t>
            </a:r>
          </a:p>
          <a:p xmlns:a="http://schemas.openxmlformats.org/drawingml/2006/main">
            <a:r>
              <a:t>- https://ai.google.dev/gemini-api/docs/models</a:t>
            </a:r>
          </a:p>
          <a:p xmlns:a="http://schemas.openxmlformats.org/drawingml/2006/main">
            <a:r>
              <a:t>- 任务匹配为本次分享的方法建议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只讲全景和成熟度。仓库可核实9个业务Skill，包含3个竞品能力、1个新品速递、1个产品文案和4个用户研究能力。用户研究已有两个真实问卷课题文件。新品速递与图库产品方案也存在实际文档。流程、模拟及后续分析的能力文件存在，但不据此宣称已完成真实用户研究或稳定上线运营。沿着机会、需求、方案、体验与运营讲各环节产生的文件，强调后续阶段读取前一步产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pm-user-research/README.md</a:t>
            </a:r>
          </a:p>
          <a:p xmlns:a="http://schemas.openxmlformats.org/drawingml/2006/main">
            <a:r>
              <a:t>- 仓库业务目录 SKILL.md 清单，2026-09-15</a:t>
            </a:r>
          </a:p>
          <a:p xmlns:a="http://schemas.openxmlformats.org/drawingml/2006/main">
            <a:r>
              <a:t>- workspace/苹果iPhone17新品发布会速递.pptx</a:t>
            </a:r>
          </a:p>
          <a:p xmlns:a="http://schemas.openxmlformats.org/drawingml/2006/main">
            <a:r>
              <a:t>- workspace/鸿蒙图库_一句话清理图片_产品方案决策汇报.pptx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用真实题目讲完整任务。原始任务是理解图库AI需求，Skill首先把它改写成三个可研究的问题：行为是否存在、问题是否值得解决、哪项需求应优先验证。Q4先区分近期使用，Q5到Q8再问亲历任务和后果。没有经历的用户不评价体验，但仍保留未来需求题。Q9收集最多三项，Q10只显示Q9已选项并要求选一项，Q11和Q12解释原因与情境。屏幕上是设计HTML中的真实Q10及逻辑规则。产品价值在于每道题已有分析用途，评审与后续分析可以沿着同一证据链工作。12题是总题数，最长路径12题，其他路径也有明确配置。结构检查不能证明研究效度，真实偏好需要回收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  <a:p xmlns:a="http://schemas.openxmlformats.org/drawingml/2006/main">
            <a:r>
              <a:t>- pm-user-research/用户调研/20260913手机图库AI功能需求/questionnaire-design.html</a:t>
            </a:r>
          </a:p>
          <a:p xmlns:a="http://schemas.openxmlformats.org/drawingml/2006/main">
            <a:r>
              <a:t>- pm-user-research/skills/ur-design-survey/SKILL.md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同一个Skill的第二个真实课题。题量10题、只用单选多选，并兼容UserClub导入。先研究最近30天的来电及不便接听经历，再问现有处理和后果。Q9关注AI应承担哪些任务，Q10关注用户允许它接管的条件。两者都最多选三项，收集任务和边界优先级。没有近期来电在Q4退出，没有相关经历在Q5退出，避免要求用户评价并不存在的经历。与图库案例相比，方法保留了行为、后果、取舍的结构，但业务重点转向任务范围和接管条件。产品决策是是否继续概念验证以及优先验证什么，不把陈述偏好当作实际启用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pm-user-research/用户调研/20260913AI帮接电话/AI帮接电话_Questionnaire/questionnaire-design.md</a:t>
            </a:r>
          </a:p>
          <a:p xmlns:a="http://schemas.openxmlformats.org/drawingml/2006/main">
            <a:r>
              <a:t>- pm-user-research/用户调研/20260913AI帮接电话/AI帮接电话_Questionnaire/questionnaire.md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介绍已定义的协作机制。问卷Skill输出主问卷和设计说明。画像Skill读取课题上下文，不直接读取问卷假设。模拟器按画像逐人读取，隔离不同用户的作答上下文。报告读取问卷、设计说明和指定批次Excel，而非任意最近一个文件。run_id使模拟回答和报告保持同一批次。问卷改了要重跑模拟和报告，画像变了要从画像开始重跑，单个阶段失败则停止下游。价值在于任务可以定位和恢复，人工不用从整段对话里寻找最新状态。合成用户只用于试跑题意、分支和数据处理，不能估计市场占比或替代真实用户。当前展示能力与文件契约，不宣称完成了真实需求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pm-user-research/README.md</a:t>
            </a:r>
          </a:p>
          <a:p xmlns:a="http://schemas.openxmlformats.org/drawingml/2006/main">
            <a:r>
              <a:t>- pm-user-research/workflows/synthetic-survey.md</a:t>
            </a:r>
          </a:p>
          <a:p xmlns:a="http://schemas.openxmlformats.org/drawingml/2006/main">
            <a:r>
              <a:t>- pm-user-research/skills/ur-user-simulator/SKILL.md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用一个窄问题解释方法：用户如何按存储位置和同步状态缩小照片范围？仓库示例把它拆成五组、十二个子项。入口两项，存储位置三项，同步状态三项，组合能力两项，反馈两项。每个竞品与每个子项构成研究单元，资料需要保留版本、地区与限制条件。右侧说明从来源到主张、状态和建议的关系。没有找到证据只能保留未知，不能写不支持。覆盖率的分母是本次应核验的研究单元，不能用搜到多少网页代替。当前原文件明确是拆解示例，没有提供完整竞品实测结果，所以本页不捏造支持率或竞争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pm-competitor-analysis/pm-system-app-competitor-matrix/examples/gallery-filter-analysis.md</a:t>
            </a:r>
          </a:p>
          <a:p xmlns:a="http://schemas.openxmlformats.org/drawingml/2006/main">
            <a:r>
              <a:t>- pm-competitor-analysis/pm-system-app-competitor-matrix/references/research-evidence.md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把研究接到产品方案。现有图库方案给出六个状态：输入意图、结构化解析、检索候选、解释预览、显式确认、执行与撤销。它同时定义三类异常：解析不完整、候选过大、高风险对象，以及四档风险规则。左边展示真实方案页作为证据，右边讲三项交付：PRD应写清触发、范围、异常和验收；原型需要把预览、排除、确认和恢复变成可体验状态；后续运营应观察取消、排除、恢复和失败，再决定下一轮研究。这里展示的是方案和建议的衔接方法，尚不能证明PRD、可交互原型及运营闭环已经完整落地。产品价值是保留研究与方案中的边界，减少交接时只剩功能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workspace/鸿蒙图库_一句话清理图片_产品方案决策汇报.pptx，第4、6页</a:t>
            </a:r>
          </a:p>
          <a:p xmlns:a="http://schemas.openxmlformats.org/drawingml/2006/main">
            <a:r>
              <a:t>- 后续PRD、原型及运营衔接为本次分享的方法归纳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让同事先想一项每周反复做、经常修改的任务。判断它是否值得Skill化，需要看频率、稳定步骤、输入、可检查性和下游用途。问卷设计满足这几个条件：不同课题重复出现，方法可以复用，输入可以明确，输出有结构与逻辑检查，并且会用于评审和平台配置。可以先写成Skill的范围是设计一份可配置的定量问卷，而不是包办整个用户研究。一次性探索、尚无稳定判断标准的任务先保留为对话；完全确定的简单转换也可能用脚本就够。三类任务不能强行用同一种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pm-user-research/skills/ur-design-survey/SKILL.md</a:t>
            </a:r>
          </a:p>
          <a:p xmlns:a="http://schemas.openxmlformats.org/drawingml/2006/main">
            <a:r>
              <a:t>- 任务筛选框架为本次分享的方法建议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发过程从一个真实任务开始：先整理满意的结果和典型失败，再写出触发范围、输入输出、执行步骤和停止条件。左边展示真实Skill目录的职责。SKILL.md是必需的核心，references保存按需读取的方法，templates保存不同场景的输出骨架，scripts承担确定性检查，agents目录是平台可选配置。不是每个Skill都要有全部目录。右边是一段说明输入和范围的最小示例，以及当前Skill已经具备的两条业务规则：没有经历不评价体验，有优先级目标时形成直接取舍。验证要用图库与AI帮接电话两个不同课题，还应验证缺目标、材料不足和逻辑冲突等情况。产品经理主要贡献专业规则和验收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pm-user-research/skills/ur-design-survey/SKILL.md</a:t>
            </a:r>
          </a:p>
          <a:p xmlns:a="http://schemas.openxmlformats.org/drawingml/2006/main">
            <a:r>
              <a:t>- pm-user-research/skills/ur-design-survey/references/</a:t>
            </a:r>
          </a:p>
          <a:p xmlns:a="http://schemas.openxmlformats.org/drawingml/2006/main">
            <a:r>
              <a:t>- pm-user-research/skills/ur-design-survey/templates/</a:t>
            </a:r>
          </a:p>
          <a:p xmlns:a="http://schemas.openxmlformats.org/drawingml/2006/main">
            <a:r>
              <a:t>- https://learn.chatgpt.com/docs/build-skills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展示真实的单Skill工作流：survey-design.md负责把课题和目标交给问卷Skill，完成用户确认、检查和三文件交付后停止。需要完整合成研究时，才进入另一条串联四个Skill的工作流。Codex的显式调用可以使用屏幕上的美元符号Skill名，其他平台要按其注册与调用规则配置，不能假定语法通用。交付后记录人工修改发生在哪里：输入缺失、方法不合适、格式不兼容还是检查漏项，再调整Skill。量化时分别统计PM主动投入、AI等待、首稿采用和返工。记录同类任务两次以上再比较，不把文件数量直接解释为效率收益。最后邀请同事选一个高频任务，用第二个案例验证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pm-user-research/workflows/survey-design.md</a:t>
            </a:r>
          </a:p>
          <a:p xmlns:a="http://schemas.openxmlformats.org/drawingml/2006/main">
            <a:r>
              <a:t>- pm-user-research/workflows/synthetic-survey.md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- 效果度量口径为建议，未填实测结果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建议用时：1分钟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回到三个问题：工具的变化让AI承担更完整的任务，真实实践帮助找到值得保留的专业方法，Skill与工作流让方法在下一个任务中继续使用。邀请同事从一个高频、返工有规律且可检查的任务开始。预留五分钟交流，优先讨论：大家最想先沉淀哪项工作、任务中哪些标准最难写清楚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本次分享归纳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600aa5d834cbc" /><Relationship Type="http://schemas.openxmlformats.org/officeDocument/2006/relationships/image" Target="/ppt/media/image3.png" Id="R8bc28644bfe74e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966f7e7f44b70" /><Relationship Type="http://schemas.openxmlformats.org/officeDocument/2006/relationships/image" Target="/ppt/media/image.jpeg" Id="R14617a0a52664e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4fa4ca1b5b4260" /><Relationship Type="http://schemas.openxmlformats.org/officeDocument/2006/relationships/image" Target="/ppt/media/image2.jpeg" Id="R3d8f201b800844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77a8bd5404773" /><Relationship Type="http://schemas.openxmlformats.org/officeDocument/2006/relationships/image" Target="/ppt/media/image3.jpeg" Id="R09271302083c4b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9c0acffe3348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515e39d4081426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a1dcc6378be48e4" /></Relationships>
</file>

<file path=ppt/slideLayouts/slideLayout1.xml><?xml version="1.0" encoding="utf-8"?>
<p:sldLayout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c28644bfe74e7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7" name="L 形 6">
            <a:extLst xmlns:a="http://schemas.openxmlformats.org/drawingml/2006/main">
              <a:ext uri="{FF2B5EF4-FFF2-40B4-BE49-F238E27FC236}">
                <a16:creationId xmlns:a16="http://schemas.microsoft.com/office/drawing/2014/main" id="{7C878263-6BB8-4F13-9F92-85D9839A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53942" y="2130562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  <a:prstDash val="dash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图片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617a0a52664e8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18" name="L 形 17">
            <a:extLst xmlns:a="http://schemas.openxmlformats.org/drawingml/2006/main">
              <a:ext uri="{FF2B5EF4-FFF2-40B4-BE49-F238E27FC236}">
                <a16:creationId xmlns:a16="http://schemas.microsoft.com/office/drawing/2014/main" id="{A261D221-DA16-4F9D-BF48-AFC71CA8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24025" y="2568635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8f201b800844ea"/>
          <a:srcRect xmlns:a="http://schemas.openxmlformats.org/drawingml/2006/main" l="0" t="13825" r="2034" b="5607"/>
          <a:stretch xmlns:a="http://schemas.openxmlformats.org/drawingml/2006/main"/>
        </p:blipFill>
        <p:spPr>
          <a:xfrm xmlns:a="http://schemas.openxmlformats.org/drawingml/2006/main">
            <a:off x="1" y="-36206"/>
            <a:ext cx="12196763" cy="5638471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540735-DFC6-4D3F-AA5D-73087579D9F4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8" name="L 形 7">
            <a:extLst xmlns:a="http://schemas.openxmlformats.org/drawingml/2006/main">
              <a:ext uri="{FF2B5EF4-FFF2-40B4-BE49-F238E27FC236}">
                <a16:creationId xmlns:a16="http://schemas.microsoft.com/office/drawing/2014/main" id="{C935774E-886B-4D2B-B2C4-89A81C49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29967" y="1657555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271302083c4bd1"/>
          <a:srcRect xmlns:a="http://schemas.openxmlformats.org/drawingml/2006/main" l="1538" t="7030" r="0" b="11599"/>
          <a:stretch xmlns:a="http://schemas.openxmlformats.org/drawingml/2006/main"/>
        </p:blipFill>
        <p:spPr>
          <a:xfrm xmlns:a="http://schemas.openxmlformats.org/drawingml/2006/main">
            <a:off x="0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13" name="L 形 12">
            <a:extLst xmlns:a="http://schemas.openxmlformats.org/drawingml/2006/main">
              <a:ext uri="{FF2B5EF4-FFF2-40B4-BE49-F238E27FC236}">
                <a16:creationId xmlns:a16="http://schemas.microsoft.com/office/drawing/2014/main" id="{D9C13A00-1073-4DDB-80E9-15487508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45516" y="2323519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C897A368-8F39-4049-9BB0-AEB315EB7E0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2621051-E1A4-A049-BF21-61B18B34831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userDrawn="1">
  <p:cSld name="1_Contents page">
    <p:bg>
      <p:bgPr>
        <a:solidFill xmlns:a="http://schemas.openxmlformats.org/drawingml/2006/main">
          <a:srgbClr val="EB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33620" y="1843088"/>
            <a:ext cx="10122060" cy="3013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90000" bIns="90000"/>
          <a:lstStyle xmlns:a="http://schemas.openxmlformats.org/drawingml/2006/main">
            <a:lvl1pPr marL="412750" indent="-398463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412750" indent="-398463">
              <a:buFont typeface="+mj-lt"/>
              <a:buAutoNum type="arabicPeriod"/>
              <a:defRPr/>
            </a:lvl2pPr>
            <a:lvl3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3pPr>
            <a:lvl4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4pPr>
            <a:lvl5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  <p:sp>
        <p:nvSpPr>
          <p:cNvPr id="3" name="直线连接符 14">
            <a:extLst xmlns:a="http://schemas.openxmlformats.org/drawingml/2006/main">
              <a:ext uri="{FF2B5EF4-FFF2-40B4-BE49-F238E27FC236}">
                <a16:creationId xmlns:a16="http://schemas.microsoft.com/office/drawing/2014/main" id="{831E38A7-7166-4831-93F5-A7FBC0FA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9918" y="1349255"/>
            <a:ext cx="88596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7000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16" y="630373"/>
            <a:ext cx="1147485" cy="653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36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736908" y="1501989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End pag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86" y="1402064"/>
            <a:ext cx="3921034" cy="854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940">
                <a:solidFill>
                  <a:schemeClr val="tx1"/>
                </a:solidFill>
              </a:rPr>
              <a:t>Thank you.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6cf2483263974493" /><Relationship Type="http://schemas.openxmlformats.org/officeDocument/2006/relationships/theme" Target="/ppt/slideMasters/theme/theme2.xml" Id="Rcd983dda47f84163" /><Relationship Type="http://schemas.openxmlformats.org/officeDocument/2006/relationships/slideLayout" Target="/ppt/slideLayouts/slideLayout1.xml" Id="Rb690fc464f82498a" /><Relationship Type="http://schemas.openxmlformats.org/officeDocument/2006/relationships/slideLayout" Target="/ppt/slideLayouts/slideLayout2.xml" Id="R4ccfec68ef1848c4" /><Relationship Type="http://schemas.openxmlformats.org/officeDocument/2006/relationships/slideLayout" Target="/ppt/slideLayouts/slideLayout3.xml" Id="Rd857983ce5d24f00" /><Relationship Type="http://schemas.openxmlformats.org/officeDocument/2006/relationships/slideLayout" Target="/ppt/slideLayouts/slideLayout4.xml" Id="R2107e10085d3470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54d55fec00d4521" /><Relationship Type="http://schemas.openxmlformats.org/officeDocument/2006/relationships/slideLayout" Target="/ppt/slideLayouts/slideLayout5.xml" Id="R37c0b9450b6e408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2.png" Id="Rcff59da364a4429b" /><Relationship Type="http://schemas.openxmlformats.org/officeDocument/2006/relationships/theme" Target="/ppt/slideMasters/theme/theme4.xml" Id="R6ff1f72fa5104239" /><Relationship Type="http://schemas.openxmlformats.org/officeDocument/2006/relationships/slideLayout" Target="/ppt/slideLayouts/slideLayout6.xml" Id="R6889c66fb47c4e44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3afa5ecd8f3a4c24" /><Relationship Type="http://schemas.openxmlformats.org/officeDocument/2006/relationships/theme" Target="/ppt/slideMasters/theme/theme5.xml" Id="R2eadc69e294746dd" /><Relationship Type="http://schemas.openxmlformats.org/officeDocument/2006/relationships/slideLayout" Target="/ppt/slideLayouts/slideLayout7.xml" Id="Rad13eb2af6764ef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309" y="6270651"/>
            <a:ext cx="1982316" cy="1536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/>
              <a:t>Security Level:</a:t>
            </a:r>
            <a:endParaRPr sz="1000"/>
          </a:p>
        </p:txBody>
      </p:sp>
      <p:pic>
        <p:nvPicPr>
          <p:cNvPr id="18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24832639744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06684" y="5976168"/>
            <a:ext cx="2258389" cy="48253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90fc464f82498a"/>
    <p:sldLayoutId xmlns:r="http://schemas.openxmlformats.org/officeDocument/2006/relationships" id="2147483650" r:id="R4ccfec68ef1848c4"/>
    <p:sldLayoutId xmlns:r="http://schemas.openxmlformats.org/officeDocument/2006/relationships" id="2147483651" r:id="Rd857983ce5d24f00"/>
    <p:sldLayoutId xmlns:r="http://schemas.openxmlformats.org/officeDocument/2006/relationships" id="2147483652" r:id="R2107e10085d3470b"/>
  </p:sldLayoutIdLst>
  <p:hf hdr="0" ftr="0" dt="0"/>
  <p:txStyles>
    <p:titleStyle>
      <a:lvl1pPr xmlns:a="http://schemas.openxmlformats.org/drawingml/2006/main" algn="l" defTabSz="914400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0" indent="0" algn="l" defTabSz="914400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/>
          <a:ea typeface="Arial"/>
          <a:cs typeface="Arial"/>
        </a:defRPr>
      </a:lvl1pPr>
      <a:lvl2pPr xmlns:a="http://schemas.openxmlformats.org/drawingml/2006/main" marL="4572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9" userDrawn="1">
          <p15:clr>
            <a:srgbClr xmlns:a="http://schemas.openxmlformats.org/drawingml/2006/main" val="F26B43"/>
          </p15:clr>
        </p15:guide>
        <p15:guide id="2" pos="3841" userDrawn="1">
          <p15:clr>
            <a:srgbClr xmlns:a="http://schemas.openxmlformats.org/drawingml/2006/main" val="F26B43"/>
          </p15:clr>
        </p15:guide>
        <p15:guide id="3" pos="565" userDrawn="1">
          <p15:clr>
            <a:srgbClr xmlns:a="http://schemas.openxmlformats.org/drawingml/2006/main" val="F26B43"/>
          </p15:clr>
        </p15:guide>
        <p15:guide id="4" orient="horz" pos="4007" userDrawn="1">
          <p15:clr>
            <a:srgbClr xmlns:a="http://schemas.openxmlformats.org/drawingml/2006/main" val="F26B43"/>
          </p15:clr>
        </p15:guide>
        <p15:guide id="5" orient="horz" pos="1235" userDrawn="1">
          <p15:clr>
            <a:srgbClr xmlns:a="http://schemas.openxmlformats.org/drawingml/2006/main" val="F26B43"/>
          </p15:clr>
        </p15:guide>
        <p15:guide id="6" orient="horz" pos="553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37c0b9450b6e408e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950" indent="-296950" algn="l" defTabSz="1187798">
        <a:lnSpc>
          <a:spcPct val="90000"/>
        </a:lnSpc>
        <a:spcBef>
          <a:spcPts val="1299"/>
        </a:spcBef>
        <a:buFont typeface="Arial"/>
        <a:buChar char="•"/>
        <a:defRPr sz="3636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849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7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6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5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25" userDrawn="1">
          <p15:clr>
            <a:srgbClr xmlns:a="http://schemas.openxmlformats.org/drawingml/2006/main" val="F26B43"/>
          </p15:clr>
        </p15:guide>
        <p15:guide id="5" orient="horz" pos="410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1463467" cy="242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74" b="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Confidential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1" y="6402806"/>
            <a:ext cx="499729" cy="150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89084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3837181-38C6-AD4F-B8BA-B444770388BB}" type="slidenum">
              <a:rPr sz="974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74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59da364a442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5999" y="6319870"/>
            <a:ext cx="1269075" cy="271153"/>
          </a:xfrm>
          <a:prstGeom xmlns:a="http://schemas.openxmlformats.org/drawingml/2006/main" prst="rect">
            <a:avLst/>
          </a:prstGeom>
        </p:spPr>
      </p:pic>
      <p:sp>
        <p:nvSpPr>
          <p:cNvPr id="44" name="矩形 5">
            <a:extLst xmlns:a="http://schemas.openxmlformats.org/drawingml/2006/main">
              <a:ext uri="{FF2B5EF4-FFF2-40B4-BE49-F238E27FC236}">
                <a16:creationId xmlns:a16="http://schemas.microsoft.com/office/drawing/2014/main" id="{3B0B5EC2-EA55-CC45-A9D0-D5EA5D76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5" y="3097895"/>
            <a:ext cx="911019" cy="425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ANTONE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186C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200/16/46</a:t>
            </a:r>
          </a:p>
        </p:txBody>
      </p:sp>
      <p:sp>
        <p:nvSpPr>
          <p:cNvPr id="45" name="矩形 9">
            <a:extLst xmlns:a="http://schemas.openxmlformats.org/drawingml/2006/main">
              <a:ext uri="{FF2B5EF4-FFF2-40B4-BE49-F238E27FC236}">
                <a16:creationId xmlns:a16="http://schemas.microsoft.com/office/drawing/2014/main" id="{992224C5-04A6-C041-B257-13137945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3097895"/>
            <a:ext cx="911019" cy="425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ANTONE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185C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199/0/11</a:t>
            </a:r>
          </a:p>
        </p:txBody>
      </p:sp>
      <p:sp>
        <p:nvSpPr>
          <p:cNvPr id="46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58918196-0639-EE4B-AFC2-315BE045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26898" y="2931937"/>
            <a:ext cx="384721" cy="131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品牌色</a:t>
            </a:r>
          </a:p>
        </p:txBody>
      </p:sp>
      <p:sp>
        <p:nvSpPr>
          <p:cNvPr id="28" name="矩形 12">
            <a:extLst xmlns:a="http://schemas.openxmlformats.org/drawingml/2006/main">
              <a:ext uri="{FF2B5EF4-FFF2-40B4-BE49-F238E27FC236}">
                <a16:creationId xmlns:a16="http://schemas.microsoft.com/office/drawing/2014/main" id="{DCA8B73C-0B87-284F-805F-752EBF20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4233909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A4F"/>
          </a:solidFill>
          <a:ln xmlns:a="http://schemas.openxmlformats.org/drawingml/2006/main">
            <a:solidFill>
              <a:srgbClr val="EA5A4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234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90/79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矩形 13">
            <a:extLst xmlns:a="http://schemas.openxmlformats.org/drawingml/2006/main">
              <a:ext uri="{FF2B5EF4-FFF2-40B4-BE49-F238E27FC236}">
                <a16:creationId xmlns:a16="http://schemas.microsoft.com/office/drawing/2014/main" id="{138A39A8-BB4E-CD4E-9201-F1785C87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3783828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120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0/15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F53C07A-1022-C740-8F8D-97538E17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16278" y="3631294"/>
            <a:ext cx="569387" cy="131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辅助色</a:t>
            </a:r>
          </a:p>
        </p:txBody>
      </p:sp>
      <p:sp>
        <p:nvSpPr>
          <p:cNvPr id="31" name="矩形 16">
            <a:extLst xmlns:a="http://schemas.openxmlformats.org/drawingml/2006/main">
              <a:ext uri="{FF2B5EF4-FFF2-40B4-BE49-F238E27FC236}">
                <a16:creationId xmlns:a16="http://schemas.microsoft.com/office/drawing/2014/main" id="{306A7598-C00D-994F-82DA-B39F3C2E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5131937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248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181/60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矩形 17">
            <a:extLst xmlns:a="http://schemas.openxmlformats.org/drawingml/2006/main">
              <a:ext uri="{FF2B5EF4-FFF2-40B4-BE49-F238E27FC236}">
                <a16:creationId xmlns:a16="http://schemas.microsoft.com/office/drawing/2014/main" id="{C1423292-FF2F-A74C-943E-1C3C4753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4689671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235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92/1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矩形 18">
            <a:extLst xmlns:a="http://schemas.openxmlformats.org/drawingml/2006/main">
              <a:ext uri="{FF2B5EF4-FFF2-40B4-BE49-F238E27FC236}">
                <a16:creationId xmlns:a16="http://schemas.microsoft.com/office/drawing/2014/main" id="{2A29AF15-F5C4-A842-A63B-5DBA549C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6023709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137/137/137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矩形 19">
            <a:extLst xmlns:a="http://schemas.openxmlformats.org/drawingml/2006/main">
              <a:ext uri="{FF2B5EF4-FFF2-40B4-BE49-F238E27FC236}">
                <a16:creationId xmlns:a16="http://schemas.microsoft.com/office/drawing/2014/main" id="{E9EA970A-4D36-BC41-B8BE-40DF5533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5581443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35/24/21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矩形 22">
            <a:extLst xmlns:a="http://schemas.openxmlformats.org/drawingml/2006/main">
              <a:ext uri="{FF2B5EF4-FFF2-40B4-BE49-F238E27FC236}">
                <a16:creationId xmlns:a16="http://schemas.microsoft.com/office/drawing/2014/main" id="{14EE21FB-1D92-0241-ABA5-5E9A6AEE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6471222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221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221/221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矩形 12">
            <a:extLst xmlns:a="http://schemas.openxmlformats.org/drawingml/2006/main">
              <a:ext uri="{FF2B5EF4-FFF2-40B4-BE49-F238E27FC236}">
                <a16:creationId xmlns:a16="http://schemas.microsoft.com/office/drawing/2014/main" id="{883734A3-2645-434A-9DCC-1416B6C6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4233909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C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233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140/128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矩形 13">
            <a:extLst xmlns:a="http://schemas.openxmlformats.org/drawingml/2006/main">
              <a:ext uri="{FF2B5EF4-FFF2-40B4-BE49-F238E27FC236}">
                <a16:creationId xmlns:a16="http://schemas.microsoft.com/office/drawing/2014/main" id="{1FF13552-FB3D-134A-A80A-6CFB35DF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3783828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2126"/>
          </a:solidFill>
          <a:ln xmlns:a="http://schemas.openxmlformats.org/drawingml/2006/main">
            <a:solidFill>
              <a:srgbClr val="9F000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159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0/1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矩形 16">
            <a:extLst xmlns:a="http://schemas.openxmlformats.org/drawingml/2006/main">
              <a:ext uri="{FF2B5EF4-FFF2-40B4-BE49-F238E27FC236}">
                <a16:creationId xmlns:a16="http://schemas.microsoft.com/office/drawing/2014/main" id="{0A96471B-CB12-1443-B01F-C14C9112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5131937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C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245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220/87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矩形 17">
            <a:extLst xmlns:a="http://schemas.openxmlformats.org/drawingml/2006/main">
              <a:ext uri="{FF2B5EF4-FFF2-40B4-BE49-F238E27FC236}">
                <a16:creationId xmlns:a16="http://schemas.microsoft.com/office/drawing/2014/main" id="{61890D59-CF8B-1449-A836-3A304EC9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4689671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240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133/0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矩形 18">
            <a:extLst xmlns:a="http://schemas.openxmlformats.org/drawingml/2006/main">
              <a:ext uri="{FF2B5EF4-FFF2-40B4-BE49-F238E27FC236}">
                <a16:creationId xmlns:a16="http://schemas.microsoft.com/office/drawing/2014/main" id="{0466A1E1-E7C7-FD49-9880-9E44BED1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6023709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181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181/181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矩形 19">
            <a:extLst xmlns:a="http://schemas.openxmlformats.org/drawingml/2006/main">
              <a:ext uri="{FF2B5EF4-FFF2-40B4-BE49-F238E27FC236}">
                <a16:creationId xmlns:a16="http://schemas.microsoft.com/office/drawing/2014/main" id="{B21AD6AC-1275-0142-A9EA-D77B26CB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5581443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89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87/87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矩形 22">
            <a:extLst xmlns:a="http://schemas.openxmlformats.org/drawingml/2006/main">
              <a:ext uri="{FF2B5EF4-FFF2-40B4-BE49-F238E27FC236}">
                <a16:creationId xmlns:a16="http://schemas.microsoft.com/office/drawing/2014/main" id="{238BAC2A-AE09-A84D-875D-8472236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6471222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chemeClr val="bg1">
                <a:lumMod val="10000"/>
                <a:lumOff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255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255/255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6889c66fb47c4e44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950" indent="-296950" algn="l" defTabSz="1187798">
        <a:lnSpc>
          <a:spcPct val="90000"/>
        </a:lnSpc>
        <a:spcBef>
          <a:spcPts val="1299"/>
        </a:spcBef>
        <a:buFont typeface="Arial"/>
        <a:buChar char="•"/>
        <a:defRPr sz="3636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849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7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6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5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25" userDrawn="1">
          <p15:clr>
            <a:srgbClr xmlns:a="http://schemas.openxmlformats.org/drawingml/2006/main" val="F26B43"/>
          </p15:clr>
        </p15:guide>
        <p15:guide id="5" orient="horz" pos="410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6573" y="1474269"/>
            <a:ext cx="3984232" cy="2816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357" y="2794960"/>
            <a:ext cx="3225168" cy="20299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065"/>
              </a:lnSpc>
              <a:buNone/>
            </a:pPr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Copyright©2021 </a:t>
            </a:r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Huawei Technologies Co., Ltd.</a:t>
            </a:r>
            <a:br/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All Rights Reserved.</a:t>
            </a:r>
            <a:r>
              <a:rPr sz="779">
                <a:solidFill>
                  <a:srgbClr val="1D1D1B"/>
                </a:solidFill>
                <a:latin typeface="+mn-lt"/>
                <a:ea typeface="+mn-lt"/>
                <a:cs typeface="+mn-lt"/>
              </a:rPr>
              <a:t/>
            </a:r>
            <a:br/>
            <a:r>
              <a:rPr sz="779">
                <a:solidFill>
                  <a:srgbClr val="1D1D1B"/>
                </a:solidFill>
                <a:latin typeface="+mn-lt"/>
                <a:ea typeface="+mn-lt"/>
                <a:cs typeface="+mn-lt"/>
              </a:rPr>
              <a:t/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 information in this document may contain predictive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statements including, without limitation, statements regarding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 future financial and operating results, future product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portfolio, new technology, etc. There are a number of factors that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could cause actual results and developments to differ materially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from those expressed or implied in the predictive statements.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Therefore, such information is provided for reference purpose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only and constitutes neither an offer nor an acceptance. Huawei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may change the information at any time without notice. </a:t>
            </a:r>
          </a:p>
          <a:p xmlns:a="http://schemas.openxmlformats.org/drawingml/2006/main">
            <a:pPr>
              <a:lnSpc>
                <a:spcPts val="1065"/>
              </a:lnSpc>
              <a:buNone/>
            </a:pPr>
            <a:endParaRPr sz="779">
              <a:solidFill>
                <a:srgbClr val="1D1D1B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Subtitle 6">
            <a:extLst xmlns:a="http://schemas.openxmlformats.org/drawingml/2006/main"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276" y="1631849"/>
            <a:ext cx="3477701" cy="491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681"/>
              </a:lnSpc>
              <a:spcBef>
                <a:spcPts val="0"/>
              </a:spcBef>
              <a:buNone/>
            </a:pPr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>把数字世界带入每个人、每个家庭、</a:t>
            </a:r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/>
            </a:r>
            <a:br/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>每个组织，构建万物互联的智能世界。</a:t>
            </a:r>
          </a:p>
        </p:txBody>
      </p:sp>
      <p:sp>
        <p:nvSpPr>
          <p:cNvPr id="7" name="Subtitle 6">
            <a:extLst xmlns:a="http://schemas.openxmlformats.org/drawingml/2006/main"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672" y="2106124"/>
            <a:ext cx="3481833" cy="5828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294"/>
              </a:lnSpc>
              <a:buNone/>
            </a:pPr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Bring digital to every person, home, and </a:t>
            </a:r>
            <a:br/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organization for a fully connected, </a:t>
            </a:r>
            <a:br/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intelligent world.</a:t>
            </a:r>
            <a:endParaRPr sz="1200">
              <a:solidFill>
                <a:srgbClr val="1D1D1B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3" name="图片 9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a5ecd8f3a4c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5497" y="5251150"/>
            <a:ext cx="1869596" cy="399462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8" r:id="Rad13eb2af6764ef0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0" indent="0" algn="l" defTabSz="1187798">
        <a:lnSpc>
          <a:spcPct val="90000"/>
        </a:lnSpc>
        <a:spcBef>
          <a:spcPts val="1299"/>
        </a:spcBef>
        <a:buFont typeface="Arial"/>
        <a:buNone/>
        <a:defRPr sz="1819" kern="1200">
          <a:solidFill>
            <a:srgbClr val="FFFFFF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593900" indent="0" algn="l" defTabSz="1187798">
        <a:lnSpc>
          <a:spcPct val="90000"/>
        </a:lnSpc>
        <a:spcBef>
          <a:spcPts val="650"/>
        </a:spcBef>
        <a:buFont typeface="Arial"/>
        <a:buNone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indent="0" algn="l" defTabSz="1187798">
        <a:lnSpc>
          <a:spcPct val="90000"/>
        </a:lnSpc>
        <a:spcBef>
          <a:spcPts val="650"/>
        </a:spcBef>
        <a:buFont typeface="Arial"/>
        <a:buNone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indent="0" algn="l" defTabSz="1187798">
        <a:lnSpc>
          <a:spcPct val="90000"/>
        </a:lnSpc>
        <a:spcBef>
          <a:spcPts val="650"/>
        </a:spcBef>
        <a:buFont typeface="Arial"/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indent="0" algn="l" defTabSz="1187798">
        <a:lnSpc>
          <a:spcPct val="90000"/>
        </a:lnSpc>
        <a:spcBef>
          <a:spcPts val="650"/>
        </a:spcBef>
        <a:buFont typeface="Arial"/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16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update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ustom 2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3b6f184ad4270" /><Relationship Type="http://schemas.openxmlformats.org/officeDocument/2006/relationships/notesSlide" Target="/ppt/notesSlides/notesSlide1.xml" Id="R7e288f544e9b4d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1114c08c3437f" /><Relationship Type="http://schemas.openxmlformats.org/officeDocument/2006/relationships/notesSlide" Target="/ppt/notesSlides/notesSlide2.xml" Id="R29da030fe4094d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b434eede9c44ba" /><Relationship Type="http://schemas.openxmlformats.org/officeDocument/2006/relationships/notesSlide" Target="/ppt/notesSlides/notesSlide3.xml" Id="R1a17c70993b741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26218ced3d47ab" /><Relationship Type="http://schemas.openxmlformats.org/officeDocument/2006/relationships/notesSlide" Target="/ppt/notesSlides/notesSlide4.xml" Id="R73216da400fa46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6592dea6a341b5" /><Relationship Type="http://schemas.openxmlformats.org/officeDocument/2006/relationships/notesSlide" Target="/ppt/notesSlides/notesSlide5.xml" Id="R239a5cca6e6e43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510fa4e7db42e3" /><Relationship Type="http://schemas.openxmlformats.org/officeDocument/2006/relationships/image" Target="/ppt/media/image4.png" Id="Rcfeb2de11c39494a" /><Relationship Type="http://schemas.openxmlformats.org/officeDocument/2006/relationships/image" Target="/ppt/media/image5.png" Id="R5d82ecb23871423a" /><Relationship Type="http://schemas.openxmlformats.org/officeDocument/2006/relationships/image" Target="/ppt/media/image6.png" Id="Rd693da69f0a94233" /><Relationship Type="http://schemas.openxmlformats.org/officeDocument/2006/relationships/notesSlide" Target="/ppt/notesSlides/notesSlide6.xml" Id="Rf7b75588c99a4d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4f11418fdc4932" /><Relationship Type="http://schemas.openxmlformats.org/officeDocument/2006/relationships/notesSlide" Target="/ppt/notesSlides/notesSlide7.xml" Id="Rc64d8697602748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7eb0e45c3b49b7" /><Relationship Type="http://schemas.openxmlformats.org/officeDocument/2006/relationships/notesSlide" Target="/ppt/notesSlides/notesSlide8.xml" Id="R91d16653c96542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958004fce4b4a" /><Relationship Type="http://schemas.openxmlformats.org/officeDocument/2006/relationships/notesSlide" Target="/ppt/notesSlides/notesSlide9.xml" Id="Rae151eb7874f48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e15b199f3b48fe" /><Relationship Type="http://schemas.openxmlformats.org/officeDocument/2006/relationships/image" Target="/ppt/media/image7.png" Id="R93869d415d914953" /><Relationship Type="http://schemas.openxmlformats.org/officeDocument/2006/relationships/notesSlide" Target="/ppt/notesSlides/notesSlide10.xml" Id="R0be7e0c4d6f246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5c93acd8f74af8" /><Relationship Type="http://schemas.openxmlformats.org/officeDocument/2006/relationships/notesSlide" Target="/ppt/notesSlides/notesSlide11.xml" Id="R43bd36913b2542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c44a7370ab4c26" /><Relationship Type="http://schemas.openxmlformats.org/officeDocument/2006/relationships/notesSlide" Target="/ppt/notesSlides/notesSlide12.xml" Id="Rc8bc2a8d213e45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3ba2803f224466" /><Relationship Type="http://schemas.openxmlformats.org/officeDocument/2006/relationships/notesSlide" Target="/ppt/notesSlides/notesSlide13.xml" Id="Re3fb3ad5508044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af645d3dc14e74" /><Relationship Type="http://schemas.openxmlformats.org/officeDocument/2006/relationships/notesSlide" Target="/ppt/notesSlides/notesSlide14.xml" Id="R41799828196649c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6B626910-0DF4-47CC-A6B9-CFA811F2A79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F19B9EA-773D-FD4C-8380-847E27C6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08" y="6264112"/>
            <a:ext cx="2606870" cy="136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40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78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718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957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196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435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675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913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/>
              <a:t>Security Level: Internal</a:t>
            </a:r>
            <a:endParaRPr sz="1000"/>
          </a:p>
        </p:txBody>
      </p:sp>
      <p:sp>
        <p:nvSpPr>
          <p:cNvPr id="7" name="p1-shape-1">
            <a:extLst xmlns:a="http://schemas.openxmlformats.org/drawingml/2006/main">
              <a:ext uri="{FF2B5EF4-FFF2-40B4-BE49-F238E27FC236}">
                <a16:creationId xmlns:a16="http://schemas.microsoft.com/office/drawing/2014/main" id="{D8F6CA5D-8EFE-48BE-A3C1-41F94808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6934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p1-text-2">
            <a:extLst xmlns:a="http://schemas.openxmlformats.org/drawingml/2006/main">
              <a:ext uri="{FF2B5EF4-FFF2-40B4-BE49-F238E27FC236}">
                <a16:creationId xmlns:a16="http://schemas.microsoft.com/office/drawing/2014/main" id="{2D0FB13D-C228-48B2-AB81-94763D6A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651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产品经理AI工作台</a:t>
            </a:r>
          </a:p>
        </p:txBody>
      </p:sp>
      <p:sp>
        <p:nvSpPr>
          <p:cNvPr id="9" name="p1-text-3">
            <a:extLst xmlns:a="http://schemas.openxmlformats.org/drawingml/2006/main">
              <a:ext uri="{FF2B5EF4-FFF2-40B4-BE49-F238E27FC236}">
                <a16:creationId xmlns:a16="http://schemas.microsoft.com/office/drawing/2014/main" id="{CD0DAEFB-71B0-4803-87D3-FC305B78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19275"/>
            <a:ext cx="643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工具演变、真实实践与 Skill 开发</a:t>
            </a:r>
          </a:p>
        </p:txBody>
      </p:sp>
      <p:sp>
        <p:nvSpPr>
          <p:cNvPr id="10" name="p1-text-4">
            <a:extLst xmlns:a="http://schemas.openxmlformats.org/drawingml/2006/main">
              <a:ext uri="{FF2B5EF4-FFF2-40B4-BE49-F238E27FC236}">
                <a16:creationId xmlns:a16="http://schemas.microsoft.com/office/drawing/2014/main" id="{290753FF-AA2F-43E5-A825-1630C43E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609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内部产品经理分享</a:t>
            </a:r>
          </a:p>
        </p:txBody>
      </p:sp>
      <p:sp>
        <p:nvSpPr>
          <p:cNvPr id="11" name="p1-text-5">
            <a:extLst xmlns:a="http://schemas.openxmlformats.org/drawingml/2006/main">
              <a:ext uri="{FF2B5EF4-FFF2-40B4-BE49-F238E27FC236}">
                <a16:creationId xmlns:a16="http://schemas.microsoft.com/office/drawing/2014/main" id="{42AFB1CE-711D-428E-831E-58CBB670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2026.09    40分钟分享 + 5分钟交流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p2-shape-6">
            <a:extLst xmlns:a="http://schemas.openxmlformats.org/drawingml/2006/main">
              <a:ext uri="{FF2B5EF4-FFF2-40B4-BE49-F238E27FC236}">
                <a16:creationId xmlns:a16="http://schemas.microsoft.com/office/drawing/2014/main" id="{1F17B762-2FD2-4294-9A9B-D3E167F2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p2-text-7">
            <a:extLst xmlns:a="http://schemas.openxmlformats.org/drawingml/2006/main">
              <a:ext uri="{FF2B5EF4-FFF2-40B4-BE49-F238E27FC236}">
                <a16:creationId xmlns:a16="http://schemas.microsoft.com/office/drawing/2014/main" id="{50FEC3B6-98C0-4D0F-9A88-0EDEBFA4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0629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大模型与 Agent 的关键里程碑</a:t>
            </a:r>
          </a:p>
        </p:txBody>
      </p:sp>
      <p:sp>
        <p:nvSpPr>
          <p:cNvPr id="11" name="p2-text-8">
            <a:extLst xmlns:a="http://schemas.openxmlformats.org/drawingml/2006/main">
              <a:ext uri="{FF2B5EF4-FFF2-40B4-BE49-F238E27FC236}">
                <a16:creationId xmlns:a16="http://schemas.microsoft.com/office/drawing/2014/main" id="{A4F194FB-FC5D-43CC-B700-8241237E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715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理论节点与工具产品化相互交错，个人采用顺序可以晚于研究出现时间</a:t>
            </a:r>
          </a:p>
        </p:txBody>
      </p:sp>
      <p:sp>
        <p:nvSpPr>
          <p:cNvPr id="12" name="p2-line-9">
            <a:extLst xmlns:a="http://schemas.openxmlformats.org/drawingml/2006/main">
              <a:ext uri="{FF2B5EF4-FFF2-40B4-BE49-F238E27FC236}">
                <a16:creationId xmlns:a16="http://schemas.microsoft.com/office/drawing/2014/main" id="{8634730B-90D9-4B8D-987D-5E78E385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828800"/>
            <a:ext cx="953" cy="3457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13" name="p2-text-10">
            <a:extLst xmlns:a="http://schemas.openxmlformats.org/drawingml/2006/main">
              <a:ext uri="{FF2B5EF4-FFF2-40B4-BE49-F238E27FC236}">
                <a16:creationId xmlns:a16="http://schemas.microsoft.com/office/drawing/2014/main" id="{F7ED2FB9-B657-4384-8F93-CBF8D741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2020.05</a:t>
            </a:r>
          </a:p>
        </p:txBody>
      </p:sp>
      <p:sp>
        <p:nvSpPr>
          <p:cNvPr id="14" name="p2-shape-11">
            <a:extLst xmlns:a="http://schemas.openxmlformats.org/drawingml/2006/main">
              <a:ext uri="{FF2B5EF4-FFF2-40B4-BE49-F238E27FC236}">
                <a16:creationId xmlns:a16="http://schemas.microsoft.com/office/drawing/2014/main" id="{23F64A59-ABC0-4C52-9820-446FE6ED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733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A"/>
          </a:solidFill>
          <a:ln xmlns:a="http://schemas.openxmlformats.org/drawingml/2006/main" w="0">
            <a:noFill/>
          </a:ln>
        </p:spPr>
      </p:sp>
      <p:sp>
        <p:nvSpPr>
          <p:cNvPr id="15" name="p2-text-12">
            <a:extLst xmlns:a="http://schemas.openxmlformats.org/drawingml/2006/main">
              <a:ext uri="{FF2B5EF4-FFF2-40B4-BE49-F238E27FC236}">
                <a16:creationId xmlns:a16="http://schemas.microsoft.com/office/drawing/2014/main" id="{428CB820-04AA-4739-B713-C6B9F032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600200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GPT-3 / RAG</a:t>
            </a:r>
          </a:p>
        </p:txBody>
      </p:sp>
      <p:sp>
        <p:nvSpPr>
          <p:cNvPr id="16" name="p2-text-13">
            <a:extLst xmlns:a="http://schemas.openxmlformats.org/drawingml/2006/main">
              <a:ext uri="{FF2B5EF4-FFF2-40B4-BE49-F238E27FC236}">
                <a16:creationId xmlns:a16="http://schemas.microsoft.com/office/drawing/2014/main" id="{DC8A34FB-0A23-452E-90EB-9232571C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0020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用示例定义任务，让外部知识进入回答</a:t>
            </a:r>
          </a:p>
        </p:txBody>
      </p:sp>
      <p:sp>
        <p:nvSpPr>
          <p:cNvPr id="17" name="p2-text-14">
            <a:extLst xmlns:a="http://schemas.openxmlformats.org/drawingml/2006/main">
              <a:ext uri="{FF2B5EF4-FFF2-40B4-BE49-F238E27FC236}">
                <a16:creationId xmlns:a16="http://schemas.microsoft.com/office/drawing/2014/main" id="{DDCF95C2-6568-46C1-99B3-4AB93803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2022.01–11</a:t>
            </a:r>
          </a:p>
        </p:txBody>
      </p:sp>
      <p:sp>
        <p:nvSpPr>
          <p:cNvPr id="18" name="p2-shape-15">
            <a:extLst xmlns:a="http://schemas.openxmlformats.org/drawingml/2006/main">
              <a:ext uri="{FF2B5EF4-FFF2-40B4-BE49-F238E27FC236}">
                <a16:creationId xmlns:a16="http://schemas.microsoft.com/office/drawing/2014/main" id="{E12DF279-6643-492E-AA65-871BE1D2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362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A"/>
          </a:solidFill>
          <a:ln xmlns:a="http://schemas.openxmlformats.org/drawingml/2006/main" w="0">
            <a:noFill/>
          </a:ln>
        </p:spPr>
      </p:sp>
      <p:sp>
        <p:nvSpPr>
          <p:cNvPr id="19" name="p2-text-16">
            <a:extLst xmlns:a="http://schemas.openxmlformats.org/drawingml/2006/main">
              <a:ext uri="{FF2B5EF4-FFF2-40B4-BE49-F238E27FC236}">
                <a16:creationId xmlns:a16="http://schemas.microsoft.com/office/drawing/2014/main" id="{4C9E2F8C-BD0E-4971-A8DC-DE7DE97C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28850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CoT / ReAct / ChatGPT</a:t>
            </a:r>
          </a:p>
        </p:txBody>
      </p:sp>
      <p:sp>
        <p:nvSpPr>
          <p:cNvPr id="20" name="p2-text-17">
            <a:extLst xmlns:a="http://schemas.openxmlformats.org/drawingml/2006/main">
              <a:ext uri="{FF2B5EF4-FFF2-40B4-BE49-F238E27FC236}">
                <a16:creationId xmlns:a16="http://schemas.microsoft.com/office/drawing/2014/main" id="{9CC62A35-0B2D-411F-AC7B-044CA1C4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2885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复杂推理、工具行动与对话入口逐步汇合</a:t>
            </a:r>
          </a:p>
        </p:txBody>
      </p:sp>
      <p:sp>
        <p:nvSpPr>
          <p:cNvPr id="21" name="p2-text-18">
            <a:extLst xmlns:a="http://schemas.openxmlformats.org/drawingml/2006/main">
              <a:ext uri="{FF2B5EF4-FFF2-40B4-BE49-F238E27FC236}">
                <a16:creationId xmlns:a16="http://schemas.microsoft.com/office/drawing/2014/main" id="{E4DC508C-E5D3-4E6F-8ADA-C4540896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2024.12</a:t>
            </a:r>
          </a:p>
        </p:txBody>
      </p:sp>
      <p:sp>
        <p:nvSpPr>
          <p:cNvPr id="22" name="p2-shape-19">
            <a:extLst xmlns:a="http://schemas.openxmlformats.org/drawingml/2006/main">
              <a:ext uri="{FF2B5EF4-FFF2-40B4-BE49-F238E27FC236}">
                <a16:creationId xmlns:a16="http://schemas.microsoft.com/office/drawing/2014/main" id="{6C0B4445-B5BF-4E54-A7AE-CE33F073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990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A"/>
          </a:solidFill>
          <a:ln xmlns:a="http://schemas.openxmlformats.org/drawingml/2006/main" w="0">
            <a:noFill/>
          </a:ln>
        </p:spPr>
      </p:sp>
      <p:sp>
        <p:nvSpPr>
          <p:cNvPr id="23" name="p2-text-20">
            <a:extLst xmlns:a="http://schemas.openxmlformats.org/drawingml/2006/main">
              <a:ext uri="{FF2B5EF4-FFF2-40B4-BE49-F238E27FC236}">
                <a16:creationId xmlns:a16="http://schemas.microsoft.com/office/drawing/2014/main" id="{17151BBA-40C5-4370-96DA-4FF68CB8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57500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Workflow 与 Agent</a:t>
            </a:r>
          </a:p>
        </p:txBody>
      </p:sp>
      <p:sp>
        <p:nvSpPr>
          <p:cNvPr id="24" name="p2-text-21">
            <a:extLst xmlns:a="http://schemas.openxmlformats.org/drawingml/2006/main">
              <a:ext uri="{FF2B5EF4-FFF2-40B4-BE49-F238E27FC236}">
                <a16:creationId xmlns:a16="http://schemas.microsoft.com/office/drawing/2014/main" id="{8DF3C02E-976C-4413-8AB4-1835BE36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5750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固定流程与动态决策形成不同工程模式</a:t>
            </a:r>
          </a:p>
        </p:txBody>
      </p:sp>
      <p:sp>
        <p:nvSpPr>
          <p:cNvPr id="25" name="p2-text-22">
            <a:extLst xmlns:a="http://schemas.openxmlformats.org/drawingml/2006/main">
              <a:ext uri="{FF2B5EF4-FFF2-40B4-BE49-F238E27FC236}">
                <a16:creationId xmlns:a16="http://schemas.microsoft.com/office/drawing/2014/main" id="{FAE02CC5-808E-492D-B9B7-0F0974E5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2025.02</a:t>
            </a:r>
          </a:p>
        </p:txBody>
      </p:sp>
      <p:sp>
        <p:nvSpPr>
          <p:cNvPr id="26" name="p2-shape-23">
            <a:extLst xmlns:a="http://schemas.openxmlformats.org/drawingml/2006/main">
              <a:ext uri="{FF2B5EF4-FFF2-40B4-BE49-F238E27FC236}">
                <a16:creationId xmlns:a16="http://schemas.microsoft.com/office/drawing/2014/main" id="{137A877D-E1AE-4263-9D97-F36AB89F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619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A"/>
          </a:solidFill>
          <a:ln xmlns:a="http://schemas.openxmlformats.org/drawingml/2006/main" w="0">
            <a:noFill/>
          </a:ln>
        </p:spPr>
      </p:sp>
      <p:sp>
        <p:nvSpPr>
          <p:cNvPr id="27" name="p2-text-24">
            <a:extLst xmlns:a="http://schemas.openxmlformats.org/drawingml/2006/main">
              <a:ext uri="{FF2B5EF4-FFF2-40B4-BE49-F238E27FC236}">
                <a16:creationId xmlns:a16="http://schemas.microsoft.com/office/drawing/2014/main" id="{C2F7FAFD-7F32-4091-B5E8-69A6DF3C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486150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Claude Code 研究预览</a:t>
            </a:r>
          </a:p>
        </p:txBody>
      </p:sp>
      <p:sp>
        <p:nvSpPr>
          <p:cNvPr id="28" name="p2-text-25">
            <a:extLst xmlns:a="http://schemas.openxmlformats.org/drawingml/2006/main">
              <a:ext uri="{FF2B5EF4-FFF2-40B4-BE49-F238E27FC236}">
                <a16:creationId xmlns:a16="http://schemas.microsoft.com/office/drawing/2014/main" id="{D5B6CD4C-7147-40EC-8024-580A9415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8615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工作区工具让 Agent 可以读写文件、执行任务</a:t>
            </a:r>
          </a:p>
        </p:txBody>
      </p:sp>
      <p:sp>
        <p:nvSpPr>
          <p:cNvPr id="29" name="p2-text-26">
            <a:extLst xmlns:a="http://schemas.openxmlformats.org/drawingml/2006/main">
              <a:ext uri="{FF2B5EF4-FFF2-40B4-BE49-F238E27FC236}">
                <a16:creationId xmlns:a16="http://schemas.microsoft.com/office/drawing/2014/main" id="{85929000-D738-4B22-8850-7EC133C3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2025.09</a:t>
            </a:r>
          </a:p>
        </p:txBody>
      </p:sp>
      <p:sp>
        <p:nvSpPr>
          <p:cNvPr id="30" name="p2-shape-27">
            <a:extLst xmlns:a="http://schemas.openxmlformats.org/drawingml/2006/main">
              <a:ext uri="{FF2B5EF4-FFF2-40B4-BE49-F238E27FC236}">
                <a16:creationId xmlns:a16="http://schemas.microsoft.com/office/drawing/2014/main" id="{2C58E0D8-FC19-4AFA-9011-F80F1857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4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31" name="p2-text-28">
            <a:extLst xmlns:a="http://schemas.openxmlformats.org/drawingml/2006/main">
              <a:ext uri="{FF2B5EF4-FFF2-40B4-BE49-F238E27FC236}">
                <a16:creationId xmlns:a16="http://schemas.microsoft.com/office/drawing/2014/main" id="{F97DDF55-F22F-4409-9980-7A6DC1FB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114800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Context Engineering</a:t>
            </a:r>
          </a:p>
        </p:txBody>
      </p:sp>
      <p:sp>
        <p:nvSpPr>
          <p:cNvPr id="32" name="p2-text-29">
            <a:extLst xmlns:a="http://schemas.openxmlformats.org/drawingml/2006/main">
              <a:ext uri="{FF2B5EF4-FFF2-40B4-BE49-F238E27FC236}">
                <a16:creationId xmlns:a16="http://schemas.microsoft.com/office/drawing/2014/main" id="{6527D1F5-6701-4350-A320-C162348B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1480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管理证据、工具结果与有限上下文</a:t>
            </a:r>
          </a:p>
        </p:txBody>
      </p:sp>
      <p:sp>
        <p:nvSpPr>
          <p:cNvPr id="33" name="p2-text-30">
            <a:extLst xmlns:a="http://schemas.openxmlformats.org/drawingml/2006/main">
              <a:ext uri="{FF2B5EF4-FFF2-40B4-BE49-F238E27FC236}">
                <a16:creationId xmlns:a16="http://schemas.microsoft.com/office/drawing/2014/main" id="{21DEDF37-FF80-46CD-A600-8A4F1A98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2025.11</a:t>
            </a:r>
          </a:p>
        </p:txBody>
      </p:sp>
      <p:sp>
        <p:nvSpPr>
          <p:cNvPr id="34" name="p2-shape-31">
            <a:extLst xmlns:a="http://schemas.openxmlformats.org/drawingml/2006/main">
              <a:ext uri="{FF2B5EF4-FFF2-40B4-BE49-F238E27FC236}">
                <a16:creationId xmlns:a16="http://schemas.microsoft.com/office/drawing/2014/main" id="{2E1EA477-FD23-491A-8791-5C6F5B9C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876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35" name="p2-text-32">
            <a:extLst xmlns:a="http://schemas.openxmlformats.org/drawingml/2006/main">
              <a:ext uri="{FF2B5EF4-FFF2-40B4-BE49-F238E27FC236}">
                <a16:creationId xmlns:a16="http://schemas.microsoft.com/office/drawing/2014/main" id="{03B712DD-D313-4092-B65E-030565BF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43450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Long-running Harness</a:t>
            </a:r>
          </a:p>
        </p:txBody>
      </p:sp>
      <p:sp>
        <p:nvSpPr>
          <p:cNvPr id="36" name="p2-text-33">
            <a:extLst xmlns:a="http://schemas.openxmlformats.org/drawingml/2006/main">
              <a:ext uri="{FF2B5EF4-FFF2-40B4-BE49-F238E27FC236}">
                <a16:creationId xmlns:a16="http://schemas.microsoft.com/office/drawing/2014/main" id="{F7F409E5-00E6-415B-A60A-14DA8328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4345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用状态、检查与恢复支持跨上下文长任务</a:t>
            </a:r>
          </a:p>
        </p:txBody>
      </p:sp>
      <p:sp>
        <p:nvSpPr>
          <p:cNvPr id="37" name="p2-text-34">
            <a:extLst xmlns:a="http://schemas.openxmlformats.org/drawingml/2006/main">
              <a:ext uri="{FF2B5EF4-FFF2-40B4-BE49-F238E27FC236}">
                <a16:creationId xmlns:a16="http://schemas.microsoft.com/office/drawing/2014/main" id="{F4DE27B5-C355-47C5-B805-8937C220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节点为代表性论文、发布或工程总结。Harness 是 Agent 的运行系统，并非独立替代 Agent 的模型。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p3-shape-35">
            <a:extLst xmlns:a="http://schemas.openxmlformats.org/drawingml/2006/main">
              <a:ext uri="{FF2B5EF4-FFF2-40B4-BE49-F238E27FC236}">
                <a16:creationId xmlns:a16="http://schemas.microsoft.com/office/drawing/2014/main" id="{C7C16CA9-6777-4A41-8636-86F471D3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p3-text-36">
            <a:extLst xmlns:a="http://schemas.openxmlformats.org/drawingml/2006/main">
              <a:ext uri="{FF2B5EF4-FFF2-40B4-BE49-F238E27FC236}">
                <a16:creationId xmlns:a16="http://schemas.microsoft.com/office/drawing/2014/main" id="{530893E8-957D-44EB-8844-01F0AFC3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0629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个人工具演变围绕任务完整度展开</a:t>
            </a:r>
          </a:p>
        </p:txBody>
      </p:sp>
      <p:sp>
        <p:nvSpPr>
          <p:cNvPr id="11" name="p3-text-37">
            <a:extLst xmlns:a="http://schemas.openxmlformats.org/drawingml/2006/main">
              <a:ext uri="{FF2B5EF4-FFF2-40B4-BE49-F238E27FC236}">
                <a16:creationId xmlns:a16="http://schemas.microsoft.com/office/drawing/2014/main" id="{C2390EBE-86E3-44A1-9BD0-D647E0C2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715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聊天类 AI、Cherry Studio RAG、自建工作流，再到工作区 Agent 与 Harness 实践</a:t>
            </a:r>
          </a:p>
        </p:txBody>
      </p:sp>
      <p:sp>
        <p:nvSpPr>
          <p:cNvPr id="12" name="p3-text-38">
            <a:extLst xmlns:a="http://schemas.openxmlformats.org/drawingml/2006/main">
              <a:ext uri="{FF2B5EF4-FFF2-40B4-BE49-F238E27FC236}">
                <a16:creationId xmlns:a16="http://schemas.microsoft.com/office/drawing/2014/main" id="{F64D93DD-0915-480C-84F7-DDF2544A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C7C7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C7C7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p3-text-39">
            <a:extLst xmlns:a="http://schemas.openxmlformats.org/drawingml/2006/main">
              <a:ext uri="{FF2B5EF4-FFF2-40B4-BE49-F238E27FC236}">
                <a16:creationId xmlns:a16="http://schemas.microsoft.com/office/drawing/2014/main" id="{DD5288A2-34E8-4E7A-878E-B41A4074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66975"/>
            <a:ext cx="2457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AI 问答</a:t>
            </a:r>
          </a:p>
        </p:txBody>
      </p:sp>
      <p:sp>
        <p:nvSpPr>
          <p:cNvPr id="14" name="p3-text-40">
            <a:extLst xmlns:a="http://schemas.openxmlformats.org/drawingml/2006/main">
              <a:ext uri="{FF2B5EF4-FFF2-40B4-BE49-F238E27FC236}">
                <a16:creationId xmlns:a16="http://schemas.microsoft.com/office/drawing/2014/main" id="{551037AE-901B-42E8-999F-BD7D7526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2409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聊天类 AI</a:t>
            </a:r>
          </a:p>
          <a:p xmlns:a="http://schemas.openxmlformats.org/drawingml/2006/main">
            <a:pPr algn="l">
              <a:def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提示词工程</a:t>
            </a:r>
          </a:p>
        </p:txBody>
      </p:sp>
      <p:sp>
        <p:nvSpPr>
          <p:cNvPr id="15" name="p3-line-41">
            <a:extLst xmlns:a="http://schemas.openxmlformats.org/drawingml/2006/main">
              <a:ext uri="{FF2B5EF4-FFF2-40B4-BE49-F238E27FC236}">
                <a16:creationId xmlns:a16="http://schemas.microsoft.com/office/drawing/2014/main" id="{FFA4B53C-4AFE-4856-A0C2-A4704429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381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16" name="p3-text-42">
            <a:extLst xmlns:a="http://schemas.openxmlformats.org/drawingml/2006/main">
              <a:ext uri="{FF2B5EF4-FFF2-40B4-BE49-F238E27FC236}">
                <a16:creationId xmlns:a16="http://schemas.microsoft.com/office/drawing/2014/main" id="{B6B8FEBA-6786-4EF6-BAB1-4DA704CD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任务解释、讨论与初稿</a:t>
            </a:r>
          </a:p>
        </p:txBody>
      </p:sp>
      <p:sp>
        <p:nvSpPr>
          <p:cNvPr id="17" name="p3-text-43">
            <a:extLst xmlns:a="http://schemas.openxmlformats.org/drawingml/2006/main">
              <a:ext uri="{FF2B5EF4-FFF2-40B4-BE49-F238E27FC236}">
                <a16:creationId xmlns:a16="http://schemas.microsoft.com/office/drawing/2014/main" id="{CD077694-D3B8-40D8-BE4C-CC93862A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瓶颈：每次重新补背景</a:t>
            </a:r>
          </a:p>
        </p:txBody>
      </p:sp>
      <p:sp>
        <p:nvSpPr>
          <p:cNvPr id="18" name="p3-text-44">
            <a:extLst xmlns:a="http://schemas.openxmlformats.org/drawingml/2006/main">
              <a:ext uri="{FF2B5EF4-FFF2-40B4-BE49-F238E27FC236}">
                <a16:creationId xmlns:a16="http://schemas.microsoft.com/office/drawing/2014/main" id="{A65CA7DA-E95B-45B8-B8C0-FD330092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48225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我设计提示词并追问</a:t>
            </a:r>
          </a:p>
        </p:txBody>
      </p:sp>
      <p:sp>
        <p:nvSpPr>
          <p:cNvPr id="19" name="p3-line-45">
            <a:extLst xmlns:a="http://schemas.openxmlformats.org/drawingml/2006/main">
              <a:ext uri="{FF2B5EF4-FFF2-40B4-BE49-F238E27FC236}">
                <a16:creationId xmlns:a16="http://schemas.microsoft.com/office/drawing/2014/main" id="{DC6DB9CC-F83C-4236-BDDB-366D4317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33675"/>
            <a:ext cx="228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000A"/>
            </a:solidFill>
          </a:ln>
        </p:spPr>
      </p:sp>
      <p:sp>
        <p:nvSpPr>
          <p:cNvPr id="20" name="p3-text-46">
            <a:extLst xmlns:a="http://schemas.openxmlformats.org/drawingml/2006/main">
              <a:ext uri="{FF2B5EF4-FFF2-40B4-BE49-F238E27FC236}">
                <a16:creationId xmlns:a16="http://schemas.microsoft.com/office/drawing/2014/main" id="{5ECD92E0-A647-47DD-8552-AF189958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859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C7C7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C7C7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p3-text-47">
            <a:extLst xmlns:a="http://schemas.openxmlformats.org/drawingml/2006/main">
              <a:ext uri="{FF2B5EF4-FFF2-40B4-BE49-F238E27FC236}">
                <a16:creationId xmlns:a16="http://schemas.microsoft.com/office/drawing/2014/main" id="{A0B32762-8D40-4B2C-B1E4-1187C596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2457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知识库 / 工作流</a:t>
            </a:r>
          </a:p>
        </p:txBody>
      </p:sp>
      <p:sp>
        <p:nvSpPr>
          <p:cNvPr id="22" name="p3-text-48">
            <a:extLst xmlns:a="http://schemas.openxmlformats.org/drawingml/2006/main">
              <a:ext uri="{FF2B5EF4-FFF2-40B4-BE49-F238E27FC236}">
                <a16:creationId xmlns:a16="http://schemas.microsoft.com/office/drawing/2014/main" id="{47C8994A-3369-47D4-8879-D2F06988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62275"/>
            <a:ext cx="2409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Cherry Studio RAG</a:t>
            </a:r>
          </a:p>
          <a:p xmlns:a="http://schemas.openxmlformats.org/drawingml/2006/main">
            <a:pPr algn="l">
              <a:def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上下文工程 / 工作流</a:t>
            </a:r>
          </a:p>
        </p:txBody>
      </p:sp>
      <p:sp>
        <p:nvSpPr>
          <p:cNvPr id="23" name="p3-line-49">
            <a:extLst xmlns:a="http://schemas.openxmlformats.org/drawingml/2006/main">
              <a:ext uri="{FF2B5EF4-FFF2-40B4-BE49-F238E27FC236}">
                <a16:creationId xmlns:a16="http://schemas.microsoft.com/office/drawing/2014/main" id="{7E19605D-4D32-42DE-A425-D17964E4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2381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24" name="p3-text-50">
            <a:extLst xmlns:a="http://schemas.openxmlformats.org/drawingml/2006/main">
              <a:ext uri="{FF2B5EF4-FFF2-40B4-BE49-F238E27FC236}">
                <a16:creationId xmlns:a16="http://schemas.microsoft.com/office/drawing/2014/main" id="{0E0528EE-EF23-4B7C-A801-767F358A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43350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固定资料与重复步骤</a:t>
            </a:r>
          </a:p>
        </p:txBody>
      </p:sp>
      <p:sp>
        <p:nvSpPr>
          <p:cNvPr id="25" name="p3-text-51">
            <a:extLst xmlns:a="http://schemas.openxmlformats.org/drawingml/2006/main">
              <a:ext uri="{FF2B5EF4-FFF2-40B4-BE49-F238E27FC236}">
                <a16:creationId xmlns:a16="http://schemas.microsoft.com/office/drawing/2014/main" id="{E6D4EDEE-9577-432A-8E96-11C77EBB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瓶颈：例外需人工改流程</a:t>
            </a:r>
          </a:p>
        </p:txBody>
      </p:sp>
      <p:sp>
        <p:nvSpPr>
          <p:cNvPr id="26" name="p3-text-52">
            <a:extLst xmlns:a="http://schemas.openxmlformats.org/drawingml/2006/main">
              <a:ext uri="{FF2B5EF4-FFF2-40B4-BE49-F238E27FC236}">
                <a16:creationId xmlns:a16="http://schemas.microsoft.com/office/drawing/2014/main" id="{CF698222-74CF-407F-B337-2E6422D5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48225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我组织知识和流程</a:t>
            </a:r>
          </a:p>
        </p:txBody>
      </p:sp>
      <p:sp>
        <p:nvSpPr>
          <p:cNvPr id="27" name="p3-line-53">
            <a:extLst xmlns:a="http://schemas.openxmlformats.org/drawingml/2006/main">
              <a:ext uri="{FF2B5EF4-FFF2-40B4-BE49-F238E27FC236}">
                <a16:creationId xmlns:a16="http://schemas.microsoft.com/office/drawing/2014/main" id="{A9F1A22D-4262-43E8-8662-319B8256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33675"/>
            <a:ext cx="228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000A"/>
            </a:solidFill>
          </a:ln>
        </p:spPr>
      </p:sp>
      <p:sp>
        <p:nvSpPr>
          <p:cNvPr id="28" name="p3-text-54">
            <a:extLst xmlns:a="http://schemas.openxmlformats.org/drawingml/2006/main">
              <a:ext uri="{FF2B5EF4-FFF2-40B4-BE49-F238E27FC236}">
                <a16:creationId xmlns:a16="http://schemas.microsoft.com/office/drawing/2014/main" id="{B614282B-383A-4D89-8576-9234697E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859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C7C7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C7C7C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3-text-55">
            <a:extLst xmlns:a="http://schemas.openxmlformats.org/drawingml/2006/main">
              <a:ext uri="{FF2B5EF4-FFF2-40B4-BE49-F238E27FC236}">
                <a16:creationId xmlns:a16="http://schemas.microsoft.com/office/drawing/2014/main" id="{423B7109-E795-416A-A438-A04719AA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66975"/>
            <a:ext cx="2457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30" name="p3-text-56">
            <a:extLst xmlns:a="http://schemas.openxmlformats.org/drawingml/2006/main">
              <a:ext uri="{FF2B5EF4-FFF2-40B4-BE49-F238E27FC236}">
                <a16:creationId xmlns:a16="http://schemas.microsoft.com/office/drawing/2014/main" id="{E78FC42B-B8A0-4D0A-A192-48EF9D9B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62275"/>
            <a:ext cx="2409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Codex / Claude Code</a:t>
            </a:r>
          </a:p>
        </p:txBody>
      </p:sp>
      <p:sp>
        <p:nvSpPr>
          <p:cNvPr id="31" name="p3-line-57">
            <a:extLst xmlns:a="http://schemas.openxmlformats.org/drawingml/2006/main">
              <a:ext uri="{FF2B5EF4-FFF2-40B4-BE49-F238E27FC236}">
                <a16:creationId xmlns:a16="http://schemas.microsoft.com/office/drawing/2014/main" id="{1D495185-512E-4714-9A33-8B7128E3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0000"/>
            <a:ext cx="2381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32" name="p3-text-58">
            <a:extLst xmlns:a="http://schemas.openxmlformats.org/drawingml/2006/main">
              <a:ext uri="{FF2B5EF4-FFF2-40B4-BE49-F238E27FC236}">
                <a16:creationId xmlns:a16="http://schemas.microsoft.com/office/drawing/2014/main" id="{89C87B87-EE01-4FEE-985F-667137B7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43350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读材料、用工具、产文件</a:t>
            </a:r>
          </a:p>
        </p:txBody>
      </p:sp>
      <p:sp>
        <p:nvSpPr>
          <p:cNvPr id="33" name="p3-text-59">
            <a:extLst xmlns:a="http://schemas.openxmlformats.org/drawingml/2006/main">
              <a:ext uri="{FF2B5EF4-FFF2-40B4-BE49-F238E27FC236}">
                <a16:creationId xmlns:a16="http://schemas.microsoft.com/office/drawing/2014/main" id="{E6584F61-66BB-487F-8B15-CCDA51D4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81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瓶颈：完成后仍需验收</a:t>
            </a:r>
          </a:p>
        </p:txBody>
      </p:sp>
      <p:sp>
        <p:nvSpPr>
          <p:cNvPr id="34" name="p3-text-60">
            <a:extLst xmlns:a="http://schemas.openxmlformats.org/drawingml/2006/main">
              <a:ext uri="{FF2B5EF4-FFF2-40B4-BE49-F238E27FC236}">
                <a16:creationId xmlns:a16="http://schemas.microsoft.com/office/drawing/2014/main" id="{8F835F00-4704-42E4-814B-E0DC298C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48225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我给目标与任务边界</a:t>
            </a:r>
          </a:p>
        </p:txBody>
      </p:sp>
      <p:sp>
        <p:nvSpPr>
          <p:cNvPr id="35" name="p3-line-61">
            <a:extLst xmlns:a="http://schemas.openxmlformats.org/drawingml/2006/main">
              <a:ext uri="{FF2B5EF4-FFF2-40B4-BE49-F238E27FC236}">
                <a16:creationId xmlns:a16="http://schemas.microsoft.com/office/drawing/2014/main" id="{B401844B-B630-4A06-988D-F2E6004E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33675"/>
            <a:ext cx="228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000A"/>
            </a:solidFill>
          </a:ln>
        </p:spPr>
      </p:sp>
      <p:sp>
        <p:nvSpPr>
          <p:cNvPr id="36" name="p3-text-62">
            <a:extLst xmlns:a="http://schemas.openxmlformats.org/drawingml/2006/main">
              <a:ext uri="{FF2B5EF4-FFF2-40B4-BE49-F238E27FC236}">
                <a16:creationId xmlns:a16="http://schemas.microsoft.com/office/drawing/2014/main" id="{5BFFE935-1481-4C2D-9AB1-6FDFBF71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6859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7" name="p3-text-63">
            <a:extLst xmlns:a="http://schemas.openxmlformats.org/drawingml/2006/main">
              <a:ext uri="{FF2B5EF4-FFF2-40B4-BE49-F238E27FC236}">
                <a16:creationId xmlns:a16="http://schemas.microsoft.com/office/drawing/2014/main" id="{C4087855-700B-4DDA-86A2-A0527AE7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466975"/>
            <a:ext cx="2457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Harness 实践</a:t>
            </a:r>
          </a:p>
        </p:txBody>
      </p:sp>
      <p:sp>
        <p:nvSpPr>
          <p:cNvPr id="38" name="p3-text-64">
            <a:extLst xmlns:a="http://schemas.openxmlformats.org/drawingml/2006/main">
              <a:ext uri="{FF2B5EF4-FFF2-40B4-BE49-F238E27FC236}">
                <a16:creationId xmlns:a16="http://schemas.microsoft.com/office/drawing/2014/main" id="{A50CDD84-729F-471C-BD64-0E755E26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962275"/>
            <a:ext cx="2409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Skill + 文件状态</a:t>
            </a:r>
          </a:p>
          <a:p xmlns:a="http://schemas.openxmlformats.org/drawingml/2006/main">
            <a:pPr algn="l">
              <a:def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检查与恢复</a:t>
            </a:r>
          </a:p>
        </p:txBody>
      </p:sp>
      <p:sp>
        <p:nvSpPr>
          <p:cNvPr id="39" name="p3-line-65">
            <a:extLst xmlns:a="http://schemas.openxmlformats.org/drawingml/2006/main">
              <a:ext uri="{FF2B5EF4-FFF2-40B4-BE49-F238E27FC236}">
                <a16:creationId xmlns:a16="http://schemas.microsoft.com/office/drawing/2014/main" id="{5EBA303A-8511-438E-87C4-214EFFB4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10000"/>
            <a:ext cx="2381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40" name="p3-text-66">
            <a:extLst xmlns:a="http://schemas.openxmlformats.org/drawingml/2006/main">
              <a:ext uri="{FF2B5EF4-FFF2-40B4-BE49-F238E27FC236}">
                <a16:creationId xmlns:a16="http://schemas.microsoft.com/office/drawing/2014/main" id="{376C079E-25FB-423F-8819-87378104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943350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多步任务持续执行</a:t>
            </a:r>
          </a:p>
        </p:txBody>
      </p:sp>
      <p:sp>
        <p:nvSpPr>
          <p:cNvPr id="41" name="p3-text-67">
            <a:extLst xmlns:a="http://schemas.openxmlformats.org/drawingml/2006/main">
              <a:ext uri="{FF2B5EF4-FFF2-40B4-BE49-F238E27FC236}">
                <a16:creationId xmlns:a16="http://schemas.microsoft.com/office/drawing/2014/main" id="{E65D2787-038B-440F-8345-5CDC47AA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81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持续工作：维护规则与检查</a:t>
            </a:r>
          </a:p>
        </p:txBody>
      </p:sp>
      <p:sp>
        <p:nvSpPr>
          <p:cNvPr id="42" name="p3-text-68">
            <a:extLst xmlns:a="http://schemas.openxmlformats.org/drawingml/2006/main">
              <a:ext uri="{FF2B5EF4-FFF2-40B4-BE49-F238E27FC236}">
                <a16:creationId xmlns:a16="http://schemas.microsoft.com/office/drawing/2014/main" id="{7D6B944C-64EA-4B06-9133-9093F15B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848225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我定义验收与接管条件</a:t>
            </a:r>
          </a:p>
        </p:txBody>
      </p:sp>
      <p:sp>
        <p:nvSpPr>
          <p:cNvPr id="43" name="p3-line-69">
            <a:extLst xmlns:a="http://schemas.openxmlformats.org/drawingml/2006/main">
              <a:ext uri="{FF2B5EF4-FFF2-40B4-BE49-F238E27FC236}">
                <a16:creationId xmlns:a16="http://schemas.microsoft.com/office/drawing/2014/main" id="{E06F723D-FE0B-416D-A890-EE7A90E1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10629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44" name="p3-text-70">
            <a:extLst xmlns:a="http://schemas.openxmlformats.org/drawingml/2006/main">
              <a:ext uri="{FF2B5EF4-FFF2-40B4-BE49-F238E27FC236}">
                <a16:creationId xmlns:a16="http://schemas.microsoft.com/office/drawing/2014/main" id="{8F237B87-90AA-43E7-9D65-452FD65F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629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交付物逐步扩展：回答文本、可用资料、任务产物、可继续执行的工作状态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p4-shape-71">
            <a:extLst xmlns:a="http://schemas.openxmlformats.org/drawingml/2006/main">
              <a:ext uri="{FF2B5EF4-FFF2-40B4-BE49-F238E27FC236}">
                <a16:creationId xmlns:a16="http://schemas.microsoft.com/office/drawing/2014/main" id="{57C4A1D3-6A4B-4A27-8CA0-035B1914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p4-text-72">
            <a:extLst xmlns:a="http://schemas.openxmlformats.org/drawingml/2006/main">
              <a:ext uri="{FF2B5EF4-FFF2-40B4-BE49-F238E27FC236}">
                <a16:creationId xmlns:a16="http://schemas.microsoft.com/office/drawing/2014/main" id="{D800B458-E95B-4BA1-AC66-D20D1F79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0629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模型与工具分别匹配能力和执行方式</a:t>
            </a:r>
          </a:p>
        </p:txBody>
      </p:sp>
      <p:sp>
        <p:nvSpPr>
          <p:cNvPr id="11" name="p4-text-73">
            <a:extLst xmlns:a="http://schemas.openxmlformats.org/drawingml/2006/main">
              <a:ext uri="{FF2B5EF4-FFF2-40B4-BE49-F238E27FC236}">
                <a16:creationId xmlns:a16="http://schemas.microsoft.com/office/drawing/2014/main" id="{CABD5C9D-07ED-45A0-B080-7CD99B0D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715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模型家族与应用入口分开选择，以下为任务匹配建议，不是性能排名</a:t>
            </a:r>
          </a:p>
        </p:txBody>
      </p:sp>
      <p:sp>
        <p:nvSpPr>
          <p:cNvPr id="12" name="p4-text-74">
            <a:extLst xmlns:a="http://schemas.openxmlformats.org/drawingml/2006/main">
              <a:ext uri="{FF2B5EF4-FFF2-40B4-BE49-F238E27FC236}">
                <a16:creationId xmlns:a16="http://schemas.microsoft.com/office/drawing/2014/main" id="{183760A0-E061-44D9-A8B9-4C22B9D3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模型层</a:t>
            </a:r>
          </a:p>
        </p:txBody>
      </p:sp>
      <p:sp>
        <p:nvSpPr>
          <p:cNvPr id="13" name="p4-text-75">
            <a:extLst xmlns:a="http://schemas.openxmlformats.org/drawingml/2006/main">
              <a:ext uri="{FF2B5EF4-FFF2-40B4-BE49-F238E27FC236}">
                <a16:creationId xmlns:a16="http://schemas.microsoft.com/office/drawing/2014/main" id="{21F91D84-31D5-41AA-ACEB-7F9BEFDE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19250"/>
            <a:ext cx="933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GPT / Claude / Gemini / DeepSeek / Qwen / Kimi 等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781050" y="2124075"/>
          <a:ext xmlns:a="http://schemas.openxmlformats.org/drawingml/2006/main" cx="106299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66950"/>
                <a:gridCol w="4476750"/>
                <a:gridCol w="3886200"/>
              </a:tblGrid>
              <a:tr h="514350">
                <a:tc>
                  <a:txBody>
                    <a:bodyPr lIns="133350" tIns="76200" rIns="95250" bIns="76200"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1D1D1A"/>
                    </a:solidFill>
                  </a:tcPr>
                </a:tc>
                <a:tc>
                  <a:txBody>
                    <a:bodyPr lIns="133350" tIns="76200" rIns="95250" bIns="76200"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工具形态与例子</a:t>
                      </a:r>
                    </a:p>
                  </a:txBody>
                  <a:tcPr marL="91440" marR="91440" marT="45720" marB="45720" anchor="ctr">
                    <a:solidFill>
                      <a:srgbClr val="1D1D1A"/>
                    </a:solidFill>
                  </a:tcPr>
                </a:tc>
                <a:tc>
                  <a:txBody>
                    <a:bodyPr lIns="133350" tIns="76200" rIns="95250" bIns="76200"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选择依据</a:t>
                      </a:r>
                    </a:p>
                  </a:txBody>
                  <a:tcPr marL="91440" marR="91440" marT="45720" marB="45720" anchor="ctr">
                    <a:solidFill>
                      <a:srgbClr val="1D1D1A"/>
                    </a:solidFill>
                  </a:tcPr>
                </a:tc>
              </a:tr>
              <a:tr h="514350">
                <a:tc>
                  <a:txBody>
                    <a:bodyPr lIns="133350" tIns="76200" rIns="95250" bIns="76200"/>
                    <a:lstStyle/>
                    <a:p>
                      <a:r>
                        <a:rPr sz="1275" b="1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讨论与初稿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  <a:tc>
                  <a:txBody>
                    <a:bodyPr lIns="133350" tIns="76200" rIns="95250" bIns="76200"/>
                    <a:lstStyle/>
                    <a:p>
                      <a:r>
                        <a:rPr sz="1275" b="0">
                          <a:solidFill>
                            <a:srgbClr val="57575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 / Claude / Gemini 对话应用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  <a:tc>
                  <a:txBody>
                    <a:bodyPr lIns="133350" tIns="76200" rIns="95250" bIns="76200"/>
                    <a:lstStyle/>
                    <a:p>
                      <a:r>
                        <a:rPr sz="1275" b="0">
                          <a:solidFill>
                            <a:srgbClr val="57575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理解材料、交流效率、表达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 lIns="133350" tIns="76200" rIns="95250" bIns="76200"/>
                    <a:lstStyle/>
                    <a:p>
                      <a:r>
                        <a:rPr sz="1275" b="1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固定资料查证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95250" bIns="76200"/>
                    <a:lstStyle/>
                    <a:p>
                      <a:r>
                        <a:rPr sz="1275" b="0">
                          <a:solidFill>
                            <a:srgbClr val="57575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Cherry Studio RAG 等知识库工具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95250" bIns="76200"/>
                    <a:lstStyle/>
                    <a:p>
                      <a:r>
                        <a:rPr sz="1275" b="0">
                          <a:solidFill>
                            <a:srgbClr val="57575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检索质量、来源定位、更新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33350" tIns="76200" rIns="95250" bIns="76200"/>
                    <a:lstStyle/>
                    <a:p>
                      <a:r>
                        <a:rPr sz="1275" b="1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重复处理与批量任务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  <a:tc>
                  <a:txBody>
                    <a:bodyPr lIns="133350" tIns="76200" rIns="95250" bIns="76200"/>
                    <a:lstStyle/>
                    <a:p>
                      <a:r>
                        <a:rPr sz="1275" b="0">
                          <a:solidFill>
                            <a:srgbClr val="57575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自建流程 / Dify 等工作流平台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  <a:tc>
                  <a:txBody>
                    <a:bodyPr lIns="133350" tIns="76200" rIns="95250" bIns="76200"/>
                    <a:lstStyle/>
                    <a:p>
                      <a:r>
                        <a:rPr sz="1275" b="0">
                          <a:solidFill>
                            <a:srgbClr val="57575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固定输入输出、分支、成本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 lIns="133350" tIns="76200" rIns="95250" bIns="76200"/>
                    <a:lstStyle/>
                    <a:p>
                      <a:r>
                        <a:rPr sz="1275" b="1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多步任务与文件交付</a:t>
                      </a:r>
                    </a:p>
                  </a:txBody>
                  <a:tcPr marL="91440" marR="91440" marT="45720" marB="45720" anchor="ctr">
                    <a:solidFill>
                      <a:srgbClr val="FCEDEF"/>
                    </a:solidFill>
                  </a:tcPr>
                </a:tc>
                <a:tc>
                  <a:txBody>
                    <a:bodyPr lIns="133350" tIns="76200" rIns="95250" bIns="76200"/>
                    <a:lstStyle/>
                    <a:p>
                      <a:r>
                        <a:rPr sz="1275" b="0">
                          <a:solidFill>
                            <a:srgbClr val="57575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 / Claude Code / OpenCode</a:t>
                      </a:r>
                    </a:p>
                  </a:txBody>
                  <a:tcPr marL="91440" marR="91440" marT="45720" marB="45720" anchor="ctr">
                    <a:solidFill>
                      <a:srgbClr val="FCEDEF"/>
                    </a:solidFill>
                  </a:tcPr>
                </a:tc>
                <a:tc>
                  <a:txBody>
                    <a:bodyPr lIns="133350" tIns="76200" rIns="95250" bIns="76200"/>
                    <a:lstStyle/>
                    <a:p>
                      <a:r>
                        <a:rPr sz="1275" b="0">
                          <a:solidFill>
                            <a:srgbClr val="57575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工具访问、检查、任务恢复</a:t>
                      </a:r>
                    </a:p>
                  </a:txBody>
                  <a:tcPr marL="91440" marR="91440" marT="45720" marB="45720" anchor="ctr">
                    <a:solidFill>
                      <a:srgbClr val="FCEDEF"/>
                    </a:solidFill>
                  </a:tcPr>
                </a:tc>
              </a:tr>
              <a:tr h="514350">
                <a:tc>
                  <a:txBody>
                    <a:bodyPr lIns="133350" tIns="76200" rIns="95250" bIns="76200"/>
                    <a:lstStyle/>
                    <a:p>
                      <a:r>
                        <a:rPr sz="1275" b="1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原型生成与交互迭代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  <a:tc>
                  <a:txBody>
                    <a:bodyPr lIns="133350" tIns="76200" rIns="95250" bIns="76200"/>
                    <a:lstStyle/>
                    <a:p>
                      <a:r>
                        <a:rPr sz="1275" b="0">
                          <a:solidFill>
                            <a:srgbClr val="57575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支持项目文件和预览的 Agent 环境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  <a:tc>
                  <a:txBody>
                    <a:bodyPr lIns="133350" tIns="76200" rIns="95250" bIns="76200"/>
                    <a:lstStyle/>
                    <a:p>
                      <a:r>
                        <a:rPr sz="1275" b="0">
                          <a:solidFill>
                            <a:srgbClr val="57575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真实页面、异常状态、验收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5" name="p4-text-76">
            <a:extLst xmlns:a="http://schemas.openxmlformats.org/drawingml/2006/main">
              <a:ext uri="{FF2B5EF4-FFF2-40B4-BE49-F238E27FC236}">
                <a16:creationId xmlns:a16="http://schemas.microsoft.com/office/drawing/2014/main" id="{CBE51131-66B0-4C51-B654-8DA4B3DC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选择顺序：任务目标、材料位置、交付格式、质量要求，最后比较模型与成本</a:t>
            </a:r>
          </a:p>
        </p:txBody>
      </p:sp>
      <p:sp>
        <p:nvSpPr>
          <p:cNvPr id="16" name="p4-text-77">
            <a:extLst xmlns:a="http://schemas.openxmlformats.org/drawingml/2006/main">
              <a:ext uri="{FF2B5EF4-FFF2-40B4-BE49-F238E27FC236}">
                <a16:creationId xmlns:a16="http://schemas.microsoft.com/office/drawing/2014/main" id="{8FADF77E-AB54-418A-889A-BF1097E5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工具支持与版本会变化。模型家族仅作识别，不代表作者逐一使用，也不代表统一的能力排名。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p5-shape-78">
            <a:extLst xmlns:a="http://schemas.openxmlformats.org/drawingml/2006/main">
              <a:ext uri="{FF2B5EF4-FFF2-40B4-BE49-F238E27FC236}">
                <a16:creationId xmlns:a16="http://schemas.microsoft.com/office/drawing/2014/main" id="{D40732CD-535A-430C-A6E7-29D9D6E5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p5-text-79">
            <a:extLst xmlns:a="http://schemas.openxmlformats.org/drawingml/2006/main">
              <a:ext uri="{FF2B5EF4-FFF2-40B4-BE49-F238E27FC236}">
                <a16:creationId xmlns:a16="http://schemas.microsoft.com/office/drawing/2014/main" id="{61C6CE59-0F88-48DF-AE68-2991F1EE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0629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工作台已有 9 个 Skill，用研形成 4 个原子能力</a:t>
            </a:r>
          </a:p>
        </p:txBody>
      </p:sp>
      <p:sp>
        <p:nvSpPr>
          <p:cNvPr id="11" name="p5-text-80">
            <a:extLst xmlns:a="http://schemas.openxmlformats.org/drawingml/2006/main">
              <a:ext uri="{FF2B5EF4-FFF2-40B4-BE49-F238E27FC236}">
                <a16:creationId xmlns:a16="http://schemas.microsoft.com/office/drawing/2014/main" id="{0E4EB5CE-62C6-4E4A-AE47-F0EB9C8C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715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截至 2026.09.15，按仓库中业务 SKILL.md 计数，数量不代表业务效果或使用频率</a:t>
            </a:r>
          </a:p>
        </p:txBody>
      </p:sp>
      <p:sp>
        <p:nvSpPr>
          <p:cNvPr id="12" name="p5-text-81">
            <a:extLst xmlns:a="http://schemas.openxmlformats.org/drawingml/2006/main">
              <a:ext uri="{FF2B5EF4-FFF2-40B4-BE49-F238E27FC236}">
                <a16:creationId xmlns:a16="http://schemas.microsoft.com/office/drawing/2014/main" id="{57BFF5B5-FE2E-4915-97F7-023F3F87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476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3" name="p5-text-82">
            <a:extLst xmlns:a="http://schemas.openxmlformats.org/drawingml/2006/main">
              <a:ext uri="{FF2B5EF4-FFF2-40B4-BE49-F238E27FC236}">
                <a16:creationId xmlns:a16="http://schemas.microsoft.com/office/drawing/2014/main" id="{FF38DF68-E6D4-4674-855B-A435CD15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业务 Skill</a:t>
            </a:r>
          </a:p>
        </p:txBody>
      </p:sp>
      <p:sp>
        <p:nvSpPr>
          <p:cNvPr id="14" name="p5-text-83">
            <a:extLst xmlns:a="http://schemas.openxmlformats.org/drawingml/2006/main">
              <a:ext uri="{FF2B5EF4-FFF2-40B4-BE49-F238E27FC236}">
                <a16:creationId xmlns:a16="http://schemas.microsoft.com/office/drawing/2014/main" id="{2585AEC7-75A0-421F-921C-A7C95686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19250"/>
            <a:ext cx="2171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p5-text-84">
            <a:extLst xmlns:a="http://schemas.openxmlformats.org/drawingml/2006/main">
              <a:ext uri="{FF2B5EF4-FFF2-40B4-BE49-F238E27FC236}">
                <a16:creationId xmlns:a16="http://schemas.microsoft.com/office/drawing/2014/main" id="{D2439A1B-147A-418A-A8FC-9A8DA1E5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526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用户研究原子能力</a:t>
            </a:r>
          </a:p>
        </p:txBody>
      </p:sp>
      <p:sp>
        <p:nvSpPr>
          <p:cNvPr id="16" name="p5-text-85">
            <a:extLst xmlns:a="http://schemas.openxmlformats.org/drawingml/2006/main">
              <a:ext uri="{FF2B5EF4-FFF2-40B4-BE49-F238E27FC236}">
                <a16:creationId xmlns:a16="http://schemas.microsoft.com/office/drawing/2014/main" id="{E8B24AAB-B534-4347-8A5E-3031EA58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192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p5-text-86">
            <a:extLst xmlns:a="http://schemas.openxmlformats.org/drawingml/2006/main">
              <a:ext uri="{FF2B5EF4-FFF2-40B4-BE49-F238E27FC236}">
                <a16:creationId xmlns:a16="http://schemas.microsoft.com/office/drawing/2014/main" id="{7EDB0826-84D2-4F28-8F5A-522F057E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526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已交付问卷课题</a:t>
            </a:r>
          </a:p>
        </p:txBody>
      </p:sp>
      <p:sp>
        <p:nvSpPr>
          <p:cNvPr id="18" name="p5-text-87">
            <a:extLst xmlns:a="http://schemas.openxmlformats.org/drawingml/2006/main">
              <a:ext uri="{FF2B5EF4-FFF2-40B4-BE49-F238E27FC236}">
                <a16:creationId xmlns:a16="http://schemas.microsoft.com/office/drawing/2014/main" id="{6A8F483D-DFC5-464D-A49F-75D91F1F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24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计数边界</a:t>
            </a:r>
          </a:p>
        </p:txBody>
      </p:sp>
      <p:sp>
        <p:nvSpPr>
          <p:cNvPr id="19" name="p5-text-88">
            <a:extLst xmlns:a="http://schemas.openxmlformats.org/drawingml/2006/main">
              <a:ext uri="{FF2B5EF4-FFF2-40B4-BE49-F238E27FC236}">
                <a16:creationId xmlns:a16="http://schemas.microsoft.com/office/drawing/2014/main" id="{C10084B5-0D09-415F-879A-82B352EA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05025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能力文件与真实交付</a:t>
            </a:r>
          </a:p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分别说明建设进展</a:t>
            </a:r>
          </a:p>
        </p:txBody>
      </p:sp>
      <p:sp>
        <p:nvSpPr>
          <p:cNvPr id="20" name="p5-text-89">
            <a:extLst xmlns:a="http://schemas.openxmlformats.org/drawingml/2006/main">
              <a:ext uri="{FF2B5EF4-FFF2-40B4-BE49-F238E27FC236}">
                <a16:creationId xmlns:a16="http://schemas.microsoft.com/office/drawing/2014/main" id="{E9669188-C857-4755-9DAB-914F8C00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p5-text-90">
            <a:extLst xmlns:a="http://schemas.openxmlformats.org/drawingml/2006/main">
              <a:ext uri="{FF2B5EF4-FFF2-40B4-BE49-F238E27FC236}">
                <a16:creationId xmlns:a16="http://schemas.microsoft.com/office/drawing/2014/main" id="{43D6E373-DF4D-49B8-975D-3B42226C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发现与洞察</a:t>
            </a:r>
          </a:p>
        </p:txBody>
      </p:sp>
      <p:sp>
        <p:nvSpPr>
          <p:cNvPr id="22" name="p5-line-91">
            <a:extLst xmlns:a="http://schemas.openxmlformats.org/drawingml/2006/main">
              <a:ext uri="{FF2B5EF4-FFF2-40B4-BE49-F238E27FC236}">
                <a16:creationId xmlns:a16="http://schemas.microsoft.com/office/drawing/2014/main" id="{3AE0F525-FDD2-46AD-A43A-28EEADC0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1866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23" name="p5-text-92">
            <a:extLst xmlns:a="http://schemas.openxmlformats.org/drawingml/2006/main">
              <a:ext uri="{FF2B5EF4-FFF2-40B4-BE49-F238E27FC236}">
                <a16:creationId xmlns:a16="http://schemas.microsoft.com/office/drawing/2014/main" id="{F307BFC3-B284-4187-AD39-8E05B71C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1895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新品速递 / 竞品追踪</a:t>
            </a:r>
          </a:p>
        </p:txBody>
      </p:sp>
      <p:sp>
        <p:nvSpPr>
          <p:cNvPr id="24" name="p5-text-93">
            <a:extLst xmlns:a="http://schemas.openxmlformats.org/drawingml/2006/main">
              <a:ext uri="{FF2B5EF4-FFF2-40B4-BE49-F238E27FC236}">
                <a16:creationId xmlns:a16="http://schemas.microsoft.com/office/drawing/2014/main" id="{F274E898-A120-482A-91C0-64A65997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新品速递有文档</a:t>
            </a:r>
          </a:p>
        </p:txBody>
      </p:sp>
      <p:sp>
        <p:nvSpPr>
          <p:cNvPr id="25" name="p5-line-94">
            <a:extLst xmlns:a="http://schemas.openxmlformats.org/drawingml/2006/main">
              <a:ext uri="{FF2B5EF4-FFF2-40B4-BE49-F238E27FC236}">
                <a16:creationId xmlns:a16="http://schemas.microsoft.com/office/drawing/2014/main" id="{9A513E61-8E6F-40DE-9B60-6C72D76A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648075"/>
            <a:ext cx="180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26" name="p5-text-95">
            <a:extLst xmlns:a="http://schemas.openxmlformats.org/drawingml/2006/main">
              <a:ext uri="{FF2B5EF4-FFF2-40B4-BE49-F238E27FC236}">
                <a16:creationId xmlns:a16="http://schemas.microsoft.com/office/drawing/2014/main" id="{D77EFCB0-6279-47B8-9704-05E3B4CD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146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p5-text-96">
            <a:extLst xmlns:a="http://schemas.openxmlformats.org/drawingml/2006/main">
              <a:ext uri="{FF2B5EF4-FFF2-40B4-BE49-F238E27FC236}">
                <a16:creationId xmlns:a16="http://schemas.microsoft.com/office/drawing/2014/main" id="{73B3E7FE-F29E-4FD7-ABE9-D96CCB1C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7662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</p:txBody>
      </p:sp>
      <p:sp>
        <p:nvSpPr>
          <p:cNvPr id="28" name="p5-line-97">
            <a:extLst xmlns:a="http://schemas.openxmlformats.org/drawingml/2006/main">
              <a:ext uri="{FF2B5EF4-FFF2-40B4-BE49-F238E27FC236}">
                <a16:creationId xmlns:a16="http://schemas.microsoft.com/office/drawing/2014/main" id="{863A2663-9E8B-4C8D-8021-E7C37A2A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71925"/>
            <a:ext cx="1866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29" name="p5-text-98">
            <a:extLst xmlns:a="http://schemas.openxmlformats.org/drawingml/2006/main">
              <a:ext uri="{FF2B5EF4-FFF2-40B4-BE49-F238E27FC236}">
                <a16:creationId xmlns:a16="http://schemas.microsoft.com/office/drawing/2014/main" id="{8B7D32BF-618E-4A5C-B0F4-6619841D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43375"/>
            <a:ext cx="1895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问卷 / 画像 / 模拟 / 报告</a:t>
            </a:r>
          </a:p>
        </p:txBody>
      </p:sp>
      <p:sp>
        <p:nvSpPr>
          <p:cNvPr id="30" name="p5-text-99">
            <a:extLst xmlns:a="http://schemas.openxmlformats.org/drawingml/2006/main">
              <a:ext uri="{FF2B5EF4-FFF2-40B4-BE49-F238E27FC236}">
                <a16:creationId xmlns:a16="http://schemas.microsoft.com/office/drawing/2014/main" id="{942B62DE-E713-4C71-A435-4BF42278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530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2 个问卷有交付</a:t>
            </a:r>
          </a:p>
        </p:txBody>
      </p:sp>
      <p:sp>
        <p:nvSpPr>
          <p:cNvPr id="31" name="p5-line-100">
            <a:extLst xmlns:a="http://schemas.openxmlformats.org/drawingml/2006/main">
              <a:ext uri="{FF2B5EF4-FFF2-40B4-BE49-F238E27FC236}">
                <a16:creationId xmlns:a16="http://schemas.microsoft.com/office/drawing/2014/main" id="{B1A3D27D-659C-471D-B28D-E4156679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48075"/>
            <a:ext cx="180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32" name="p5-text-101">
            <a:extLst xmlns:a="http://schemas.openxmlformats.org/drawingml/2006/main">
              <a:ext uri="{FF2B5EF4-FFF2-40B4-BE49-F238E27FC236}">
                <a16:creationId xmlns:a16="http://schemas.microsoft.com/office/drawing/2014/main" id="{B0BC4373-7D83-41A1-85FD-69EB348F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146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p5-text-102">
            <a:extLst xmlns:a="http://schemas.openxmlformats.org/drawingml/2006/main">
              <a:ext uri="{FF2B5EF4-FFF2-40B4-BE49-F238E27FC236}">
                <a16:creationId xmlns:a16="http://schemas.microsoft.com/office/drawing/2014/main" id="{CC36D332-6F2F-47A8-BDC8-6016B899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定义方案</a:t>
            </a:r>
          </a:p>
        </p:txBody>
      </p:sp>
      <p:sp>
        <p:nvSpPr>
          <p:cNvPr id="34" name="p5-line-103">
            <a:extLst xmlns:a="http://schemas.openxmlformats.org/drawingml/2006/main">
              <a:ext uri="{FF2B5EF4-FFF2-40B4-BE49-F238E27FC236}">
                <a16:creationId xmlns:a16="http://schemas.microsoft.com/office/drawing/2014/main" id="{3794A949-80DF-450E-B260-E0B5388F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71925"/>
            <a:ext cx="1866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35" name="p5-text-104">
            <a:extLst xmlns:a="http://schemas.openxmlformats.org/drawingml/2006/main">
              <a:ext uri="{FF2B5EF4-FFF2-40B4-BE49-F238E27FC236}">
                <a16:creationId xmlns:a16="http://schemas.microsoft.com/office/drawing/2014/main" id="{4658A287-BDAA-41D6-B776-2A444222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43375"/>
            <a:ext cx="1895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矩阵 / 单功能对比</a:t>
            </a:r>
          </a:p>
        </p:txBody>
      </p:sp>
      <p:sp>
        <p:nvSpPr>
          <p:cNvPr id="36" name="p5-text-105">
            <a:extLst xmlns:a="http://schemas.openxmlformats.org/drawingml/2006/main">
              <a:ext uri="{FF2B5EF4-FFF2-40B4-BE49-F238E27FC236}">
                <a16:creationId xmlns:a16="http://schemas.microsoft.com/office/drawing/2014/main" id="{2479C38E-432A-48F3-BF07-1B28D9D6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有方法与方案材料</a:t>
            </a:r>
          </a:p>
        </p:txBody>
      </p:sp>
      <p:sp>
        <p:nvSpPr>
          <p:cNvPr id="37" name="p5-line-106">
            <a:extLst xmlns:a="http://schemas.openxmlformats.org/drawingml/2006/main">
              <a:ext uri="{FF2B5EF4-FFF2-40B4-BE49-F238E27FC236}">
                <a16:creationId xmlns:a16="http://schemas.microsoft.com/office/drawing/2014/main" id="{E23FFA3C-994B-4917-AE68-9218D817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648075"/>
            <a:ext cx="180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38" name="p5-text-107">
            <a:extLst xmlns:a="http://schemas.openxmlformats.org/drawingml/2006/main">
              <a:ext uri="{FF2B5EF4-FFF2-40B4-BE49-F238E27FC236}">
                <a16:creationId xmlns:a16="http://schemas.microsoft.com/office/drawing/2014/main" id="{8C5F3C92-C303-4747-930F-1C710284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146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9" name="p5-text-108">
            <a:extLst xmlns:a="http://schemas.openxmlformats.org/drawingml/2006/main">
              <a:ext uri="{FF2B5EF4-FFF2-40B4-BE49-F238E27FC236}">
                <a16:creationId xmlns:a16="http://schemas.microsoft.com/office/drawing/2014/main" id="{AE25EFF4-D1D9-4843-89A6-4A400411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7662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体验与规格</a:t>
            </a:r>
          </a:p>
        </p:txBody>
      </p:sp>
      <p:sp>
        <p:nvSpPr>
          <p:cNvPr id="40" name="p5-line-109">
            <a:extLst xmlns:a="http://schemas.openxmlformats.org/drawingml/2006/main">
              <a:ext uri="{FF2B5EF4-FFF2-40B4-BE49-F238E27FC236}">
                <a16:creationId xmlns:a16="http://schemas.microsoft.com/office/drawing/2014/main" id="{EF44013E-A89F-462E-B486-0B327F13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71925"/>
            <a:ext cx="1866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41" name="p5-text-110">
            <a:extLst xmlns:a="http://schemas.openxmlformats.org/drawingml/2006/main">
              <a:ext uri="{FF2B5EF4-FFF2-40B4-BE49-F238E27FC236}">
                <a16:creationId xmlns:a16="http://schemas.microsoft.com/office/drawing/2014/main" id="{6972CA34-F419-4371-8CEC-DB89BB27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43375"/>
            <a:ext cx="1895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产品文案 / 方案状态</a:t>
            </a:r>
          </a:p>
        </p:txBody>
      </p:sp>
      <p:sp>
        <p:nvSpPr>
          <p:cNvPr id="42" name="p5-text-111">
            <a:extLst xmlns:a="http://schemas.openxmlformats.org/drawingml/2006/main">
              <a:ext uri="{FF2B5EF4-FFF2-40B4-BE49-F238E27FC236}">
                <a16:creationId xmlns:a16="http://schemas.microsoft.com/office/drawing/2014/main" id="{E99678A6-7D12-4FC3-98ED-5D6940D7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530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PRD与原型材料待补</a:t>
            </a:r>
          </a:p>
        </p:txBody>
      </p:sp>
      <p:sp>
        <p:nvSpPr>
          <p:cNvPr id="43" name="p5-line-112">
            <a:extLst xmlns:a="http://schemas.openxmlformats.org/drawingml/2006/main">
              <a:ext uri="{FF2B5EF4-FFF2-40B4-BE49-F238E27FC236}">
                <a16:creationId xmlns:a16="http://schemas.microsoft.com/office/drawing/2014/main" id="{4AA37A0F-3354-42F0-B254-30AB9D51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48075"/>
            <a:ext cx="180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44" name="p5-text-113">
            <a:extLst xmlns:a="http://schemas.openxmlformats.org/drawingml/2006/main">
              <a:ext uri="{FF2B5EF4-FFF2-40B4-BE49-F238E27FC236}">
                <a16:creationId xmlns:a16="http://schemas.microsoft.com/office/drawing/2014/main" id="{5EA19148-8A1C-4CC1-BA47-D406A773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146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5" name="p5-text-114">
            <a:extLst xmlns:a="http://schemas.openxmlformats.org/drawingml/2006/main">
              <a:ext uri="{FF2B5EF4-FFF2-40B4-BE49-F238E27FC236}">
                <a16:creationId xmlns:a16="http://schemas.microsoft.com/office/drawing/2014/main" id="{A05AA9CA-2CB6-44A4-B49C-00397726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7662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持续运营</a:t>
            </a:r>
          </a:p>
        </p:txBody>
      </p:sp>
      <p:sp>
        <p:nvSpPr>
          <p:cNvPr id="46" name="p5-line-115">
            <a:extLst xmlns:a="http://schemas.openxmlformats.org/drawingml/2006/main">
              <a:ext uri="{FF2B5EF4-FFF2-40B4-BE49-F238E27FC236}">
                <a16:creationId xmlns:a16="http://schemas.microsoft.com/office/drawing/2014/main" id="{BE92C32E-21AB-4AEC-9932-FE71C836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71925"/>
            <a:ext cx="1866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47" name="p5-text-116">
            <a:extLst xmlns:a="http://schemas.openxmlformats.org/drawingml/2006/main">
              <a:ext uri="{FF2B5EF4-FFF2-40B4-BE49-F238E27FC236}">
                <a16:creationId xmlns:a16="http://schemas.microsoft.com/office/drawing/2014/main" id="{37A51415-5E51-4E8E-9C1D-C4D91271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43375"/>
            <a:ext cx="1895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竞品变化 / 复盘</a:t>
            </a:r>
          </a:p>
        </p:txBody>
      </p:sp>
      <p:sp>
        <p:nvSpPr>
          <p:cNvPr id="48" name="p5-text-117">
            <a:extLst xmlns:a="http://schemas.openxmlformats.org/drawingml/2006/main">
              <a:ext uri="{FF2B5EF4-FFF2-40B4-BE49-F238E27FC236}">
                <a16:creationId xmlns:a16="http://schemas.microsoft.com/office/drawing/2014/main" id="{E4172B2F-CB2D-431D-9067-3F69FB82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530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运营效果记录待补</a:t>
            </a:r>
          </a:p>
        </p:txBody>
      </p:sp>
      <p:sp>
        <p:nvSpPr>
          <p:cNvPr id="49" name="p5-text-118">
            <a:extLst xmlns:a="http://schemas.openxmlformats.org/drawingml/2006/main">
              <a:ext uri="{FF2B5EF4-FFF2-40B4-BE49-F238E27FC236}">
                <a16:creationId xmlns:a16="http://schemas.microsoft.com/office/drawing/2014/main" id="{C9417A4D-92B7-48C9-ACBF-879219C6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原子能力可独立调用。深色文字表示已有能力，红色强调已确认交付，灰色说明待扩充或验证范围。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p6-shape-119">
            <a:extLst xmlns:a="http://schemas.openxmlformats.org/drawingml/2006/main">
              <a:ext uri="{FF2B5EF4-FFF2-40B4-BE49-F238E27FC236}">
                <a16:creationId xmlns:a16="http://schemas.microsoft.com/office/drawing/2014/main" id="{331A821F-7A1C-4914-A878-93A85F2B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p6-text-120">
            <a:extLst xmlns:a="http://schemas.openxmlformats.org/drawingml/2006/main">
              <a:ext uri="{FF2B5EF4-FFF2-40B4-BE49-F238E27FC236}">
                <a16:creationId xmlns:a16="http://schemas.microsoft.com/office/drawing/2014/main" id="{F3863C7E-0D7E-4079-83CA-222587C2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0629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图库 AI 问卷用 12 题连接行为、问题与优先级</a:t>
            </a:r>
          </a:p>
        </p:txBody>
      </p:sp>
      <p:sp>
        <p:nvSpPr>
          <p:cNvPr id="11" name="p6-text-121">
            <a:extLst xmlns:a="http://schemas.openxmlformats.org/drawingml/2006/main">
              <a:ext uri="{FF2B5EF4-FFF2-40B4-BE49-F238E27FC236}">
                <a16:creationId xmlns:a16="http://schemas.microsoft.com/office/drawing/2014/main" id="{8559E2BF-161A-4E71-A948-662FC4E8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715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案例 01    ur-design-survey    交付研究设计，不将设计完成等同于需求结论成立</a:t>
            </a:r>
          </a:p>
        </p:txBody>
      </p:sp>
      <p:sp>
        <p:nvSpPr>
          <p:cNvPr id="12" name="p6-text-122">
            <a:extLst xmlns:a="http://schemas.openxmlformats.org/drawingml/2006/main">
              <a:ext uri="{FF2B5EF4-FFF2-40B4-BE49-F238E27FC236}">
                <a16:creationId xmlns:a16="http://schemas.microsoft.com/office/drawing/2014/main" id="{1845BAE4-1F71-477F-A767-42AFDFCD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Q4</a:t>
            </a:r>
          </a:p>
        </p:txBody>
      </p:sp>
      <p:sp>
        <p:nvSpPr>
          <p:cNvPr id="13" name="p6-text-123">
            <a:extLst xmlns:a="http://schemas.openxmlformats.org/drawingml/2006/main">
              <a:ext uri="{FF2B5EF4-FFF2-40B4-BE49-F238E27FC236}">
                <a16:creationId xmlns:a16="http://schemas.microsoft.com/office/drawing/2014/main" id="{F9F52ED9-343F-40F4-BD77-3D4FCE4B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97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近期使用</a:t>
            </a:r>
          </a:p>
        </p:txBody>
      </p:sp>
      <p:sp>
        <p:nvSpPr>
          <p:cNvPr id="14" name="p6-line-124">
            <a:extLst xmlns:a="http://schemas.openxmlformats.org/drawingml/2006/main">
              <a:ext uri="{FF2B5EF4-FFF2-40B4-BE49-F238E27FC236}">
                <a16:creationId xmlns:a16="http://schemas.microsoft.com/office/drawing/2014/main" id="{F54666FB-FA6D-439D-A160-AFAB116C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81225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15" name="p6-text-125">
            <a:extLst xmlns:a="http://schemas.openxmlformats.org/drawingml/2006/main">
              <a:ext uri="{FF2B5EF4-FFF2-40B4-BE49-F238E27FC236}">
                <a16:creationId xmlns:a16="http://schemas.microsoft.com/office/drawing/2014/main" id="{9C7020AD-B269-400D-84E9-5F5FB0B0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6478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Q5–Q6</a:t>
            </a:r>
          </a:p>
        </p:txBody>
      </p:sp>
      <p:sp>
        <p:nvSpPr>
          <p:cNvPr id="16" name="p6-text-126">
            <a:extLst xmlns:a="http://schemas.openxmlformats.org/drawingml/2006/main">
              <a:ext uri="{FF2B5EF4-FFF2-40B4-BE49-F238E27FC236}">
                <a16:creationId xmlns:a16="http://schemas.microsoft.com/office/drawing/2014/main" id="{C1582950-019E-4A74-BE78-E5B020E7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097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任务与行为</a:t>
            </a:r>
          </a:p>
        </p:txBody>
      </p:sp>
      <p:sp>
        <p:nvSpPr>
          <p:cNvPr id="17" name="p6-line-127">
            <a:extLst xmlns:a="http://schemas.openxmlformats.org/drawingml/2006/main">
              <a:ext uri="{FF2B5EF4-FFF2-40B4-BE49-F238E27FC236}">
                <a16:creationId xmlns:a16="http://schemas.microsoft.com/office/drawing/2014/main" id="{B569660B-7CE1-48B1-933E-619A7EEA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81225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18" name="p6-text-128">
            <a:extLst xmlns:a="http://schemas.openxmlformats.org/drawingml/2006/main">
              <a:ext uri="{FF2B5EF4-FFF2-40B4-BE49-F238E27FC236}">
                <a16:creationId xmlns:a16="http://schemas.microsoft.com/office/drawing/2014/main" id="{9F961E7F-4E00-4BDC-B601-F48370C6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478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Q7–Q8</a:t>
            </a:r>
          </a:p>
        </p:txBody>
      </p:sp>
      <p:sp>
        <p:nvSpPr>
          <p:cNvPr id="19" name="p6-text-129">
            <a:extLst xmlns:a="http://schemas.openxmlformats.org/drawingml/2006/main">
              <a:ext uri="{FF2B5EF4-FFF2-40B4-BE49-F238E27FC236}">
                <a16:creationId xmlns:a16="http://schemas.microsoft.com/office/drawing/2014/main" id="{1BFEB7D3-9772-4121-99E2-E1D152BD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97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问题与后果</a:t>
            </a:r>
          </a:p>
        </p:txBody>
      </p:sp>
      <p:sp>
        <p:nvSpPr>
          <p:cNvPr id="20" name="p6-line-130">
            <a:extLst xmlns:a="http://schemas.openxmlformats.org/drawingml/2006/main">
              <a:ext uri="{FF2B5EF4-FFF2-40B4-BE49-F238E27FC236}">
                <a16:creationId xmlns:a16="http://schemas.microsoft.com/office/drawing/2014/main" id="{70C4310A-78A7-4EE6-A828-F036A24F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181225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21" name="p6-text-131">
            <a:extLst xmlns:a="http://schemas.openxmlformats.org/drawingml/2006/main">
              <a:ext uri="{FF2B5EF4-FFF2-40B4-BE49-F238E27FC236}">
                <a16:creationId xmlns:a16="http://schemas.microsoft.com/office/drawing/2014/main" id="{014C1D55-F12D-4BC0-AE53-B3A7538B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6478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Q9–Q10</a:t>
            </a:r>
          </a:p>
        </p:txBody>
      </p:sp>
      <p:sp>
        <p:nvSpPr>
          <p:cNvPr id="22" name="p6-text-132">
            <a:extLst xmlns:a="http://schemas.openxmlformats.org/drawingml/2006/main">
              <a:ext uri="{FF2B5EF4-FFF2-40B4-BE49-F238E27FC236}">
                <a16:creationId xmlns:a16="http://schemas.microsoft.com/office/drawing/2014/main" id="{77E373BE-A210-42A5-9F06-EF85D45E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097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需求与取舍</a:t>
            </a:r>
          </a:p>
        </p:txBody>
      </p:sp>
      <p:sp>
        <p:nvSpPr>
          <p:cNvPr id="23" name="p6-line-133">
            <a:extLst xmlns:a="http://schemas.openxmlformats.org/drawingml/2006/main">
              <a:ext uri="{FF2B5EF4-FFF2-40B4-BE49-F238E27FC236}">
                <a16:creationId xmlns:a16="http://schemas.microsoft.com/office/drawing/2014/main" id="{180B7FAC-7096-4CF8-88D8-A87280DE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81225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24" name="p6-text-134">
            <a:extLst xmlns:a="http://schemas.openxmlformats.org/drawingml/2006/main">
              <a:ext uri="{FF2B5EF4-FFF2-40B4-BE49-F238E27FC236}">
                <a16:creationId xmlns:a16="http://schemas.microsoft.com/office/drawing/2014/main" id="{B6F38F90-5106-4E3C-8B67-45FBEF68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478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Q11–Q12</a:t>
            </a:r>
          </a:p>
        </p:txBody>
      </p:sp>
      <p:sp>
        <p:nvSpPr>
          <p:cNvPr id="25" name="p6-text-135">
            <a:extLst xmlns:a="http://schemas.openxmlformats.org/drawingml/2006/main">
              <a:ext uri="{FF2B5EF4-FFF2-40B4-BE49-F238E27FC236}">
                <a16:creationId xmlns:a16="http://schemas.microsoft.com/office/drawing/2014/main" id="{6584778D-1002-4B13-9265-32839FE7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97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原因与场景</a:t>
            </a:r>
          </a:p>
        </p:txBody>
      </p:sp>
      <p:sp>
        <p:nvSpPr>
          <p:cNvPr id="26" name="p6-line-136">
            <a:extLst xmlns:a="http://schemas.openxmlformats.org/drawingml/2006/main">
              <a:ext uri="{FF2B5EF4-FFF2-40B4-BE49-F238E27FC236}">
                <a16:creationId xmlns:a16="http://schemas.microsoft.com/office/drawing/2014/main" id="{02B516F4-5798-4185-9AC8-979F3A36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0629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27" name="p6-text-137">
            <a:extLst xmlns:a="http://schemas.openxmlformats.org/drawingml/2006/main">
              <a:ext uri="{FF2B5EF4-FFF2-40B4-BE49-F238E27FC236}">
                <a16:creationId xmlns:a16="http://schemas.microsoft.com/office/drawing/2014/main" id="{C322403B-6018-4129-A8D0-D1DFC576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真实交付片段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b2de11c39494a"/>
          <a:stretch xmlns:a="http://schemas.openxmlformats.org/drawingml/2006/main"/>
        </p:blipFill>
        <p:spPr>
          <a:xfrm xmlns:a="http://schemas.openxmlformats.org/drawingml/2006/main">
            <a:off x="781050" y="3189257"/>
            <a:ext cx="6286500" cy="727135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2ecb23871423a"/>
          <a:stretch xmlns:a="http://schemas.openxmlformats.org/drawingml/2006/main"/>
        </p:blipFill>
        <p:spPr>
          <a:xfrm xmlns:a="http://schemas.openxmlformats.org/drawingml/2006/main">
            <a:off x="781050" y="4109494"/>
            <a:ext cx="6286500" cy="515438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3da69f0a94233"/>
          <a:stretch xmlns:a="http://schemas.openxmlformats.org/drawingml/2006/main"/>
        </p:blipFill>
        <p:spPr>
          <a:xfrm xmlns:a="http://schemas.openxmlformats.org/drawingml/2006/main">
            <a:off x="1183187" y="4800600"/>
            <a:ext cx="5482226" cy="714375"/>
          </a:xfrm>
          <a:prstGeom xmlns:a="http://schemas.openxmlformats.org/drawingml/2006/main" prst="rect">
            <a:avLst/>
          </a:prstGeom>
        </p:spPr>
      </p:pic>
      <p:sp>
        <p:nvSpPr>
          <p:cNvPr id="31" name="p6-text-138">
            <a:extLst xmlns:a="http://schemas.openxmlformats.org/drawingml/2006/main">
              <a:ext uri="{FF2B5EF4-FFF2-40B4-BE49-F238E27FC236}">
                <a16:creationId xmlns:a16="http://schemas.microsoft.com/office/drawing/2014/main" id="{061D0FE4-BE16-4587-B3A2-D45F9AE8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670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3 项</a:t>
            </a:r>
          </a:p>
        </p:txBody>
      </p:sp>
      <p:sp>
        <p:nvSpPr>
          <p:cNvPr id="32" name="p6-text-139">
            <a:extLst xmlns:a="http://schemas.openxmlformats.org/drawingml/2006/main">
              <a:ext uri="{FF2B5EF4-FFF2-40B4-BE49-F238E27FC236}">
                <a16:creationId xmlns:a16="http://schemas.microsoft.com/office/drawing/2014/main" id="{681445A9-7FC9-417E-8F82-4F6E1ED0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3847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需求范围</a:t>
            </a:r>
          </a:p>
        </p:txBody>
      </p:sp>
      <p:sp>
        <p:nvSpPr>
          <p:cNvPr id="33" name="p6-text-140">
            <a:extLst xmlns:a="http://schemas.openxmlformats.org/drawingml/2006/main">
              <a:ext uri="{FF2B5EF4-FFF2-40B4-BE49-F238E27FC236}">
                <a16:creationId xmlns:a16="http://schemas.microsoft.com/office/drawing/2014/main" id="{2C56ABF4-ECF0-437B-896C-143E78EF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957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1 项</a:t>
            </a:r>
          </a:p>
        </p:txBody>
      </p:sp>
      <p:sp>
        <p:nvSpPr>
          <p:cNvPr id="34" name="p6-text-141">
            <a:extLst xmlns:a="http://schemas.openxmlformats.org/drawingml/2006/main">
              <a:ext uri="{FF2B5EF4-FFF2-40B4-BE49-F238E27FC236}">
                <a16:creationId xmlns:a16="http://schemas.microsoft.com/office/drawing/2014/main" id="{CE8314A6-1422-46D5-86C2-9E8CE471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671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强制取舍</a:t>
            </a:r>
          </a:p>
        </p:txBody>
      </p:sp>
      <p:sp>
        <p:nvSpPr>
          <p:cNvPr id="35" name="p6-text-142">
            <a:extLst xmlns:a="http://schemas.openxmlformats.org/drawingml/2006/main">
              <a:ext uri="{FF2B5EF4-FFF2-40B4-BE49-F238E27FC236}">
                <a16:creationId xmlns:a16="http://schemas.microsoft.com/office/drawing/2014/main" id="{5D3FDE93-777D-4834-B540-99A160BF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562475"/>
            <a:ext cx="3800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先收集需求广度，再从已选项中</a:t>
            </a:r>
          </a:p>
          <a:p xmlns:a="http://schemas.openxmlformats.org/drawingml/2006/main">
            <a:pPr algn="l">
              <a:def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确定优先项，并追问原因与场景</a:t>
            </a:r>
          </a:p>
        </p:txBody>
      </p:sp>
      <p:sp>
        <p:nvSpPr>
          <p:cNvPr id="36" name="p6-text-143">
            <a:extLst xmlns:a="http://schemas.openxmlformats.org/drawingml/2006/main">
              <a:ext uri="{FF2B5EF4-FFF2-40B4-BE49-F238E27FC236}">
                <a16:creationId xmlns:a16="http://schemas.microsoft.com/office/drawing/2014/main" id="{429C3A49-2114-452A-95A1-E736A789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来源：手机图库AI功能需求 questionnaire.md 与设计HTML。原图为Q10局部，不包含用户回答数据。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p7-shape-144">
            <a:extLst xmlns:a="http://schemas.openxmlformats.org/drawingml/2006/main">
              <a:ext uri="{FF2B5EF4-FFF2-40B4-BE49-F238E27FC236}">
                <a16:creationId xmlns:a16="http://schemas.microsoft.com/office/drawing/2014/main" id="{57F939C6-D018-4F6B-9894-4C388D39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p7-text-145">
            <a:extLst xmlns:a="http://schemas.openxmlformats.org/drawingml/2006/main">
              <a:ext uri="{FF2B5EF4-FFF2-40B4-BE49-F238E27FC236}">
                <a16:creationId xmlns:a16="http://schemas.microsoft.com/office/drawing/2014/main" id="{C8599A88-257F-405E-96C2-497A1BFD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0629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AI 帮接电话用 10 题同时研究任务与接管条件</a:t>
            </a:r>
          </a:p>
        </p:txBody>
      </p:sp>
      <p:sp>
        <p:nvSpPr>
          <p:cNvPr id="11" name="p7-text-146">
            <a:extLst xmlns:a="http://schemas.openxmlformats.org/drawingml/2006/main">
              <a:ext uri="{FF2B5EF4-FFF2-40B4-BE49-F238E27FC236}">
                <a16:creationId xmlns:a16="http://schemas.microsoft.com/office/drawing/2014/main" id="{32EC0DC2-745C-42D1-A713-C415B47B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715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同一问卷 Skill 适配不同业务问题，能力边界进入研究目标</a:t>
            </a:r>
          </a:p>
        </p:txBody>
      </p:sp>
      <p:sp>
        <p:nvSpPr>
          <p:cNvPr id="12" name="p7-text-147">
            <a:extLst xmlns:a="http://schemas.openxmlformats.org/drawingml/2006/main">
              <a:ext uri="{FF2B5EF4-FFF2-40B4-BE49-F238E27FC236}">
                <a16:creationId xmlns:a16="http://schemas.microsoft.com/office/drawing/2014/main" id="{F1043947-20B2-4A9B-8082-FE68A649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Q9  希望 AI 完成什么</a:t>
            </a:r>
          </a:p>
        </p:txBody>
      </p:sp>
      <p:sp>
        <p:nvSpPr>
          <p:cNvPr id="13" name="p7-text-148">
            <a:extLst xmlns:a="http://schemas.openxmlformats.org/drawingml/2006/main">
              <a:ext uri="{FF2B5EF4-FFF2-40B4-BE49-F238E27FC236}">
                <a16:creationId xmlns:a16="http://schemas.microsoft.com/office/drawing/2014/main" id="{08396BF0-B773-4253-A305-B3CD5815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5010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Q10  允许 AI 接管的条件</a:t>
            </a:r>
          </a:p>
        </p:txBody>
      </p:sp>
      <p:sp>
        <p:nvSpPr>
          <p:cNvPr id="14" name="p7-line-149">
            <a:extLst xmlns:a="http://schemas.openxmlformats.org/drawingml/2006/main">
              <a:ext uri="{FF2B5EF4-FFF2-40B4-BE49-F238E27FC236}">
                <a16:creationId xmlns:a16="http://schemas.microsoft.com/office/drawing/2014/main" id="{6CC2C125-9B73-435E-81AF-897BBD3B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4953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15" name="p7-text-150">
            <a:extLst xmlns:a="http://schemas.openxmlformats.org/drawingml/2006/main">
              <a:ext uri="{FF2B5EF4-FFF2-40B4-BE49-F238E27FC236}">
                <a16:creationId xmlns:a16="http://schemas.microsoft.com/office/drawing/2014/main" id="{815AD024-347D-45D7-8A50-125F3F3D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5000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询问来意，记录身份与联系目的</a:t>
            </a:r>
          </a:p>
        </p:txBody>
      </p:sp>
      <p:sp>
        <p:nvSpPr>
          <p:cNvPr id="16" name="p7-line-151">
            <a:extLst xmlns:a="http://schemas.openxmlformats.org/drawingml/2006/main">
              <a:ext uri="{FF2B5EF4-FFF2-40B4-BE49-F238E27FC236}">
                <a16:creationId xmlns:a16="http://schemas.microsoft.com/office/drawing/2014/main" id="{0C7EE7FD-B322-4BB2-80F5-4FF55C66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953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17" name="p7-text-152">
            <a:extLst xmlns:a="http://schemas.openxmlformats.org/drawingml/2006/main">
              <a:ext uri="{FF2B5EF4-FFF2-40B4-BE49-F238E27FC236}">
                <a16:creationId xmlns:a16="http://schemas.microsoft.com/office/drawing/2014/main" id="{F1C7D4A9-1F46-436F-AD6E-0760D5BE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5000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识别紧急程度，必要时提醒或转接</a:t>
            </a:r>
          </a:p>
        </p:txBody>
      </p:sp>
      <p:sp>
        <p:nvSpPr>
          <p:cNvPr id="18" name="p7-line-153">
            <a:extLst xmlns:a="http://schemas.openxmlformats.org/drawingml/2006/main">
              <a:ext uri="{FF2B5EF4-FFF2-40B4-BE49-F238E27FC236}">
                <a16:creationId xmlns:a16="http://schemas.microsoft.com/office/drawing/2014/main" id="{EFD6601D-6257-4B14-9B30-8576E87F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4953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19" name="p7-text-154">
            <a:extLst xmlns:a="http://schemas.openxmlformats.org/drawingml/2006/main">
              <a:ext uri="{FF2B5EF4-FFF2-40B4-BE49-F238E27FC236}">
                <a16:creationId xmlns:a16="http://schemas.microsoft.com/office/drawing/2014/main" id="{14DAF0CD-EA3D-4821-8B98-43F250C4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5000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提供通话摘要、待办与关键信息</a:t>
            </a:r>
          </a:p>
        </p:txBody>
      </p:sp>
      <p:sp>
        <p:nvSpPr>
          <p:cNvPr id="20" name="p7-line-155">
            <a:extLst xmlns:a="http://schemas.openxmlformats.org/drawingml/2006/main">
              <a:ext uri="{FF2B5EF4-FFF2-40B4-BE49-F238E27FC236}">
                <a16:creationId xmlns:a16="http://schemas.microsoft.com/office/drawing/2014/main" id="{1E94A1E3-74EE-4656-B573-226B227E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28875"/>
            <a:ext cx="5010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21" name="p7-text-156">
            <a:extLst xmlns:a="http://schemas.openxmlformats.org/drawingml/2006/main">
              <a:ext uri="{FF2B5EF4-FFF2-40B4-BE49-F238E27FC236}">
                <a16:creationId xmlns:a16="http://schemas.microsoft.com/office/drawing/2014/main" id="{ED711CB1-4E55-481B-AA51-A37C456A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5010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由用户决定启用时机与代接范围</a:t>
            </a:r>
          </a:p>
        </p:txBody>
      </p:sp>
      <p:sp>
        <p:nvSpPr>
          <p:cNvPr id="22" name="p7-line-157">
            <a:extLst xmlns:a="http://schemas.openxmlformats.org/drawingml/2006/main">
              <a:ext uri="{FF2B5EF4-FFF2-40B4-BE49-F238E27FC236}">
                <a16:creationId xmlns:a16="http://schemas.microsoft.com/office/drawing/2014/main" id="{529A1E26-58F8-42A3-B4FF-2A967B45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86100"/>
            <a:ext cx="5010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23" name="p7-text-158">
            <a:extLst xmlns:a="http://schemas.openxmlformats.org/drawingml/2006/main">
              <a:ext uri="{FF2B5EF4-FFF2-40B4-BE49-F238E27FC236}">
                <a16:creationId xmlns:a16="http://schemas.microsoft.com/office/drawing/2014/main" id="{B15E6F78-4327-4439-A0F6-4584AEE6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5010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未经授权不透露个人信息</a:t>
            </a:r>
          </a:p>
        </p:txBody>
      </p:sp>
      <p:sp>
        <p:nvSpPr>
          <p:cNvPr id="24" name="p7-line-159">
            <a:extLst xmlns:a="http://schemas.openxmlformats.org/drawingml/2006/main">
              <a:ext uri="{FF2B5EF4-FFF2-40B4-BE49-F238E27FC236}">
                <a16:creationId xmlns:a16="http://schemas.microsoft.com/office/drawing/2014/main" id="{5F6856DB-D791-41D3-A453-5FD3B2F9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5010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25" name="p7-text-160">
            <a:extLst xmlns:a="http://schemas.openxmlformats.org/drawingml/2006/main">
              <a:ext uri="{FF2B5EF4-FFF2-40B4-BE49-F238E27FC236}">
                <a16:creationId xmlns:a16="http://schemas.microsoft.com/office/drawing/2014/main" id="{C32E3FC1-CE3C-4F73-A2D5-A076E9CE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38575"/>
            <a:ext cx="5010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用户可随时接管、终止或纠正</a:t>
            </a:r>
          </a:p>
        </p:txBody>
      </p:sp>
      <p:sp>
        <p:nvSpPr>
          <p:cNvPr id="26" name="p7-text-161">
            <a:extLst xmlns:a="http://schemas.openxmlformats.org/drawingml/2006/main">
              <a:ext uri="{FF2B5EF4-FFF2-40B4-BE49-F238E27FC236}">
                <a16:creationId xmlns:a16="http://schemas.microsoft.com/office/drawing/2014/main" id="{03102206-6E41-4158-9DCD-37F66975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两题均最多选择 3 项。上方为真实问卷选项的压缩转述，完整选项见原文件。</a:t>
            </a:r>
          </a:p>
        </p:txBody>
      </p:sp>
      <p:sp>
        <p:nvSpPr>
          <p:cNvPr id="27" name="p7-text-162">
            <a:extLst xmlns:a="http://schemas.openxmlformats.org/drawingml/2006/main">
              <a:ext uri="{FF2B5EF4-FFF2-40B4-BE49-F238E27FC236}">
                <a16:creationId xmlns:a16="http://schemas.microsoft.com/office/drawing/2014/main" id="{82D31A9D-B0EE-4C36-BF1A-626762D6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244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10题</a:t>
            </a:r>
          </a:p>
        </p:txBody>
      </p:sp>
      <p:sp>
        <p:nvSpPr>
          <p:cNvPr id="28" name="p7-text-163">
            <a:extLst xmlns:a="http://schemas.openxmlformats.org/drawingml/2006/main">
              <a:ext uri="{FF2B5EF4-FFF2-40B4-BE49-F238E27FC236}">
                <a16:creationId xmlns:a16="http://schemas.microsoft.com/office/drawing/2014/main" id="{856DF612-9656-48E4-A233-EB60ADA5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72050"/>
            <a:ext cx="2028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有相关经历的完整路径</a:t>
            </a:r>
          </a:p>
        </p:txBody>
      </p:sp>
      <p:sp>
        <p:nvSpPr>
          <p:cNvPr id="29" name="p7-text-164">
            <a:extLst xmlns:a="http://schemas.openxmlformats.org/drawingml/2006/main">
              <a:ext uri="{FF2B5EF4-FFF2-40B4-BE49-F238E27FC236}">
                <a16:creationId xmlns:a16="http://schemas.microsoft.com/office/drawing/2014/main" id="{E2BC0123-3BC0-4A95-B8CB-9EE56C7A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9244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5题</a:t>
            </a:r>
          </a:p>
        </p:txBody>
      </p:sp>
      <p:sp>
        <p:nvSpPr>
          <p:cNvPr id="30" name="p7-text-165">
            <a:extLst xmlns:a="http://schemas.openxmlformats.org/drawingml/2006/main">
              <a:ext uri="{FF2B5EF4-FFF2-40B4-BE49-F238E27FC236}">
                <a16:creationId xmlns:a16="http://schemas.microsoft.com/office/drawing/2014/main" id="{D22A0720-F8E9-4D5F-B196-5D6A3DCB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972050"/>
            <a:ext cx="2028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没有不便接听经历</a:t>
            </a:r>
          </a:p>
        </p:txBody>
      </p:sp>
      <p:sp>
        <p:nvSpPr>
          <p:cNvPr id="31" name="p7-text-166">
            <a:extLst xmlns:a="http://schemas.openxmlformats.org/drawingml/2006/main">
              <a:ext uri="{FF2B5EF4-FFF2-40B4-BE49-F238E27FC236}">
                <a16:creationId xmlns:a16="http://schemas.microsoft.com/office/drawing/2014/main" id="{BF526C13-F6D4-4D18-97E4-46FC7EB5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244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4题</a:t>
            </a:r>
          </a:p>
        </p:txBody>
      </p:sp>
      <p:sp>
        <p:nvSpPr>
          <p:cNvPr id="32" name="p7-text-167">
            <a:extLst xmlns:a="http://schemas.openxmlformats.org/drawingml/2006/main">
              <a:ext uri="{FF2B5EF4-FFF2-40B4-BE49-F238E27FC236}">
                <a16:creationId xmlns:a16="http://schemas.microsoft.com/office/drawing/2014/main" id="{DDB8D0E3-85C4-4DA1-9430-8350FAD2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72050"/>
            <a:ext cx="2028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过去30天没有来电</a:t>
            </a:r>
          </a:p>
        </p:txBody>
      </p:sp>
      <p:sp>
        <p:nvSpPr>
          <p:cNvPr id="33" name="p7-text-168">
            <a:extLst xmlns:a="http://schemas.openxmlformats.org/drawingml/2006/main">
              <a:ext uri="{FF2B5EF4-FFF2-40B4-BE49-F238E27FC236}">
                <a16:creationId xmlns:a16="http://schemas.microsoft.com/office/drawing/2014/main" id="{EA0B96E9-5E6E-41E3-8C5D-E133990C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产品用途：判断是否进入概念验证，确定优先场景、首批功能与控制边界。问卷交付不代表结果已回收。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p8-shape-169">
            <a:extLst xmlns:a="http://schemas.openxmlformats.org/drawingml/2006/main">
              <a:ext uri="{FF2B5EF4-FFF2-40B4-BE49-F238E27FC236}">
                <a16:creationId xmlns:a16="http://schemas.microsoft.com/office/drawing/2014/main" id="{C71643A8-002C-4096-8A6D-031FCC24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p8-text-170">
            <a:extLst xmlns:a="http://schemas.openxmlformats.org/drawingml/2006/main">
              <a:ext uri="{FF2B5EF4-FFF2-40B4-BE49-F238E27FC236}">
                <a16:creationId xmlns:a16="http://schemas.microsoft.com/office/drawing/2014/main" id="{459B1B52-A6FD-40BA-A9C9-759BF777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0629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 个用研 Skill 通过文件与批次协同</a:t>
            </a:r>
          </a:p>
        </p:txBody>
      </p:sp>
      <p:sp>
        <p:nvSpPr>
          <p:cNvPr id="11" name="p8-text-171">
            <a:extLst xmlns:a="http://schemas.openxmlformats.org/drawingml/2006/main">
              <a:ext uri="{FF2B5EF4-FFF2-40B4-BE49-F238E27FC236}">
                <a16:creationId xmlns:a16="http://schemas.microsoft.com/office/drawing/2014/main" id="{295018E3-E3E0-4A56-A309-7F84ABFE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715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重点能力 02    ur-user-simulator    用于研究预演，机制来自现有工作流定义</a:t>
            </a:r>
          </a:p>
        </p:txBody>
      </p:sp>
      <p:sp>
        <p:nvSpPr>
          <p:cNvPr id="12" name="p8-text-172">
            <a:extLst xmlns:a="http://schemas.openxmlformats.org/drawingml/2006/main">
              <a:ext uri="{FF2B5EF4-FFF2-40B4-BE49-F238E27FC236}">
                <a16:creationId xmlns:a16="http://schemas.microsoft.com/office/drawing/2014/main" id="{C3A0CD93-FA42-471C-BCA9-ADCFB281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04975"/>
            <a:ext cx="3019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01  问卷设计</a:t>
            </a:r>
          </a:p>
        </p:txBody>
      </p:sp>
      <p:sp>
        <p:nvSpPr>
          <p:cNvPr id="13" name="p8-text-173">
            <a:extLst xmlns:a="http://schemas.openxmlformats.org/drawingml/2006/main">
              <a:ext uri="{FF2B5EF4-FFF2-40B4-BE49-F238E27FC236}">
                <a16:creationId xmlns:a16="http://schemas.microsoft.com/office/drawing/2014/main" id="{E71920BD-B6D2-4CF3-B4E2-BCCBA182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questionnaire.md / 设计说明</a:t>
            </a:r>
          </a:p>
        </p:txBody>
      </p:sp>
      <p:sp>
        <p:nvSpPr>
          <p:cNvPr id="14" name="p8-text-174">
            <a:extLst xmlns:a="http://schemas.openxmlformats.org/drawingml/2006/main">
              <a:ext uri="{FF2B5EF4-FFF2-40B4-BE49-F238E27FC236}">
                <a16:creationId xmlns:a16="http://schemas.microsoft.com/office/drawing/2014/main" id="{315E55D0-CC62-4D7B-8BB9-D4D403B5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3019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02  画像生成</a:t>
            </a:r>
          </a:p>
        </p:txBody>
      </p:sp>
      <p:sp>
        <p:nvSpPr>
          <p:cNvPr id="15" name="p8-text-175">
            <a:extLst xmlns:a="http://schemas.openxmlformats.org/drawingml/2006/main">
              <a:ext uri="{FF2B5EF4-FFF2-40B4-BE49-F238E27FC236}">
                <a16:creationId xmlns:a16="http://schemas.microsoft.com/office/drawing/2014/main" id="{C9A6E36D-371F-4FB1-928A-1DFD2507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只读课题背景 → personas.json</a:t>
            </a:r>
          </a:p>
        </p:txBody>
      </p:sp>
      <p:sp>
        <p:nvSpPr>
          <p:cNvPr id="16" name="p8-line-176">
            <a:extLst xmlns:a="http://schemas.openxmlformats.org/drawingml/2006/main">
              <a:ext uri="{FF2B5EF4-FFF2-40B4-BE49-F238E27FC236}">
                <a16:creationId xmlns:a16="http://schemas.microsoft.com/office/drawing/2014/main" id="{A91150C6-7073-4CED-B409-0F9DEDB8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24100"/>
            <a:ext cx="40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17" name="p8-line-177">
            <a:extLst xmlns:a="http://schemas.openxmlformats.org/drawingml/2006/main">
              <a:ext uri="{FF2B5EF4-FFF2-40B4-BE49-F238E27FC236}">
                <a16:creationId xmlns:a16="http://schemas.microsoft.com/office/drawing/2014/main" id="{B6E6478E-9AAA-471E-844C-F24CB4E3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48075"/>
            <a:ext cx="40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18" name="p8-line-178">
            <a:extLst xmlns:a="http://schemas.openxmlformats.org/drawingml/2006/main">
              <a:ext uri="{FF2B5EF4-FFF2-40B4-BE49-F238E27FC236}">
                <a16:creationId xmlns:a16="http://schemas.microsoft.com/office/drawing/2014/main" id="{C242694F-7D0F-4D5B-8096-40C3B72B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24100"/>
            <a:ext cx="953" cy="1323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19" name="p8-line-179">
            <a:extLst xmlns:a="http://schemas.openxmlformats.org/drawingml/2006/main">
              <a:ext uri="{FF2B5EF4-FFF2-40B4-BE49-F238E27FC236}">
                <a16:creationId xmlns:a16="http://schemas.microsoft.com/office/drawing/2014/main" id="{39B9E7BB-925F-478F-8DD3-6CA45F1F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943225"/>
            <a:ext cx="40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000A"/>
            </a:solidFill>
          </a:ln>
        </p:spPr>
      </p:sp>
      <p:sp>
        <p:nvSpPr>
          <p:cNvPr id="20" name="p8-text-180">
            <a:extLst xmlns:a="http://schemas.openxmlformats.org/drawingml/2006/main">
              <a:ext uri="{FF2B5EF4-FFF2-40B4-BE49-F238E27FC236}">
                <a16:creationId xmlns:a16="http://schemas.microsoft.com/office/drawing/2014/main" id="{9B563B46-7A3B-4A0E-BBF2-3090A095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336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  模拟作答</a:t>
            </a:r>
          </a:p>
        </p:txBody>
      </p:sp>
      <p:sp>
        <p:nvSpPr>
          <p:cNvPr id="21" name="p8-text-181">
            <a:extLst xmlns:a="http://schemas.openxmlformats.org/drawingml/2006/main">
              <a:ext uri="{FF2B5EF4-FFF2-40B4-BE49-F238E27FC236}">
                <a16:creationId xmlns:a16="http://schemas.microsoft.com/office/drawing/2014/main" id="{8C80595B-436E-40BA-A6A2-C2B789AC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86075"/>
            <a:ext cx="2819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逐人隔离上下文</a:t>
            </a:r>
          </a:p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回答 Excel / 质量报告</a:t>
            </a:r>
          </a:p>
        </p:txBody>
      </p:sp>
      <p:sp>
        <p:nvSpPr>
          <p:cNvPr id="22" name="p8-line-182">
            <a:extLst xmlns:a="http://schemas.openxmlformats.org/drawingml/2006/main">
              <a:ext uri="{FF2B5EF4-FFF2-40B4-BE49-F238E27FC236}">
                <a16:creationId xmlns:a16="http://schemas.microsoft.com/office/drawing/2014/main" id="{8E940B6F-E5A2-42BD-99E6-7639A3D6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43225"/>
            <a:ext cx="390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000A"/>
            </a:solidFill>
          </a:ln>
        </p:spPr>
      </p:sp>
      <p:sp>
        <p:nvSpPr>
          <p:cNvPr id="23" name="p8-text-183">
            <a:extLst xmlns:a="http://schemas.openxmlformats.org/drawingml/2006/main">
              <a:ext uri="{FF2B5EF4-FFF2-40B4-BE49-F238E27FC236}">
                <a16:creationId xmlns:a16="http://schemas.microsoft.com/office/drawing/2014/main" id="{8D3305D0-A422-4035-A0E4-CF16FCC1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33625"/>
            <a:ext cx="2924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04  报告综合</a:t>
            </a:r>
          </a:p>
        </p:txBody>
      </p:sp>
      <p:sp>
        <p:nvSpPr>
          <p:cNvPr id="24" name="p8-text-184">
            <a:extLst xmlns:a="http://schemas.openxmlformats.org/drawingml/2006/main">
              <a:ext uri="{FF2B5EF4-FFF2-40B4-BE49-F238E27FC236}">
                <a16:creationId xmlns:a16="http://schemas.microsoft.com/office/drawing/2014/main" id="{08355736-B775-4045-A513-5D23D5C4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86075"/>
            <a:ext cx="2924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问卷与指定批次答卷</a:t>
            </a:r>
          </a:p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分析 JSON / 离线 HTML</a:t>
            </a:r>
          </a:p>
        </p:txBody>
      </p:sp>
      <p:sp>
        <p:nvSpPr>
          <p:cNvPr id="25" name="p8-shape-185">
            <a:extLst xmlns:a="http://schemas.openxmlformats.org/drawingml/2006/main">
              <a:ext uri="{FF2B5EF4-FFF2-40B4-BE49-F238E27FC236}">
                <a16:creationId xmlns:a16="http://schemas.microsoft.com/office/drawing/2014/main" id="{56D624F2-8802-4BD6-8B57-8D67F2BF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0629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6" name="p8-text-186">
            <a:extLst xmlns:a="http://schemas.openxmlformats.org/drawingml/2006/main">
              <a:ext uri="{FF2B5EF4-FFF2-40B4-BE49-F238E27FC236}">
                <a16:creationId xmlns:a16="http://schemas.microsoft.com/office/drawing/2014/main" id="{BE8233F3-11BE-406B-86AF-2FCFB384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同一 run_id</a:t>
            </a:r>
          </a:p>
        </p:txBody>
      </p:sp>
      <p:sp>
        <p:nvSpPr>
          <p:cNvPr id="27" name="p8-text-187">
            <a:extLst xmlns:a="http://schemas.openxmlformats.org/drawingml/2006/main">
              <a:ext uri="{FF2B5EF4-FFF2-40B4-BE49-F238E27FC236}">
                <a16:creationId xmlns:a16="http://schemas.microsoft.com/office/drawing/2014/main" id="{D707C02F-1439-4E47-A292-96A3FCD2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210050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绑定答卷与报告，防止拿错批次或新旧结果混用</a:t>
            </a:r>
          </a:p>
        </p:txBody>
      </p:sp>
      <p:sp>
        <p:nvSpPr>
          <p:cNvPr id="28" name="p8-text-188">
            <a:extLst xmlns:a="http://schemas.openxmlformats.org/drawingml/2006/main">
              <a:ext uri="{FF2B5EF4-FFF2-40B4-BE49-F238E27FC236}">
                <a16:creationId xmlns:a16="http://schemas.microsoft.com/office/drawing/2014/main" id="{A144930E-95D5-4328-99C0-EE1EB596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上下文隔离</a:t>
            </a:r>
          </a:p>
        </p:txBody>
      </p:sp>
      <p:sp>
        <p:nvSpPr>
          <p:cNvPr id="29" name="p8-text-189">
            <a:extLst xmlns:a="http://schemas.openxmlformats.org/drawingml/2006/main">
              <a:ext uri="{FF2B5EF4-FFF2-40B4-BE49-F238E27FC236}">
                <a16:creationId xmlns:a16="http://schemas.microsoft.com/office/drawing/2014/main" id="{8166518B-9D81-4751-8221-BDBD2EA1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328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画像不读问卷；用户独立作答</a:t>
            </a:r>
          </a:p>
        </p:txBody>
      </p:sp>
      <p:sp>
        <p:nvSpPr>
          <p:cNvPr id="30" name="p8-text-190">
            <a:extLst xmlns:a="http://schemas.openxmlformats.org/drawingml/2006/main">
              <a:ext uri="{FF2B5EF4-FFF2-40B4-BE49-F238E27FC236}">
                <a16:creationId xmlns:a16="http://schemas.microsoft.com/office/drawing/2014/main" id="{067588B2-4B31-4522-9AC8-2D8ADFFF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90537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失败停止</a:t>
            </a:r>
          </a:p>
        </p:txBody>
      </p:sp>
      <p:sp>
        <p:nvSpPr>
          <p:cNvPr id="31" name="p8-text-191">
            <a:extLst xmlns:a="http://schemas.openxmlformats.org/drawingml/2006/main">
              <a:ext uri="{FF2B5EF4-FFF2-40B4-BE49-F238E27FC236}">
                <a16:creationId xmlns:a16="http://schemas.microsoft.com/office/drawing/2014/main" id="{91CC884C-7ED1-4931-AC33-B701CA5D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314950"/>
            <a:ext cx="328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当前检查未通过，不调用下游</a:t>
            </a:r>
          </a:p>
        </p:txBody>
      </p:sp>
      <p:sp>
        <p:nvSpPr>
          <p:cNvPr id="32" name="p8-text-192">
            <a:extLst xmlns:a="http://schemas.openxmlformats.org/drawingml/2006/main">
              <a:ext uri="{FF2B5EF4-FFF2-40B4-BE49-F238E27FC236}">
                <a16:creationId xmlns:a16="http://schemas.microsoft.com/office/drawing/2014/main" id="{D5099EB0-3B91-472B-835B-EE7DFCB6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0537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局部重跑</a:t>
            </a:r>
          </a:p>
        </p:txBody>
      </p:sp>
      <p:sp>
        <p:nvSpPr>
          <p:cNvPr id="33" name="p8-text-193">
            <a:extLst xmlns:a="http://schemas.openxmlformats.org/drawingml/2006/main">
              <a:ext uri="{FF2B5EF4-FFF2-40B4-BE49-F238E27FC236}">
                <a16:creationId xmlns:a16="http://schemas.microsoft.com/office/drawing/2014/main" id="{D8CD99E4-96CD-47DD-AF8C-5531C71F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14950"/>
            <a:ext cx="328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问卷变更后重跑模拟与报告</a:t>
            </a:r>
          </a:p>
        </p:txBody>
      </p:sp>
      <p:sp>
        <p:nvSpPr>
          <p:cNvPr id="34" name="p8-text-194">
            <a:extLst xmlns:a="http://schemas.openxmlformats.org/drawingml/2006/main">
              <a:ext uri="{FF2B5EF4-FFF2-40B4-BE49-F238E27FC236}">
                <a16:creationId xmlns:a16="http://schemas.microsoft.com/office/drawing/2014/main" id="{6DC5811D-9788-45F1-AC95-F9BD02F4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合成数据只支持研究预演和待验证假设。工作流定义不等于真实用户研究完成，也不代表业务使用效果。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p9-shape-195">
            <a:extLst xmlns:a="http://schemas.openxmlformats.org/drawingml/2006/main">
              <a:ext uri="{FF2B5EF4-FFF2-40B4-BE49-F238E27FC236}">
                <a16:creationId xmlns:a16="http://schemas.microsoft.com/office/drawing/2014/main" id="{91E5ED13-D4F1-4DF7-962A-FF3F1BF7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p9-text-196">
            <a:extLst xmlns:a="http://schemas.openxmlformats.org/drawingml/2006/main">
              <a:ext uri="{FF2B5EF4-FFF2-40B4-BE49-F238E27FC236}">
                <a16:creationId xmlns:a16="http://schemas.microsoft.com/office/drawing/2014/main" id="{5B26F76B-DF2E-41CC-8B17-39919E1A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0629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竞品矩阵用细分维度约束检索与结论</a:t>
            </a:r>
          </a:p>
        </p:txBody>
      </p:sp>
      <p:sp>
        <p:nvSpPr>
          <p:cNvPr id="11" name="p9-text-197">
            <a:extLst xmlns:a="http://schemas.openxmlformats.org/drawingml/2006/main">
              <a:ext uri="{FF2B5EF4-FFF2-40B4-BE49-F238E27FC236}">
                <a16:creationId xmlns:a16="http://schemas.microsoft.com/office/drawing/2014/main" id="{D73B485C-3233-4EA5-BF6A-15691191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715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重点能力 03    pm-system-app-competitor-matrix    图库筛选拆解示例</a:t>
            </a:r>
          </a:p>
        </p:txBody>
      </p:sp>
      <p:sp>
        <p:nvSpPr>
          <p:cNvPr id="12" name="p9-text-198">
            <a:extLst xmlns:a="http://schemas.openxmlformats.org/drawingml/2006/main">
              <a:ext uri="{FF2B5EF4-FFF2-40B4-BE49-F238E27FC236}">
                <a16:creationId xmlns:a16="http://schemas.microsoft.com/office/drawing/2014/main" id="{98F19C0E-4CCE-4E73-8D13-EC8C0B41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643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5组维度 / 12个子项</a:t>
            </a:r>
          </a:p>
        </p:txBody>
      </p:sp>
      <p:sp>
        <p:nvSpPr>
          <p:cNvPr id="13" name="p9-text-199">
            <a:extLst xmlns:a="http://schemas.openxmlformats.org/drawingml/2006/main">
              <a:ext uri="{FF2B5EF4-FFF2-40B4-BE49-F238E27FC236}">
                <a16:creationId xmlns:a16="http://schemas.microsoft.com/office/drawing/2014/main" id="{64AF2B08-834A-4A2A-B816-449A03EC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643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原文件中的拆解示例</a:t>
            </a:r>
          </a:p>
        </p:txBody>
      </p:sp>
      <p:sp>
        <p:nvSpPr>
          <p:cNvPr id="14" name="p9-line-200">
            <a:extLst xmlns:a="http://schemas.openxmlformats.org/drawingml/2006/main">
              <a:ext uri="{FF2B5EF4-FFF2-40B4-BE49-F238E27FC236}">
                <a16:creationId xmlns:a16="http://schemas.microsoft.com/office/drawing/2014/main" id="{8F60B538-CAC4-482D-84B8-65AC2F5A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76525"/>
            <a:ext cx="953" cy="2590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15" name="p9-line-201">
            <a:extLst xmlns:a="http://schemas.openxmlformats.org/drawingml/2006/main">
              <a:ext uri="{FF2B5EF4-FFF2-40B4-BE49-F238E27FC236}">
                <a16:creationId xmlns:a16="http://schemas.microsoft.com/office/drawing/2014/main" id="{254AAA30-0F29-4E12-BB5A-6E9A60B8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16" name="p9-text-202">
            <a:extLst xmlns:a="http://schemas.openxmlformats.org/drawingml/2006/main">
              <a:ext uri="{FF2B5EF4-FFF2-40B4-BE49-F238E27FC236}">
                <a16:creationId xmlns:a16="http://schemas.microsoft.com/office/drawing/2014/main" id="{E44F7A69-29B3-415F-8E09-D0828C84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527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17" name="p9-text-203">
            <a:extLst xmlns:a="http://schemas.openxmlformats.org/drawingml/2006/main">
              <a:ext uri="{FF2B5EF4-FFF2-40B4-BE49-F238E27FC236}">
                <a16:creationId xmlns:a16="http://schemas.microsoft.com/office/drawing/2014/main" id="{E545AE81-1D3F-4AAA-9518-634B43CF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52700"/>
            <a:ext cx="354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首页入口、搜索结果入口</a:t>
            </a:r>
          </a:p>
        </p:txBody>
      </p:sp>
      <p:sp>
        <p:nvSpPr>
          <p:cNvPr id="18" name="p9-line-204">
            <a:extLst xmlns:a="http://schemas.openxmlformats.org/drawingml/2006/main">
              <a:ext uri="{FF2B5EF4-FFF2-40B4-BE49-F238E27FC236}">
                <a16:creationId xmlns:a16="http://schemas.microsoft.com/office/drawing/2014/main" id="{0C349CB4-1F1C-4A3C-BA7A-A13A794C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19" name="p9-text-205">
            <a:extLst xmlns:a="http://schemas.openxmlformats.org/drawingml/2006/main">
              <a:ext uri="{FF2B5EF4-FFF2-40B4-BE49-F238E27FC236}">
                <a16:creationId xmlns:a16="http://schemas.microsoft.com/office/drawing/2014/main" id="{C4039971-CBC7-431E-9955-A1204840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337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存储位置</a:t>
            </a:r>
          </a:p>
        </p:txBody>
      </p:sp>
      <p:sp>
        <p:nvSpPr>
          <p:cNvPr id="20" name="p9-text-206">
            <a:extLst xmlns:a="http://schemas.openxmlformats.org/drawingml/2006/main">
              <a:ext uri="{FF2B5EF4-FFF2-40B4-BE49-F238E27FC236}">
                <a16:creationId xmlns:a16="http://schemas.microsoft.com/office/drawing/2014/main" id="{10877938-13D4-4601-953F-2169BB1A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133725"/>
            <a:ext cx="354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本设备、云端、外部存储</a:t>
            </a:r>
          </a:p>
        </p:txBody>
      </p:sp>
      <p:sp>
        <p:nvSpPr>
          <p:cNvPr id="21" name="p9-line-207">
            <a:extLst xmlns:a="http://schemas.openxmlformats.org/drawingml/2006/main">
              <a:ext uri="{FF2B5EF4-FFF2-40B4-BE49-F238E27FC236}">
                <a16:creationId xmlns:a16="http://schemas.microsoft.com/office/drawing/2014/main" id="{9929AD28-00E8-4DDE-B44D-12A7F7E0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22" name="p9-text-208">
            <a:extLst xmlns:a="http://schemas.openxmlformats.org/drawingml/2006/main">
              <a:ext uri="{FF2B5EF4-FFF2-40B4-BE49-F238E27FC236}">
                <a16:creationId xmlns:a16="http://schemas.microsoft.com/office/drawing/2014/main" id="{DA9C65A9-427C-47F5-ACE7-5A81DA9D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147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同步状态</a:t>
            </a:r>
          </a:p>
        </p:txBody>
      </p:sp>
      <p:sp>
        <p:nvSpPr>
          <p:cNvPr id="23" name="p9-text-209">
            <a:extLst xmlns:a="http://schemas.openxmlformats.org/drawingml/2006/main">
              <a:ext uri="{FF2B5EF4-FFF2-40B4-BE49-F238E27FC236}">
                <a16:creationId xmlns:a16="http://schemas.microsoft.com/office/drawing/2014/main" id="{48573893-F988-4A83-A3B8-7F2B28E6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714750"/>
            <a:ext cx="354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已同步、未同步、同步异常</a:t>
            </a:r>
          </a:p>
        </p:txBody>
      </p:sp>
      <p:sp>
        <p:nvSpPr>
          <p:cNvPr id="24" name="p9-line-210">
            <a:extLst xmlns:a="http://schemas.openxmlformats.org/drawingml/2006/main">
              <a:ext uri="{FF2B5EF4-FFF2-40B4-BE49-F238E27FC236}">
                <a16:creationId xmlns:a16="http://schemas.microsoft.com/office/drawing/2014/main" id="{5C20276D-53CF-4133-AF2C-1DE0DFA6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25" name="p9-text-211">
            <a:extLst xmlns:a="http://schemas.openxmlformats.org/drawingml/2006/main">
              <a:ext uri="{FF2B5EF4-FFF2-40B4-BE49-F238E27FC236}">
                <a16:creationId xmlns:a16="http://schemas.microsoft.com/office/drawing/2014/main" id="{9E3C04DF-E9FC-401A-A4F9-3440AC9D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957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组合能力</a:t>
            </a:r>
          </a:p>
        </p:txBody>
      </p:sp>
      <p:sp>
        <p:nvSpPr>
          <p:cNvPr id="26" name="p9-text-212">
            <a:extLst xmlns:a="http://schemas.openxmlformats.org/drawingml/2006/main">
              <a:ext uri="{FF2B5EF4-FFF2-40B4-BE49-F238E27FC236}">
                <a16:creationId xmlns:a16="http://schemas.microsoft.com/office/drawing/2014/main" id="{93C67D94-9D49-491D-8D1A-EC07C0C2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295775"/>
            <a:ext cx="354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多条件、跨模块</a:t>
            </a:r>
          </a:p>
        </p:txBody>
      </p:sp>
      <p:sp>
        <p:nvSpPr>
          <p:cNvPr id="27" name="p9-line-213">
            <a:extLst xmlns:a="http://schemas.openxmlformats.org/drawingml/2006/main">
              <a:ext uri="{FF2B5EF4-FFF2-40B4-BE49-F238E27FC236}">
                <a16:creationId xmlns:a16="http://schemas.microsoft.com/office/drawing/2014/main" id="{C41D78A6-143D-4C54-B912-805C9A1C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28" name="p9-text-214">
            <a:extLst xmlns:a="http://schemas.openxmlformats.org/drawingml/2006/main">
              <a:ext uri="{FF2B5EF4-FFF2-40B4-BE49-F238E27FC236}">
                <a16:creationId xmlns:a16="http://schemas.microsoft.com/office/drawing/2014/main" id="{59F83CD3-C0BF-444F-AA54-AE6EDE06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768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结果反馈</a:t>
            </a:r>
          </a:p>
        </p:txBody>
      </p:sp>
      <p:sp>
        <p:nvSpPr>
          <p:cNvPr id="29" name="p9-text-215">
            <a:extLst xmlns:a="http://schemas.openxmlformats.org/drawingml/2006/main">
              <a:ext uri="{FF2B5EF4-FFF2-40B4-BE49-F238E27FC236}">
                <a16:creationId xmlns:a16="http://schemas.microsoft.com/office/drawing/2014/main" id="{830836A4-688F-406B-80D9-6662AD88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876800"/>
            <a:ext cx="354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状态可见、清空或重置</a:t>
            </a:r>
          </a:p>
        </p:txBody>
      </p:sp>
      <p:sp>
        <p:nvSpPr>
          <p:cNvPr id="30" name="p9-line-216">
            <a:extLst xmlns:a="http://schemas.openxmlformats.org/drawingml/2006/main">
              <a:ext uri="{FF2B5EF4-FFF2-40B4-BE49-F238E27FC236}">
                <a16:creationId xmlns:a16="http://schemas.microsoft.com/office/drawing/2014/main" id="{36B10F19-2E49-46D8-94FE-9FB86232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676400"/>
            <a:ext cx="953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31" name="p9-text-217">
            <a:extLst xmlns:a="http://schemas.openxmlformats.org/drawingml/2006/main">
              <a:ext uri="{FF2B5EF4-FFF2-40B4-BE49-F238E27FC236}">
                <a16:creationId xmlns:a16="http://schemas.microsoft.com/office/drawing/2014/main" id="{D047DA0E-A784-4706-8CE0-CF95162C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33550"/>
            <a:ext cx="3667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32" name="p9-text-218">
            <a:extLst xmlns:a="http://schemas.openxmlformats.org/drawingml/2006/main">
              <a:ext uri="{FF2B5EF4-FFF2-40B4-BE49-F238E27FC236}">
                <a16:creationId xmlns:a16="http://schemas.microsoft.com/office/drawing/2014/main" id="{99E5E1D8-A4DD-458B-A1AC-C85B165D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62175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版本、地区、设备与限制</a:t>
            </a:r>
          </a:p>
        </p:txBody>
      </p:sp>
      <p:sp>
        <p:nvSpPr>
          <p:cNvPr id="33" name="p9-line-219">
            <a:extLst xmlns:a="http://schemas.openxmlformats.org/drawingml/2006/main">
              <a:ext uri="{FF2B5EF4-FFF2-40B4-BE49-F238E27FC236}">
                <a16:creationId xmlns:a16="http://schemas.microsoft.com/office/drawing/2014/main" id="{1DC3FB2E-026F-4CB7-90BD-AB65D08D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47950"/>
            <a:ext cx="953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000A"/>
            </a:solidFill>
          </a:ln>
        </p:spPr>
      </p:sp>
      <p:sp>
        <p:nvSpPr>
          <p:cNvPr id="34" name="p9-text-220">
            <a:extLst xmlns:a="http://schemas.openxmlformats.org/drawingml/2006/main">
              <a:ext uri="{FF2B5EF4-FFF2-40B4-BE49-F238E27FC236}">
                <a16:creationId xmlns:a16="http://schemas.microsoft.com/office/drawing/2014/main" id="{7325B068-A160-4F3F-B6A4-54D30AB0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90825"/>
            <a:ext cx="3667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主张</a:t>
            </a:r>
          </a:p>
        </p:txBody>
      </p:sp>
      <p:sp>
        <p:nvSpPr>
          <p:cNvPr id="35" name="p9-text-221">
            <a:extLst xmlns:a="http://schemas.openxmlformats.org/drawingml/2006/main">
              <a:ext uri="{FF2B5EF4-FFF2-40B4-BE49-F238E27FC236}">
                <a16:creationId xmlns:a16="http://schemas.microsoft.com/office/drawing/2014/main" id="{3BD8653D-8F15-43BD-A033-7B5830E8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219450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支持什么，证据具体在哪里</a:t>
            </a:r>
          </a:p>
        </p:txBody>
      </p:sp>
      <p:sp>
        <p:nvSpPr>
          <p:cNvPr id="36" name="p9-line-222">
            <a:extLst xmlns:a="http://schemas.openxmlformats.org/drawingml/2006/main">
              <a:ext uri="{FF2B5EF4-FFF2-40B4-BE49-F238E27FC236}">
                <a16:creationId xmlns:a16="http://schemas.microsoft.com/office/drawing/2014/main" id="{0843AE5F-512B-4D59-BC59-50F0CD27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05225"/>
            <a:ext cx="953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000A"/>
            </a:solidFill>
          </a:ln>
        </p:spPr>
      </p:sp>
      <p:sp>
        <p:nvSpPr>
          <p:cNvPr id="37" name="p9-text-223">
            <a:extLst xmlns:a="http://schemas.openxmlformats.org/drawingml/2006/main">
              <a:ext uri="{FF2B5EF4-FFF2-40B4-BE49-F238E27FC236}">
                <a16:creationId xmlns:a16="http://schemas.microsoft.com/office/drawing/2014/main" id="{9A4872C7-0758-4C82-8595-47B7AFB1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48100"/>
            <a:ext cx="3667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8" name="p9-text-224">
            <a:extLst xmlns:a="http://schemas.openxmlformats.org/drawingml/2006/main">
              <a:ext uri="{FF2B5EF4-FFF2-40B4-BE49-F238E27FC236}">
                <a16:creationId xmlns:a16="http://schemas.microsoft.com/office/drawing/2014/main" id="{76ED44A3-493E-473F-8066-0258F026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76725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支持、有限支持或未知</a:t>
            </a:r>
          </a:p>
        </p:txBody>
      </p:sp>
      <p:sp>
        <p:nvSpPr>
          <p:cNvPr id="39" name="p9-text-225">
            <a:extLst xmlns:a="http://schemas.openxmlformats.org/drawingml/2006/main">
              <a:ext uri="{FF2B5EF4-FFF2-40B4-BE49-F238E27FC236}">
                <a16:creationId xmlns:a16="http://schemas.microsoft.com/office/drawing/2014/main" id="{4013EBBD-D0F6-4806-88C5-704922CF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905375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证据覆盖率</a:t>
            </a:r>
          </a:p>
        </p:txBody>
      </p:sp>
      <p:sp>
        <p:nvSpPr>
          <p:cNvPr id="40" name="p9-text-226">
            <a:extLst xmlns:a="http://schemas.openxmlformats.org/drawingml/2006/main">
              <a:ext uri="{FF2B5EF4-FFF2-40B4-BE49-F238E27FC236}">
                <a16:creationId xmlns:a16="http://schemas.microsoft.com/office/drawing/2014/main" id="{E6F41D42-87E8-4FA4-971F-9B9C415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286375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有有效证据的单元 ÷ 应核验单元</a:t>
            </a:r>
          </a:p>
        </p:txBody>
      </p:sp>
      <p:sp>
        <p:nvSpPr>
          <p:cNvPr id="41" name="p9-text-227">
            <a:extLst xmlns:a="http://schemas.openxmlformats.org/drawingml/2006/main">
              <a:ext uri="{FF2B5EF4-FFF2-40B4-BE49-F238E27FC236}">
                <a16:creationId xmlns:a16="http://schemas.microsoft.com/office/drawing/2014/main" id="{715A1A3A-0961-4150-8EE6-AA15F2F1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12项为示例FeatureSchema子项数，不代表竞品实际支持数。正式结论需要重新检索当前版本的证据。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p10-shape-228">
            <a:extLst xmlns:a="http://schemas.openxmlformats.org/drawingml/2006/main">
              <a:ext uri="{FF2B5EF4-FFF2-40B4-BE49-F238E27FC236}">
                <a16:creationId xmlns:a16="http://schemas.microsoft.com/office/drawing/2014/main" id="{1FDD4C9B-7326-479A-9B38-1EBD1252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p10-text-229">
            <a:extLst xmlns:a="http://schemas.openxmlformats.org/drawingml/2006/main">
              <a:ext uri="{FF2B5EF4-FFF2-40B4-BE49-F238E27FC236}">
                <a16:creationId xmlns:a16="http://schemas.microsoft.com/office/drawing/2014/main" id="{A57AFA6D-FD7A-42DD-8FD1-FEA6FBB3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0629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方案边界继续约束 PRD、原型与后续验证</a:t>
            </a:r>
          </a:p>
        </p:txBody>
      </p:sp>
      <p:sp>
        <p:nvSpPr>
          <p:cNvPr id="11" name="p10-text-230">
            <a:extLst xmlns:a="http://schemas.openxmlformats.org/drawingml/2006/main">
              <a:ext uri="{FF2B5EF4-FFF2-40B4-BE49-F238E27FC236}">
                <a16:creationId xmlns:a16="http://schemas.microsoft.com/office/drawing/2014/main" id="{50244D3E-568F-4822-91F7-6228C37C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715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图库“一句话清理图片”方案案例：6 个主状态、3 类异常分支、4 档风险规则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69d415d914953"/>
          <a:stretch xmlns:a="http://schemas.openxmlformats.org/drawingml/2006/main"/>
        </p:blipFill>
        <p:spPr>
          <a:xfrm xmlns:a="http://schemas.openxmlformats.org/drawingml/2006/main">
            <a:off x="781050" y="1659731"/>
            <a:ext cx="6629400" cy="3729038"/>
          </a:xfrm>
          <a:prstGeom xmlns:a="http://schemas.openxmlformats.org/drawingml/2006/main" prst="rect">
            <a:avLst/>
          </a:prstGeom>
        </p:spPr>
      </p:pic>
      <p:sp>
        <p:nvSpPr>
          <p:cNvPr id="13" name="p10-text-231">
            <a:extLst xmlns:a="http://schemas.openxmlformats.org/drawingml/2006/main">
              <a:ext uri="{FF2B5EF4-FFF2-40B4-BE49-F238E27FC236}">
                <a16:creationId xmlns:a16="http://schemas.microsoft.com/office/drawing/2014/main" id="{34DD3C1C-7E78-41AC-BCDF-36C91EBA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662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已有方案产物：主流程与异常分支</a:t>
            </a:r>
          </a:p>
        </p:txBody>
      </p:sp>
      <p:sp>
        <p:nvSpPr>
          <p:cNvPr id="14" name="p10-text-232">
            <a:extLst xmlns:a="http://schemas.openxmlformats.org/drawingml/2006/main">
              <a:ext uri="{FF2B5EF4-FFF2-40B4-BE49-F238E27FC236}">
                <a16:creationId xmlns:a16="http://schemas.microsoft.com/office/drawing/2014/main" id="{FE30E2BD-ACC5-465A-BE2C-9F151A91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04975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p10-text-233">
            <a:extLst xmlns:a="http://schemas.openxmlformats.org/drawingml/2006/main">
              <a:ext uri="{FF2B5EF4-FFF2-40B4-BE49-F238E27FC236}">
                <a16:creationId xmlns:a16="http://schemas.microsoft.com/office/drawing/2014/main" id="{62ECF6EB-A9B8-4E6E-AF28-16A4C667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04975"/>
            <a:ext cx="2981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PRD 规格</a:t>
            </a:r>
          </a:p>
        </p:txBody>
      </p:sp>
      <p:sp>
        <p:nvSpPr>
          <p:cNvPr id="16" name="p10-text-234">
            <a:extLst xmlns:a="http://schemas.openxmlformats.org/drawingml/2006/main">
              <a:ext uri="{FF2B5EF4-FFF2-40B4-BE49-F238E27FC236}">
                <a16:creationId xmlns:a16="http://schemas.microsoft.com/office/drawing/2014/main" id="{06728139-9AE4-45E3-87EA-6934FBB0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19325"/>
            <a:ext cx="3571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触发、范围、异常、验收</a:t>
            </a:r>
          </a:p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保留每项产品判断的依据</a:t>
            </a:r>
          </a:p>
        </p:txBody>
      </p:sp>
      <p:sp>
        <p:nvSpPr>
          <p:cNvPr id="17" name="p10-text-235">
            <a:extLst xmlns:a="http://schemas.openxmlformats.org/drawingml/2006/main">
              <a:ext uri="{FF2B5EF4-FFF2-40B4-BE49-F238E27FC236}">
                <a16:creationId xmlns:a16="http://schemas.microsoft.com/office/drawing/2014/main" id="{313931A4-A961-4C70-B5C8-7BBB6FBA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0990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p10-text-236">
            <a:extLst xmlns:a="http://schemas.openxmlformats.org/drawingml/2006/main">
              <a:ext uri="{FF2B5EF4-FFF2-40B4-BE49-F238E27FC236}">
                <a16:creationId xmlns:a16="http://schemas.microsoft.com/office/drawing/2014/main" id="{C89920D9-88CB-4CA4-8E2F-836AC37E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981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原型体验</a:t>
            </a:r>
          </a:p>
        </p:txBody>
      </p:sp>
      <p:sp>
        <p:nvSpPr>
          <p:cNvPr id="19" name="p10-text-237">
            <a:extLst xmlns:a="http://schemas.openxmlformats.org/drawingml/2006/main">
              <a:ext uri="{FF2B5EF4-FFF2-40B4-BE49-F238E27FC236}">
                <a16:creationId xmlns:a16="http://schemas.microsoft.com/office/drawing/2014/main" id="{70EEFC08-C33E-4F3B-85AB-E2DE485C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3571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预览、排除、确认、恢复</a:t>
            </a:r>
          </a:p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让用户理解下一步后果</a:t>
            </a:r>
          </a:p>
        </p:txBody>
      </p:sp>
      <p:sp>
        <p:nvSpPr>
          <p:cNvPr id="20" name="p10-text-238">
            <a:extLst xmlns:a="http://schemas.openxmlformats.org/drawingml/2006/main">
              <a:ext uri="{FF2B5EF4-FFF2-40B4-BE49-F238E27FC236}">
                <a16:creationId xmlns:a16="http://schemas.microsoft.com/office/drawing/2014/main" id="{40EFACE3-E91D-4015-ADD7-58EEC25B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14825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p10-text-239">
            <a:extLst xmlns:a="http://schemas.openxmlformats.org/drawingml/2006/main">
              <a:ext uri="{FF2B5EF4-FFF2-40B4-BE49-F238E27FC236}">
                <a16:creationId xmlns:a16="http://schemas.microsoft.com/office/drawing/2014/main" id="{F9DF8613-2B26-43B3-AFAC-7EA3718F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14825"/>
            <a:ext cx="2981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持续验证</a:t>
            </a:r>
          </a:p>
        </p:txBody>
      </p:sp>
      <p:sp>
        <p:nvSpPr>
          <p:cNvPr id="22" name="p10-text-240">
            <a:extLst xmlns:a="http://schemas.openxmlformats.org/drawingml/2006/main">
              <a:ext uri="{FF2B5EF4-FFF2-40B4-BE49-F238E27FC236}">
                <a16:creationId xmlns:a16="http://schemas.microsoft.com/office/drawing/2014/main" id="{694A6D10-4475-461F-A374-E7937B0F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29175"/>
            <a:ext cx="3571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取消、误选、恢复、失败</a:t>
            </a:r>
          </a:p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把反馈送回下一轮研究</a:t>
            </a:r>
          </a:p>
        </p:txBody>
      </p:sp>
      <p:sp>
        <p:nvSpPr>
          <p:cNvPr id="23" name="p10-text-241">
            <a:extLst xmlns:a="http://schemas.openxmlformats.org/drawingml/2006/main">
              <a:ext uri="{FF2B5EF4-FFF2-40B4-BE49-F238E27FC236}">
                <a16:creationId xmlns:a16="http://schemas.microsoft.com/office/drawing/2014/main" id="{031C85DA-9F4C-4ABF-8646-994466E0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数字来自现有方案文档。右侧为交接与验证建议，不代表完整PRD、可交互原型或运营指标已经落地。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p11-shape-242">
            <a:extLst xmlns:a="http://schemas.openxmlformats.org/drawingml/2006/main">
              <a:ext uri="{FF2B5EF4-FFF2-40B4-BE49-F238E27FC236}">
                <a16:creationId xmlns:a16="http://schemas.microsoft.com/office/drawing/2014/main" id="{AF518832-A70B-4A1B-B2D4-92812269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p11-text-243">
            <a:extLst xmlns:a="http://schemas.openxmlformats.org/drawingml/2006/main">
              <a:ext uri="{FF2B5EF4-FFF2-40B4-BE49-F238E27FC236}">
                <a16:creationId xmlns:a16="http://schemas.microsoft.com/office/drawing/2014/main" id="{8089CDF7-7E09-4C9B-89E0-43184ECE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0629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高频且可验收的任务适合沉淀为 Skill</a:t>
            </a:r>
          </a:p>
        </p:txBody>
      </p:sp>
      <p:sp>
        <p:nvSpPr>
          <p:cNvPr id="11" name="p11-text-244">
            <a:extLst xmlns:a="http://schemas.openxmlformats.org/drawingml/2006/main">
              <a:ext uri="{FF2B5EF4-FFF2-40B4-BE49-F238E27FC236}">
                <a16:creationId xmlns:a16="http://schemas.microsoft.com/office/drawing/2014/main" id="{24C2EF2F-B2D6-4ABA-9F4C-B2AE9C4D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715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开发起点：从重复任务中提取稳定方法，先选择一个边界清楚的能力</a:t>
            </a:r>
          </a:p>
        </p:txBody>
      </p:sp>
      <p:sp>
        <p:nvSpPr>
          <p:cNvPr id="12" name="p11-text-245">
            <a:extLst xmlns:a="http://schemas.openxmlformats.org/drawingml/2006/main">
              <a:ext uri="{FF2B5EF4-FFF2-40B4-BE49-F238E27FC236}">
                <a16:creationId xmlns:a16="http://schemas.microsoft.com/office/drawing/2014/main" id="{93AC47C3-9BE6-4C11-9732-C9FCDF2B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p11-text-246">
            <a:extLst xmlns:a="http://schemas.openxmlformats.org/drawingml/2006/main">
              <a:ext uri="{FF2B5EF4-FFF2-40B4-BE49-F238E27FC236}">
                <a16:creationId xmlns:a16="http://schemas.microsoft.com/office/drawing/2014/main" id="{862CEEEC-6877-4DE8-BFD9-1DB4F1BC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68592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反复发生</a:t>
            </a:r>
          </a:p>
        </p:txBody>
      </p:sp>
      <p:sp>
        <p:nvSpPr>
          <p:cNvPr id="14" name="p11-text-247">
            <a:extLst xmlns:a="http://schemas.openxmlformats.org/drawingml/2006/main">
              <a:ext uri="{FF2B5EF4-FFF2-40B4-BE49-F238E27FC236}">
                <a16:creationId xmlns:a16="http://schemas.microsoft.com/office/drawing/2014/main" id="{03C8F446-DFC6-4462-9BCE-5D1B9960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6859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不同功能持续需要调研</a:t>
            </a:r>
          </a:p>
        </p:txBody>
      </p:sp>
      <p:sp>
        <p:nvSpPr>
          <p:cNvPr id="15" name="p11-line-248">
            <a:extLst xmlns:a="http://schemas.openxmlformats.org/drawingml/2006/main">
              <a:ext uri="{FF2B5EF4-FFF2-40B4-BE49-F238E27FC236}">
                <a16:creationId xmlns:a16="http://schemas.microsoft.com/office/drawing/2014/main" id="{179BA1A4-5374-4A52-BBE0-5DBBA680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66950"/>
            <a:ext cx="5372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16" name="p11-text-249">
            <a:extLst xmlns:a="http://schemas.openxmlformats.org/drawingml/2006/main">
              <a:ext uri="{FF2B5EF4-FFF2-40B4-BE49-F238E27FC236}">
                <a16:creationId xmlns:a16="http://schemas.microsoft.com/office/drawing/2014/main" id="{BB291F5F-04A2-4598-99FA-1B73C72B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p11-text-250">
            <a:extLst xmlns:a="http://schemas.openxmlformats.org/drawingml/2006/main">
              <a:ext uri="{FF2B5EF4-FFF2-40B4-BE49-F238E27FC236}">
                <a16:creationId xmlns:a16="http://schemas.microsoft.com/office/drawing/2014/main" id="{74EB2E2C-4408-44E3-B135-8F655726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003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方法稳定</a:t>
            </a:r>
          </a:p>
        </p:txBody>
      </p:sp>
      <p:sp>
        <p:nvSpPr>
          <p:cNvPr id="18" name="p11-text-251">
            <a:extLst xmlns:a="http://schemas.openxmlformats.org/drawingml/2006/main">
              <a:ext uri="{FF2B5EF4-FFF2-40B4-BE49-F238E27FC236}">
                <a16:creationId xmlns:a16="http://schemas.microsoft.com/office/drawing/2014/main" id="{8A540AA9-108F-480E-A1C7-98A36917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0030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目标、证据、题目与检查</a:t>
            </a:r>
          </a:p>
        </p:txBody>
      </p:sp>
      <p:sp>
        <p:nvSpPr>
          <p:cNvPr id="19" name="p11-line-252">
            <a:extLst xmlns:a="http://schemas.openxmlformats.org/drawingml/2006/main">
              <a:ext uri="{FF2B5EF4-FFF2-40B4-BE49-F238E27FC236}">
                <a16:creationId xmlns:a16="http://schemas.microsoft.com/office/drawing/2014/main" id="{87B9AAC2-71FE-4738-BC1F-F2D3C4EF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81325"/>
            <a:ext cx="5372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20" name="p11-text-253">
            <a:extLst xmlns:a="http://schemas.openxmlformats.org/drawingml/2006/main">
              <a:ext uri="{FF2B5EF4-FFF2-40B4-BE49-F238E27FC236}">
                <a16:creationId xmlns:a16="http://schemas.microsoft.com/office/drawing/2014/main" id="{1FCE83C4-80E6-46AD-B6FD-72D8C167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p11-text-254">
            <a:extLst xmlns:a="http://schemas.openxmlformats.org/drawingml/2006/main">
              <a:ext uri="{FF2B5EF4-FFF2-40B4-BE49-F238E27FC236}">
                <a16:creationId xmlns:a16="http://schemas.microsoft.com/office/drawing/2014/main" id="{620D1016-4A4A-422E-8139-5298141C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1146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输入明确</a:t>
            </a:r>
          </a:p>
        </p:txBody>
      </p:sp>
      <p:sp>
        <p:nvSpPr>
          <p:cNvPr id="22" name="p11-text-255">
            <a:extLst xmlns:a="http://schemas.openxmlformats.org/drawingml/2006/main">
              <a:ext uri="{FF2B5EF4-FFF2-40B4-BE49-F238E27FC236}">
                <a16:creationId xmlns:a16="http://schemas.microsoft.com/office/drawing/2014/main" id="{708F1787-CF32-47C6-B5B5-F14432ED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11467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课题、目标、场景与约束</a:t>
            </a:r>
          </a:p>
        </p:txBody>
      </p:sp>
      <p:sp>
        <p:nvSpPr>
          <p:cNvPr id="23" name="p11-line-256">
            <a:extLst xmlns:a="http://schemas.openxmlformats.org/drawingml/2006/main">
              <a:ext uri="{FF2B5EF4-FFF2-40B4-BE49-F238E27FC236}">
                <a16:creationId xmlns:a16="http://schemas.microsoft.com/office/drawing/2014/main" id="{051E54F8-E962-44DF-B9C0-D14F8438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95700"/>
            <a:ext cx="5372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24" name="p11-text-257">
            <a:extLst xmlns:a="http://schemas.openxmlformats.org/drawingml/2006/main">
              <a:ext uri="{FF2B5EF4-FFF2-40B4-BE49-F238E27FC236}">
                <a16:creationId xmlns:a16="http://schemas.microsoft.com/office/drawing/2014/main" id="{6C8BAAD7-D6AF-4BA3-8907-52CE83D4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p11-text-258">
            <a:extLst xmlns:a="http://schemas.openxmlformats.org/drawingml/2006/main">
              <a:ext uri="{FF2B5EF4-FFF2-40B4-BE49-F238E27FC236}">
                <a16:creationId xmlns:a16="http://schemas.microsoft.com/office/drawing/2014/main" id="{2335ED8E-3B96-4EDD-BE2A-435BE49D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82905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结果可检查</a:t>
            </a:r>
          </a:p>
        </p:txBody>
      </p:sp>
      <p:sp>
        <p:nvSpPr>
          <p:cNvPr id="26" name="p11-text-259">
            <a:extLst xmlns:a="http://schemas.openxmlformats.org/drawingml/2006/main">
              <a:ext uri="{FF2B5EF4-FFF2-40B4-BE49-F238E27FC236}">
                <a16:creationId xmlns:a16="http://schemas.microsoft.com/office/drawing/2014/main" id="{5BFF5D7B-36BE-4BFC-BF0A-E442EFCC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82905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逻辑、题量与导出格式</a:t>
            </a:r>
          </a:p>
        </p:txBody>
      </p:sp>
      <p:sp>
        <p:nvSpPr>
          <p:cNvPr id="27" name="p11-line-260">
            <a:extLst xmlns:a="http://schemas.openxmlformats.org/drawingml/2006/main">
              <a:ext uri="{FF2B5EF4-FFF2-40B4-BE49-F238E27FC236}">
                <a16:creationId xmlns:a16="http://schemas.microsoft.com/office/drawing/2014/main" id="{43B0BF71-C3C7-46F4-99E6-F08B3409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410075"/>
            <a:ext cx="5372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28" name="p11-text-261">
            <a:extLst xmlns:a="http://schemas.openxmlformats.org/drawingml/2006/main">
              <a:ext uri="{FF2B5EF4-FFF2-40B4-BE49-F238E27FC236}">
                <a16:creationId xmlns:a16="http://schemas.microsoft.com/office/drawing/2014/main" id="{68BCF5C1-21C1-46C4-A52E-662F9036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p11-text-262">
            <a:extLst xmlns:a="http://schemas.openxmlformats.org/drawingml/2006/main">
              <a:ext uri="{FF2B5EF4-FFF2-40B4-BE49-F238E27FC236}">
                <a16:creationId xmlns:a16="http://schemas.microsoft.com/office/drawing/2014/main" id="{55B51509-1DE5-4753-BE2A-07101945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4342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下游会使用</a:t>
            </a:r>
          </a:p>
        </p:txBody>
      </p:sp>
      <p:sp>
        <p:nvSpPr>
          <p:cNvPr id="30" name="p11-text-263">
            <a:extLst xmlns:a="http://schemas.openxmlformats.org/drawingml/2006/main">
              <a:ext uri="{FF2B5EF4-FFF2-40B4-BE49-F238E27FC236}">
                <a16:creationId xmlns:a16="http://schemas.microsoft.com/office/drawing/2014/main" id="{5B83E22A-2206-4DBD-B93D-8FBA8787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434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进入评审、发布与分析</a:t>
            </a:r>
          </a:p>
        </p:txBody>
      </p:sp>
      <p:sp>
        <p:nvSpPr>
          <p:cNvPr id="31" name="p11-line-264">
            <a:extLst xmlns:a="http://schemas.openxmlformats.org/drawingml/2006/main">
              <a:ext uri="{FF2B5EF4-FFF2-40B4-BE49-F238E27FC236}">
                <a16:creationId xmlns:a16="http://schemas.microsoft.com/office/drawing/2014/main" id="{466494B8-DBAF-4287-B0A2-4456ED1E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124450"/>
            <a:ext cx="5372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32" name="p11-line-265">
            <a:extLst xmlns:a="http://schemas.openxmlformats.org/drawingml/2006/main">
              <a:ext uri="{FF2B5EF4-FFF2-40B4-BE49-F238E27FC236}">
                <a16:creationId xmlns:a16="http://schemas.microsoft.com/office/drawing/2014/main" id="{9EBC8439-AD13-405F-9A63-4420814D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685925"/>
            <a:ext cx="953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33" name="p11-text-266">
            <a:extLst xmlns:a="http://schemas.openxmlformats.org/drawingml/2006/main">
              <a:ext uri="{FF2B5EF4-FFF2-40B4-BE49-F238E27FC236}">
                <a16:creationId xmlns:a16="http://schemas.microsoft.com/office/drawing/2014/main" id="{3759B7D9-5DFC-45A5-B743-A8792DA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7621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建议的首个范围</a:t>
            </a:r>
          </a:p>
        </p:txBody>
      </p:sp>
      <p:sp>
        <p:nvSpPr>
          <p:cNvPr id="34" name="p11-text-267">
            <a:extLst xmlns:a="http://schemas.openxmlformats.org/drawingml/2006/main">
              <a:ext uri="{FF2B5EF4-FFF2-40B4-BE49-F238E27FC236}">
                <a16:creationId xmlns:a16="http://schemas.microsoft.com/office/drawing/2014/main" id="{5761B2D7-F92E-46A9-B92E-F9D6D657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05050"/>
            <a:ext cx="34385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设计一份</a:t>
            </a:r>
          </a:p>
          <a:p xmlns:a="http://schemas.openxmlformats.org/drawingml/2006/main">
            <a:pPr algn="l">
              <a:defRPr sz="21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可配置的定量问卷</a:t>
            </a:r>
          </a:p>
        </p:txBody>
      </p:sp>
      <p:sp>
        <p:nvSpPr>
          <p:cNvPr id="35" name="p11-text-268">
            <a:extLst xmlns:a="http://schemas.openxmlformats.org/drawingml/2006/main">
              <a:ext uri="{FF2B5EF4-FFF2-40B4-BE49-F238E27FC236}">
                <a16:creationId xmlns:a16="http://schemas.microsoft.com/office/drawing/2014/main" id="{C1B8D38D-9731-46C0-9DFE-FD353C4B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533775"/>
            <a:ext cx="3419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频率与返工记录帮助判断投入价值</a:t>
            </a:r>
          </a:p>
        </p:txBody>
      </p:sp>
      <p:sp>
        <p:nvSpPr>
          <p:cNvPr id="36" name="p11-text-269">
            <a:extLst xmlns:a="http://schemas.openxmlformats.org/drawingml/2006/main">
              <a:ext uri="{FF2B5EF4-FFF2-40B4-BE49-F238E27FC236}">
                <a16:creationId xmlns:a16="http://schemas.microsoft.com/office/drawing/2014/main" id="{5DD99A68-9FEF-4961-B88E-352D49A2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14850"/>
            <a:ext cx="342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一次性探索先用对话</a:t>
            </a:r>
          </a:p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确定性转换可直接用脚本</a:t>
            </a:r>
          </a:p>
        </p:txBody>
      </p:sp>
      <p:sp>
        <p:nvSpPr>
          <p:cNvPr id="37" name="p11-text-270">
            <a:extLst xmlns:a="http://schemas.openxmlformats.org/drawingml/2006/main">
              <a:ext uri="{FF2B5EF4-FFF2-40B4-BE49-F238E27FC236}">
                <a16:creationId xmlns:a16="http://schemas.microsoft.com/office/drawing/2014/main" id="{6643787E-4F4D-408F-9EC3-72140CB8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选择依据是任务本身的复用与验收条件。没有实测成本数据时，不设置虚构的收益率或投入回收期。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p12-shape-271">
            <a:extLst xmlns:a="http://schemas.openxmlformats.org/drawingml/2006/main">
              <a:ext uri="{FF2B5EF4-FFF2-40B4-BE49-F238E27FC236}">
                <a16:creationId xmlns:a16="http://schemas.microsoft.com/office/drawing/2014/main" id="{6E5BDC81-F166-460C-A697-812E3AA7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p12-text-272">
            <a:extLst xmlns:a="http://schemas.openxmlformats.org/drawingml/2006/main">
              <a:ext uri="{FF2B5EF4-FFF2-40B4-BE49-F238E27FC236}">
                <a16:creationId xmlns:a16="http://schemas.microsoft.com/office/drawing/2014/main" id="{0CBB2D03-E68F-4BA5-ACAC-CA78C582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0629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Skill 将业务标准拆入指令、参考、模板与检查</a:t>
            </a:r>
          </a:p>
        </p:txBody>
      </p:sp>
      <p:sp>
        <p:nvSpPr>
          <p:cNvPr id="11" name="p12-text-273">
            <a:extLst xmlns:a="http://schemas.openxmlformats.org/drawingml/2006/main">
              <a:ext uri="{FF2B5EF4-FFF2-40B4-BE49-F238E27FC236}">
                <a16:creationId xmlns:a16="http://schemas.microsoft.com/office/drawing/2014/main" id="{CEC6571B-E12A-425D-A1FD-5FA2E85F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715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以 ur-design-survey 为例：真实任务定标准，Agent 协助编写，跨课题验证复用</a:t>
            </a:r>
          </a:p>
        </p:txBody>
      </p:sp>
      <p:sp>
        <p:nvSpPr>
          <p:cNvPr id="12" name="p12-text-274">
            <a:extLst xmlns:a="http://schemas.openxmlformats.org/drawingml/2006/main">
              <a:ext uri="{FF2B5EF4-FFF2-40B4-BE49-F238E27FC236}">
                <a16:creationId xmlns:a16="http://schemas.microsoft.com/office/drawing/2014/main" id="{5C436910-EDEF-496D-BDEE-E28CC109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ur-design-survey/</a:t>
            </a:r>
          </a:p>
        </p:txBody>
      </p:sp>
      <p:sp>
        <p:nvSpPr>
          <p:cNvPr id="13" name="p12-line-275">
            <a:extLst xmlns:a="http://schemas.openxmlformats.org/drawingml/2006/main">
              <a:ext uri="{FF2B5EF4-FFF2-40B4-BE49-F238E27FC236}">
                <a16:creationId xmlns:a16="http://schemas.microsoft.com/office/drawing/2014/main" id="{2231783C-F288-4C3F-8972-7C3A44E2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19325"/>
            <a:ext cx="953" cy="2714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14" name="p12-line-276">
            <a:extLst xmlns:a="http://schemas.openxmlformats.org/drawingml/2006/main">
              <a:ext uri="{FF2B5EF4-FFF2-40B4-BE49-F238E27FC236}">
                <a16:creationId xmlns:a16="http://schemas.microsoft.com/office/drawing/2014/main" id="{1ED6830F-6619-498D-8D45-27781F61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43150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15" name="p12-text-277">
            <a:extLst xmlns:a="http://schemas.openxmlformats.org/drawingml/2006/main">
              <a:ext uri="{FF2B5EF4-FFF2-40B4-BE49-F238E27FC236}">
                <a16:creationId xmlns:a16="http://schemas.microsoft.com/office/drawing/2014/main" id="{CD627BBA-4E82-46D0-936B-23096131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71700"/>
            <a:ext cx="3857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SKILL.md</a:t>
            </a:r>
          </a:p>
        </p:txBody>
      </p:sp>
      <p:sp>
        <p:nvSpPr>
          <p:cNvPr id="16" name="p12-text-278">
            <a:extLst xmlns:a="http://schemas.openxmlformats.org/drawingml/2006/main">
              <a:ext uri="{FF2B5EF4-FFF2-40B4-BE49-F238E27FC236}">
                <a16:creationId xmlns:a16="http://schemas.microsoft.com/office/drawing/2014/main" id="{6FB1803E-C67E-40A3-90C3-A85936D8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66975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触发、输入、步骤、停止与交付</a:t>
            </a:r>
          </a:p>
        </p:txBody>
      </p:sp>
      <p:sp>
        <p:nvSpPr>
          <p:cNvPr id="17" name="p12-line-279">
            <a:extLst xmlns:a="http://schemas.openxmlformats.org/drawingml/2006/main">
              <a:ext uri="{FF2B5EF4-FFF2-40B4-BE49-F238E27FC236}">
                <a16:creationId xmlns:a16="http://schemas.microsoft.com/office/drawing/2014/main" id="{828EDF0A-235A-4CBC-8561-3EE2C7A7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14650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18" name="p12-text-280">
            <a:extLst xmlns:a="http://schemas.openxmlformats.org/drawingml/2006/main">
              <a:ext uri="{FF2B5EF4-FFF2-40B4-BE49-F238E27FC236}">
                <a16:creationId xmlns:a16="http://schemas.microsoft.com/office/drawing/2014/main" id="{0547A6C0-167F-49B8-B6DE-9DDFF826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43200"/>
            <a:ext cx="3857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references/</a:t>
            </a:r>
          </a:p>
        </p:txBody>
      </p:sp>
      <p:sp>
        <p:nvSpPr>
          <p:cNvPr id="19" name="p12-text-281">
            <a:extLst xmlns:a="http://schemas.openxmlformats.org/drawingml/2006/main">
              <a:ext uri="{FF2B5EF4-FFF2-40B4-BE49-F238E27FC236}">
                <a16:creationId xmlns:a16="http://schemas.microsoft.com/office/drawing/2014/main" id="{AF8A065E-3009-4ACA-88B5-E0E28870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38475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题目标准、逻辑规则、平台格式</a:t>
            </a:r>
          </a:p>
        </p:txBody>
      </p:sp>
      <p:sp>
        <p:nvSpPr>
          <p:cNvPr id="20" name="p12-line-282">
            <a:extLst xmlns:a="http://schemas.openxmlformats.org/drawingml/2006/main">
              <a:ext uri="{FF2B5EF4-FFF2-40B4-BE49-F238E27FC236}">
                <a16:creationId xmlns:a16="http://schemas.microsoft.com/office/drawing/2014/main" id="{ABF4911C-ED59-42B3-8CFE-B4D5406B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86150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21" name="p12-text-283">
            <a:extLst xmlns:a="http://schemas.openxmlformats.org/drawingml/2006/main">
              <a:ext uri="{FF2B5EF4-FFF2-40B4-BE49-F238E27FC236}">
                <a16:creationId xmlns:a16="http://schemas.microsoft.com/office/drawing/2014/main" id="{CCA97706-D16E-4FEC-90FE-85450520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14700"/>
            <a:ext cx="3857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templates/</a:t>
            </a:r>
          </a:p>
        </p:txBody>
      </p:sp>
      <p:sp>
        <p:nvSpPr>
          <p:cNvPr id="22" name="p12-text-284">
            <a:extLst xmlns:a="http://schemas.openxmlformats.org/drawingml/2006/main">
              <a:ext uri="{FF2B5EF4-FFF2-40B4-BE49-F238E27FC236}">
                <a16:creationId xmlns:a16="http://schemas.microsoft.com/office/drawing/2014/main" id="{9B7A0DC6-873E-468D-A55A-DB95E4B5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9975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4 类研究场景的问卷模板</a:t>
            </a:r>
          </a:p>
        </p:txBody>
      </p:sp>
      <p:sp>
        <p:nvSpPr>
          <p:cNvPr id="23" name="p12-line-285">
            <a:extLst xmlns:a="http://schemas.openxmlformats.org/drawingml/2006/main">
              <a:ext uri="{FF2B5EF4-FFF2-40B4-BE49-F238E27FC236}">
                <a16:creationId xmlns:a16="http://schemas.microsoft.com/office/drawing/2014/main" id="{AF30F93A-1F31-405C-8F42-23702C8D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24" name="p12-text-286">
            <a:extLst xmlns:a="http://schemas.openxmlformats.org/drawingml/2006/main">
              <a:ext uri="{FF2B5EF4-FFF2-40B4-BE49-F238E27FC236}">
                <a16:creationId xmlns:a16="http://schemas.microsoft.com/office/drawing/2014/main" id="{9DC12518-A493-464F-8DCB-D13C0C3A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86200"/>
            <a:ext cx="3857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scripts/</a:t>
            </a:r>
          </a:p>
        </p:txBody>
      </p:sp>
      <p:sp>
        <p:nvSpPr>
          <p:cNvPr id="25" name="p12-text-287">
            <a:extLst xmlns:a="http://schemas.openxmlformats.org/drawingml/2006/main">
              <a:ext uri="{FF2B5EF4-FFF2-40B4-BE49-F238E27FC236}">
                <a16:creationId xmlns:a16="http://schemas.microsoft.com/office/drawing/2014/main" id="{919534A7-2A4C-4531-B880-89798B1A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81475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问卷结构检查与上下文验证</a:t>
            </a:r>
          </a:p>
        </p:txBody>
      </p:sp>
      <p:sp>
        <p:nvSpPr>
          <p:cNvPr id="26" name="p12-line-288">
            <a:extLst xmlns:a="http://schemas.openxmlformats.org/drawingml/2006/main">
              <a:ext uri="{FF2B5EF4-FFF2-40B4-BE49-F238E27FC236}">
                <a16:creationId xmlns:a16="http://schemas.microsoft.com/office/drawing/2014/main" id="{AEBE375C-7990-4A4E-8207-E24BD2A6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29150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27" name="p12-text-289">
            <a:extLst xmlns:a="http://schemas.openxmlformats.org/drawingml/2006/main">
              <a:ext uri="{FF2B5EF4-FFF2-40B4-BE49-F238E27FC236}">
                <a16:creationId xmlns:a16="http://schemas.microsoft.com/office/drawing/2014/main" id="{AE2150B1-2A00-4035-B2E2-4D4F89B1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57700"/>
            <a:ext cx="3857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agents/</a:t>
            </a:r>
          </a:p>
        </p:txBody>
      </p:sp>
      <p:sp>
        <p:nvSpPr>
          <p:cNvPr id="28" name="p12-text-290">
            <a:extLst xmlns:a="http://schemas.openxmlformats.org/drawingml/2006/main">
              <a:ext uri="{FF2B5EF4-FFF2-40B4-BE49-F238E27FC236}">
                <a16:creationId xmlns:a16="http://schemas.microsoft.com/office/drawing/2014/main" id="{32F9D1B1-80A6-4938-82FA-3D3CC440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52975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平台可选元数据</a:t>
            </a:r>
          </a:p>
        </p:txBody>
      </p:sp>
      <p:sp>
        <p:nvSpPr>
          <p:cNvPr id="29" name="p12-shape-291">
            <a:extLst xmlns:a="http://schemas.openxmlformats.org/drawingml/2006/main">
              <a:ext uri="{FF2B5EF4-FFF2-40B4-BE49-F238E27FC236}">
                <a16:creationId xmlns:a16="http://schemas.microsoft.com/office/drawing/2014/main" id="{5267CB94-1AD4-404C-AABF-32355307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638300"/>
            <a:ext cx="528637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30" name="p12-text-292">
            <a:extLst xmlns:a="http://schemas.openxmlformats.org/drawingml/2006/main">
              <a:ext uri="{FF2B5EF4-FFF2-40B4-BE49-F238E27FC236}">
                <a16:creationId xmlns:a16="http://schemas.microsoft.com/office/drawing/2014/main" id="{5B9D636B-7D26-422D-9BC6-A347E1C4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7165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SKILL.md 最小结构示意</a:t>
            </a:r>
          </a:p>
        </p:txBody>
      </p:sp>
      <p:sp>
        <p:nvSpPr>
          <p:cNvPr id="31" name="p12-text-293">
            <a:extLst xmlns:a="http://schemas.openxmlformats.org/drawingml/2006/main">
              <a:ext uri="{FF2B5EF4-FFF2-40B4-BE49-F238E27FC236}">
                <a16:creationId xmlns:a16="http://schemas.microsoft.com/office/drawing/2014/main" id="{24735475-EE80-49BE-ADE8-E9030717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2407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name: ur-design-survey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description: 设计定量问卷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输入：课题、目标、问卷场景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流程：确认、证据、题目、审查、交付</a:t>
            </a:r>
          </a:p>
        </p:txBody>
      </p:sp>
      <p:sp>
        <p:nvSpPr>
          <p:cNvPr id="32" name="p12-text-294">
            <a:extLst xmlns:a="http://schemas.openxmlformats.org/drawingml/2006/main">
              <a:ext uri="{FF2B5EF4-FFF2-40B4-BE49-F238E27FC236}">
                <a16:creationId xmlns:a16="http://schemas.microsoft.com/office/drawing/2014/main" id="{0E958585-E77E-4722-A7FF-89087952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70522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两条实际业务规则</a:t>
            </a:r>
          </a:p>
        </p:txBody>
      </p:sp>
      <p:sp>
        <p:nvSpPr>
          <p:cNvPr id="33" name="p12-text-295">
            <a:extLst xmlns:a="http://schemas.openxmlformats.org/drawingml/2006/main">
              <a:ext uri="{FF2B5EF4-FFF2-40B4-BE49-F238E27FC236}">
                <a16:creationId xmlns:a16="http://schemas.microsoft.com/office/drawing/2014/main" id="{74A88C53-F676-4A23-A6CB-7D3E0AC3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171950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无经历用户跳过体验评价</a:t>
            </a:r>
          </a:p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有优先级目标时设置 Top 1 或排序</a:t>
            </a:r>
          </a:p>
        </p:txBody>
      </p:sp>
      <p:sp>
        <p:nvSpPr>
          <p:cNvPr id="34" name="p12-line-296">
            <a:extLst xmlns:a="http://schemas.openxmlformats.org/drawingml/2006/main">
              <a:ext uri="{FF2B5EF4-FFF2-40B4-BE49-F238E27FC236}">
                <a16:creationId xmlns:a16="http://schemas.microsoft.com/office/drawing/2014/main" id="{0C0F180B-9AFB-4372-8FDC-B38D4F03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10629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35" name="p12-text-297">
            <a:extLst xmlns:a="http://schemas.openxmlformats.org/drawingml/2006/main">
              <a:ext uri="{FF2B5EF4-FFF2-40B4-BE49-F238E27FC236}">
                <a16:creationId xmlns:a16="http://schemas.microsoft.com/office/drawing/2014/main" id="{2C6B3B5B-7115-468F-B042-A40E5E96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6" name="p12-text-298">
            <a:extLst xmlns:a="http://schemas.openxmlformats.org/drawingml/2006/main">
              <a:ext uri="{FF2B5EF4-FFF2-40B4-BE49-F238E27FC236}">
                <a16:creationId xmlns:a16="http://schemas.microsoft.com/office/drawing/2014/main" id="{8B4770FB-3064-4A2D-9F14-808951D7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2959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跑通真实任务</a:t>
            </a:r>
          </a:p>
        </p:txBody>
      </p:sp>
      <p:sp>
        <p:nvSpPr>
          <p:cNvPr id="37" name="p12-line-299">
            <a:extLst xmlns:a="http://schemas.openxmlformats.org/drawingml/2006/main">
              <a:ext uri="{FF2B5EF4-FFF2-40B4-BE49-F238E27FC236}">
                <a16:creationId xmlns:a16="http://schemas.microsoft.com/office/drawing/2014/main" id="{08071912-A61B-4CE5-8B48-FA743E94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67350"/>
            <a:ext cx="190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38" name="p12-text-300">
            <a:extLst xmlns:a="http://schemas.openxmlformats.org/drawingml/2006/main">
              <a:ext uri="{FF2B5EF4-FFF2-40B4-BE49-F238E27FC236}">
                <a16:creationId xmlns:a16="http://schemas.microsoft.com/office/drawing/2014/main" id="{5D4B776C-A0C0-4D75-AD21-EDB3A659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95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9" name="p12-text-301">
            <a:extLst xmlns:a="http://schemas.openxmlformats.org/drawingml/2006/main">
              <a:ext uri="{FF2B5EF4-FFF2-40B4-BE49-F238E27FC236}">
                <a16:creationId xmlns:a16="http://schemas.microsoft.com/office/drawing/2014/main" id="{3D8609FD-6A17-438C-93AE-9057972F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959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提取失败与规则</a:t>
            </a:r>
          </a:p>
        </p:txBody>
      </p:sp>
      <p:sp>
        <p:nvSpPr>
          <p:cNvPr id="40" name="p12-line-302">
            <a:extLst xmlns:a="http://schemas.openxmlformats.org/drawingml/2006/main">
              <a:ext uri="{FF2B5EF4-FFF2-40B4-BE49-F238E27FC236}">
                <a16:creationId xmlns:a16="http://schemas.microsoft.com/office/drawing/2014/main" id="{1ACF59B4-D36E-4E25-A539-562193AF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467350"/>
            <a:ext cx="190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41" name="p12-text-303">
            <a:extLst xmlns:a="http://schemas.openxmlformats.org/drawingml/2006/main">
              <a:ext uri="{FF2B5EF4-FFF2-40B4-BE49-F238E27FC236}">
                <a16:creationId xmlns:a16="http://schemas.microsoft.com/office/drawing/2014/main" id="{66903691-660E-4530-957F-89F7FF86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95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2" name="p12-text-304">
            <a:extLst xmlns:a="http://schemas.openxmlformats.org/drawingml/2006/main">
              <a:ext uri="{FF2B5EF4-FFF2-40B4-BE49-F238E27FC236}">
                <a16:creationId xmlns:a16="http://schemas.microsoft.com/office/drawing/2014/main" id="{0EEA473F-4B28-4233-BA0B-DF26B942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2959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编写文件与检查</a:t>
            </a:r>
          </a:p>
        </p:txBody>
      </p:sp>
      <p:sp>
        <p:nvSpPr>
          <p:cNvPr id="43" name="p12-line-305">
            <a:extLst xmlns:a="http://schemas.openxmlformats.org/drawingml/2006/main">
              <a:ext uri="{FF2B5EF4-FFF2-40B4-BE49-F238E27FC236}">
                <a16:creationId xmlns:a16="http://schemas.microsoft.com/office/drawing/2014/main" id="{CA1235BB-53A0-46E5-924C-37A7A636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467350"/>
            <a:ext cx="190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ADA"/>
            </a:solidFill>
          </a:ln>
        </p:spPr>
      </p:sp>
      <p:sp>
        <p:nvSpPr>
          <p:cNvPr id="44" name="p12-text-306">
            <a:extLst xmlns:a="http://schemas.openxmlformats.org/drawingml/2006/main">
              <a:ext uri="{FF2B5EF4-FFF2-40B4-BE49-F238E27FC236}">
                <a16:creationId xmlns:a16="http://schemas.microsoft.com/office/drawing/2014/main" id="{3E93C5F9-E04E-49CD-AF8A-3764DF98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295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5" name="p12-text-307">
            <a:extLst xmlns:a="http://schemas.openxmlformats.org/drawingml/2006/main">
              <a:ext uri="{FF2B5EF4-FFF2-40B4-BE49-F238E27FC236}">
                <a16:creationId xmlns:a16="http://schemas.microsoft.com/office/drawing/2014/main" id="{B640C6C4-1F12-4DDE-9FD2-10F85B95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959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换课题回归验证</a:t>
            </a:r>
          </a:p>
        </p:txBody>
      </p:sp>
      <p:sp>
        <p:nvSpPr>
          <p:cNvPr id="46" name="p12-text-308">
            <a:extLst xmlns:a="http://schemas.openxmlformats.org/drawingml/2006/main">
              <a:ext uri="{FF2B5EF4-FFF2-40B4-BE49-F238E27FC236}">
                <a16:creationId xmlns:a16="http://schemas.microsoft.com/office/drawing/2014/main" id="{DD874EA4-32F2-4DE9-8BD3-DFA938C7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左侧为现有目录职责。右侧代码为压缩结构示意，并非完整可运行文件。除SKILL.md外的资源按实际需要增加。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p13-shape-309">
            <a:extLst xmlns:a="http://schemas.openxmlformats.org/drawingml/2006/main">
              <a:ext uri="{FF2B5EF4-FFF2-40B4-BE49-F238E27FC236}">
                <a16:creationId xmlns:a16="http://schemas.microsoft.com/office/drawing/2014/main" id="{542FECB9-A8D1-446E-A43D-7B7C106D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p13-text-310">
            <a:extLst xmlns:a="http://schemas.openxmlformats.org/drawingml/2006/main">
              <a:ext uri="{FF2B5EF4-FFF2-40B4-BE49-F238E27FC236}">
                <a16:creationId xmlns:a16="http://schemas.microsoft.com/office/drawing/2014/main" id="{4AF84EDA-E9FD-47B0-B365-C8BD32DA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0629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固定入口与交付标准让 Skill 进入日常工作</a:t>
            </a:r>
          </a:p>
        </p:txBody>
      </p:sp>
      <p:sp>
        <p:nvSpPr>
          <p:cNvPr id="11" name="p13-text-311">
            <a:extLst xmlns:a="http://schemas.openxmlformats.org/drawingml/2006/main">
              <a:ext uri="{FF2B5EF4-FFF2-40B4-BE49-F238E27FC236}">
                <a16:creationId xmlns:a16="http://schemas.microsoft.com/office/drawing/2014/main" id="{5FDA1691-4EF8-4D6F-9BE7-9CB6733B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715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Command 或工作流负责入口与顺序，Skill 保存方法，项目文件保存本次任务状态</a:t>
            </a:r>
          </a:p>
        </p:txBody>
      </p:sp>
      <p:sp>
        <p:nvSpPr>
          <p:cNvPr id="12" name="p13-shape-312">
            <a:extLst xmlns:a="http://schemas.openxmlformats.org/drawingml/2006/main">
              <a:ext uri="{FF2B5EF4-FFF2-40B4-BE49-F238E27FC236}">
                <a16:creationId xmlns:a16="http://schemas.microsoft.com/office/drawing/2014/main" id="{7DD3099A-0D9D-4208-9093-D39C10CA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106299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13" name="p13-text-313">
            <a:extLst xmlns:a="http://schemas.openxmlformats.org/drawingml/2006/main">
              <a:ext uri="{FF2B5EF4-FFF2-40B4-BE49-F238E27FC236}">
                <a16:creationId xmlns:a16="http://schemas.microsoft.com/office/drawing/2014/main" id="{DF540901-ADE0-4DAB-A13F-2A2EC304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52600"/>
            <a:ext cx="2695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入口文件 survey-design.md</a:t>
            </a:r>
          </a:p>
        </p:txBody>
      </p:sp>
      <p:sp>
        <p:nvSpPr>
          <p:cNvPr id="14" name="p13-text-314">
            <a:extLst xmlns:a="http://schemas.openxmlformats.org/drawingml/2006/main">
              <a:ext uri="{FF2B5EF4-FFF2-40B4-BE49-F238E27FC236}">
                <a16:creationId xmlns:a16="http://schemas.microsoft.com/office/drawing/2014/main" id="{37DB52B6-33BB-42A8-8880-BED3858A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743075"/>
            <a:ext cx="733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$ur-design-survey 课题：图库AI；目标：识别高频任务；场景：原始需求洞察</a:t>
            </a:r>
          </a:p>
        </p:txBody>
      </p:sp>
      <p:sp>
        <p:nvSpPr>
          <p:cNvPr id="15" name="p13-text-315">
            <a:extLst xmlns:a="http://schemas.openxmlformats.org/drawingml/2006/main">
              <a:ext uri="{FF2B5EF4-FFF2-40B4-BE49-F238E27FC236}">
                <a16:creationId xmlns:a16="http://schemas.microsoft.com/office/drawing/2014/main" id="{2D7FF607-9DA6-4C23-9419-506B4F98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p13-text-316">
            <a:extLst xmlns:a="http://schemas.openxmlformats.org/drawingml/2006/main">
              <a:ext uri="{FF2B5EF4-FFF2-40B4-BE49-F238E27FC236}">
                <a16:creationId xmlns:a16="http://schemas.microsoft.com/office/drawing/2014/main" id="{2B5F26D8-4E7F-4667-A5D5-3D1B6C24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固定入口</a:t>
            </a:r>
          </a:p>
        </p:txBody>
      </p:sp>
      <p:sp>
        <p:nvSpPr>
          <p:cNvPr id="17" name="p13-text-317">
            <a:extLst xmlns:a="http://schemas.openxmlformats.org/drawingml/2006/main">
              <a:ext uri="{FF2B5EF4-FFF2-40B4-BE49-F238E27FC236}">
                <a16:creationId xmlns:a16="http://schemas.microsoft.com/office/drawing/2014/main" id="{081AE903-D0DC-4A7B-8A3A-88D8725A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课题 / 目标 / 场景</a:t>
            </a:r>
          </a:p>
        </p:txBody>
      </p:sp>
      <p:sp>
        <p:nvSpPr>
          <p:cNvPr id="18" name="p13-line-318">
            <a:extLst xmlns:a="http://schemas.openxmlformats.org/drawingml/2006/main">
              <a:ext uri="{FF2B5EF4-FFF2-40B4-BE49-F238E27FC236}">
                <a16:creationId xmlns:a16="http://schemas.microsoft.com/office/drawing/2014/main" id="{B2FD5F11-F636-4BF6-8D46-121E4874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76600"/>
            <a:ext cx="238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000A"/>
            </a:solidFill>
          </a:ln>
        </p:spPr>
      </p:sp>
      <p:sp>
        <p:nvSpPr>
          <p:cNvPr id="19" name="p13-text-319">
            <a:extLst xmlns:a="http://schemas.openxmlformats.org/drawingml/2006/main">
              <a:ext uri="{FF2B5EF4-FFF2-40B4-BE49-F238E27FC236}">
                <a16:creationId xmlns:a16="http://schemas.microsoft.com/office/drawing/2014/main" id="{91394E05-33F0-4911-A3DB-11D0E407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3367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p13-text-320">
            <a:extLst xmlns:a="http://schemas.openxmlformats.org/drawingml/2006/main">
              <a:ext uri="{FF2B5EF4-FFF2-40B4-BE49-F238E27FC236}">
                <a16:creationId xmlns:a16="http://schemas.microsoft.com/office/drawing/2014/main" id="{321BC59A-ADA0-46CA-A506-F8DE336A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Skill 执行</a:t>
            </a:r>
          </a:p>
        </p:txBody>
      </p:sp>
      <p:sp>
        <p:nvSpPr>
          <p:cNvPr id="21" name="p13-text-321">
            <a:extLst xmlns:a="http://schemas.openxmlformats.org/drawingml/2006/main">
              <a:ext uri="{FF2B5EF4-FFF2-40B4-BE49-F238E27FC236}">
                <a16:creationId xmlns:a16="http://schemas.microsoft.com/office/drawing/2014/main" id="{380D51BA-5003-41E7-B5E0-B418FC74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确认 / 设计 / 检查</a:t>
            </a:r>
          </a:p>
        </p:txBody>
      </p:sp>
      <p:sp>
        <p:nvSpPr>
          <p:cNvPr id="22" name="p13-line-322">
            <a:extLst xmlns:a="http://schemas.openxmlformats.org/drawingml/2006/main">
              <a:ext uri="{FF2B5EF4-FFF2-40B4-BE49-F238E27FC236}">
                <a16:creationId xmlns:a16="http://schemas.microsoft.com/office/drawing/2014/main" id="{E4E5FBA3-09CE-432F-A496-583CA0CF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76600"/>
            <a:ext cx="238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000A"/>
            </a:solidFill>
          </a:ln>
        </p:spPr>
      </p:sp>
      <p:sp>
        <p:nvSpPr>
          <p:cNvPr id="23" name="p13-text-323">
            <a:extLst xmlns:a="http://schemas.openxmlformats.org/drawingml/2006/main">
              <a:ext uri="{FF2B5EF4-FFF2-40B4-BE49-F238E27FC236}">
                <a16:creationId xmlns:a16="http://schemas.microsoft.com/office/drawing/2014/main" id="{CFAE0598-0C2B-49B2-A094-344424BD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3367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p13-text-324">
            <a:extLst xmlns:a="http://schemas.openxmlformats.org/drawingml/2006/main">
              <a:ext uri="{FF2B5EF4-FFF2-40B4-BE49-F238E27FC236}">
                <a16:creationId xmlns:a16="http://schemas.microsoft.com/office/drawing/2014/main" id="{E8281687-D2F9-40BB-A324-DE7CDCCD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95625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文件交付</a:t>
            </a:r>
          </a:p>
        </p:txBody>
      </p:sp>
      <p:sp>
        <p:nvSpPr>
          <p:cNvPr id="25" name="p13-text-325">
            <a:extLst xmlns:a="http://schemas.openxmlformats.org/drawingml/2006/main">
              <a:ext uri="{FF2B5EF4-FFF2-40B4-BE49-F238E27FC236}">
                <a16:creationId xmlns:a16="http://schemas.microsoft.com/office/drawing/2014/main" id="{5058301A-6714-4DD3-B624-0A6515D5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主问卷 / 评审 / 导入</a:t>
            </a:r>
          </a:p>
        </p:txBody>
      </p:sp>
      <p:sp>
        <p:nvSpPr>
          <p:cNvPr id="26" name="p13-line-326">
            <a:extLst xmlns:a="http://schemas.openxmlformats.org/drawingml/2006/main">
              <a:ext uri="{FF2B5EF4-FFF2-40B4-BE49-F238E27FC236}">
                <a16:creationId xmlns:a16="http://schemas.microsoft.com/office/drawing/2014/main" id="{A7C4CA24-2FF8-4F21-8337-462FF1A2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276600"/>
            <a:ext cx="238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000A"/>
            </a:solidFill>
          </a:ln>
        </p:spPr>
      </p:sp>
      <p:sp>
        <p:nvSpPr>
          <p:cNvPr id="27" name="p13-text-327">
            <a:extLst xmlns:a="http://schemas.openxmlformats.org/drawingml/2006/main">
              <a:ext uri="{FF2B5EF4-FFF2-40B4-BE49-F238E27FC236}">
                <a16:creationId xmlns:a16="http://schemas.microsoft.com/office/drawing/2014/main" id="{7BAA0F67-C96B-4AA0-9C37-04F66FC6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3367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p13-text-328">
            <a:extLst xmlns:a="http://schemas.openxmlformats.org/drawingml/2006/main">
              <a:ext uri="{FF2B5EF4-FFF2-40B4-BE49-F238E27FC236}">
                <a16:creationId xmlns:a16="http://schemas.microsoft.com/office/drawing/2014/main" id="{F23AD233-5656-433C-9630-44526D21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095625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sp>
        <p:nvSpPr>
          <p:cNvPr id="29" name="p13-text-329">
            <a:extLst xmlns:a="http://schemas.openxmlformats.org/drawingml/2006/main">
              <a:ext uri="{FF2B5EF4-FFF2-40B4-BE49-F238E27FC236}">
                <a16:creationId xmlns:a16="http://schemas.microsoft.com/office/drawing/2014/main" id="{EAD49361-F88B-4FFB-93DA-063F0768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修改记录返回规则</a:t>
            </a:r>
          </a:p>
        </p:txBody>
      </p:sp>
      <p:sp>
        <p:nvSpPr>
          <p:cNvPr id="30" name="p13-line-330">
            <a:extLst xmlns:a="http://schemas.openxmlformats.org/drawingml/2006/main">
              <a:ext uri="{FF2B5EF4-FFF2-40B4-BE49-F238E27FC236}">
                <a16:creationId xmlns:a16="http://schemas.microsoft.com/office/drawing/2014/main" id="{DC3ECF1A-9EB4-4EB2-B073-2F1801E0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0629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31" name="p13-text-331">
            <a:extLst xmlns:a="http://schemas.openxmlformats.org/drawingml/2006/main">
              <a:ext uri="{FF2B5EF4-FFF2-40B4-BE49-F238E27FC236}">
                <a16:creationId xmlns:a16="http://schemas.microsoft.com/office/drawing/2014/main" id="{2D82B925-E937-4CCE-974A-32EC466B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3份文件</a:t>
            </a:r>
          </a:p>
        </p:txBody>
      </p:sp>
      <p:sp>
        <p:nvSpPr>
          <p:cNvPr id="32" name="p13-text-332">
            <a:extLst xmlns:a="http://schemas.openxmlformats.org/drawingml/2006/main">
              <a:ext uri="{FF2B5EF4-FFF2-40B4-BE49-F238E27FC236}">
                <a16:creationId xmlns:a16="http://schemas.microsoft.com/office/drawing/2014/main" id="{084BF5D3-D606-48D9-A710-2B309981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以同一主问卷保持一致</a:t>
            </a:r>
          </a:p>
        </p:txBody>
      </p:sp>
      <p:sp>
        <p:nvSpPr>
          <p:cNvPr id="33" name="p13-text-333">
            <a:extLst xmlns:a="http://schemas.openxmlformats.org/drawingml/2006/main">
              <a:ext uri="{FF2B5EF4-FFF2-40B4-BE49-F238E27FC236}">
                <a16:creationId xmlns:a16="http://schemas.microsoft.com/office/drawing/2014/main" id="{B1637375-D750-41E6-AD56-5BDE46AB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476750"/>
            <a:ext cx="308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效果记录口径</a:t>
            </a:r>
          </a:p>
        </p:txBody>
      </p:sp>
      <p:sp>
        <p:nvSpPr>
          <p:cNvPr id="34" name="p13-text-334">
            <a:extLst xmlns:a="http://schemas.openxmlformats.org/drawingml/2006/main">
              <a:ext uri="{FF2B5EF4-FFF2-40B4-BE49-F238E27FC236}">
                <a16:creationId xmlns:a16="http://schemas.microsoft.com/office/drawing/2014/main" id="{4F8194E9-5049-46A1-8D65-E20EFFA5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924425"/>
            <a:ext cx="33051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PM 主动投入与 AI 等待分开</a:t>
            </a:r>
          </a:p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记录返工轮次和修改类型</a:t>
            </a:r>
          </a:p>
        </p:txBody>
      </p:sp>
      <p:sp>
        <p:nvSpPr>
          <p:cNvPr id="35" name="p13-text-335">
            <a:extLst xmlns:a="http://schemas.openxmlformats.org/drawingml/2006/main">
              <a:ext uri="{FF2B5EF4-FFF2-40B4-BE49-F238E27FC236}">
                <a16:creationId xmlns:a16="http://schemas.microsoft.com/office/drawing/2014/main" id="{D98A43F5-3E91-413C-B88E-7DAD5E32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入口文件只写 3 件事</a:t>
            </a:r>
          </a:p>
        </p:txBody>
      </p:sp>
      <p:sp>
        <p:nvSpPr>
          <p:cNvPr id="36" name="p13-text-336">
            <a:extLst xmlns:a="http://schemas.openxmlformats.org/drawingml/2006/main">
              <a:ext uri="{FF2B5EF4-FFF2-40B4-BE49-F238E27FC236}">
                <a16:creationId xmlns:a16="http://schemas.microsoft.com/office/drawing/2014/main" id="{CED31B78-A6BC-4B69-A9EA-479C7666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24425"/>
            <a:ext cx="34671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传递哪些输入</a:t>
            </a:r>
          </a:p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调用哪个 Skill</a:t>
            </a:r>
          </a:p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何时交付并停止</a:t>
            </a:r>
          </a:p>
        </p:txBody>
      </p:sp>
      <p:sp>
        <p:nvSpPr>
          <p:cNvPr id="37" name="p13-text-337">
            <a:extLst xmlns:a="http://schemas.openxmlformats.org/drawingml/2006/main">
              <a:ext uri="{FF2B5EF4-FFF2-40B4-BE49-F238E27FC236}">
                <a16:creationId xmlns:a16="http://schemas.microsoft.com/office/drawing/2014/main" id="{F83DE0FA-55EF-4A80-9070-31664DBA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>调用语法因平台而异。时间节省率 =（原主动投入－现主动投入）÷ 原主动投入，需同类任务实测后再报告。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14-text-338">
            <a:extLst xmlns:a="http://schemas.openxmlformats.org/drawingml/2006/main">
              <a:ext uri="{FF2B5EF4-FFF2-40B4-BE49-F238E27FC236}">
                <a16:creationId xmlns:a16="http://schemas.microsoft.com/office/drawing/2014/main" id="{1C56AAF9-B9BE-49ED-B907-47671B48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6496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产品经理AI工作台</a:t>
            </a:r>
          </a:p>
        </p:txBody>
      </p:sp>
      <p:sp>
        <p:nvSpPr>
          <p:cNvPr id="2" name="p14-text-339">
            <a:extLst xmlns:a="http://schemas.openxmlformats.org/drawingml/2006/main">
              <a:ext uri="{FF2B5EF4-FFF2-40B4-BE49-F238E27FC236}">
                <a16:creationId xmlns:a16="http://schemas.microsoft.com/office/drawing/2014/main" id="{F7425C52-0429-4A06-9A68-AB68F2AE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638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把专业判断写入可复用的工作方法</a:t>
            </a:r>
          </a:p>
        </p:txBody>
      </p:sp>
      <p:sp>
        <p:nvSpPr>
          <p:cNvPr id="3" name="p14-text-340">
            <a:extLst xmlns:a="http://schemas.openxmlformats.org/drawingml/2006/main">
              <a:ext uri="{FF2B5EF4-FFF2-40B4-BE49-F238E27FC236}">
                <a16:creationId xmlns:a16="http://schemas.microsoft.com/office/drawing/2014/main" id="{3D3489A5-CE79-45E9-89F4-4B7D0C47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52022315"/>
      </p:ext>
    </p:extLst>
  </p:cSld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2026-09-15T14:16:39.7680000Z</dcterms:created>
  <dcterms:modified xsi:type="dcterms:W3CDTF">2026-09-15T14:16:39.7680000Z</dcterms:modified>
</coreProperties>
</file>