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30996e452824f74" /><Relationship Type="http://schemas.openxmlformats.org/officeDocument/2006/relationships/extended-properties" Target="/docProps/app.xml" Id="R626b786b501c483f" /><Relationship Type="http://schemas.openxmlformats.org/officeDocument/2006/relationships/officeDocument" Target="/ppt/presentation.xml" Id="R90710b2d3f1b471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f5e3fdb687d4170"/>
  </p:sldMasterIdLst>
  <p:notesMasterIdLst>
    <p:notesMasterId xmlns:r="http://schemas.openxmlformats.org/officeDocument/2006/relationships" r:id="R487e8db16ca740fa"/>
  </p:notesMasterIdLst>
  <p:sldIdLst>
    <p:sldId xmlns:r="http://schemas.openxmlformats.org/officeDocument/2006/relationships" id="256" r:id="R41ca71d129a0493f"/>
    <p:sldId xmlns:r="http://schemas.openxmlformats.org/officeDocument/2006/relationships" id="257" r:id="Rf8d1375bfecb4eaa"/>
    <p:sldId xmlns:r="http://schemas.openxmlformats.org/officeDocument/2006/relationships" id="258" r:id="Rff89a593b5004556"/>
    <p:sldId xmlns:r="http://schemas.openxmlformats.org/officeDocument/2006/relationships" id="259" r:id="R03241d151bea48d8"/>
    <p:sldId xmlns:r="http://schemas.openxmlformats.org/officeDocument/2006/relationships" id="260" r:id="R2adf510330824312"/>
    <p:sldId xmlns:r="http://schemas.openxmlformats.org/officeDocument/2006/relationships" id="261" r:id="R11bd3b2d3c5c459f"/>
    <p:sldId xmlns:r="http://schemas.openxmlformats.org/officeDocument/2006/relationships" id="262" r:id="R462d372eae2c47a1"/>
    <p:sldId xmlns:r="http://schemas.openxmlformats.org/officeDocument/2006/relationships" id="263" r:id="R7cb1ae796ced4afa"/>
    <p:sldId xmlns:r="http://schemas.openxmlformats.org/officeDocument/2006/relationships" id="264" r:id="R3dd142a03b4a454f"/>
    <p:sldId xmlns:r="http://schemas.openxmlformats.org/officeDocument/2006/relationships" id="265" r:id="Rf8862eb76b414250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c361e86deed4b46" /><Relationship Type="http://schemas.openxmlformats.org/officeDocument/2006/relationships/slideMaster" Target="/ppt/slideMasters/slideMaster1.xml" Id="R4f5e3fdb687d4170" /><Relationship Type="http://schemas.openxmlformats.org/officeDocument/2006/relationships/notesMaster" Target="/ppt/notesMasters/notesMaster1.xml" Id="R487e8db16ca740fa" /><Relationship Type="http://schemas.openxmlformats.org/officeDocument/2006/relationships/presProps" Target="/ppt/presProps.xml" Id="R45269e695e4a4274" /><Relationship Type="http://schemas.openxmlformats.org/officeDocument/2006/relationships/tableStyles" Target="/ppt/tableStyles.xml" Id="R3819928632ac436a" /><Relationship Type="http://schemas.openxmlformats.org/officeDocument/2006/relationships/slide" Target="/ppt/slides/slide1.xml" Id="R41ca71d129a0493f" /><Relationship Type="http://schemas.openxmlformats.org/officeDocument/2006/relationships/slide" Target="/ppt/slides/slide2.xml" Id="Rf8d1375bfecb4eaa" /><Relationship Type="http://schemas.openxmlformats.org/officeDocument/2006/relationships/slide" Target="/ppt/slides/slide3.xml" Id="Rff89a593b5004556" /><Relationship Type="http://schemas.openxmlformats.org/officeDocument/2006/relationships/slide" Target="/ppt/slides/slide4.xml" Id="R03241d151bea48d8" /><Relationship Type="http://schemas.openxmlformats.org/officeDocument/2006/relationships/slide" Target="/ppt/slides/slide5.xml" Id="R2adf510330824312" /><Relationship Type="http://schemas.openxmlformats.org/officeDocument/2006/relationships/slide" Target="/ppt/slides/slide6.xml" Id="R11bd3b2d3c5c459f" /><Relationship Type="http://schemas.openxmlformats.org/officeDocument/2006/relationships/slide" Target="/ppt/slides/slide7.xml" Id="R462d372eae2c47a1" /><Relationship Type="http://schemas.openxmlformats.org/officeDocument/2006/relationships/slide" Target="/ppt/slides/slide8.xml" Id="R7cb1ae796ced4afa" /><Relationship Type="http://schemas.openxmlformats.org/officeDocument/2006/relationships/slide" Target="/ppt/slides/slide9.xml" Id="R3dd142a03b4a454f" /><Relationship Type="http://schemas.openxmlformats.org/officeDocument/2006/relationships/slide" Target="/ppt/slides/slide10.xml" Id="Rf8862eb76b41425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dbb8204310d4d1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fbd519035f249a2" /><Relationship Type="http://schemas.openxmlformats.org/officeDocument/2006/relationships/notesMaster" Target="/ppt/notesMasters/notesMaster1.xml" Id="Rcea7845ae3304d3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87003d4683b47d8" /><Relationship Type="http://schemas.openxmlformats.org/officeDocument/2006/relationships/notesMaster" Target="/ppt/notesMasters/notesMaster1.xml" Id="R6a73eaa9687a490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b22d12f14d646d3" /><Relationship Type="http://schemas.openxmlformats.org/officeDocument/2006/relationships/notesMaster" Target="/ppt/notesMasters/notesMaster1.xml" Id="R00d094c151bb4eb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daa78b022e14dd2" /><Relationship Type="http://schemas.openxmlformats.org/officeDocument/2006/relationships/notesMaster" Target="/ppt/notesMasters/notesMaster1.xml" Id="R7ebe85e1a555489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58911f2376f4c4e" /><Relationship Type="http://schemas.openxmlformats.org/officeDocument/2006/relationships/notesMaster" Target="/ppt/notesMasters/notesMaster1.xml" Id="R48db24a96a06470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51a185a0b17412d" /><Relationship Type="http://schemas.openxmlformats.org/officeDocument/2006/relationships/notesMaster" Target="/ppt/notesMasters/notesMaster1.xml" Id="R856770c2ca394f6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c73769c861643cb" /><Relationship Type="http://schemas.openxmlformats.org/officeDocument/2006/relationships/notesMaster" Target="/ppt/notesMasters/notesMaster1.xml" Id="R9230c54a367348c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13eda73c3824fc1" /><Relationship Type="http://schemas.openxmlformats.org/officeDocument/2006/relationships/notesMaster" Target="/ppt/notesMasters/notesMaster1.xml" Id="R2874de6be89f493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3fe0769e98d4b0b" /><Relationship Type="http://schemas.openxmlformats.org/officeDocument/2006/relationships/notesMaster" Target="/ppt/notesMasters/notesMaster1.xml" Id="R080879c4cdfe4f3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efad07abafe4db5" /><Relationship Type="http://schemas.openxmlformats.org/officeDocument/2006/relationships/notesMaster" Target="/ppt/notesMasters/notesMaster1.xml" Id="R86b6eab95b9e41c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[S0] Apple Event：September 9, 2025</a:t>
            </a:r>
          </a:p>
          <a:p xmlns:a="http://schemas.openxmlformats.org/drawingml/2006/main">
            <a:r>
              <a:t>Apple；2025-09-09；美国</a:t>
            </a:r>
          </a:p>
          <a:p xmlns:a="http://schemas.openxmlformats.org/drawingml/2006/main">
            <a:r>
              <a:t>https://www.apple.com/apple-events/</a:t>
            </a:r>
          </a:p>
          <a:p xmlns:a="http://schemas.openxmlformats.org/drawingml/2006/main">
            <a:r>
              <a:t>定位：官方回放 / 简体中文字幕；另附 YouTube 章节；检索：2026-09-09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[S1] Apple 发布 iPhone 17</a:t>
            </a:r>
          </a:p>
          <a:p xmlns:a="http://schemas.openxmlformats.org/drawingml/2006/main">
            <a:r>
              <a:t>Apple；2025-09-10；中国大陆</a:t>
            </a:r>
          </a:p>
          <a:p xmlns:a="http://schemas.openxmlformats.org/drawingml/2006/main">
            <a:r>
              <a:t>https://www.apple.com.cn/newsroom/2025/09/apple-debuts-iphone-17/</a:t>
            </a:r>
          </a:p>
          <a:p xmlns:a="http://schemas.openxmlformats.org/drawingml/2006/main">
            <a:r>
              <a:t>定位：摄像头系统、显示屏、价格与上市时间；检索：2026-09-09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[S2] Apple 发布 iPhone 17 Pro / Pro Max</a:t>
            </a:r>
          </a:p>
          <a:p xmlns:a="http://schemas.openxmlformats.org/drawingml/2006/main">
            <a:r>
              <a:t>Apple；2025-09-10；中国大陆</a:t>
            </a:r>
          </a:p>
          <a:p xmlns:a="http://schemas.openxmlformats.org/drawingml/2006/main">
            <a:r>
              <a:t>https://www.apple.com.cn/newsroom/2025/09/apple-unveils-iphone-17-pro-and-iphone-17-pro-max-cn/</a:t>
            </a:r>
          </a:p>
          <a:p xmlns:a="http://schemas.openxmlformats.org/drawingml/2006/main">
            <a:r>
              <a:t>定位：Pro级摄像头系统、业界领先的视频功能、脚注4；检索：2026-09-09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[S3] iPhone Air 隆重登场</a:t>
            </a:r>
          </a:p>
          <a:p xmlns:a="http://schemas.openxmlformats.org/drawingml/2006/main">
            <a:r>
              <a:t>Apple；2025-09-10；中国大陆</a:t>
            </a:r>
          </a:p>
          <a:p xmlns:a="http://schemas.openxmlformats.org/drawingml/2006/main">
            <a:r>
              <a:t>https://www.apple.com.cn/newsroom/2025/09/introducing-iphone-air-a-powerful-new-iphone/</a:t>
            </a:r>
          </a:p>
          <a:p xmlns:a="http://schemas.openxmlformats.org/drawingml/2006/main">
            <a:r>
              <a:t>定位：突破性设计、摄像头、价格、eSIM；检索：2026-09-09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封面图：S2 官方星宇橙色产品图。研究范围为2025年iPhone 17、iPhone Air、iPhone 17 Pro与Pro Max。iOS26相关内容明确标识WWDC背景，9月/10月补充资料明确标识后续更新。</a:t>
            </a:r>
          </a:p>
          <a:p xmlns:a="http://schemas.openxmlformats.org/drawingml/2006/main">
            <a:r>
              <a:t>所有事实为官方声明，未进行独立实机测试。鸿蒙关注点为产品分析，未取得内部能力基线。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[S1] Apple 发布 iPhone 17</a:t>
            </a:r>
          </a:p>
          <a:p xmlns:a="http://schemas.openxmlformats.org/drawingml/2006/main">
            <a:r>
              <a:t>Apple；2025-09-10；中国大陆</a:t>
            </a:r>
          </a:p>
          <a:p xmlns:a="http://schemas.openxmlformats.org/drawingml/2006/main">
            <a:r>
              <a:t>https://www.apple.com.cn/newsroom/2025/09/apple-debuts-iphone-17/</a:t>
            </a:r>
          </a:p>
          <a:p xmlns:a="http://schemas.openxmlformats.org/drawingml/2006/main">
            <a:r>
              <a:t>定位：摄像头系统、显示屏、价格与上市时间；检索：2026-09-09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[S2] Apple 发布 iPhone 17 Pro / Pro Max</a:t>
            </a:r>
          </a:p>
          <a:p xmlns:a="http://schemas.openxmlformats.org/drawingml/2006/main">
            <a:r>
              <a:t>Apple；2025-09-10；中国大陆</a:t>
            </a:r>
          </a:p>
          <a:p xmlns:a="http://schemas.openxmlformats.org/drawingml/2006/main">
            <a:r>
              <a:t>https://www.apple.com.cn/newsroom/2025/09/apple-unveils-iphone-17-pro-and-iphone-17-pro-max-cn/</a:t>
            </a:r>
          </a:p>
          <a:p xmlns:a="http://schemas.openxmlformats.org/drawingml/2006/main">
            <a:r>
              <a:t>定位：Pro级摄像头系统、业界领先的视频功能、脚注4；检索：2026-09-09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[S3] iPhone Air 隆重登场</a:t>
            </a:r>
          </a:p>
          <a:p xmlns:a="http://schemas.openxmlformats.org/drawingml/2006/main">
            <a:r>
              <a:t>Apple；2025-09-10；中国大陆</a:t>
            </a:r>
          </a:p>
          <a:p xmlns:a="http://schemas.openxmlformats.org/drawingml/2006/main">
            <a:r>
              <a:t>https://www.apple.com.cn/newsroom/2025/09/introducing-iphone-air-a-powerful-new-iphone/</a:t>
            </a:r>
          </a:p>
          <a:p xmlns:a="http://schemas.openxmlformats.org/drawingml/2006/main">
            <a:r>
              <a:t>定位：突破性设计、摄像头、价格、eSIM；检索：2026-09-09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[S7] iPhone Air 中国大陆上市更新</a:t>
            </a:r>
          </a:p>
          <a:p xmlns:a="http://schemas.openxmlformats.org/drawingml/2006/main">
            <a:r>
              <a:t>Apple；2025-10-13；中国大陆</a:t>
            </a:r>
          </a:p>
          <a:p xmlns:a="http://schemas.openxmlformats.org/drawingml/2006/main">
            <a:r>
              <a:t>https://www.apple.com.cn/newsroom/2025/10/iphone-air-will-be-available-in-china-beginning-october-22/</a:t>
            </a:r>
          </a:p>
          <a:p xmlns:a="http://schemas.openxmlformats.org/drawingml/2006/main">
            <a:r>
              <a:t>定位：10月17日预购，10月22日发售；检索：2026-09-09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Air大陆10月22日上市为2025年10月13日官方后续公告，不能与9月19日其他机型首发混同。8倍为“光学品质”口径，不等于8倍原生光学镜头。</a:t>
            </a:r>
          </a:p>
          <a:p xmlns:a="http://schemas.openxmlformats.org/drawingml/2006/main">
            <a:r>
              <a:t>所有事实为官方声明，未进行独立实机测试。鸿蒙关注点为产品分析，未取得内部能力基线。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[S0] Apple Event：September 9, 2025</a:t>
            </a:r>
          </a:p>
          <a:p xmlns:a="http://schemas.openxmlformats.org/drawingml/2006/main">
            <a:r>
              <a:t>Apple；2025-09-09；美国</a:t>
            </a:r>
          </a:p>
          <a:p xmlns:a="http://schemas.openxmlformats.org/drawingml/2006/main">
            <a:r>
              <a:t>https://www.apple.com/apple-events/</a:t>
            </a:r>
          </a:p>
          <a:p xmlns:a="http://schemas.openxmlformats.org/drawingml/2006/main">
            <a:r>
              <a:t>定位：官方回放 / 简体中文字幕；另附 YouTube 章节；检索：2026-09-09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[S1] Apple 发布 iPhone 17</a:t>
            </a:r>
          </a:p>
          <a:p xmlns:a="http://schemas.openxmlformats.org/drawingml/2006/main">
            <a:r>
              <a:t>Apple；2025-09-10；中国大陆</a:t>
            </a:r>
          </a:p>
          <a:p xmlns:a="http://schemas.openxmlformats.org/drawingml/2006/main">
            <a:r>
              <a:t>https://www.apple.com.cn/newsroom/2025/09/apple-debuts-iphone-17/</a:t>
            </a:r>
          </a:p>
          <a:p xmlns:a="http://schemas.openxmlformats.org/drawingml/2006/main">
            <a:r>
              <a:t>定位：摄像头系统、显示屏、价格与上市时间；检索：2026-09-09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[S2] Apple 发布 iPhone 17 Pro / Pro Max</a:t>
            </a:r>
          </a:p>
          <a:p xmlns:a="http://schemas.openxmlformats.org/drawingml/2006/main">
            <a:r>
              <a:t>Apple；2025-09-10；中国大陆</a:t>
            </a:r>
          </a:p>
          <a:p xmlns:a="http://schemas.openxmlformats.org/drawingml/2006/main">
            <a:r>
              <a:t>https://www.apple.com.cn/newsroom/2025/09/apple-unveils-iphone-17-pro-and-iphone-17-pro-max-cn/</a:t>
            </a:r>
          </a:p>
          <a:p xmlns:a="http://schemas.openxmlformats.org/drawingml/2006/main">
            <a:r>
              <a:t>定位：Pro级摄像头系统、业界领先的视频功能、脚注4；检索：2026-09-09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[S3] iPhone Air 隆重登场</a:t>
            </a:r>
          </a:p>
          <a:p xmlns:a="http://schemas.openxmlformats.org/drawingml/2006/main">
            <a:r>
              <a:t>Apple；2025-09-10；中国大陆</a:t>
            </a:r>
          </a:p>
          <a:p xmlns:a="http://schemas.openxmlformats.org/drawingml/2006/main">
            <a:r>
              <a:t>https://www.apple.com.cn/newsroom/2025/09/introducing-iphone-air-a-powerful-new-iphone/</a:t>
            </a:r>
          </a:p>
          <a:p xmlns:a="http://schemas.openxmlformats.org/drawingml/2006/main">
            <a:r>
              <a:t>定位：突破性设计、摄像头、价格、eSIM；检索：2026-09-09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图片：S2 新闻稿 Center Stage 官方视频封面，原始画面未重绘。图片本身仅呈现自拍UI，自动构图行为依据官方新闻稿及字幕，不把静帧当作完整演示。视频时间详见P10。</a:t>
            </a:r>
          </a:p>
          <a:p xmlns:a="http://schemas.openxmlformats.org/drawingml/2006/main">
            <a:r>
              <a:t>所有事实为官方声明，未进行独立实机测试。鸿蒙关注点为产品分析，未取得内部能力基线。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[S0] Apple Event：September 9, 2025</a:t>
            </a:r>
          </a:p>
          <a:p xmlns:a="http://schemas.openxmlformats.org/drawingml/2006/main">
            <a:r>
              <a:t>Apple；2025-09-09；美国</a:t>
            </a:r>
          </a:p>
          <a:p xmlns:a="http://schemas.openxmlformats.org/drawingml/2006/main">
            <a:r>
              <a:t>https://www.apple.com/apple-events/</a:t>
            </a:r>
          </a:p>
          <a:p xmlns:a="http://schemas.openxmlformats.org/drawingml/2006/main">
            <a:r>
              <a:t>定位：官方回放 / 简体中文字幕；另附 YouTube 章节；检索：2026-09-09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[S2] Apple 发布 iPhone 17 Pro / Pro Max</a:t>
            </a:r>
          </a:p>
          <a:p xmlns:a="http://schemas.openxmlformats.org/drawingml/2006/main">
            <a:r>
              <a:t>Apple；2025-09-10；中国大陆</a:t>
            </a:r>
          </a:p>
          <a:p xmlns:a="http://schemas.openxmlformats.org/drawingml/2006/main">
            <a:r>
              <a:t>https://www.apple.com.cn/newsroom/2025/09/apple-unveils-iphone-17-pro-and-iphone-17-pro-max-cn/</a:t>
            </a:r>
          </a:p>
          <a:p xmlns:a="http://schemas.openxmlformats.org/drawingml/2006/main">
            <a:r>
              <a:t>定位：Pro级摄像头系统、业界领先的视频功能、脚注4；检索：2026-09-09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图片：S2官方Genlock视频封面。Final Cut Camera与Blackmagic Camera支持ProRes RAW；官方新闻稿列出ProDock对Genlock的支持。不表述为所有格式均能在系统相机中直接使用。专业链路关注点为分析。</a:t>
            </a:r>
          </a:p>
          <a:p xmlns:a="http://schemas.openxmlformats.org/drawingml/2006/main">
            <a:r>
              <a:t>所有事实为官方声明，未进行独立实机测试。鸿蒙关注点为产品分析，未取得内部能力基线。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[S5] Apple Intelligence 新功能发布</a:t>
            </a:r>
          </a:p>
          <a:p xmlns:a="http://schemas.openxmlformats.org/drawingml/2006/main">
            <a:r>
              <a:t>Apple；2025-09-15；全球适用市场</a:t>
            </a:r>
          </a:p>
          <a:p xmlns:a="http://schemas.openxmlformats.org/drawingml/2006/main">
            <a:r>
              <a:t>https://www.apple.com/hk/en/newsroom/2025/09/new-apple-intelligence-features-are-available-today/</a:t>
            </a:r>
          </a:p>
          <a:p xmlns:a="http://schemas.openxmlformats.org/drawingml/2006/main">
            <a:r>
              <a:t>定位：Live Translation、Visual Intelligence、Shortcuts及脚注；检索：2026-09-09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[S6] Apple Intelligence 启用与地区限制</a:t>
            </a:r>
          </a:p>
          <a:p xmlns:a="http://schemas.openxmlformats.org/drawingml/2006/main">
            <a:r>
              <a:t>Apple；动态支持页；中国大陆限制</a:t>
            </a:r>
          </a:p>
          <a:p xmlns:a="http://schemas.openxmlformats.org/drawingml/2006/main">
            <a:r>
              <a:t>https://support.apple.com/en-hk/121115</a:t>
            </a:r>
          </a:p>
          <a:p xmlns:a="http://schemas.openxmlformats.org/drawingml/2006/main">
            <a:r>
              <a:t>定位：For China residents；检索：2026-09-09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[S8] Apple Intelligence 能力预览（WWDC背景）</a:t>
            </a:r>
          </a:p>
          <a:p xmlns:a="http://schemas.openxmlformats.org/drawingml/2006/main">
            <a:r>
              <a:t>Apple；2025-06-09；全球适用市场</a:t>
            </a:r>
          </a:p>
          <a:p xmlns:a="http://schemas.openxmlformats.org/drawingml/2006/main">
            <a:r>
              <a:t>https://www.apple.com/newsroom/2025/06/apple-intelligence-gets-even-more-powerful-with-new-capabilities-across-apple-devices/</a:t>
            </a:r>
          </a:p>
          <a:p xmlns:a="http://schemas.openxmlformats.org/drawingml/2006/main">
            <a:r>
              <a:t>定位：Visual Intelligence、Foundation Models、Shortcuts；检索：2026-09-09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图片：S5官方visual intelligence视频封面与00:05关键帧；视频：https://www.apple.com/newsroom/videos/2025/autoplay/09/apple-intelligence-visual-intelligence-updates/large_2x.mp4。此能力不是iPhone17发布会首次提出，也不是iPhone17独占。适用本场四款支持机型还须满足Apple Intelligence地区、语言、启用状态和第三方服务条件。当前地区限制引用S6，不能用简体中文语言支持推断中国大陆可用。</a:t>
            </a:r>
          </a:p>
          <a:p xmlns:a="http://schemas.openxmlformats.org/drawingml/2006/main">
            <a:r>
              <a:t>所有事实为官方声明，未进行独立实机测试。鸿蒙关注点为产品分析，未取得内部能力基线。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[S4] iOS 26 体验预览（WWDC背景）</a:t>
            </a:r>
          </a:p>
          <a:p xmlns:a="http://schemas.openxmlformats.org/drawingml/2006/main">
            <a:r>
              <a:t>Apple；2025-06；中国大陆</a:t>
            </a:r>
          </a:p>
          <a:p xmlns:a="http://schemas.openxmlformats.org/drawingml/2006/main">
            <a:r>
              <a:t>https://www.apple.com.cn/newsroom/2025/06/apple-elevates-the-iphone-experience-with-ios-26/</a:t>
            </a:r>
          </a:p>
          <a:p xmlns:a="http://schemas.openxmlformats.org/drawingml/2006/main">
            <a:r>
              <a:t>定位：优美新外观、电话与信息、CarPlay；检索：2026-09-09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[S9] Apple 软件平台正式发布更新</a:t>
            </a:r>
          </a:p>
          <a:p xmlns:a="http://schemas.openxmlformats.org/drawingml/2006/main">
            <a:r>
              <a:t>Apple；2025-09-15；全球适用市场</a:t>
            </a:r>
          </a:p>
          <a:p xmlns:a="http://schemas.openxmlformats.org/drawingml/2006/main">
            <a:r>
              <a:t>https://www.apple.com/hk/en/newsroom/2025/09/new-versions-of-apples-software-platforms-are-available-today/</a:t>
            </a:r>
          </a:p>
          <a:p xmlns:a="http://schemas.openxmlformats.org/drawingml/2006/main">
            <a:r>
              <a:t>定位：iOS 26正式发布；检索：2026-09-09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图片：S4官方iOS26概览。独立标签结构与Liquid Glass均是WWDC背景内容，不列为本场独占首发。未引入iOS27功能。公开资料未提供上述结构改动的用户效果数据，鸿蒙指标为建议验证项。</a:t>
            </a:r>
          </a:p>
          <a:p xmlns:a="http://schemas.openxmlformats.org/drawingml/2006/main">
            <a:r>
              <a:t>所有事实为官方声明，未进行独立实机测试。鸿蒙关注点为产品分析，未取得内部能力基线。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[S0] Apple Event：September 9, 2025</a:t>
            </a:r>
          </a:p>
          <a:p xmlns:a="http://schemas.openxmlformats.org/drawingml/2006/main">
            <a:r>
              <a:t>Apple；2025-09-09；美国</a:t>
            </a:r>
          </a:p>
          <a:p xmlns:a="http://schemas.openxmlformats.org/drawingml/2006/main">
            <a:r>
              <a:t>https://www.apple.com/apple-events/</a:t>
            </a:r>
          </a:p>
          <a:p xmlns:a="http://schemas.openxmlformats.org/drawingml/2006/main">
            <a:r>
              <a:t>定位：官方回放 / 简体中文字幕；另附 YouTube 章节；检索：2026-09-09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[S2] Apple 发布 iPhone 17 Pro / Pro Max</a:t>
            </a:r>
          </a:p>
          <a:p xmlns:a="http://schemas.openxmlformats.org/drawingml/2006/main">
            <a:r>
              <a:t>Apple；2025-09-10；中国大陆</a:t>
            </a:r>
          </a:p>
          <a:p xmlns:a="http://schemas.openxmlformats.org/drawingml/2006/main">
            <a:r>
              <a:t>https://www.apple.com.cn/newsroom/2025/09/apple-unveils-iphone-17-pro-and-iphone-17-pro-max-cn/</a:t>
            </a:r>
          </a:p>
          <a:p xmlns:a="http://schemas.openxmlformats.org/drawingml/2006/main">
            <a:r>
              <a:t>定位：Pro级摄像头系统、业界领先的视频功能、脚注4；检索：2026-09-09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[S3] iPhone Air 隆重登场</a:t>
            </a:r>
          </a:p>
          <a:p xmlns:a="http://schemas.openxmlformats.org/drawingml/2006/main">
            <a:r>
              <a:t>Apple；2025-09-10；中国大陆</a:t>
            </a:r>
          </a:p>
          <a:p xmlns:a="http://schemas.openxmlformats.org/drawingml/2006/main">
            <a:r>
              <a:t>https://www.apple.com.cn/newsroom/2025/09/introducing-iphone-air-a-powerful-new-iphone/</a:t>
            </a:r>
          </a:p>
          <a:p xmlns:a="http://schemas.openxmlformats.org/drawingml/2006/main">
            <a:r>
              <a:t>定位：突破性设计、摄像头、价格、eSIM；检索：2026-09-09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[S4] iOS 26 体验预览（WWDC背景）</a:t>
            </a:r>
          </a:p>
          <a:p xmlns:a="http://schemas.openxmlformats.org/drawingml/2006/main">
            <a:r>
              <a:t>Apple；2025-06；中国大陆</a:t>
            </a:r>
          </a:p>
          <a:p xmlns:a="http://schemas.openxmlformats.org/drawingml/2006/main">
            <a:r>
              <a:t>https://www.apple.com.cn/newsroom/2025/06/apple-elevates-the-iphone-experience-with-ios-26/</a:t>
            </a:r>
          </a:p>
          <a:p xmlns:a="http://schemas.openxmlformats.org/drawingml/2006/main">
            <a:r>
              <a:t>定位：优美新外观、电话与信息、CarPlay；检索：2026-09-09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[S5] Apple Intelligence 新功能发布</a:t>
            </a:r>
          </a:p>
          <a:p xmlns:a="http://schemas.openxmlformats.org/drawingml/2006/main">
            <a:r>
              <a:t>Apple；2025-09-15；全球适用市场</a:t>
            </a:r>
          </a:p>
          <a:p xmlns:a="http://schemas.openxmlformats.org/drawingml/2006/main">
            <a:r>
              <a:t>https://www.apple.com/hk/en/newsroom/2025/09/new-apple-intelligence-features-are-available-today/</a:t>
            </a:r>
          </a:p>
          <a:p xmlns:a="http://schemas.openxmlformats.org/drawingml/2006/main">
            <a:r>
              <a:t>定位：Live Translation、Visual Intelligence、Shortcuts及脚注；检索：2026-09-09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[S6] Apple Intelligence 启用与地区限制</a:t>
            </a:r>
          </a:p>
          <a:p xmlns:a="http://schemas.openxmlformats.org/drawingml/2006/main">
            <a:r>
              <a:t>Apple；动态支持页；中国大陆限制</a:t>
            </a:r>
          </a:p>
          <a:p xmlns:a="http://schemas.openxmlformats.org/drawingml/2006/main">
            <a:r>
              <a:t>https://support.apple.com/en-hk/121115</a:t>
            </a:r>
          </a:p>
          <a:p xmlns:a="http://schemas.openxmlformats.org/drawingml/2006/main">
            <a:r>
              <a:t>定位：For China residents；检索：2026-09-09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[S8] Apple Intelligence 能力预览（WWDC背景）</a:t>
            </a:r>
          </a:p>
          <a:p xmlns:a="http://schemas.openxmlformats.org/drawingml/2006/main">
            <a:r>
              <a:t>Apple；2025-06-09；全球适用市场</a:t>
            </a:r>
          </a:p>
          <a:p xmlns:a="http://schemas.openxmlformats.org/drawingml/2006/main">
            <a:r>
              <a:t>https://www.apple.com/newsroom/2025/06/apple-intelligence-gets-even-more-powerful-with-new-capabilities-across-apple-devices/</a:t>
            </a:r>
          </a:p>
          <a:p xmlns:a="http://schemas.openxmlformats.org/drawingml/2006/main">
            <a:r>
              <a:t>定位：Visual Intelligence、Foundation Models、Shortcuts；检索：2026-09-09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[S9] Apple 软件平台正式发布更新</a:t>
            </a:r>
          </a:p>
          <a:p xmlns:a="http://schemas.openxmlformats.org/drawingml/2006/main">
            <a:r>
              <a:t>Apple；2025-09-15；全球适用市场</a:t>
            </a:r>
          </a:p>
          <a:p xmlns:a="http://schemas.openxmlformats.org/drawingml/2006/main">
            <a:r>
              <a:t>https://www.apple.com/hk/en/newsroom/2025/09/new-versions-of-apples-software-platforms-are-available-today/</a:t>
            </a:r>
          </a:p>
          <a:p xmlns:a="http://schemas.openxmlformats.org/drawingml/2006/main">
            <a:r>
              <a:t>定位：iOS 26正式发布；检索：2026-09-09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AirPods实时翻译需要兼容AirPods及启用Apple Intelligence的iPhone，语言列表因载体、版本而异。iCloud观察仅限定已阅读的本场资料，不等于苹果全产品线没有变化。</a:t>
            </a:r>
          </a:p>
          <a:p xmlns:a="http://schemas.openxmlformats.org/drawingml/2006/main">
            <a:r>
              <a:t>所有事实为官方声明，未进行独立实机测试。鸿蒙关注点为产品分析，未取得内部能力基线。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[S1] Apple 发布 iPhone 17</a:t>
            </a:r>
          </a:p>
          <a:p xmlns:a="http://schemas.openxmlformats.org/drawingml/2006/main">
            <a:r>
              <a:t>Apple；2025-09-10；中国大陆</a:t>
            </a:r>
          </a:p>
          <a:p xmlns:a="http://schemas.openxmlformats.org/drawingml/2006/main">
            <a:r>
              <a:t>https://www.apple.com.cn/newsroom/2025/09/apple-debuts-iphone-17/</a:t>
            </a:r>
          </a:p>
          <a:p xmlns:a="http://schemas.openxmlformats.org/drawingml/2006/main">
            <a:r>
              <a:t>定位：摄像头系统、显示屏、价格与上市时间；检索：2026-09-09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[S2] Apple 发布 iPhone 17 Pro / Pro Max</a:t>
            </a:r>
          </a:p>
          <a:p xmlns:a="http://schemas.openxmlformats.org/drawingml/2006/main">
            <a:r>
              <a:t>Apple；2025-09-10；中国大陆</a:t>
            </a:r>
          </a:p>
          <a:p xmlns:a="http://schemas.openxmlformats.org/drawingml/2006/main">
            <a:r>
              <a:t>https://www.apple.com.cn/newsroom/2025/09/apple-unveils-iphone-17-pro-and-iphone-17-pro-max-cn/</a:t>
            </a:r>
          </a:p>
          <a:p xmlns:a="http://schemas.openxmlformats.org/drawingml/2006/main">
            <a:r>
              <a:t>定位：Pro级摄像头系统、业界领先的视频功能、脚注4；检索：2026-09-09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[S3] iPhone Air 隆重登场</a:t>
            </a:r>
          </a:p>
          <a:p xmlns:a="http://schemas.openxmlformats.org/drawingml/2006/main">
            <a:r>
              <a:t>Apple；2025-09-10；中国大陆</a:t>
            </a:r>
          </a:p>
          <a:p xmlns:a="http://schemas.openxmlformats.org/drawingml/2006/main">
            <a:r>
              <a:t>https://www.apple.com.cn/newsroom/2025/09/introducing-iphone-air-a-powerful-new-iphone/</a:t>
            </a:r>
          </a:p>
          <a:p xmlns:a="http://schemas.openxmlformats.org/drawingml/2006/main">
            <a:r>
              <a:t>定位：突破性设计、摄像头、价格、eSIM；检索：2026-09-09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[S4] iOS 26 体验预览（WWDC背景）</a:t>
            </a:r>
          </a:p>
          <a:p xmlns:a="http://schemas.openxmlformats.org/drawingml/2006/main">
            <a:r>
              <a:t>Apple；2025-06；中国大陆</a:t>
            </a:r>
          </a:p>
          <a:p xmlns:a="http://schemas.openxmlformats.org/drawingml/2006/main">
            <a:r>
              <a:t>https://www.apple.com.cn/newsroom/2025/06/apple-elevates-the-iphone-experience-with-ios-26/</a:t>
            </a:r>
          </a:p>
          <a:p xmlns:a="http://schemas.openxmlformats.org/drawingml/2006/main">
            <a:r>
              <a:t>定位：优美新外观、电话与信息、CarPlay；检索：2026-09-09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[S5] Apple Intelligence 新功能发布</a:t>
            </a:r>
          </a:p>
          <a:p xmlns:a="http://schemas.openxmlformats.org/drawingml/2006/main">
            <a:r>
              <a:t>Apple；2025-09-15；全球适用市场</a:t>
            </a:r>
          </a:p>
          <a:p xmlns:a="http://schemas.openxmlformats.org/drawingml/2006/main">
            <a:r>
              <a:t>https://www.apple.com/hk/en/newsroom/2025/09/new-apple-intelligence-features-are-available-today/</a:t>
            </a:r>
          </a:p>
          <a:p xmlns:a="http://schemas.openxmlformats.org/drawingml/2006/main">
            <a:r>
              <a:t>定位：Live Translation、Visual Intelligence、Shortcuts及脚注；检索：2026-09-09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[S8] Apple Intelligence 能力预览（WWDC背景）</a:t>
            </a:r>
          </a:p>
          <a:p xmlns:a="http://schemas.openxmlformats.org/drawingml/2006/main">
            <a:r>
              <a:t>Apple；2025-06-09；全球适用市场</a:t>
            </a:r>
          </a:p>
          <a:p xmlns:a="http://schemas.openxmlformats.org/drawingml/2006/main">
            <a:r>
              <a:t>https://www.apple.com/newsroom/2025/06/apple-intelligence-gets-even-more-powerful-with-new-capabilities-across-apple-devices/</a:t>
            </a:r>
          </a:p>
          <a:p xmlns:a="http://schemas.openxmlformats.org/drawingml/2006/main">
            <a:r>
              <a:t>定位：Visual Intelligence、Foundation Models、Shortcuts；检索：2026-09-09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全页为团队后续分析与体验建议，不属于苹果官方承诺。优先级依据高频软件任务与鸿蒙产品经理相关度设定，不代表项目排期。</a:t>
            </a:r>
          </a:p>
          <a:p xmlns:a="http://schemas.openxmlformats.org/drawingml/2006/main">
            <a:r>
              <a:t>所有事实为官方声明，未进行独立实机测试。鸿蒙关注点为产品分析，未取得内部能力基线。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[S0] Apple Event：September 9, 2025</a:t>
            </a:r>
          </a:p>
          <a:p xmlns:a="http://schemas.openxmlformats.org/drawingml/2006/main">
            <a:r>
              <a:t>Apple；2025-09-09；美国</a:t>
            </a:r>
          </a:p>
          <a:p xmlns:a="http://schemas.openxmlformats.org/drawingml/2006/main">
            <a:r>
              <a:t>https://www.apple.com/apple-events/</a:t>
            </a:r>
          </a:p>
          <a:p xmlns:a="http://schemas.openxmlformats.org/drawingml/2006/main">
            <a:r>
              <a:t>定位：官方回放 / 简体中文字幕；另附 YouTube 章节；检索：2026-09-09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[S1] Apple 发布 iPhone 17</a:t>
            </a:r>
          </a:p>
          <a:p xmlns:a="http://schemas.openxmlformats.org/drawingml/2006/main">
            <a:r>
              <a:t>Apple；2025-09-10；中国大陆</a:t>
            </a:r>
          </a:p>
          <a:p xmlns:a="http://schemas.openxmlformats.org/drawingml/2006/main">
            <a:r>
              <a:t>https://www.apple.com.cn/newsroom/2025/09/apple-debuts-iphone-17/</a:t>
            </a:r>
          </a:p>
          <a:p xmlns:a="http://schemas.openxmlformats.org/drawingml/2006/main">
            <a:r>
              <a:t>定位：摄像头系统、显示屏、价格与上市时间；检索：2026-09-09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[S2] Apple 发布 iPhone 17 Pro / Pro Max</a:t>
            </a:r>
          </a:p>
          <a:p xmlns:a="http://schemas.openxmlformats.org/drawingml/2006/main">
            <a:r>
              <a:t>Apple；2025-09-10；中国大陆</a:t>
            </a:r>
          </a:p>
          <a:p xmlns:a="http://schemas.openxmlformats.org/drawingml/2006/main">
            <a:r>
              <a:t>https://www.apple.com.cn/newsroom/2025/09/apple-unveils-iphone-17-pro-and-iphone-17-pro-max-cn/</a:t>
            </a:r>
          </a:p>
          <a:p xmlns:a="http://schemas.openxmlformats.org/drawingml/2006/main">
            <a:r>
              <a:t>定位：Pro级摄像头系统、业界领先的视频功能、脚注4；检索：2026-09-09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[S3] iPhone Air 隆重登场</a:t>
            </a:r>
          </a:p>
          <a:p xmlns:a="http://schemas.openxmlformats.org/drawingml/2006/main">
            <a:r>
              <a:t>Apple；2025-09-10；中国大陆</a:t>
            </a:r>
          </a:p>
          <a:p xmlns:a="http://schemas.openxmlformats.org/drawingml/2006/main">
            <a:r>
              <a:t>https://www.apple.com.cn/newsroom/2025/09/introducing-iphone-air-a-powerful-new-iphone/</a:t>
            </a:r>
          </a:p>
          <a:p xmlns:a="http://schemas.openxmlformats.org/drawingml/2006/main">
            <a:r>
              <a:t>定位：突破性设计、摄像头、价格、eSIM；检索：2026-09-09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[S4] iOS 26 体验预览（WWDC背景）</a:t>
            </a:r>
          </a:p>
          <a:p xmlns:a="http://schemas.openxmlformats.org/drawingml/2006/main">
            <a:r>
              <a:t>Apple；2025-06；中国大陆</a:t>
            </a:r>
          </a:p>
          <a:p xmlns:a="http://schemas.openxmlformats.org/drawingml/2006/main">
            <a:r>
              <a:t>https://www.apple.com.cn/newsroom/2025/06/apple-elevates-the-iphone-experience-with-ios-26/</a:t>
            </a:r>
          </a:p>
          <a:p xmlns:a="http://schemas.openxmlformats.org/drawingml/2006/main">
            <a:r>
              <a:t>定位：优美新外观、电话与信息、CarPlay；检索：2026-09-09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[S5] Apple Intelligence 新功能发布</a:t>
            </a:r>
          </a:p>
          <a:p xmlns:a="http://schemas.openxmlformats.org/drawingml/2006/main">
            <a:r>
              <a:t>Apple；2025-09-15；全球适用市场</a:t>
            </a:r>
          </a:p>
          <a:p xmlns:a="http://schemas.openxmlformats.org/drawingml/2006/main">
            <a:r>
              <a:t>https://www.apple.com/hk/en/newsroom/2025/09/new-apple-intelligence-features-are-available-today/</a:t>
            </a:r>
          </a:p>
          <a:p xmlns:a="http://schemas.openxmlformats.org/drawingml/2006/main">
            <a:r>
              <a:t>定位：Live Translation、Visual Intelligence、Shortcuts及脚注；检索：2026-09-09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[S6] Apple Intelligence 启用与地区限制</a:t>
            </a:r>
          </a:p>
          <a:p xmlns:a="http://schemas.openxmlformats.org/drawingml/2006/main">
            <a:r>
              <a:t>Apple；动态支持页；中国大陆限制</a:t>
            </a:r>
          </a:p>
          <a:p xmlns:a="http://schemas.openxmlformats.org/drawingml/2006/main">
            <a:r>
              <a:t>https://support.apple.com/en-hk/121115</a:t>
            </a:r>
          </a:p>
          <a:p xmlns:a="http://schemas.openxmlformats.org/drawingml/2006/main">
            <a:r>
              <a:t>定位：For China residents；检索：2026-09-09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[S7] iPhone Air 中国大陆上市更新</a:t>
            </a:r>
          </a:p>
          <a:p xmlns:a="http://schemas.openxmlformats.org/drawingml/2006/main">
            <a:r>
              <a:t>Apple；2025-10-13；中国大陆</a:t>
            </a:r>
          </a:p>
          <a:p xmlns:a="http://schemas.openxmlformats.org/drawingml/2006/main">
            <a:r>
              <a:t>https://www.apple.com.cn/newsroom/2025/10/iphone-air-will-be-available-in-china-beginning-october-22/</a:t>
            </a:r>
          </a:p>
          <a:p xmlns:a="http://schemas.openxmlformats.org/drawingml/2006/main">
            <a:r>
              <a:t>定位：10月17日预购，10月22日发售；检索：2026-09-09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[S8] Apple Intelligence 能力预览（WWDC背景）</a:t>
            </a:r>
          </a:p>
          <a:p xmlns:a="http://schemas.openxmlformats.org/drawingml/2006/main">
            <a:r>
              <a:t>Apple；2025-06-09；全球适用市场</a:t>
            </a:r>
          </a:p>
          <a:p xmlns:a="http://schemas.openxmlformats.org/drawingml/2006/main">
            <a:r>
              <a:t>https://www.apple.com/newsroom/2025/06/apple-intelligence-gets-even-more-powerful-with-new-capabilities-across-apple-devices/</a:t>
            </a:r>
          </a:p>
          <a:p xmlns:a="http://schemas.openxmlformats.org/drawingml/2006/main">
            <a:r>
              <a:t>定位：Visual Intelligence、Foundation Models、Shortcuts；检索：2026-09-09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[S9] Apple 软件平台正式发布更新</a:t>
            </a:r>
          </a:p>
          <a:p xmlns:a="http://schemas.openxmlformats.org/drawingml/2006/main">
            <a:r>
              <a:t>Apple；2025-09-15；全球适用市场</a:t>
            </a:r>
          </a:p>
          <a:p xmlns:a="http://schemas.openxmlformats.org/drawingml/2006/main">
            <a:r>
              <a:t>https://www.apple.com/hk/en/newsroom/2025/09/new-versions-of-apples-software-platforms-are-available-today/</a:t>
            </a:r>
          </a:p>
          <a:p xmlns:a="http://schemas.openxmlformats.org/drawingml/2006/main">
            <a:r>
              <a:t>定位：iOS 26正式发布；检索：2026-09-09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S0对应Apple官方事件存档中的September 2025回放。官方YouTube版本：https://www.youtube.com/watch?v=H3KnMyojEQU。全部完整URL保留于本页与备注。</a:t>
            </a:r>
          </a:p>
          <a:p xmlns:a="http://schemas.openxmlformats.org/drawingml/2006/main">
            <a:r>
              <a:t>所有事实为官方声明，未进行独立实机测试。鸿蒙关注点为产品分析，未取得内部能力基线。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[S0] Apple Event：September 9, 2025</a:t>
            </a:r>
          </a:p>
          <a:p xmlns:a="http://schemas.openxmlformats.org/drawingml/2006/main">
            <a:r>
              <a:t>Apple；2025-09-09；美国</a:t>
            </a:r>
          </a:p>
          <a:p xmlns:a="http://schemas.openxmlformats.org/drawingml/2006/main">
            <a:r>
              <a:t>https://www.apple.com/apple-events/</a:t>
            </a:r>
          </a:p>
          <a:p xmlns:a="http://schemas.openxmlformats.org/drawingml/2006/main">
            <a:r>
              <a:t>定位：官方回放 / 简体中文字幕；另附 YouTube 章节；检索：2026-09-09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[S5] Apple Intelligence 新功能发布</a:t>
            </a:r>
          </a:p>
          <a:p xmlns:a="http://schemas.openxmlformats.org/drawingml/2006/main">
            <a:r>
              <a:t>Apple；2025-09-15；全球适用市场</a:t>
            </a:r>
          </a:p>
          <a:p xmlns:a="http://schemas.openxmlformats.org/drawingml/2006/main">
            <a:r>
              <a:t>https://www.apple.com/hk/en/newsroom/2025/09/new-apple-intelligence-features-are-available-today/</a:t>
            </a:r>
          </a:p>
          <a:p xmlns:a="http://schemas.openxmlformats.org/drawingml/2006/main">
            <a:r>
              <a:t>定位：Live Translation、Visual Intelligence、Shortcuts及脚注；检索：2026-09-09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[S6] Apple Intelligence 启用与地区限制</a:t>
            </a:r>
          </a:p>
          <a:p xmlns:a="http://schemas.openxmlformats.org/drawingml/2006/main">
            <a:r>
              <a:t>Apple；动态支持页；中国大陆限制</a:t>
            </a:r>
          </a:p>
          <a:p xmlns:a="http://schemas.openxmlformats.org/drawingml/2006/main">
            <a:r>
              <a:t>https://support.apple.com/en-hk/121115</a:t>
            </a:r>
          </a:p>
          <a:p xmlns:a="http://schemas.openxmlformats.org/drawingml/2006/main">
            <a:r>
              <a:t>定位：For China residents；检索：2026-09-09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[S7] iPhone Air 中国大陆上市更新</a:t>
            </a:r>
          </a:p>
          <a:p xmlns:a="http://schemas.openxmlformats.org/drawingml/2006/main">
            <a:r>
              <a:t>Apple；2025-10-13；中国大陆</a:t>
            </a:r>
          </a:p>
          <a:p xmlns:a="http://schemas.openxmlformats.org/drawingml/2006/main">
            <a:r>
              <a:t>https://www.apple.com.cn/newsroom/2025/10/iphone-air-will-be-available-in-china-beginning-october-22/</a:t>
            </a:r>
          </a:p>
          <a:p xmlns:a="http://schemas.openxmlformats.org/drawingml/2006/main">
            <a:r>
              <a:t>定位：10月17日预购，10月22日发售；检索：2026-09-09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[S9] Apple 软件平台正式发布更新</a:t>
            </a:r>
          </a:p>
          <a:p xmlns:a="http://schemas.openxmlformats.org/drawingml/2006/main">
            <a:r>
              <a:t>Apple；2025-09-15；全球适用市场</a:t>
            </a:r>
          </a:p>
          <a:p xmlns:a="http://schemas.openxmlformats.org/drawingml/2006/main">
            <a:r>
              <a:t>https://www.apple.com/hk/en/newsroom/2025/09/new-versions-of-apples-software-platforms-are-available-today/</a:t>
            </a:r>
          </a:p>
          <a:p xmlns:a="http://schemas.openxmlformats.org/drawingml/2006/main">
            <a:r>
              <a:t>定位：iOS 26正式发布；检索：2026-09-09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具体字幕与视频来源索引见本地证据台账。表内时间基于Apple官方HLS中文字幕原始时码。YouTube章节仅作辅助入口，可能因剪辑差异不同。已获取重点字幕，不宣称全量字幕核对。未宣称独立实机测试。</a:t>
            </a:r>
          </a:p>
          <a:p xmlns:a="http://schemas.openxmlformats.org/drawingml/2006/main">
            <a:r>
              <a:t>所有事实为官方声明，未进行独立实机测试。鸿蒙关注点为产品分析，未取得内部能力基线。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cf484ea034475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a719edf9d4a4454" /><Relationship Type="http://schemas.openxmlformats.org/officeDocument/2006/relationships/slideLayout" Target="/ppt/slideLayouts/slideLayout1.xml" Id="R916a0dbdadc74bc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16a0dbdadc74bc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6dc5133ac7454b" /><Relationship Type="http://schemas.openxmlformats.org/officeDocument/2006/relationships/image" Target="/ppt/media/image.jpeg" Id="R414e221050434ece" /><Relationship Type="http://schemas.openxmlformats.org/officeDocument/2006/relationships/notesSlide" Target="/ppt/notesSlides/notesSlide1.xml" Id="R5cf374f5f872446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b19584cc9b4add" /><Relationship Type="http://schemas.openxmlformats.org/officeDocument/2006/relationships/notesSlide" Target="/ppt/notesSlides/notesSlide2.xml" Id="Rfa35f9af98af41d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0c17c2b3b64e1b" /><Relationship Type="http://schemas.openxmlformats.org/officeDocument/2006/relationships/image" Target="/ppt/media/image2.jpeg" Id="Rbd177a5edd124539" /><Relationship Type="http://schemas.openxmlformats.org/officeDocument/2006/relationships/notesSlide" Target="/ppt/notesSlides/notesSlide3.xml" Id="R3e865a4dc38e4a4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e6c519d1f94368" /><Relationship Type="http://schemas.openxmlformats.org/officeDocument/2006/relationships/image" Target="/ppt/media/image3.jpeg" Id="Rf637fe1fba914f56" /><Relationship Type="http://schemas.openxmlformats.org/officeDocument/2006/relationships/notesSlide" Target="/ppt/notesSlides/notesSlide4.xml" Id="Rc301a70170ce477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924ac3bea94825" /><Relationship Type="http://schemas.openxmlformats.org/officeDocument/2006/relationships/image" Target="/ppt/media/image4.jpeg" Id="R0e67c967ec0d469c" /><Relationship Type="http://schemas.openxmlformats.org/officeDocument/2006/relationships/image" Target="/ppt/media/image5.jpeg" Id="R923053ae637e4749" /><Relationship Type="http://schemas.openxmlformats.org/officeDocument/2006/relationships/notesSlide" Target="/ppt/notesSlides/notesSlide5.xml" Id="R4a15a468fa8740f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c6cde1cd224485" /><Relationship Type="http://schemas.openxmlformats.org/officeDocument/2006/relationships/image" Target="/ppt/media/image6.jpeg" Id="R4b9d76b2b7344671" /><Relationship Type="http://schemas.openxmlformats.org/officeDocument/2006/relationships/notesSlide" Target="/ppt/notesSlides/notesSlide6.xml" Id="R0006e8b5c1464c6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aa0c4c0d444e6f" /><Relationship Type="http://schemas.openxmlformats.org/officeDocument/2006/relationships/notesSlide" Target="/ppt/notesSlides/notesSlide7.xml" Id="Rce1bd569beeb43f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0313632cc14423" /><Relationship Type="http://schemas.openxmlformats.org/officeDocument/2006/relationships/notesSlide" Target="/ppt/notesSlides/notesSlide8.xml" Id="R7dba2e5b6a934b1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7588a28d46431c" /><Relationship Type="http://schemas.openxmlformats.org/officeDocument/2006/relationships/notesSlide" Target="/ppt/notesSlides/notesSlide9.xml" Id="R40733db53ea5412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b661ebda57419b" /><Relationship Type="http://schemas.openxmlformats.org/officeDocument/2006/relationships/notesSlide" Target="/ppt/notesSlides/notesSlide10.xml" Id="R121044f51e45446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42DB8B-EFAF-4F38-B9AB-D999B0C0C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80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苹果 iPhone 17</a:t>
            </a:r>
          </a:p>
          <a:p xmlns:a="http://schemas.openxmlformats.org/drawingml/2006/main">
            <a:pPr>
              <a:defRPr sz="480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80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新品发布会速递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C6FE35-9C36-433D-BE16-48F08FA43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438400"/>
            <a:ext cx="9334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6067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606774"/>
                </a:solidFill>
                <a:latin typeface="Noto Sans CJK SC"/>
                <a:ea typeface="Noto Sans CJK SC"/>
                <a:cs typeface="Noto Sans CJK SC"/>
              </a:rPr>
              <a:t>面向鸿蒙系统软件产品经理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4e221050434ece"/>
          <a:stretch xmlns:a="http://schemas.openxmlformats.org/drawingml/2006/main"/>
        </p:blipFill>
        <p:spPr>
          <a:xfrm xmlns:a="http://schemas.openxmlformats.org/drawingml/2006/main">
            <a:off x="8382000" y="785813"/>
            <a:ext cx="6096000" cy="6096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C7C9E9-89EE-462C-B2A5-7897C49E3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05175"/>
            <a:ext cx="638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067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606774"/>
                </a:solidFill>
                <a:latin typeface="Noto Sans CJK SC"/>
                <a:ea typeface="Noto Sans CJK SC"/>
                <a:cs typeface="Noto Sans CJK SC"/>
              </a:rPr>
              <a:t>2025.09.09 美国发布</a:t>
            </a:r>
          </a:p>
          <a:p xmlns:a="http://schemas.openxmlformats.org/drawingml/2006/main">
            <a:pPr>
              <a:defRPr sz="2025" b="0">
                <a:solidFill>
                  <a:srgbClr val="6067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606774"/>
                </a:solidFill>
                <a:latin typeface="Noto Sans CJK SC"/>
                <a:ea typeface="Noto Sans CJK SC"/>
                <a:cs typeface="Noto Sans CJK SC"/>
              </a:rPr>
              <a:t>北京时间 2025.09.10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E9ACBD-860E-4461-8613-C7DF8878E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76750"/>
            <a:ext cx="695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C75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C75A25"/>
                </a:solidFill>
                <a:latin typeface="Noto Sans CJK SC"/>
                <a:ea typeface="Noto Sans CJK SC"/>
                <a:cs typeface="Noto Sans CJK SC"/>
              </a:rPr>
              <a:t>本次关注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708DF7-6480-4D70-AF53-8EC0BDB00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33950"/>
            <a:ext cx="695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自拍自动构图与双拍</a:t>
            </a:r>
          </a:p>
          <a:p xmlns:a="http://schemas.openxmlformats.org/drawingml/2006/main">
            <a:pPr>
              <a:defRPr sz="2325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专业视频生产流程</a:t>
            </a:r>
          </a:p>
          <a:p xmlns:a="http://schemas.openxmlformats.org/drawingml/2006/main">
            <a:pPr>
              <a:defRPr sz="2325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系统级 AI 的入口与地区边界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E30D3D-7A97-4D68-A026-522FC92B5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77200"/>
            <a:ext cx="1276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067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06774"/>
                </a:solidFill>
                <a:latin typeface="Noto Sans CJK SC"/>
                <a:ea typeface="Noto Sans CJK SC"/>
                <a:cs typeface="Noto Sans CJK SC"/>
              </a:rPr>
              <a:t>完整版 v1.0 · 回溯整理 2026.09.09 · 中国大陆视角 · 官方资料 [S0–S3]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E409FE-EE0D-49F2-96D2-5D449CEAB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067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606774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214893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DFC828-6175-44F4-8213-FFC801EAF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"/>
            <a:ext cx="1371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四款新机，体验侧的差异是什么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BC6C56-79A8-46F1-A4B6-45FC588BC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71600"/>
            <a:ext cx="13677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067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606774"/>
                </a:solidFill>
                <a:latin typeface="Noto Sans CJK SC"/>
                <a:ea typeface="Noto Sans CJK SC"/>
                <a:cs typeface="Noto Sans CJK SC"/>
              </a:rPr>
              <a:t>首发中国大陆起售价；全系 256GB 起步，搭载 iOS 26。正式商品名为 iPhone Air。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C7774E-1C49-47F2-AFED-36BA206D1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067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606774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762000" y="2190750"/>
          <a:ext xmlns:a="http://schemas.openxmlformats.org/drawingml/2006/main" cx="13716000" cy="4572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1952625"/>
                <a:gridCol w="4000500"/>
                <a:gridCol w="5476875"/>
              </a:tblGrid>
              <a:tr h="6286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机型</a:t>
                      </a:r>
                    </a:p>
                  </a:txBody>
                  <a:tcPr marL="180975" marR="180975" marT="142875" marB="142875" anchor="ctr">
                    <a:solidFill>
                      <a:srgbClr val="2024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首发起售价</a:t>
                      </a:r>
                    </a:p>
                  </a:txBody>
                  <a:tcPr marL="180975" marR="180975" marT="142875" marB="142875" anchor="ctr">
                    <a:solidFill>
                      <a:srgbClr val="2024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影响软件体验的硬件</a:t>
                      </a:r>
                    </a:p>
                  </a:txBody>
                  <a:tcPr marL="180975" marR="180975" marT="142875" marB="142875" anchor="ctr">
                    <a:solidFill>
                      <a:srgbClr val="2024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产品经理关注点</a:t>
                      </a:r>
                    </a:p>
                  </a:txBody>
                  <a:tcPr marL="180975" marR="180975" marT="142875" marB="142875" anchor="ctr">
                    <a:solidFill>
                      <a:srgbClr val="20242B"/>
                    </a:solidFill>
                  </a:tcPr>
                </a:tc>
              </a:tr>
              <a:tr h="98583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191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iPhone 17</a:t>
                      </a:r>
                    </a:p>
                  </a:txBody>
                  <a:tcPr marL="180975" marR="180975" marT="142875" marB="142875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191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¥5,999</a:t>
                      </a:r>
                    </a:p>
                  </a:txBody>
                  <a:tcPr marL="180975" marR="180975" marT="142875" marB="142875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191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6.3英寸 / A19</a:t>
                      </a:r>
                    </a:p>
                    <a:p>
                      <a:r>
                        <a:rPr sz="1875" b="0">
                          <a:solidFill>
                            <a:srgbClr val="17191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ProMotion最高120Hz</a:t>
                      </a:r>
                    </a:p>
                  </a:txBody>
                  <a:tcPr marL="180975" marR="180975" marT="142875" marB="142875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191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基础机型也有高刷、全天候显示</a:t>
                      </a:r>
                    </a:p>
                    <a:p>
                      <a:r>
                        <a:rPr sz="1875" b="0">
                          <a:solidFill>
                            <a:srgbClr val="17191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48MP主摄＋超广角</a:t>
                      </a:r>
                    </a:p>
                  </a:txBody>
                  <a:tcPr marL="180975" marR="180975" marT="142875" marB="142875" anchor="ctr">
                    <a:solidFill>
                      <a:srgbClr val="F3F5F7"/>
                    </a:solidFill>
                  </a:tcPr>
                </a:tc>
              </a:tr>
              <a:tr h="98583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191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iPhone Air</a:t>
                      </a:r>
                    </a:p>
                  </a:txBody>
                  <a:tcPr marL="180975" marR="180975" marT="142875" marB="142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191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¥7,999</a:t>
                      </a:r>
                    </a:p>
                  </a:txBody>
                  <a:tcPr marL="180975" marR="180975" marT="142875" marB="142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191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6.5英寸 / A19 Pro</a:t>
                      </a:r>
                    </a:p>
                    <a:p>
                      <a:r>
                        <a:rPr sz="1875" b="0">
                          <a:solidFill>
                            <a:srgbClr val="17191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5.6毫米 / 单主摄</a:t>
                      </a:r>
                    </a:p>
                  </a:txBody>
                  <a:tcPr marL="180975" marR="180975" marT="142875" marB="142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191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轻薄形态与影像能力取舍</a:t>
                      </a:r>
                    </a:p>
                    <a:p>
                      <a:r>
                        <a:rPr sz="1875" b="0">
                          <a:solidFill>
                            <a:srgbClr val="17191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仅支持eSIM激活</a:t>
                      </a:r>
                    </a:p>
                  </a:txBody>
                  <a:tcPr marL="180975" marR="180975" marT="142875" marB="142875" anchor="ctr">
                    <a:solidFill>
                      <a:srgbClr val="FFFFFF"/>
                    </a:solidFill>
                  </a:tcPr>
                </a:tc>
              </a:tr>
              <a:tr h="98583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191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iPhone 17 Pro</a:t>
                      </a:r>
                    </a:p>
                  </a:txBody>
                  <a:tcPr marL="180975" marR="180975" marT="142875" marB="142875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191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¥8,999</a:t>
                      </a:r>
                    </a:p>
                  </a:txBody>
                  <a:tcPr marL="180975" marR="180975" marT="142875" marB="142875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191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6.3英寸 / A19 Pro</a:t>
                      </a:r>
                    </a:p>
                    <a:p>
                      <a:r>
                        <a:rPr sz="1875" b="0">
                          <a:solidFill>
                            <a:srgbClr val="17191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三颗48MP后摄</a:t>
                      </a:r>
                    </a:p>
                  </a:txBody>
                  <a:tcPr marL="180975" marR="180975" marT="142875" marB="142875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191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专业录像格式与多机位同步</a:t>
                      </a:r>
                    </a:p>
                    <a:p>
                      <a:r>
                        <a:rPr sz="1875" b="0">
                          <a:solidFill>
                            <a:srgbClr val="17191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8倍光学品质变焦</a:t>
                      </a:r>
                    </a:p>
                  </a:txBody>
                  <a:tcPr marL="180975" marR="180975" marT="142875" marB="142875" anchor="ctr">
                    <a:solidFill>
                      <a:srgbClr val="F3F5F7"/>
                    </a:solidFill>
                  </a:tcPr>
                </a:tc>
              </a:tr>
              <a:tr h="98583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7191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iPhone 17 Pro Max</a:t>
                      </a:r>
                    </a:p>
                  </a:txBody>
                  <a:tcPr marL="180975" marR="180975" marT="142875" marB="142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191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¥9,999</a:t>
                      </a:r>
                    </a:p>
                  </a:txBody>
                  <a:tcPr marL="180975" marR="180975" marT="142875" marB="142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191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6.9英寸 / A19 Pro</a:t>
                      </a:r>
                    </a:p>
                    <a:p>
                      <a:r>
                        <a:rPr sz="1875" b="0">
                          <a:solidFill>
                            <a:srgbClr val="17191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最高2TB</a:t>
                      </a:r>
                    </a:p>
                  </a:txBody>
                  <a:tcPr marL="180975" marR="180975" marT="142875" marB="142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191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更大容量承载专业素材</a:t>
                      </a:r>
                    </a:p>
                    <a:p>
                      <a:r>
                        <a:rPr sz="1875" b="0">
                          <a:solidFill>
                            <a:srgbClr val="17191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大屏拍摄、编辑与预览</a:t>
                      </a:r>
                    </a:p>
                  </a:txBody>
                  <a:tcPr marL="180975" marR="180975" marT="142875" marB="1428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47585B-B990-48B0-8674-3F48525BD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7105650"/>
            <a:ext cx="1362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C75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C75A25"/>
                </a:solidFill>
                <a:latin typeface="Noto Sans CJK SC"/>
                <a:ea typeface="Noto Sans CJK SC"/>
                <a:cs typeface="Noto Sans CJK SC"/>
              </a:rPr>
              <a:t>共同体验：18MP Center Stage 前摄、自拍自动构图与同步双拍。[S1–S3]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DC1471-4406-4ECA-98D4-B24C4F636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77200"/>
            <a:ext cx="1276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067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06774"/>
                </a:solidFill>
                <a:latin typeface="Noto Sans CJK SC"/>
                <a:ea typeface="Noto Sans CJK SC"/>
                <a:cs typeface="Noto Sans CJK SC"/>
              </a:rPr>
              <a:t>上市补充：17 / Pro / Pro Max 为 2025.09.19；Air 中国大陆为 2025.10.22 [S7]。价格为首发价。</a:t>
            </a:r>
          </a:p>
        </p:txBody>
      </p:sp>
    </p:spTree>
    <p:extLst>
      <p:ext uri="{BB962C8B-B14F-4D97-AF65-F5344CB8AC3E}">
        <p14:creationId xmlns:p14="http://schemas.microsoft.com/office/powerpoint/2010/main" val="18524162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09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75982B-7433-4081-8F9D-263B740F1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"/>
            <a:ext cx="1371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多人自拍的自动构图与同步双拍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C4524C-4AE7-4197-9209-A688FD995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71600"/>
            <a:ext cx="13677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7B9B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B7B9BD"/>
                </a:solidFill>
                <a:latin typeface="Noto Sans CJK SC"/>
                <a:ea typeface="Noto Sans CJK SC"/>
                <a:cs typeface="Noto Sans CJK SC"/>
              </a:rPr>
              <a:t>本场新机能力 · 官方声明 · 已上线，随新机提供 [S1–S3]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06319C-DCCD-4219-8682-255E44513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AAEB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AAAEB5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177a5edd124539"/>
          <a:stretch xmlns:a="http://schemas.openxmlformats.org/drawingml/2006/main"/>
        </p:blipFill>
        <p:spPr>
          <a:xfrm xmlns:a="http://schemas.openxmlformats.org/drawingml/2006/main">
            <a:off x="8405813" y="1905000"/>
            <a:ext cx="5715000" cy="5715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A24639-9E4B-4F53-AD3E-84814F249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79A6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F79A64"/>
                </a:solidFill>
                <a:latin typeface="Noto Sans CJK SC"/>
                <a:ea typeface="Noto Sans CJK SC"/>
                <a:cs typeface="Noto Sans CJK SC"/>
              </a:rPr>
              <a:t>场景：多人合影，竖握也能拍横图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4A6E86-56EB-4B21-AFF4-45A1862D1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95575"/>
            <a:ext cx="6667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E7E9E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E7E9EC"/>
                </a:solidFill>
                <a:latin typeface="Noto Sans CJK SC"/>
                <a:ea typeface="Noto Sans CJK SC"/>
                <a:cs typeface="Noto Sans CJK SC"/>
              </a:rPr>
              <a:t>相机前摄进入自拍，朋友加入画面后，系统可扩大视角并切换横向构图。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FB9398-DB7B-4815-95A6-5FB2D9299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79A6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F79A64"/>
                </a:solidFill>
                <a:latin typeface="Noto Sans CJK SC"/>
                <a:ea typeface="Noto Sans CJK SC"/>
                <a:cs typeface="Noto Sans CJK SC"/>
              </a:rPr>
              <a:t>结果：减少转手机、挪位置的操作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08C2C7-9C8B-452E-8BD5-D8C993D30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52950"/>
            <a:ext cx="6667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E7E9E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E7E9EC"/>
                </a:solidFill>
                <a:latin typeface="Noto Sans CJK SC"/>
                <a:ea typeface="Noto Sans CJK SC"/>
                <a:cs typeface="Noto Sans CJK SC"/>
              </a:rPr>
              <a:t>正方形传感器提供构图空间。同步双拍可同时记录前后视角，适合旅行与口播。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BC08E9-095A-44FA-922F-3FE5CB3F7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19800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79A6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F79A64"/>
                </a:solidFill>
                <a:latin typeface="Noto Sans CJK SC"/>
                <a:ea typeface="Noto Sans CJK SC"/>
                <a:cs typeface="Noto Sans CJK SC"/>
              </a:rPr>
              <a:t>鸿蒙关注点 · 产品分析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BE50C1-21BC-45B4-9EA2-C7ECF79C0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77000"/>
            <a:ext cx="666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E7E9E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E7E9EC"/>
                </a:solidFill>
                <a:latin typeface="Noto Sans CJK SC"/>
                <a:ea typeface="Noto Sans CJK SC"/>
                <a:cs typeface="Noto Sans CJK SC"/>
              </a:rPr>
              <a:t>重点验证漏人率、调整稳定性与手动接管；双拍还需打通图库预览、编辑及分享。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A01C8B-29A2-4B51-8164-07C7375DC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77200"/>
            <a:ext cx="1276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EB3B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AEB3BA"/>
                </a:solidFill>
                <a:latin typeface="Noto Sans CJK SC"/>
                <a:ea typeface="Noto Sans CJK SC"/>
                <a:cs typeface="Noto Sans CJK SC"/>
              </a:rPr>
              <a:t>适用：iPhone 17 / Air / 17 Pro / Pro Max；相机内AI构图不等同于Apple Intelligence服务。</a:t>
            </a:r>
          </a:p>
        </p:txBody>
      </p:sp>
    </p:spTree>
    <p:extLst>
      <p:ext uri="{BB962C8B-B14F-4D97-AF65-F5344CB8AC3E}">
        <p14:creationId xmlns:p14="http://schemas.microsoft.com/office/powerpoint/2010/main" val="19241245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09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C1B370-3642-49E7-A659-FDF1DC512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"/>
            <a:ext cx="1371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Pro 视频卖点延伸到后期制作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271661-A110-4D53-8001-B905E71A8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71600"/>
            <a:ext cx="13677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7B9B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B7B9BD"/>
                </a:solidFill>
                <a:latin typeface="Noto Sans CJK SC"/>
                <a:ea typeface="Noto Sans CJK SC"/>
                <a:cs typeface="Noto Sans CJK SC"/>
              </a:rPr>
              <a:t>本场 Pro 专属 · 官方声明 · 已提供，依赖相应 app 与配件 [S2]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39A22C-D892-4CA6-91C9-507AE4DCB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AAEB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AAAEB5"/>
                </a:solidFill>
                <a:latin typeface="Noto Sans CJK SC"/>
                <a:ea typeface="Noto Sans CJK SC"/>
                <a:cs typeface="Noto Sans CJK SC"/>
              </a:rPr>
              <a:t>04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37fe1fba914f56"/>
          <a:stretch xmlns:a="http://schemas.openxmlformats.org/drawingml/2006/main"/>
        </p:blipFill>
        <p:spPr>
          <a:xfrm xmlns:a="http://schemas.openxmlformats.org/drawingml/2006/main">
            <a:off x="6810375" y="2058293"/>
            <a:ext cx="7667625" cy="4313039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010783-8DA5-4CCA-AC67-399773D17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47900"/>
            <a:ext cx="5381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79A6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F79A64"/>
                </a:solidFill>
                <a:latin typeface="Noto Sans CJK SC"/>
                <a:ea typeface="Noto Sans CJK SC"/>
                <a:cs typeface="Noto Sans CJK SC"/>
              </a:rPr>
              <a:t>拍摄：保留更多处理空间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0F414D-A65B-4860-9538-E6A4CC097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05100"/>
            <a:ext cx="5381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E7E9E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E7E9EC"/>
                </a:solidFill>
                <a:latin typeface="Noto Sans CJK SC"/>
                <a:ea typeface="Noto Sans CJK SC"/>
                <a:cs typeface="Noto Sans CJK SC"/>
              </a:rPr>
              <a:t>新增 ProRes RAW、Apple Log 2，</a:t>
            </a:r>
          </a:p>
          <a:p xmlns:a="http://schemas.openxmlformats.org/drawingml/2006/main">
            <a:pPr>
              <a:defRPr sz="2100" b="0">
                <a:solidFill>
                  <a:srgbClr val="E7E9E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E7E9EC"/>
                </a:solidFill>
                <a:latin typeface="Noto Sans CJK SC"/>
                <a:ea typeface="Noto Sans CJK SC"/>
                <a:cs typeface="Noto Sans CJK SC"/>
              </a:rPr>
              <a:t>为素材调色和后期处理提供选择。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D193E9-487D-4277-B37D-9454DFA43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81450"/>
            <a:ext cx="5381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79A6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F79A64"/>
                </a:solidFill>
                <a:latin typeface="Noto Sans CJK SC"/>
                <a:ea typeface="Noto Sans CJK SC"/>
                <a:cs typeface="Noto Sans CJK SC"/>
              </a:rPr>
              <a:t>同步：多机位按同一节奏拍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E3E204-2F2B-4684-9D32-CD94CCBB6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38650"/>
            <a:ext cx="5381625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E7E9E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E7E9EC"/>
                </a:solidFill>
                <a:latin typeface="Noto Sans CJK SC"/>
                <a:ea typeface="Noto Sans CJK SC"/>
                <a:cs typeface="Noto Sans CJK SC"/>
              </a:rPr>
              <a:t>Genlock 支持精准同步。官方列出 Blackmagic Camera ProDock 等配套方案。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5450A3-6ACF-45C5-8077-1FBFCDDB6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6591300"/>
            <a:ext cx="7620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B8BDC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B8BDC5"/>
                </a:solidFill>
                <a:latin typeface="Noto Sans CJK SC"/>
                <a:ea typeface="Noto Sans CJK SC"/>
                <a:cs typeface="Noto Sans CJK SC"/>
              </a:rPr>
              <a:t>官方 Genlock 演示画面；不作为实测画质或效果保证。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DBF7AC-ACA1-49B5-B171-00E6D548D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34250"/>
            <a:ext cx="13716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79A6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F79A64"/>
                </a:solidFill>
                <a:latin typeface="Noto Sans CJK SC"/>
                <a:ea typeface="Noto Sans CJK SC"/>
                <a:cs typeface="Noto Sans CJK SC"/>
              </a:rPr>
              <a:t>鸿蒙关注点 · 从素材导入、代理预览，到跨设备剪辑和原质量导出，评估完整流程。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560507-312A-46D1-BF7A-7D1C62669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77200"/>
            <a:ext cx="1276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EB3B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AEB3BA"/>
                </a:solidFill>
                <a:latin typeface="Noto Sans CJK SC"/>
                <a:ea typeface="Noto Sans CJK SC"/>
                <a:cs typeface="Noto Sans CJK SC"/>
              </a:rPr>
              <a:t>适用：iPhone 17 Pro / Pro Max。支持格式、app版本、配件及输出流程需按具体组合核实。</a:t>
            </a:r>
          </a:p>
        </p:txBody>
      </p:sp>
    </p:spTree>
    <p:extLst>
      <p:ext uri="{BB962C8B-B14F-4D97-AF65-F5344CB8AC3E}">
        <p14:creationId xmlns:p14="http://schemas.microsoft.com/office/powerpoint/2010/main" val="86625775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048E43-C6CA-4300-8279-24C388CA5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"/>
            <a:ext cx="1371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屏幕内容识别，直接衔接下一步任务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D63F16-E518-4D8E-90B9-0C554B43A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71600"/>
            <a:ext cx="13677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067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606774"/>
                </a:solidFill>
                <a:latin typeface="Noto Sans CJK SC"/>
                <a:ea typeface="Noto Sans CJK SC"/>
                <a:cs typeface="Noto Sans CJK SC"/>
              </a:rPr>
              <a:t>WWDC 2025 已预告 · 随 iOS 26 扩展 · 支持市场分批开放 [S5][S8]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499B61-4273-4829-BAFF-01AF567DB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067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606774"/>
                </a:solidFill>
                <a:latin typeface="Noto Sans CJK SC"/>
                <a:ea typeface="Noto Sans CJK SC"/>
                <a:cs typeface="Noto Sans CJK SC"/>
              </a:rPr>
              <a:t>05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67c967ec0d469c"/>
          <a:stretch xmlns:a="http://schemas.openxmlformats.org/drawingml/2006/main"/>
        </p:blipFill>
        <p:spPr>
          <a:xfrm xmlns:a="http://schemas.openxmlformats.org/drawingml/2006/main">
            <a:off x="7667625" y="2386013"/>
            <a:ext cx="3257550" cy="3257550"/>
          </a:xfrm>
          <a:prstGeom xmlns:a="http://schemas.openxmlformats.org/drawingml/2006/main" prst="rect">
            <a:avLst/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3053ae637e4749"/>
          <a:stretch xmlns:a="http://schemas.openxmlformats.org/drawingml/2006/main"/>
        </p:blipFill>
        <p:spPr>
          <a:xfrm xmlns:a="http://schemas.openxmlformats.org/drawingml/2006/main">
            <a:off x="11220450" y="2386013"/>
            <a:ext cx="3257550" cy="32575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74D99A-354C-43EC-ABE8-FE8003FD8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800725"/>
            <a:ext cx="2905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067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606774"/>
                </a:solidFill>
                <a:latin typeface="Noto Sans CJK SC"/>
                <a:ea typeface="Noto Sans CJK SC"/>
                <a:cs typeface="Noto Sans CJK SC"/>
              </a:rPr>
              <a:t>浏览屏幕内容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E7B3CF-2D0C-460A-A049-9720AB504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5800725"/>
            <a:ext cx="2905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067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606774"/>
                </a:solidFill>
                <a:latin typeface="Noto Sans CJK SC"/>
                <a:ea typeface="Noto Sans CJK SC"/>
                <a:cs typeface="Noto Sans CJK SC"/>
              </a:rPr>
              <a:t>匹配相似商品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099C1E-69D2-41FA-B7C9-62AA4BCE0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638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C75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C75A25"/>
                </a:solidFill>
                <a:latin typeface="Noto Sans CJK SC"/>
                <a:ea typeface="Noto Sans CJK SC"/>
                <a:cs typeface="Noto Sans CJK SC"/>
              </a:rPr>
              <a:t>场景：看到商品或活动，不再反复切换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37F6ED-A7D9-4E04-B701-BAC350511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47950"/>
            <a:ext cx="6381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按截屏组合键，圈选对象搜索相似内容，或提问；活动信息可添加到日历。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1EED28-5224-4FC9-8701-4A4B42FC5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29075"/>
            <a:ext cx="638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C75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C75A25"/>
                </a:solidFill>
                <a:latin typeface="Noto Sans CJK SC"/>
                <a:ea typeface="Noto Sans CJK SC"/>
                <a:cs typeface="Noto Sans CJK SC"/>
              </a:rPr>
              <a:t>结果：从理解内容到完成动作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DF8E34-43AF-4F79-B93D-B9D5E2048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86275"/>
            <a:ext cx="6381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搜索涉及 Google、支持的第三方 app；问答可调用 ChatGPT，需区分服务依赖。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286EE4-9C72-4305-9FE0-41C08D07D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05525"/>
            <a:ext cx="628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75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C75A25"/>
                </a:solidFill>
                <a:latin typeface="Noto Sans CJK SC"/>
                <a:ea typeface="Noto Sans CJK SC"/>
                <a:cs typeface="Noto Sans CJK SC"/>
              </a:rPr>
              <a:t>中国大陆边界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7CC447-3BB6-4677-85C7-41A1AACBE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10350"/>
            <a:ext cx="1362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截至整理日，国行支持设备仍不能使用 Apple Intelligence。海外设备在大陆且账号地区为大陆时同样受限。[S6]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912139-4FB2-4DFF-B6FB-575CD0116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77200"/>
            <a:ext cx="1276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067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06774"/>
                </a:solidFill>
                <a:latin typeface="Noto Sans CJK SC"/>
                <a:ea typeface="Noto Sans CJK SC"/>
                <a:cs typeface="Noto Sans CJK SC"/>
              </a:rPr>
              <a:t>鸿蒙关注点（分析）：围绕“截图后要做什么”设计入口，测量任务完成率、误识别率与跨服务成本。</a:t>
            </a:r>
          </a:p>
        </p:txBody>
      </p:sp>
    </p:spTree>
    <p:extLst>
      <p:ext uri="{BB962C8B-B14F-4D97-AF65-F5344CB8AC3E}">
        <p14:creationId xmlns:p14="http://schemas.microsoft.com/office/powerpoint/2010/main" val="12262528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1421D2-7A11-4087-86EB-BFE810756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"/>
            <a:ext cx="1371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iOS 26：图库结构与系统视觉一起调整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451EFB-7CDB-452D-AA6E-C726C5144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71600"/>
            <a:ext cx="13677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067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606774"/>
                </a:solidFill>
                <a:latin typeface="Noto Sans CJK SC"/>
                <a:ea typeface="Noto Sans CJK SC"/>
                <a:cs typeface="Noto Sans CJK SC"/>
              </a:rPr>
              <a:t>WWDC 2025 已公布 · 2025.09.15 正式发布 · 本场新机搭载 [S4][S9]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A31DE8-0061-47FB-A5CC-A3681A144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067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606774"/>
                </a:solidFill>
                <a:latin typeface="Noto Sans CJK SC"/>
                <a:ea typeface="Noto Sans CJK SC"/>
                <a:cs typeface="Noto Sans CJK SC"/>
              </a:rPr>
              <a:t>06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9d76b2b7344671"/>
          <a:stretch xmlns:a="http://schemas.openxmlformats.org/drawingml/2006/main"/>
        </p:blipFill>
        <p:spPr>
          <a:xfrm xmlns:a="http://schemas.openxmlformats.org/drawingml/2006/main">
            <a:off x="766970" y="2038350"/>
            <a:ext cx="8419685" cy="47339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315041-FD8C-465D-940D-8D1D836C6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095500"/>
            <a:ext cx="4619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C75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C75A25"/>
                </a:solidFill>
                <a:latin typeface="Noto Sans CJK SC"/>
                <a:ea typeface="Noto Sans CJK SC"/>
                <a:cs typeface="Noto Sans CJK SC"/>
              </a:rPr>
              <a:t>图库：独立呈现两类浏览入口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5C43B7-AF79-44C4-B732-DEDAC4289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552700"/>
            <a:ext cx="46196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照片应用分设图库与精选集标签页。</a:t>
            </a:r>
          </a:p>
          <a:p xmlns:a="http://schemas.openxmlformats.org/drawingml/2006/main">
            <a:pPr>
              <a:defRPr sz="2100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相机应用简化拍摄界面。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4AE98B-1EDF-4E67-9455-4C5914924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029075"/>
            <a:ext cx="4619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C75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C75A25"/>
                </a:solidFill>
                <a:latin typeface="Noto Sans CJK SC"/>
                <a:ea typeface="Noto Sans CJK SC"/>
                <a:cs typeface="Noto Sans CJK SC"/>
              </a:rPr>
              <a:t>系统：让内容与控件更有层次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A4DA9E-0ABD-4968-A154-DB1A9A5B2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486275"/>
            <a:ext cx="46196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导航、控件与图标采用新材质。</a:t>
            </a:r>
          </a:p>
          <a:p xmlns:a="http://schemas.openxmlformats.org/drawingml/2006/main">
            <a:pPr>
              <a:defRPr sz="2100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锁屏时间适应照片留白。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D6CC09-23CA-4857-B281-07F77A33A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7019925"/>
            <a:ext cx="1314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C75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C75A25"/>
                </a:solidFill>
                <a:latin typeface="Noto Sans CJK SC"/>
                <a:ea typeface="Noto Sans CJK SC"/>
                <a:cs typeface="Noto Sans CJK SC"/>
              </a:rPr>
              <a:t>鸿蒙关注点 · 产品分析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601ACD-E64A-4F55-AE88-3CCBD2DC8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7515225"/>
            <a:ext cx="1285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分别验证找图耗时、导航可发现性，以及透明材质在复杂图片上的可读性。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FE7769-F200-4F24-A060-BA396BD5C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77200"/>
            <a:ext cx="1276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067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06774"/>
                </a:solidFill>
                <a:latin typeface="Noto Sans CJK SC"/>
                <a:ea typeface="Noto Sans CJK SC"/>
                <a:cs typeface="Noto Sans CJK SC"/>
              </a:rPr>
              <a:t>图片为 WWDC 2025 官方 iOS 26 示例（iPhone 16），用于说明随新机搭载的系统体验。[S4]</a:t>
            </a:r>
          </a:p>
        </p:txBody>
      </p:sp>
    </p:spTree>
    <p:extLst>
      <p:ext uri="{BB962C8B-B14F-4D97-AF65-F5344CB8AC3E}">
        <p14:creationId xmlns:p14="http://schemas.microsoft.com/office/powerpoint/2010/main" val="211813069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C8AAAB-FB2D-447E-8B78-8CB5EAC10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"/>
            <a:ext cx="1371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其他软件能力与使用边界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C96763-DBF7-469C-9B38-CE22B26CB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71600"/>
            <a:ext cx="13677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067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606774"/>
                </a:solidFill>
                <a:latin typeface="Noto Sans CJK SC"/>
                <a:ea typeface="Noto Sans CJK SC"/>
                <a:cs typeface="Noto Sans CJK SC"/>
              </a:rPr>
              <a:t>按用户任务归类；标明本场新机、系统既有升级及区域差异。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A9AA18-8796-4EFF-BC02-97C4D8E7A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067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606774"/>
                </a:solidFill>
                <a:latin typeface="Noto Sans CJK SC"/>
                <a:ea typeface="Noto Sans CJK SC"/>
                <a:cs typeface="Noto Sans CJK SC"/>
              </a:rPr>
              <a:t>07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762000" y="2057400"/>
          <a:ext xmlns:a="http://schemas.openxmlformats.org/drawingml/2006/main" cx="13716000" cy="5600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5381625"/>
                <a:gridCol w="5381625"/>
              </a:tblGrid>
              <a:tr h="6286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能力 / 来源</a:t>
                      </a:r>
                    </a:p>
                  </a:txBody>
                  <a:tcPr marL="180975" marR="180975" marT="142875" marB="142875" anchor="ctr">
                    <a:solidFill>
                      <a:srgbClr val="2024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体验变化</a:t>
                      </a:r>
                    </a:p>
                  </a:txBody>
                  <a:tcPr marL="180975" marR="180975" marT="142875" marB="142875" anchor="ctr">
                    <a:solidFill>
                      <a:srgbClr val="2024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适用条件与状态</a:t>
                      </a:r>
                    </a:p>
                  </a:txBody>
                  <a:tcPr marL="180975" marR="180975" marT="142875" marB="142875" anchor="ctr">
                    <a:solidFill>
                      <a:srgbClr val="20242B"/>
                    </a:solidFill>
                  </a:tcPr>
                </a:tc>
              </a:tr>
              <a:tr h="8286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7191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实时翻译 [S5][S6]</a:t>
                      </a:r>
                    </a:p>
                  </a:txBody>
                  <a:tcPr marL="180975" marR="180975" marT="142875" marB="142875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191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信息翻译、通话译音、FaceTime字幕</a:t>
                      </a:r>
                    </a:p>
                    <a:p>
                      <a:r>
                        <a:rPr sz="1725" b="0">
                          <a:solidFill>
                            <a:srgbClr val="17191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AirPods支持面对面对话翻译</a:t>
                      </a:r>
                    </a:p>
                  </a:txBody>
                  <a:tcPr marL="180975" marR="180975" marT="142875" marB="142875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191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iOS26 / Apple Intelligence，分语言与地区开放</a:t>
                      </a:r>
                    </a:p>
                    <a:p>
                      <a:r>
                        <a:rPr sz="1725" b="0">
                          <a:solidFill>
                            <a:srgbClr val="17191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中国大陆不可按全球宣传认定可用</a:t>
                      </a:r>
                    </a:p>
                  </a:txBody>
                  <a:tcPr marL="180975" marR="180975" marT="142875" marB="142875" anchor="ctr">
                    <a:solidFill>
                      <a:srgbClr val="F3F5F7"/>
                    </a:solidFill>
                  </a:tcPr>
                </a:tc>
              </a:tr>
              <a:tr h="8286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7191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智能快捷指令 [S5][S8]</a:t>
                      </a:r>
                    </a:p>
                  </a:txBody>
                  <a:tcPr marL="180975" marR="180975" marT="142875" marB="142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191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模型生成结果进入后续步骤</a:t>
                      </a:r>
                    </a:p>
                    <a:p>
                      <a:r>
                        <a:rPr sz="1725" b="0">
                          <a:solidFill>
                            <a:srgbClr val="17191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可连接摘要、信息抽取等任务</a:t>
                      </a:r>
                    </a:p>
                  </a:txBody>
                  <a:tcPr marL="180975" marR="180975" marT="142875" marB="142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191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WWDC已预告；iOS26 / 需启用Apple Intelligence</a:t>
                      </a:r>
                    </a:p>
                    <a:p>
                      <a:r>
                        <a:rPr sz="1725" b="0">
                          <a:solidFill>
                            <a:srgbClr val="17191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端侧与Private Cloud Compute分别处理</a:t>
                      </a:r>
                    </a:p>
                  </a:txBody>
                  <a:tcPr marL="180975" marR="180975" marT="142875" marB="142875" anchor="ctr">
                    <a:solidFill>
                      <a:srgbClr val="FFFFFF"/>
                    </a:solidFill>
                  </a:tcPr>
                </a:tc>
              </a:tr>
              <a:tr h="8286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7191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Air后期编辑 [S3]</a:t>
                      </a:r>
                    </a:p>
                  </a:txBody>
                  <a:tcPr marL="180975" marR="180975" marT="142875" marB="142875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191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保留景深后再转人像</a:t>
                      </a:r>
                    </a:p>
                    <a:p>
                      <a:r>
                        <a:rPr sz="1725" b="0">
                          <a:solidFill>
                            <a:srgbClr val="17191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视频混音增强人声、减少环境声</a:t>
                      </a:r>
                    </a:p>
                  </a:txBody>
                  <a:tcPr marL="180975" marR="180975" marT="142875" marB="142875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191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iPhone Air随新机提供</a:t>
                      </a:r>
                    </a:p>
                    <a:p>
                      <a:r>
                        <a:rPr sz="1725" b="0">
                          <a:solidFill>
                            <a:srgbClr val="17191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属于该机支持能力，非全部为本场新创</a:t>
                      </a:r>
                    </a:p>
                  </a:txBody>
                  <a:tcPr marL="180975" marR="180975" marT="142875" marB="142875" anchor="ctr">
                    <a:solidFill>
                      <a:srgbClr val="F3F5F7"/>
                    </a:solidFill>
                  </a:tcPr>
                </a:tc>
              </a:tr>
              <a:tr h="8286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7191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自适应电量 [S0][S3]</a:t>
                      </a:r>
                    </a:p>
                  </a:txBody>
                  <a:tcPr marL="180975" marR="180975" marT="142875" marB="142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191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根据使用习惯预判耗电</a:t>
                      </a:r>
                    </a:p>
                    <a:p>
                      <a:r>
                        <a:rPr sz="1725" b="0">
                          <a:solidFill>
                            <a:srgbClr val="17191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智能调整，帮助延长续航</a:t>
                      </a:r>
                    </a:p>
                  </a:txBody>
                  <a:tcPr marL="180975" marR="180975" marT="142875" marB="142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191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本场Air讲解提及；iOS26新功能</a:t>
                      </a:r>
                    </a:p>
                    <a:p>
                      <a:r>
                        <a:rPr sz="1725" b="0">
                          <a:solidFill>
                            <a:srgbClr val="17191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受支持机型、学习过程与使用习惯影响</a:t>
                      </a:r>
                    </a:p>
                  </a:txBody>
                  <a:tcPr marL="180975" marR="180975" marT="142875" marB="142875" anchor="ctr">
                    <a:solidFill>
                      <a:srgbClr val="FFFFFF"/>
                    </a:solidFill>
                  </a:tcPr>
                </a:tc>
              </a:tr>
              <a:tr h="8286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7191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N1连接体验 [S2]</a:t>
                      </a:r>
                    </a:p>
                  </a:txBody>
                  <a:tcPr marL="180975" marR="180975" marT="142875" marB="142875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191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改善隔空投送和个人热点可靠性</a:t>
                      </a:r>
                    </a:p>
                  </a:txBody>
                  <a:tcPr marL="180975" marR="180975" marT="142875" marB="142875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191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本场新机硬件与软件协同</a:t>
                      </a:r>
                    </a:p>
                    <a:p>
                      <a:r>
                        <a:rPr sz="1725" b="0">
                          <a:solidFill>
                            <a:srgbClr val="17191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官方未给出本文可比的成功率数据</a:t>
                      </a:r>
                    </a:p>
                  </a:txBody>
                  <a:tcPr marL="180975" marR="180975" marT="142875" marB="142875" anchor="ctr">
                    <a:solidFill>
                      <a:srgbClr val="F3F5F7"/>
                    </a:solidFill>
                  </a:tcPr>
                </a:tc>
              </a:tr>
              <a:tr h="8286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7191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CarPlay [S4][S9]</a:t>
                      </a:r>
                    </a:p>
                  </a:txBody>
                  <a:tcPr marL="180975" marR="180975" marT="142875" marB="142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191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小组件、实时活动与紧凑来电界面</a:t>
                      </a:r>
                    </a:p>
                  </a:txBody>
                  <a:tcPr marL="180975" marR="180975" marT="142875" marB="142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191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iOS26升级；需兼容车辆与app</a:t>
                      </a:r>
                    </a:p>
                    <a:p>
                      <a:r>
                        <a:rPr sz="1725" b="0">
                          <a:solidFill>
                            <a:srgbClr val="17191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不能等同于所有车型均支持CarPlay Ultra</a:t>
                      </a:r>
                    </a:p>
                  </a:txBody>
                  <a:tcPr marL="180975" marR="180975" marT="142875" marB="1428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BC8258-3621-449D-9A0D-172E32AF5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77200"/>
            <a:ext cx="1276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067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06774"/>
                </a:solidFill>
                <a:latin typeface="Noto Sans CJK SC"/>
                <a:ea typeface="Noto Sans CJK SC"/>
                <a:cs typeface="Noto Sans CJK SC"/>
              </a:rPr>
              <a:t>云服务观察：本次材料未证实 iCloud 照片同步/备份模型有新变化，不把既有服务包装为新功能。</a:t>
            </a:r>
          </a:p>
        </p:txBody>
      </p:sp>
    </p:spTree>
    <p:extLst>
      <p:ext uri="{BB962C8B-B14F-4D97-AF65-F5344CB8AC3E}">
        <p14:creationId xmlns:p14="http://schemas.microsoft.com/office/powerpoint/2010/main" val="139470535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2B09C9-B2E8-4EE8-9A2A-B2506F199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"/>
            <a:ext cx="1371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鸿蒙团队可优先验证的四个问题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CDDDC4-398F-48EB-BE04-06CA2C9A0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71600"/>
            <a:ext cx="13677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067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606774"/>
                </a:solidFill>
                <a:latin typeface="Noto Sans CJK SC"/>
                <a:ea typeface="Noto Sans CJK SC"/>
                <a:cs typeface="Noto Sans CJK SC"/>
              </a:rPr>
              <a:t>以下为产品分析，依据官方体验机制提出；未取得内部版本基线，不作领先或落后判断。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FE0707-3137-4C8D-A2EA-9B4DA3DF5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067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606774"/>
                </a:solidFill>
                <a:latin typeface="Noto Sans CJK SC"/>
                <a:ea typeface="Noto Sans CJK SC"/>
                <a:cs typeface="Noto Sans CJK SC"/>
              </a:rPr>
              <a:t>08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762000" y="2238375"/>
          <a:ext xmlns:a="http://schemas.openxmlformats.org/drawingml/2006/main" cx="13716000" cy="4533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6096000"/>
                <a:gridCol w="4857750"/>
              </a:tblGrid>
              <a:tr h="62865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优先级与主题</a:t>
                      </a:r>
                    </a:p>
                  </a:txBody>
                  <a:tcPr marL="180975" marR="180975" marT="142875" marB="142875" anchor="ctr">
                    <a:solidFill>
                      <a:srgbClr val="2024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建议验证</a:t>
                      </a:r>
                    </a:p>
                  </a:txBody>
                  <a:tcPr marL="180975" marR="180975" marT="142875" marB="142875" anchor="ctr">
                    <a:solidFill>
                      <a:srgbClr val="2024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建议观察指标</a:t>
                      </a:r>
                    </a:p>
                  </a:txBody>
                  <a:tcPr marL="180975" marR="180975" marT="142875" marB="142875" anchor="ctr">
                    <a:solidFill>
                      <a:srgbClr val="20242B"/>
                    </a:solidFill>
                  </a:tcPr>
                </a:tc>
              </a:tr>
              <a:tr h="976313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191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P1  相机 / 图库</a:t>
                      </a:r>
                    </a:p>
                  </a:txBody>
                  <a:tcPr marL="180975" marR="180975" marT="142875" marB="142875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191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多人自拍构图与前后双拍</a:t>
                      </a:r>
                    </a:p>
                    <a:p>
                      <a:r>
                        <a:rPr sz="1950" b="0">
                          <a:solidFill>
                            <a:srgbClr val="17191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贯通拍摄、预览、裁剪和分享</a:t>
                      </a:r>
                    </a:p>
                  </a:txBody>
                  <a:tcPr marL="180975" marR="180975" marT="142875" marB="142875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191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漏人率、自动构图打扰率</a:t>
                      </a:r>
                    </a:p>
                    <a:p>
                      <a:r>
                        <a:rPr sz="1950" b="0">
                          <a:solidFill>
                            <a:srgbClr val="17191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双拍使用率、成片导出成功率</a:t>
                      </a:r>
                    </a:p>
                  </a:txBody>
                  <a:tcPr marL="180975" marR="180975" marT="142875" marB="142875" anchor="ctr">
                    <a:solidFill>
                      <a:srgbClr val="F3F5F7"/>
                    </a:solidFill>
                  </a:tcPr>
                </a:tc>
              </a:tr>
              <a:tr h="976313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191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P1  系统AI入口</a:t>
                      </a:r>
                    </a:p>
                  </a:txBody>
                  <a:tcPr marL="180975" marR="180975" marT="142875" marB="142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191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截图后完成查找或建日程</a:t>
                      </a:r>
                    </a:p>
                    <a:p>
                      <a:r>
                        <a:rPr sz="1950" b="0">
                          <a:solidFill>
                            <a:srgbClr val="17191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识别失败时保留手动处理路径</a:t>
                      </a:r>
                    </a:p>
                  </a:txBody>
                  <a:tcPr marL="180975" marR="180975" marT="142875" marB="142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191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任务完成率、跨app操作步数</a:t>
                      </a:r>
                    </a:p>
                    <a:p>
                      <a:r>
                        <a:rPr sz="1950" b="0">
                          <a:solidFill>
                            <a:srgbClr val="17191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误添加率、结果修正成本</a:t>
                      </a:r>
                    </a:p>
                  </a:txBody>
                  <a:tcPr marL="180975" marR="180975" marT="142875" marB="142875" anchor="ctr">
                    <a:solidFill>
                      <a:srgbClr val="FFFFFF"/>
                    </a:solidFill>
                  </a:tcPr>
                </a:tc>
              </a:tr>
              <a:tr h="976313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191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P1  图库导航</a:t>
                      </a:r>
                    </a:p>
                  </a:txBody>
                  <a:tcPr marL="180975" marR="180975" marT="142875" marB="142875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191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分开验证“入口结构”与“视觉材质”</a:t>
                      </a:r>
                    </a:p>
                    <a:p>
                      <a:r>
                        <a:rPr sz="1950" b="0">
                          <a:solidFill>
                            <a:srgbClr val="17191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覆盖大图库和复杂照片背景</a:t>
                      </a:r>
                    </a:p>
                  </a:txBody>
                  <a:tcPr marL="180975" marR="180975" marT="142875" marB="142875" anchor="ctr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191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找图耗时、入口发现率</a:t>
                      </a:r>
                    </a:p>
                    <a:p>
                      <a:r>
                        <a:rPr sz="1950" b="0">
                          <a:solidFill>
                            <a:srgbClr val="17191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阅读错误率、回退次数</a:t>
                      </a:r>
                    </a:p>
                  </a:txBody>
                  <a:tcPr marL="180975" marR="180975" marT="142875" marB="142875" anchor="ctr">
                    <a:solidFill>
                      <a:srgbClr val="F3F5F7"/>
                    </a:solidFill>
                  </a:tcPr>
                </a:tc>
              </a:tr>
              <a:tr h="976313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191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P2  专业创作链路</a:t>
                      </a:r>
                    </a:p>
                  </a:txBody>
                  <a:tcPr marL="180975" marR="180975" marT="142875" marB="142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191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按真实创作流程验证素材流转</a:t>
                      </a:r>
                    </a:p>
                    <a:p>
                      <a:r>
                        <a:rPr sz="1950" b="0">
                          <a:solidFill>
                            <a:srgbClr val="17191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联动相机、图库、云服务与桌面工具</a:t>
                      </a:r>
                    </a:p>
                  </a:txBody>
                  <a:tcPr marL="180975" marR="180975" marT="142875" marB="142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191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素材导入成功率、预览时延</a:t>
                      </a:r>
                    </a:p>
                    <a:p>
                      <a:r>
                        <a:rPr sz="1950" b="0">
                          <a:solidFill>
                            <a:srgbClr val="17191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传输耗时、编辑与导出兼容率</a:t>
                      </a:r>
                    </a:p>
                  </a:txBody>
                  <a:tcPr marL="180975" marR="180975" marT="142875" marB="1428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6B95CB-CA27-4E3E-B630-B0571B3E1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7210425"/>
            <a:ext cx="13430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75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C75A25"/>
                </a:solidFill>
                <a:latin typeface="Noto Sans CJK SC"/>
                <a:ea typeface="Noto Sans CJK SC"/>
                <a:cs typeface="Noto Sans CJK SC"/>
              </a:rPr>
              <a:t>判断原则：能被用户看懂、顺利完成并稳定复用的体验，才值得进入版本方案。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E45E07-3B25-4049-952F-3298D5807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77200"/>
            <a:ext cx="1276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067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06774"/>
                </a:solidFill>
                <a:latin typeface="Noto Sans CJK SC"/>
                <a:ea typeface="Noto Sans CJK SC"/>
                <a:cs typeface="Noto Sans CJK SC"/>
              </a:rPr>
              <a:t>依据：[S1–S5][S8]；建议项未设定收益数值或目标阈值，需结合鸿蒙基线和用户研究确定。</a:t>
            </a:r>
          </a:p>
        </p:txBody>
      </p:sp>
    </p:spTree>
    <p:extLst>
      <p:ext uri="{BB962C8B-B14F-4D97-AF65-F5344CB8AC3E}">
        <p14:creationId xmlns:p14="http://schemas.microsoft.com/office/powerpoint/2010/main" val="9300250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CF57780-4498-44A4-BE62-1E49E4656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"/>
            <a:ext cx="1371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官方来源索引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5D2E0F-5BD9-4DCB-B6E6-BF360D3F5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71600"/>
            <a:ext cx="13677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067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606774"/>
                </a:solidFill>
                <a:latin typeface="Noto Sans CJK SC"/>
                <a:ea typeface="Noto Sans CJK SC"/>
                <a:cs typeface="Noto Sans CJK SC"/>
              </a:rPr>
              <a:t>每页短编号对应下列原文；具体段落、图片出处及限制已写入相应页备注。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A99A1E-70F0-43C4-B9BC-A80C0B5A0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067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606774"/>
                </a:solidFill>
                <a:latin typeface="Noto Sans CJK SC"/>
                <a:ea typeface="Noto Sans CJK SC"/>
                <a:cs typeface="Noto Sans CJK SC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EE3583-5624-4E11-AC7A-2BE65CC62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66925"/>
            <a:ext cx="657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[S0] Apple Event：September 9, 2025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628A1B-8903-4453-9E9B-31B213325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09825"/>
            <a:ext cx="657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067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606774"/>
                </a:solidFill>
                <a:latin typeface="Noto Sans CJK SC"/>
                <a:ea typeface="Noto Sans CJK SC"/>
                <a:cs typeface="Noto Sans CJK SC"/>
              </a:rPr>
              <a:t>2025-09-09 · 美国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A7E571-2DFF-4A07-A218-67221C7BB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86050"/>
            <a:ext cx="6572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5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335D8E"/>
                </a:solidFill>
                <a:latin typeface="Noto Sans CJK SC"/>
                <a:ea typeface="Noto Sans CJK SC"/>
                <a:cs typeface="Noto Sans CJK SC"/>
              </a:rPr>
              <a:t>https://www.apple.com/apple-events/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738743-58C2-41C2-B6FD-EF474F6F6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9925"/>
            <a:ext cx="657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[S1] Apple 发布 iPhone 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5E6728-4198-4C96-ACB5-D2AB55C26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52825"/>
            <a:ext cx="657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067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606774"/>
                </a:solidFill>
                <a:latin typeface="Noto Sans CJK SC"/>
                <a:ea typeface="Noto Sans CJK SC"/>
                <a:cs typeface="Noto Sans CJK SC"/>
              </a:rPr>
              <a:t>2025-09-10 · 中国大陆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5D3601-A760-4AAE-965B-2C0041131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29050"/>
            <a:ext cx="6572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5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335D8E"/>
                </a:solidFill>
                <a:latin typeface="Noto Sans CJK SC"/>
                <a:ea typeface="Noto Sans CJK SC"/>
                <a:cs typeface="Noto Sans CJK SC"/>
              </a:rPr>
              <a:t>https://www.apple.com.cn/newsroom/</a:t>
            </a:r>
          </a:p>
          <a:p xmlns:a="http://schemas.openxmlformats.org/drawingml/2006/main">
            <a:pPr>
              <a:defRPr sz="1200" b="0">
                <a:solidFill>
                  <a:srgbClr val="335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335D8E"/>
                </a:solidFill>
                <a:latin typeface="Noto Sans CJK SC"/>
                <a:ea typeface="Noto Sans CJK SC"/>
                <a:cs typeface="Noto Sans CJK SC"/>
              </a:rPr>
              <a:t>2025/09/apple-debuts-iphone-17/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CE2130-62DB-41DA-9196-85507F32E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52925"/>
            <a:ext cx="657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[S2] Apple 发布 iPhone 17 Pro / Pro Max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F15D01-0264-4CCB-A6F6-33D9855F6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95825"/>
            <a:ext cx="657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067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606774"/>
                </a:solidFill>
                <a:latin typeface="Noto Sans CJK SC"/>
                <a:ea typeface="Noto Sans CJK SC"/>
                <a:cs typeface="Noto Sans CJK SC"/>
              </a:rPr>
              <a:t>2025-09-10 · 中国大陆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F713BC-6E96-42BF-B312-A80848291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72050"/>
            <a:ext cx="6572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5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335D8E"/>
                </a:solidFill>
                <a:latin typeface="Noto Sans CJK SC"/>
                <a:ea typeface="Noto Sans CJK SC"/>
                <a:cs typeface="Noto Sans CJK SC"/>
              </a:rPr>
              <a:t>https://www.apple.com.cn/newsroom/</a:t>
            </a:r>
          </a:p>
          <a:p xmlns:a="http://schemas.openxmlformats.org/drawingml/2006/main">
            <a:pPr>
              <a:defRPr sz="1200" b="0">
                <a:solidFill>
                  <a:srgbClr val="335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335D8E"/>
                </a:solidFill>
                <a:latin typeface="Noto Sans CJK SC"/>
                <a:ea typeface="Noto Sans CJK SC"/>
                <a:cs typeface="Noto Sans CJK SC"/>
              </a:rPr>
              <a:t>2025/09/apple-unveils-iphone-17-pro-and-iphone-17-pro-max-cn/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992F3C-B34C-4DF3-BE46-1B6F01E81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95925"/>
            <a:ext cx="657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[S3] iPhone Air 隆重登场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C5F50C-ABDD-4F48-959B-7A9A97C59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38825"/>
            <a:ext cx="657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067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606774"/>
                </a:solidFill>
                <a:latin typeface="Noto Sans CJK SC"/>
                <a:ea typeface="Noto Sans CJK SC"/>
                <a:cs typeface="Noto Sans CJK SC"/>
              </a:rPr>
              <a:t>2025-09-10 · 中国大陆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FB2261-2192-4314-855E-ECDFCCF30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6572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5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335D8E"/>
                </a:solidFill>
                <a:latin typeface="Noto Sans CJK SC"/>
                <a:ea typeface="Noto Sans CJK SC"/>
                <a:cs typeface="Noto Sans CJK SC"/>
              </a:rPr>
              <a:t>https://www.apple.com.cn/newsroom/</a:t>
            </a:r>
          </a:p>
          <a:p xmlns:a="http://schemas.openxmlformats.org/drawingml/2006/main">
            <a:pPr>
              <a:defRPr sz="1200" b="0">
                <a:solidFill>
                  <a:srgbClr val="335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335D8E"/>
                </a:solidFill>
                <a:latin typeface="Noto Sans CJK SC"/>
                <a:ea typeface="Noto Sans CJK SC"/>
                <a:cs typeface="Noto Sans CJK SC"/>
              </a:rPr>
              <a:t>2025/09/introducing-iphone-air-a-powerful-new-iphone/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13E687-7D23-4A45-9058-B97F56362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38925"/>
            <a:ext cx="657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[S4] iOS 26 体验预览（WWDC背景）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3D7DF3-E37E-4556-B2CA-2180920E4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981825"/>
            <a:ext cx="657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067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606774"/>
                </a:solidFill>
                <a:latin typeface="Noto Sans CJK SC"/>
                <a:ea typeface="Noto Sans CJK SC"/>
                <a:cs typeface="Noto Sans CJK SC"/>
              </a:rPr>
              <a:t>2025-06 · 中国大陆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A2A28E-6100-48C2-8277-6C5EF9C26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58050"/>
            <a:ext cx="6572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5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335D8E"/>
                </a:solidFill>
                <a:latin typeface="Noto Sans CJK SC"/>
                <a:ea typeface="Noto Sans CJK SC"/>
                <a:cs typeface="Noto Sans CJK SC"/>
              </a:rPr>
              <a:t>https://www.apple.com.cn/newsroom/</a:t>
            </a:r>
          </a:p>
          <a:p xmlns:a="http://schemas.openxmlformats.org/drawingml/2006/main">
            <a:pPr>
              <a:defRPr sz="1200" b="0">
                <a:solidFill>
                  <a:srgbClr val="335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335D8E"/>
                </a:solidFill>
                <a:latin typeface="Noto Sans CJK SC"/>
                <a:ea typeface="Noto Sans CJK SC"/>
                <a:cs typeface="Noto Sans CJK SC"/>
              </a:rPr>
              <a:t>2025/06/apple-elevates-the-iphone-experience-with-ios-26/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F668ED-B490-43E2-B95D-52CF16E05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66925"/>
            <a:ext cx="657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[S5] Apple Intelligence 新功能发布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AFC275-1A1E-4679-9C4E-7D5DF4B84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09825"/>
            <a:ext cx="657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067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606774"/>
                </a:solidFill>
                <a:latin typeface="Noto Sans CJK SC"/>
                <a:ea typeface="Noto Sans CJK SC"/>
                <a:cs typeface="Noto Sans CJK SC"/>
              </a:rPr>
              <a:t>2025-09-15 · 全球适用市场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1CA6B3-9DC5-4AFB-8203-6963F5386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86050"/>
            <a:ext cx="6572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5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335D8E"/>
                </a:solidFill>
                <a:latin typeface="Noto Sans CJK SC"/>
                <a:ea typeface="Noto Sans CJK SC"/>
                <a:cs typeface="Noto Sans CJK SC"/>
              </a:rPr>
              <a:t>https://www.apple.com/hk/en/newsroom/</a:t>
            </a:r>
          </a:p>
          <a:p xmlns:a="http://schemas.openxmlformats.org/drawingml/2006/main">
            <a:pPr>
              <a:defRPr sz="1200" b="0">
                <a:solidFill>
                  <a:srgbClr val="335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335D8E"/>
                </a:solidFill>
                <a:latin typeface="Noto Sans CJK SC"/>
                <a:ea typeface="Noto Sans CJK SC"/>
                <a:cs typeface="Noto Sans CJK SC"/>
              </a:rPr>
              <a:t>2025/09/new-apple-intelligence-features-are-available-today/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6D7503-598A-4F13-B839-DE6EAA02E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09925"/>
            <a:ext cx="657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[S6] Apple Intelligence 启用与地区限制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563AF3-FA32-425B-A86B-750B87EED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52825"/>
            <a:ext cx="657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067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606774"/>
                </a:solidFill>
                <a:latin typeface="Noto Sans CJK SC"/>
                <a:ea typeface="Noto Sans CJK SC"/>
                <a:cs typeface="Noto Sans CJK SC"/>
              </a:rPr>
              <a:t>动态支持页 · 中国大陆限制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6C2C8D-DE00-4189-9C80-6DD9A698D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29050"/>
            <a:ext cx="6572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5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335D8E"/>
                </a:solidFill>
                <a:latin typeface="Noto Sans CJK SC"/>
                <a:ea typeface="Noto Sans CJK SC"/>
                <a:cs typeface="Noto Sans CJK SC"/>
              </a:rPr>
              <a:t>https://support.apple.com/en-hk/121115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A71C22-B534-4D3D-936A-0B3163731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352925"/>
            <a:ext cx="657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[S7] iPhone Air 中国大陆上市更新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6275950-213C-49C4-A8FA-8DA938B57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695825"/>
            <a:ext cx="657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067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606774"/>
                </a:solidFill>
                <a:latin typeface="Noto Sans CJK SC"/>
                <a:ea typeface="Noto Sans CJK SC"/>
                <a:cs typeface="Noto Sans CJK SC"/>
              </a:rPr>
              <a:t>2025-10-13 · 中国大陆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89D434-64C1-465A-929F-268FFEEA8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972050"/>
            <a:ext cx="6572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5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335D8E"/>
                </a:solidFill>
                <a:latin typeface="Noto Sans CJK SC"/>
                <a:ea typeface="Noto Sans CJK SC"/>
                <a:cs typeface="Noto Sans CJK SC"/>
              </a:rPr>
              <a:t>https://www.apple.com.cn/newsroom/</a:t>
            </a:r>
          </a:p>
          <a:p xmlns:a="http://schemas.openxmlformats.org/drawingml/2006/main">
            <a:pPr>
              <a:defRPr sz="1200" b="0">
                <a:solidFill>
                  <a:srgbClr val="335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335D8E"/>
                </a:solidFill>
                <a:latin typeface="Noto Sans CJK SC"/>
                <a:ea typeface="Noto Sans CJK SC"/>
                <a:cs typeface="Noto Sans CJK SC"/>
              </a:rPr>
              <a:t>2025/10/iphone-air-will-be-available-in-china-beginning-october-22/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4D2DA7-B501-48DC-85D1-B9BD9302B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495925"/>
            <a:ext cx="657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[S8] Apple Intelligence 能力预览（WWDC背景）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4D134B-30DC-4AB0-8591-7F9694B07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838825"/>
            <a:ext cx="657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067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606774"/>
                </a:solidFill>
                <a:latin typeface="Noto Sans CJK SC"/>
                <a:ea typeface="Noto Sans CJK SC"/>
                <a:cs typeface="Noto Sans CJK SC"/>
              </a:rPr>
              <a:t>2025-06-09 · 全球适用市场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579C907-9AF9-41E8-891F-D23E0C2F7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6115050"/>
            <a:ext cx="6572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5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335D8E"/>
                </a:solidFill>
                <a:latin typeface="Noto Sans CJK SC"/>
                <a:ea typeface="Noto Sans CJK SC"/>
                <a:cs typeface="Noto Sans CJK SC"/>
              </a:rPr>
              <a:t>https://www.apple.com/newsroom/</a:t>
            </a:r>
          </a:p>
          <a:p xmlns:a="http://schemas.openxmlformats.org/drawingml/2006/main">
            <a:pPr>
              <a:defRPr sz="1200" b="0">
                <a:solidFill>
                  <a:srgbClr val="335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335D8E"/>
                </a:solidFill>
                <a:latin typeface="Noto Sans CJK SC"/>
                <a:ea typeface="Noto Sans CJK SC"/>
                <a:cs typeface="Noto Sans CJK SC"/>
              </a:rPr>
              <a:t>2025/06/apple-intelligence-gets-even-more-powerful-with-new-capabilities-across-apple-devices/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5129647-F907-4976-87A7-C889D5245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6638925"/>
            <a:ext cx="657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[S9] Apple 软件平台正式发布更新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94A9667-359A-4F39-81FB-10A28F918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6981825"/>
            <a:ext cx="657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067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606774"/>
                </a:solidFill>
                <a:latin typeface="Noto Sans CJK SC"/>
                <a:ea typeface="Noto Sans CJK SC"/>
                <a:cs typeface="Noto Sans CJK SC"/>
              </a:rPr>
              <a:t>2025-09-15 · 全球适用市场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FDC2D1B-6E10-4EF0-94C3-0ECC7FEC9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7258050"/>
            <a:ext cx="6572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5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335D8E"/>
                </a:solidFill>
                <a:latin typeface="Noto Sans CJK SC"/>
                <a:ea typeface="Noto Sans CJK SC"/>
                <a:cs typeface="Noto Sans CJK SC"/>
              </a:rPr>
              <a:t>https://www.apple.com/hk/en/newsroom/</a:t>
            </a:r>
          </a:p>
          <a:p xmlns:a="http://schemas.openxmlformats.org/drawingml/2006/main">
            <a:pPr>
              <a:defRPr sz="1200" b="0">
                <a:solidFill>
                  <a:srgbClr val="335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335D8E"/>
                </a:solidFill>
                <a:latin typeface="Noto Sans CJK SC"/>
                <a:ea typeface="Noto Sans CJK SC"/>
                <a:cs typeface="Noto Sans CJK SC"/>
              </a:rPr>
              <a:t>2025/09/new-versions-of-apples-software-platforms-are-available-today/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5E8935B-EB2B-4B5D-AA93-85DF67101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77200"/>
            <a:ext cx="1276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067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06774"/>
                </a:solidFill>
                <a:latin typeface="Noto Sans CJK SC"/>
                <a:ea typeface="Noto Sans CJK SC"/>
                <a:cs typeface="Noto Sans CJK SC"/>
              </a:rPr>
              <a:t>全部为 Apple 官方资料；检索日 2026.09.09。S4 / S8为WWDC背景，S5 / S7 / S9为会后更新，S6为现行限制。</a:t>
            </a:r>
          </a:p>
        </p:txBody>
      </p:sp>
    </p:spTree>
    <p:extLst>
      <p:ext uri="{BB962C8B-B14F-4D97-AF65-F5344CB8AC3E}">
        <p14:creationId xmlns:p14="http://schemas.microsoft.com/office/powerpoint/2010/main" val="95074988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6F0D09-257D-434C-BE96-FBCE0015C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"/>
            <a:ext cx="1371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视频定位、资料覆盖与更新记录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659D7D-63B6-488F-A4E0-24D9BE787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71600"/>
            <a:ext cx="13677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067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606774"/>
                </a:solidFill>
                <a:latin typeface="Noto Sans CJK SC"/>
                <a:ea typeface="Noto Sans CJK SC"/>
                <a:cs typeface="Noto Sans CJK SC"/>
              </a:rPr>
              <a:t>完整版 v1.0 · 本场新品事实结合官方新闻稿核对，表内时间按苹果官网回放的中文字幕定位 [S0]。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B2A230-FF14-47EF-B871-B0CD35EAB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867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067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606774"/>
                </a:solidFill>
                <a:latin typeface="Noto Sans CJK SC"/>
                <a:ea typeface="Noto Sans CJK SC"/>
                <a:cs typeface="Noto Sans CJK SC"/>
              </a:rPr>
              <a:t>10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62000" y="2171700"/>
          <a:ext xmlns:a="http://schemas.openxmlformats.org/drawingml/2006/main" cx="657225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4762500"/>
              </a:tblGrid>
              <a:tr h="557893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视频定位</a:t>
                      </a:r>
                    </a:p>
                  </a:txBody>
                  <a:tcPr marL="171450" marR="171450" marT="114300" marB="114300">
                    <a:solidFill>
                      <a:srgbClr val="2024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内容</a:t>
                      </a:r>
                    </a:p>
                  </a:txBody>
                  <a:tcPr marL="171450" marR="171450" marT="114300" marB="114300">
                    <a:solidFill>
                      <a:srgbClr val="20242B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191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34:42–34:49</a:t>
                      </a:r>
                    </a:p>
                  </a:txBody>
                  <a:tcPr marL="171450" marR="171450" marT="114300" marB="114300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191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视觉智能的屏幕内容入口</a:t>
                      </a:r>
                    </a:p>
                  </a:txBody>
                  <a:tcPr marL="171450" marR="171450" marT="114300" marB="114300">
                    <a:solidFill>
                      <a:srgbClr val="F3F5F7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191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37:47–38:56</a:t>
                      </a:r>
                    </a:p>
                  </a:txBody>
                  <a:tcPr marL="171450" marR="1714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191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正方形前摄与自拍构图</a:t>
                      </a:r>
                    </a:p>
                  </a:txBody>
                  <a:tcPr marL="171450" marR="171450" marT="114300" marB="114300">
                    <a:solidFill>
                      <a:srgbClr val="FFFFFF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191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50:04–50:10</a:t>
                      </a:r>
                    </a:p>
                  </a:txBody>
                  <a:tcPr marL="171450" marR="171450" marT="114300" marB="114300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191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同步双拍的使用场景</a:t>
                      </a:r>
                    </a:p>
                  </a:txBody>
                  <a:tcPr marL="171450" marR="171450" marT="114300" marB="114300">
                    <a:solidFill>
                      <a:srgbClr val="F3F5F7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191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51:47–52:00</a:t>
                      </a:r>
                    </a:p>
                  </a:txBody>
                  <a:tcPr marL="171450" marR="1714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191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自适应电量模式</a:t>
                      </a:r>
                    </a:p>
                  </a:txBody>
                  <a:tcPr marL="171450" marR="171450" marT="114300" marB="114300">
                    <a:solidFill>
                      <a:srgbClr val="FFFFFF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191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65:57–66:29</a:t>
                      </a:r>
                    </a:p>
                  </a:txBody>
                  <a:tcPr marL="171450" marR="171450" marT="114300" marB="114300"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191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ProRes RAW与支持app</a:t>
                      </a:r>
                    </a:p>
                  </a:txBody>
                  <a:tcPr marL="171450" marR="171450" marT="114300" marB="114300">
                    <a:solidFill>
                      <a:srgbClr val="F3F5F7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191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66:29–67:08</a:t>
                      </a:r>
                    </a:p>
                  </a:txBody>
                  <a:tcPr marL="171450" marR="17145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191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Genlock与外部配件</a:t>
                      </a:r>
                    </a:p>
                  </a:txBody>
                  <a:tcPr marL="171450" marR="171450" marT="114300" marB="1143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BFD385-7170-45D5-A026-F29B481F7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190750"/>
            <a:ext cx="6334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C75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C75A25"/>
                </a:solidFill>
                <a:latin typeface="Noto Sans CJK SC"/>
                <a:ea typeface="Noto Sans CJK SC"/>
                <a:cs typeface="Noto Sans CJK SC"/>
              </a:rPr>
              <a:t>本版覆盖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E9FC26-5618-43C4-B923-EBCE3FDD7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686050"/>
            <a:ext cx="63341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四款新机、重点影像、iOS 26与AI边界。官方字幕已覆盖重点片段；部分字幕未取得，全片未逐帧复核。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81CFCC-40D5-4169-B8B6-DD8CCB96F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124325"/>
            <a:ext cx="6334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C75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C75A25"/>
                </a:solidFill>
                <a:latin typeface="Noto Sans CJK SC"/>
                <a:ea typeface="Noto Sans CJK SC"/>
                <a:cs typeface="Noto Sans CJK SC"/>
              </a:rPr>
              <a:t>需要后续实机验证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95183E-5446-4242-B646-AB2632E76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629150"/>
            <a:ext cx="63341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自动构图的复杂人群表现、专业格式与app兼容性、国内可替代的屏幕行动链路。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AAF75B-C3F6-463D-8132-E70886B48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10350"/>
            <a:ext cx="1371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C75A2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C75A25"/>
                </a:solidFill>
                <a:latin typeface="Noto Sans CJK SC"/>
                <a:ea typeface="Noto Sans CJK SC"/>
                <a:cs typeface="Noto Sans CJK SC"/>
              </a:rPr>
              <a:t>版本记录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57AA2D-850C-409B-B850-C750DD9BE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05650"/>
            <a:ext cx="13525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2026.09.09 生成回溯完整版；补充 2025.09.15 软件发布、2025.10.22 Air大陆上市，</a:t>
            </a:r>
          </a:p>
          <a:p xmlns:a="http://schemas.openxmlformats.org/drawingml/2006/main">
            <a:pPr>
              <a:defRPr sz="2025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17191D"/>
                </a:solidFill>
                <a:latin typeface="Noto Sans CJK SC"/>
                <a:ea typeface="Noto Sans CJK SC"/>
                <a:cs typeface="Noto Sans CJK SC"/>
              </a:rPr>
              <a:t>以及整理日的Apple Intelligence大陆限制。均与发布会原始信息分开标注。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B36A01-5584-49E2-BE87-02C88C7D3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77200"/>
            <a:ext cx="1276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0677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606774"/>
                </a:solidFill>
                <a:latin typeface="Noto Sans CJK SC"/>
                <a:ea typeface="Noto Sans CJK SC"/>
                <a:cs typeface="Noto Sans CJK SC"/>
              </a:rPr>
              <a:t>官方回放：[S0] apple.com/apple-events/；YouTube：youtube.com/watch?v=H3KnMyojEQU</a:t>
            </a:r>
          </a:p>
        </p:txBody>
      </p:sp>
    </p:spTree>
    <p:extLst>
      <p:ext uri="{BB962C8B-B14F-4D97-AF65-F5344CB8AC3E}">
        <p14:creationId xmlns:p14="http://schemas.microsoft.com/office/powerpoint/2010/main" val="8107050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2026-09-09T12:47:15.9610000Z</dcterms:created>
  <dcterms:modified xsi:type="dcterms:W3CDTF">2026-09-09T12:47:15.9610000Z</dcterms:modified>
</coreProperties>
</file>