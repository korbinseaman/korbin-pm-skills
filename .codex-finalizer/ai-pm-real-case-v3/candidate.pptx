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68231abea340dc" /><Relationship Type="http://schemas.openxmlformats.org/officeDocument/2006/relationships/extended-properties" Target="/docProps/app.xml" Id="R35b30c0312de4904" /><Relationship Type="http://schemas.openxmlformats.org/officeDocument/2006/relationships/officeDocument" Target="/ppt/presentation.xml" Id="R50b27fbea8544a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628d9e02474a44"/>
    <p:sldMasterId xmlns:r="http://schemas.openxmlformats.org/officeDocument/2006/relationships" id="2147483653" r:id="R6d79ceebf7354301"/>
    <p:sldMasterId xmlns:r="http://schemas.openxmlformats.org/officeDocument/2006/relationships" id="2147483655" r:id="R7a7545054d504e46"/>
    <p:sldMasterId xmlns:r="http://schemas.openxmlformats.org/officeDocument/2006/relationships" id="2147483657" r:id="R18ebb24748f44456"/>
  </p:sldMasterIdLst>
  <p:notesMasterIdLst>
    <p:notesMasterId xmlns:r="http://schemas.openxmlformats.org/officeDocument/2006/relationships" r:id="Rc8b3767e62554afa"/>
  </p:notesMasterIdLst>
  <p:sldIdLst>
    <p:sldId xmlns:r="http://schemas.openxmlformats.org/officeDocument/2006/relationships" id="256" r:id="Rb089c9c50dd64a86"/>
    <p:sldId xmlns:r="http://schemas.openxmlformats.org/officeDocument/2006/relationships" id="257" r:id="Rf65c549d6d6f4f2b"/>
    <p:sldId xmlns:r="http://schemas.openxmlformats.org/officeDocument/2006/relationships" id="258" r:id="Rf1983a59295d43ae"/>
    <p:sldId xmlns:r="http://schemas.openxmlformats.org/officeDocument/2006/relationships" id="259" r:id="Rd20dc2c822394f31"/>
    <p:sldId xmlns:r="http://schemas.openxmlformats.org/officeDocument/2006/relationships" id="260" r:id="R79d8fa4e8a094a18"/>
    <p:sldId xmlns:r="http://schemas.openxmlformats.org/officeDocument/2006/relationships" id="261" r:id="Raf7b316b526b4cab"/>
    <p:sldId xmlns:r="http://schemas.openxmlformats.org/officeDocument/2006/relationships" id="262" r:id="R0ef2550b444f49d3"/>
    <p:sldId xmlns:r="http://schemas.openxmlformats.org/officeDocument/2006/relationships" id="263" r:id="Rcc36a2df7e4d4826"/>
    <p:sldId xmlns:r="http://schemas.openxmlformats.org/officeDocument/2006/relationships" id="264" r:id="Reeacb82d1d1c4855"/>
    <p:sldId xmlns:r="http://schemas.openxmlformats.org/officeDocument/2006/relationships" id="265" r:id="Re911c242a91448bf"/>
    <p:sldId xmlns:r="http://schemas.openxmlformats.org/officeDocument/2006/relationships" id="266" r:id="Rd42662bf80c24f9e"/>
    <p:sldId xmlns:r="http://schemas.openxmlformats.org/officeDocument/2006/relationships" id="267" r:id="Rfdb42b6e9d024918"/>
    <p:sldId xmlns:r="http://schemas.openxmlformats.org/officeDocument/2006/relationships" id="268" r:id="Rddaa0e944a9448e4"/>
    <p:sldId xmlns:r="http://schemas.openxmlformats.org/officeDocument/2006/relationships" id="269" r:id="R9cf816fcb10a4aef"/>
    <p:sldId xmlns:r="http://schemas.openxmlformats.org/officeDocument/2006/relationships" id="270" r:id="R1491152a789d4c0b"/>
    <p:sldId xmlns:r="http://schemas.openxmlformats.org/officeDocument/2006/relationships" id="271" r:id="Re37c133a072046b9"/>
    <p:sldId xmlns:r="http://schemas.openxmlformats.org/officeDocument/2006/relationships" id="272" r:id="Raca0839215ff488e"/>
    <p:sldId xmlns:r="http://schemas.openxmlformats.org/officeDocument/2006/relationships" id="273" r:id="Rf09495c145d74664"/>
    <p:sldId xmlns:r="http://schemas.openxmlformats.org/officeDocument/2006/relationships" id="274" r:id="R811387023f644cc1"/>
    <p:sldId xmlns:r="http://schemas.openxmlformats.org/officeDocument/2006/relationships" id="275" r:id="Rdff48d2c2638426f"/>
  </p:sldIdLst>
  <p:sldSz cx="12196763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68c5c1b0ac4397" /><Relationship Type="http://schemas.openxmlformats.org/officeDocument/2006/relationships/slideMaster" Target="/ppt/slideMasters/slideMaster1.xml" Id="R31628d9e02474a44" /><Relationship Type="http://schemas.openxmlformats.org/officeDocument/2006/relationships/slideMaster" Target="/ppt/slideMasters/slideMaster2.xml" Id="R6d79ceebf7354301" /><Relationship Type="http://schemas.openxmlformats.org/officeDocument/2006/relationships/slideMaster" Target="/ppt/slideMasters/slideMaster3.xml" Id="R7a7545054d504e46" /><Relationship Type="http://schemas.openxmlformats.org/officeDocument/2006/relationships/slideMaster" Target="/ppt/slideMasters/slideMaster4.xml" Id="R18ebb24748f44456" /><Relationship Type="http://schemas.openxmlformats.org/officeDocument/2006/relationships/notesMaster" Target="/ppt/notesMasters/notesMaster1.xml" Id="Rc8b3767e62554afa" /><Relationship Type="http://schemas.openxmlformats.org/officeDocument/2006/relationships/presProps" Target="/ppt/presProps.xml" Id="R711d377cf380481b" /><Relationship Type="http://schemas.openxmlformats.org/officeDocument/2006/relationships/viewProps" Target="/ppt/viewProps.xml" Id="Rdff624fa23d04877" /><Relationship Type="http://schemas.openxmlformats.org/officeDocument/2006/relationships/tableStyles" Target="/ppt/tableStyles.xml" Id="Rc8677005b0e44d50" /><Relationship Type="http://schemas.openxmlformats.org/officeDocument/2006/relationships/slide" Target="/ppt/slides/slide1.xml" Id="Rb089c9c50dd64a86" /><Relationship Type="http://schemas.openxmlformats.org/officeDocument/2006/relationships/slide" Target="/ppt/slides/slide2.xml" Id="Rf65c549d6d6f4f2b" /><Relationship Type="http://schemas.openxmlformats.org/officeDocument/2006/relationships/slide" Target="/ppt/slides/slide3.xml" Id="Rf1983a59295d43ae" /><Relationship Type="http://schemas.openxmlformats.org/officeDocument/2006/relationships/slide" Target="/ppt/slides/slide4.xml" Id="Rd20dc2c822394f31" /><Relationship Type="http://schemas.openxmlformats.org/officeDocument/2006/relationships/slide" Target="/ppt/slides/slide5.xml" Id="R79d8fa4e8a094a18" /><Relationship Type="http://schemas.openxmlformats.org/officeDocument/2006/relationships/slide" Target="/ppt/slides/slide6.xml" Id="Raf7b316b526b4cab" /><Relationship Type="http://schemas.openxmlformats.org/officeDocument/2006/relationships/slide" Target="/ppt/slides/slide7.xml" Id="R0ef2550b444f49d3" /><Relationship Type="http://schemas.openxmlformats.org/officeDocument/2006/relationships/slide" Target="/ppt/slides/slide8.xml" Id="Rcc36a2df7e4d4826" /><Relationship Type="http://schemas.openxmlformats.org/officeDocument/2006/relationships/slide" Target="/ppt/slides/slide9.xml" Id="Reeacb82d1d1c4855" /><Relationship Type="http://schemas.openxmlformats.org/officeDocument/2006/relationships/slide" Target="/ppt/slides/slide10.xml" Id="Re911c242a91448bf" /><Relationship Type="http://schemas.openxmlformats.org/officeDocument/2006/relationships/slide" Target="/ppt/slides/slide11.xml" Id="Rd42662bf80c24f9e" /><Relationship Type="http://schemas.openxmlformats.org/officeDocument/2006/relationships/slide" Target="/ppt/slides/slide12.xml" Id="Rfdb42b6e9d024918" /><Relationship Type="http://schemas.openxmlformats.org/officeDocument/2006/relationships/slide" Target="/ppt/slides/slide13.xml" Id="Rddaa0e944a9448e4" /><Relationship Type="http://schemas.openxmlformats.org/officeDocument/2006/relationships/slide" Target="/ppt/slides/slide14.xml" Id="R9cf816fcb10a4aef" /><Relationship Type="http://schemas.openxmlformats.org/officeDocument/2006/relationships/slide" Target="/ppt/slides/slide15.xml" Id="R1491152a789d4c0b" /><Relationship Type="http://schemas.openxmlformats.org/officeDocument/2006/relationships/slide" Target="/ppt/slides/slide16.xml" Id="Re37c133a072046b9" /><Relationship Type="http://schemas.openxmlformats.org/officeDocument/2006/relationships/slide" Target="/ppt/slides/slide17.xml" Id="Raca0839215ff488e" /><Relationship Type="http://schemas.openxmlformats.org/officeDocument/2006/relationships/slide" Target="/ppt/slides/slide18.xml" Id="Rf09495c145d74664" /><Relationship Type="http://schemas.openxmlformats.org/officeDocument/2006/relationships/slide" Target="/ppt/slides/slide19.xml" Id="R811387023f644cc1" /><Relationship Type="http://schemas.openxmlformats.org/officeDocument/2006/relationships/slide" Target="/ppt/slides/slide20.xml" Id="Rdff48d2c263842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7f50d4467caf43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9cb30d40df46d7" /><Relationship Type="http://schemas.openxmlformats.org/officeDocument/2006/relationships/notesMaster" Target="/ppt/notesMasters/notesMaster1.xml" Id="R7983cf24228349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95e483f9024c01" /><Relationship Type="http://schemas.openxmlformats.org/officeDocument/2006/relationships/notesMaster" Target="/ppt/notesMasters/notesMaster1.xml" Id="Ra3df5163c6304b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dd061fbbd4404c" /><Relationship Type="http://schemas.openxmlformats.org/officeDocument/2006/relationships/notesMaster" Target="/ppt/notesMasters/notesMaster1.xml" Id="R10e0e1e521d144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2bdb525dff4c85" /><Relationship Type="http://schemas.openxmlformats.org/officeDocument/2006/relationships/notesMaster" Target="/ppt/notesMasters/notesMaster1.xml" Id="Rd46c4f5a96ae46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5f4530fce94530" /><Relationship Type="http://schemas.openxmlformats.org/officeDocument/2006/relationships/notesMaster" Target="/ppt/notesMasters/notesMaster1.xml" Id="R21e322f3b55143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e6090f3c9941d7" /><Relationship Type="http://schemas.openxmlformats.org/officeDocument/2006/relationships/notesMaster" Target="/ppt/notesMasters/notesMaster1.xml" Id="R2a469c8e684049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5a123e496d48bc" /><Relationship Type="http://schemas.openxmlformats.org/officeDocument/2006/relationships/notesMaster" Target="/ppt/notesMasters/notesMaster1.xml" Id="R56f8a0d00e1145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55550be16f4fab" /><Relationship Type="http://schemas.openxmlformats.org/officeDocument/2006/relationships/notesMaster" Target="/ppt/notesMasters/notesMaster1.xml" Id="Red495c646dc24b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af80bbaff740f2" /><Relationship Type="http://schemas.openxmlformats.org/officeDocument/2006/relationships/notesMaster" Target="/ppt/notesMasters/notesMaster1.xml" Id="R5c8284cf02604d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2120d5048d496b" /><Relationship Type="http://schemas.openxmlformats.org/officeDocument/2006/relationships/notesMaster" Target="/ppt/notesMasters/notesMaster1.xml" Id="R76494563454145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8b0c7512ba442d" /><Relationship Type="http://schemas.openxmlformats.org/officeDocument/2006/relationships/notesMaster" Target="/ppt/notesMasters/notesMaster1.xml" Id="Ra31e8ce4c34843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ee1adf4ac840c2" /><Relationship Type="http://schemas.openxmlformats.org/officeDocument/2006/relationships/notesMaster" Target="/ppt/notesMasters/notesMaster1.xml" Id="R1d74a8fa818f41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30df79bf544fa9" /><Relationship Type="http://schemas.openxmlformats.org/officeDocument/2006/relationships/notesMaster" Target="/ppt/notesMasters/notesMaster1.xml" Id="R5454c8d60d784b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e77e003ce44efc" /><Relationship Type="http://schemas.openxmlformats.org/officeDocument/2006/relationships/notesMaster" Target="/ppt/notesMasters/notesMaster1.xml" Id="Rf3e1e465508c4f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d6d7788b1142a8" /><Relationship Type="http://schemas.openxmlformats.org/officeDocument/2006/relationships/notesMaster" Target="/ppt/notesMasters/notesMaster1.xml" Id="R07ed3a6bee5a44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5cf4f502564a4a" /><Relationship Type="http://schemas.openxmlformats.org/officeDocument/2006/relationships/notesMaster" Target="/ppt/notesMasters/notesMaster1.xml" Id="Rf106d0348e0d42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ef63d8e6314c04" /><Relationship Type="http://schemas.openxmlformats.org/officeDocument/2006/relationships/notesMaster" Target="/ppt/notesMasters/notesMaster1.xml" Id="Rea18a05ce8dc48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f416ab3c6e4306" /><Relationship Type="http://schemas.openxmlformats.org/officeDocument/2006/relationships/notesMaster" Target="/ppt/notesMasters/notesMaster1.xml" Id="R1687941f7b0d4f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c54d21271a40ba" /><Relationship Type="http://schemas.openxmlformats.org/officeDocument/2006/relationships/notesMaster" Target="/ppt/notesMasters/notesMaster1.xml" Id="R6e52f0868d044c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7c6c92db1bb4a7c" /><Relationship Type="http://schemas.openxmlformats.org/officeDocument/2006/relationships/notesMaster" Target="/ppt/notesMasters/notesMaster1.xml" Id="R7cb4809d0c5043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>开场不要从模型或工具名讲起。直接给结论：过去的 AI 工作流帮我写得更快；现在的工作流开始帮我更早暴露错误、更清楚地做取舍，并把结论交给下游继续执行。今天用两个真实交付物证明这一点。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本地文件：workspace/华为PPT模板-浅色版.pptx</a:t>
            </a:r>
          </a:p>
          <a:p xmlns:a="http://schemas.openxmlformats.org/drawingml/2006/main">
            <a:r>
              <a:t>- 本地案例：手机图库 AI 功能需求问卷；鸿蒙图库一句话清理图片产品方案决策汇报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这四类风险是全场的导航。后面每个案例不比较‘AI 写得快不快’，而是看它是否改变了产品决策：是否避免了错误事实、是否把优先级规则写清、是否让研究和方案能继续被下游使用、是否设置了退出条件。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本地工作区案例归纳；不包含外部市场数据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不要把这张图讲成四代产品史。讲控制权：Prompt 只控制一次回答；Context 控制模型能看到什么；Agent 控制能做什么；Harness 控制在什么权限、状态和验证条件下完成。PM 的能力也从写提示词，升级到设计任务、证据和验收系统。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基于本次工作流实践的阶段归纳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工具演变只讲一条线：从回答、检索、工具调用到工作区执行。到 Harness 阶段，Agent 不只是会用浏览器或写文件，而是知道输入输出契约、权限边界、失败停止、恢复方式和验收门槛。这才对应产品经理真正可托付的任务。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基于对话式、检索式、工具调用与工作区 Agent 的能力抽象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 分钟</a:t>
            </a:r>
          </a:p>
          <a:p xmlns:a="http://schemas.openxmlformats.org/drawingml/2006/main">
            <a:r>
              <a:t>第一部分只回答一个问题：为什么问卷不是让 AI 多写一些题，而是让产品经理把要做的决策、需要的证据和题目顺序事先写清。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这页先把业务问题讲透。直接问偏好会得到每个功能都有人选，无法支持资源取舍。真正需要回答四件事：是否真实发生、问题是否够痛、只能做一个时选谁、体验风险会如何改变方案。Skill 的第一价值不是写题，而是阻止研究目标继续含糊。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逐行讲，不要快速掠过。强调问卷的设计顺序：先写产品决策，再写需要看到的证据，最后才写题。比如 Q7/Q8 不是为了丰富报告，而是判断到底该提升识别效果，还是先解决误删、撤销与信任问题。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pm-user-research/skills/ur-design-survey/SKILL.md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这页讲问卷逻辑里最容易被生成式 AI 忽略的地方：没有使用过的人，没有资格回答最近一次体验。Q4 负责路由；有经历者进入 Q5–Q8 的行为链，无经历者只回答未来诉求。这样可以避免把想象当体验证据。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  <a:p xmlns:a="http://schemas.openxmlformats.org/drawingml/2006/main">
            <a:r>
              <a:t>- pm-user-research/skills/ur-design-survey/references/questionnaire-logic-checklist.md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里一定说明：这些不是问卷结果，而是发放前写好的解释规则。预注册的好处是减少看到数据后随意讲故事。示例一：如果优先项是清理，原因是步骤复杂，场景是空间不足，才支持验证更短的清理链路。示例二：如果误删担忧直接造成信任下降，方案边界就必须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pm-user-research/用户调研/20260913手机图库AI功能需求/questionnaire.md；本页为基于题目结构设计的分析规则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交付物不是三个各自维护的文档。questionnaire.md 是事实源，HTML 用于评审，UserClub 文本用于配置。脚本对真实问卷给出的结果是 12 题、0 个结构风险信号、通过。但我会明确说，Lint 只能检查可确定的结构问题，不能替代研究效度判断。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  <a:p xmlns:a="http://schemas.openxmlformats.org/drawingml/2006/main">
            <a:r>
              <a:t>- pm-user-research/skills/ur-design-survey/scripts/lint_questionnaire.py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这是最重要的失败案例。43 项测试里 15 项失败，原因不是内容质量，而是画像生成脚本没有实现测试规定的三个参数。若没有 Harness，系统可能继续往下生成答卷和报告，最终让团队讨论一份不可复现的结果。门禁在这里替 PM 做的是阻断，而不是润色。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pm-user-research/tests/test_project.py</a:t>
            </a:r>
          </a:p>
          <a:p xmlns:a="http://schemas.openxmlformats.org/drawingml/2006/main">
            <a:r>
              <a:t>- pm-user-research/skills/ur-generate-personas/scripts/generate_personas.py</a:t>
            </a:r>
          </a:p>
          <a:p xmlns:a="http://schemas.openxmlformats.org/drawingml/2006/main">
            <a:r>
              <a:t>- 本地测试结果：43 tests / 28 pass / 15 fail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 分钟</a:t>
            </a:r>
          </a:p>
          <a:p xmlns:a="http://schemas.openxmlformats.org/drawingml/2006/main">
            <a:r>
              <a:t>第二部分换一个视角：Agent 不只是加速研究，它也能帮助产品经理把一句卖点拆成责任边界、风险等级、异常状态和退出条件。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先展示真实交付物，而不是重讲整份方案。最关键的产品判断是：不做一句话直接删除。系统只承担可解释候选生成，最终删除仍需用户确认，并默认进入回收站。这样既保留效率价值，也限制了 AI 承担不了的责任。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2 页；其中机制与阈值为待验证产品假设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竞品分析最危险的不是漏一个功能，而是把搜索不到写成对方不支持，或把旧版本、其他地区的能力当成当前基线。Skill 把每个竞品和 Feature 变成 ResearchUnit，再要求 EvidenceRecord 记录来源、版本、地区、支持方向和置信度。未知就是未知，不强行填满矩阵。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pm-competitor-analysis/pm-system-app-competitor-matrix/SKILL.md</a:t>
            </a:r>
          </a:p>
          <a:p xmlns:a="http://schemas.openxmlformats.org/drawingml/2006/main">
            <a:r>
              <a:t>- pm-competitor-analysis/pm-system-app-competitor-matrix/references/research-evidence.md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这一页要讲具体砍法。六类自然语言请求并不是都放进 MVP：时间和明确类型可进入预览确认；模糊、重复等质量语义必须解释理由；人物、票据、私密和事件语义只返回筛选结果。产品经理真正增加的不是功能数，而是对执行权的分层。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3、6、8 页；属于待验证范围设计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这就是我希望 AI 帮忙生成的 PRD 核心，不是更多页面描述，而是一张 Requirement Ledger。每行从证据或风险假设出发，落到产品规则、状态异常和可观察验收。例如解析不完整时必须追问；高风险对象没有删除按钮；任何异常都不能绕过确认。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4、5、6 页；本页为可追踪 PRD 账本重构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讲原型时不要只放高保真图。原型的任务是把不确定性显性化：系统理解了什么、候选为什么被选中、执行会发生什么、失败后如何恢复。至少要画四类异常状态，并用任务测试验证用户能否复述范围、排除误选、理解降级、找到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4 页；本页为原型状态测试清单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这页体现方案汇报的产品价值：本次不是批准完整开发，而是批准下一阶段资源。P0 输出可评审，P1 验证用户是否理解，P2 验证端侧和隐私，只有都通过才进 P3。退出条件必须提前写：误选不可控、无法理解、性能不达标或隐私不过线时停止立项。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11 页；阶段门为方案建议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最后讲开发方法。Skill 不是把长提示词保存起来，而是先定义触发和输入契约，再拆步骤与停止条件，把知识放到 references，把格式放到 templates，把可确定判断交给 scripts，最后用真实案例做 eval。Command 只是入口，真正的可复用性来自后面的契约和门禁。其他 Skill 不逐个介绍，而是沿产品生命周期组合。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pm-user-research/skills/ur-design-survey/SKILL.md</a:t>
            </a:r>
          </a:p>
          <a:p xmlns:a="http://schemas.openxmlformats.org/drawingml/2006/main">
            <a:r>
              <a:t>- pm-competitor-analysis/pm-system-app-competitor-matrix/SKILL.md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 分钟 + Q&amp;A</a:t>
            </a:r>
            <a:endParaRPr/>
          </a:p>
          <a:p xmlns:a="http://schemas.openxmlformats.org/drawingml/2006/main">
            <a:r>
              <a:t>收束到三条可执行建议。不要从“做一个万能 Agent”开始；先选高频、跨人协作、返工昂贵、质量可检查的任务。把自己的判断写成契约，再决定哪些部分交给模型、工具和脚本。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本次分享两个案例的总结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43654a68b4364" /><Relationship Type="http://schemas.openxmlformats.org/officeDocument/2006/relationships/image" Target="/ppt/media/image3.png" Id="Rbb1042c0fab643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33147972c4d83" /><Relationship Type="http://schemas.openxmlformats.org/officeDocument/2006/relationships/image" Target="/ppt/media/image.jpeg" Id="Rcc2b30bb121f4b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ad793e4464534" /><Relationship Type="http://schemas.openxmlformats.org/officeDocument/2006/relationships/image" Target="/ppt/media/image2.jpeg" Id="R29144362f1b64f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edab85f944eef" /><Relationship Type="http://schemas.openxmlformats.org/officeDocument/2006/relationships/image" Target="/ppt/media/image3.jpeg" Id="Ra3f2d9b95c5146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49c88b11c643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1cd9bb867414a6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d77b55aa5864872" /></Relationships>
</file>

<file path=ppt/slideLayouts/slideLayout1.xml><?xml version="1.0" encoding="utf-8"?>
<p:sldLayout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1042c0fab6438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7" name="L 形 6">
            <a:extLst xmlns:a="http://schemas.openxmlformats.org/drawingml/2006/main">
              <a:ext uri="{FF2B5EF4-FFF2-40B4-BE49-F238E27FC236}">
                <a16:creationId xmlns:a16="http://schemas.microsoft.com/office/drawing/2014/main" id="{B999A40C-41F1-4ED4-A13A-1AB32C9B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53942" y="2130562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  <a:prstDash val="dash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图片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2b30bb121f4b6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8" name="L 形 17">
            <a:extLst xmlns:a="http://schemas.openxmlformats.org/drawingml/2006/main">
              <a:ext uri="{FF2B5EF4-FFF2-40B4-BE49-F238E27FC236}">
                <a16:creationId xmlns:a16="http://schemas.microsoft.com/office/drawing/2014/main" id="{38F97F05-5E12-4AFD-A2A1-E41937E0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24025" y="256863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144362f1b64f53"/>
          <a:srcRect xmlns:a="http://schemas.openxmlformats.org/drawingml/2006/main" l="0" t="13825" r="2034" b="5607"/>
          <a:stretch xmlns:a="http://schemas.openxmlformats.org/drawingml/2006/main"/>
        </p:blipFill>
        <p:spPr>
          <a:xfrm xmlns:a="http://schemas.openxmlformats.org/drawingml/2006/main">
            <a:off x="1" y="-36206"/>
            <a:ext cx="12196763" cy="5638471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4691EA-619E-435B-903E-25D2A0CD726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8" name="L 形 7">
            <a:extLst xmlns:a="http://schemas.openxmlformats.org/drawingml/2006/main">
              <a:ext uri="{FF2B5EF4-FFF2-40B4-BE49-F238E27FC236}">
                <a16:creationId xmlns:a16="http://schemas.microsoft.com/office/drawing/2014/main" id="{B86661AA-BB77-48E7-8B07-275D1FAD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29967" y="165755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f2d9b95c5146bf"/>
          <a:srcRect xmlns:a="http://schemas.openxmlformats.org/drawingml/2006/main" l="1538" t="7030" r="0" b="11599"/>
          <a:stretch xmlns:a="http://schemas.openxmlformats.org/drawingml/2006/main"/>
        </p:blipFill>
        <p:spPr>
          <a:xfrm xmlns:a="http://schemas.openxmlformats.org/drawingml/2006/main">
            <a:off x="0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3" name="L 形 12">
            <a:extLst xmlns:a="http://schemas.openxmlformats.org/drawingml/2006/main">
              <a:ext uri="{FF2B5EF4-FFF2-40B4-BE49-F238E27FC236}">
                <a16:creationId xmlns:a16="http://schemas.microsoft.com/office/drawing/2014/main" id="{D9C13A00-1073-4DDB-80E9-15487508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45516" y="2323519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C897A368-8F39-4049-9BB0-AEB315EB7E0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2621051-E1A4-A049-BF21-61B18B34831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userDrawn="1">
  <p:cSld name="1_Contents page"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33620" y="1843088"/>
            <a:ext cx="10122060" cy="3013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90000" bIns="90000"/>
          <a:lstStyle xmlns:a="http://schemas.openxmlformats.org/drawingml/2006/main">
            <a:lvl1pPr marL="412750" indent="-398463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412750" indent="-398463">
              <a:buFont typeface="+mj-lt"/>
              <a:buAutoNum type="arabicPeriod"/>
              <a:defRPr/>
            </a:lvl2pPr>
            <a:lvl3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3pPr>
            <a:lvl4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4pPr>
            <a:lvl5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  <p:sp>
        <p:nvSpPr>
          <p:cNvPr id="3" name="直线连接符 14">
            <a:extLst xmlns:a="http://schemas.openxmlformats.org/drawingml/2006/main">
              <a:ext uri="{FF2B5EF4-FFF2-40B4-BE49-F238E27FC236}">
                <a16:creationId xmlns:a16="http://schemas.microsoft.com/office/drawing/2014/main" id="{1F0DF760-445C-4794-9CF1-08609FCB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9918" y="1349255"/>
            <a:ext cx="88596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7000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16" y="630373"/>
            <a:ext cx="1147485" cy="653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36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36908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End pag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86" y="1402064"/>
            <a:ext cx="3921034" cy="854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940">
                <a:solidFill>
                  <a:schemeClr val="tx1"/>
                </a:solidFill>
              </a:rPr>
              <a:t>Thank you.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b879be73049448a" /><Relationship Type="http://schemas.openxmlformats.org/officeDocument/2006/relationships/theme" Target="/ppt/slideMasters/theme/theme2.xml" Id="R8cd8c881de004bd6" /><Relationship Type="http://schemas.openxmlformats.org/officeDocument/2006/relationships/slideLayout" Target="/ppt/slideLayouts/slideLayout1.xml" Id="R45a1890f821f4d37" /><Relationship Type="http://schemas.openxmlformats.org/officeDocument/2006/relationships/slideLayout" Target="/ppt/slideLayouts/slideLayout2.xml" Id="R080e9aa8b12e41d9" /><Relationship Type="http://schemas.openxmlformats.org/officeDocument/2006/relationships/slideLayout" Target="/ppt/slideLayouts/slideLayout3.xml" Id="Rf9d36b28dca24f5e" /><Relationship Type="http://schemas.openxmlformats.org/officeDocument/2006/relationships/slideLayout" Target="/ppt/slideLayouts/slideLayout4.xml" Id="R6e943285f27f423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e05957d9f694fc4" /><Relationship Type="http://schemas.openxmlformats.org/officeDocument/2006/relationships/slideLayout" Target="/ppt/slideLayouts/slideLayout5.xml" Id="Rd222fe314c6f444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2.png" Id="R62aca5534ae84c16" /><Relationship Type="http://schemas.openxmlformats.org/officeDocument/2006/relationships/theme" Target="/ppt/slideMasters/theme/theme4.xml" Id="R8c13a08d1219446f" /><Relationship Type="http://schemas.openxmlformats.org/officeDocument/2006/relationships/slideLayout" Target="/ppt/slideLayouts/slideLayout6.xml" Id="R72cf7710eb944106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22d77fb3aece48c3" /><Relationship Type="http://schemas.openxmlformats.org/officeDocument/2006/relationships/theme" Target="/ppt/slideMasters/theme/theme5.xml" Id="R638b1afc3c9f459b" /><Relationship Type="http://schemas.openxmlformats.org/officeDocument/2006/relationships/slideLayout" Target="/ppt/slideLayouts/slideLayout7.xml" Id="R64ae94b4fcc745d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309" y="6270651"/>
            <a:ext cx="1982316" cy="1536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/>
              <a:t>Security Level:</a:t>
            </a:r>
            <a:endParaRPr sz="1000"/>
          </a:p>
        </p:txBody>
      </p:sp>
      <p:pic>
        <p:nvPicPr>
          <p:cNvPr id="18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79be7304944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6684" y="5976168"/>
            <a:ext cx="2258389" cy="48253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a1890f821f4d37"/>
    <p:sldLayoutId xmlns:r="http://schemas.openxmlformats.org/officeDocument/2006/relationships" id="2147483650" r:id="R080e9aa8b12e41d9"/>
    <p:sldLayoutId xmlns:r="http://schemas.openxmlformats.org/officeDocument/2006/relationships" id="2147483651" r:id="Rf9d36b28dca24f5e"/>
    <p:sldLayoutId xmlns:r="http://schemas.openxmlformats.org/officeDocument/2006/relationships" id="2147483652" r:id="R6e943285f27f4236"/>
  </p:sldLayoutIdLst>
  <p:hf hdr="0" ftr="0" dt="0"/>
  <p:txStyles>
    <p:titleStyle>
      <a:lvl1pPr xmlns:a="http://schemas.openxmlformats.org/drawingml/2006/main" algn="l" defTabSz="914400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0" indent="0" algn="l" defTabSz="914400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/>
          <a:ea typeface="Arial"/>
          <a:cs typeface="Arial"/>
        </a:defRPr>
      </a:lvl1pPr>
      <a:lvl2pPr xmlns:a="http://schemas.openxmlformats.org/drawingml/2006/main" marL="4572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xmlns:a="http://schemas.openxmlformats.org/drawingml/2006/main" val="F26B43"/>
          </p15:clr>
        </p15:guide>
        <p15:guide id="2" pos="3841" userDrawn="1">
          <p15:clr>
            <a:srgbClr xmlns:a="http://schemas.openxmlformats.org/drawingml/2006/main" val="F26B43"/>
          </p15:clr>
        </p15:guide>
        <p15:guide id="3" pos="565" userDrawn="1">
          <p15:clr>
            <a:srgbClr xmlns:a="http://schemas.openxmlformats.org/drawingml/2006/main" val="F26B43"/>
          </p15:clr>
        </p15:guide>
        <p15:guide id="4" orient="horz" pos="4007" userDrawn="1">
          <p15:clr>
            <a:srgbClr xmlns:a="http://schemas.openxmlformats.org/drawingml/2006/main" val="F26B43"/>
          </p15:clr>
        </p15:guide>
        <p15:guide id="5" orient="horz" pos="1235" userDrawn="1">
          <p15:clr>
            <a:srgbClr xmlns:a="http://schemas.openxmlformats.org/drawingml/2006/main" val="F26B43"/>
          </p15:clr>
        </p15:guide>
        <p15:guide id="6" orient="horz" pos="553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d222fe314c6f4446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950" indent="-296950" algn="l" defTabSz="1187798">
        <a:lnSpc>
          <a:spcPct val="90000"/>
        </a:lnSpc>
        <a:spcBef>
          <a:spcPts val="1299"/>
        </a:spcBef>
        <a:buFont typeface="Arial"/>
        <a:buChar char="•"/>
        <a:defRPr sz="3636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849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7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6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5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25" userDrawn="1">
          <p15:clr>
            <a:srgbClr xmlns:a="http://schemas.openxmlformats.org/drawingml/2006/main" val="F26B43"/>
          </p15:clr>
        </p15:guide>
        <p15:guide id="5" orient="horz" pos="410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1463467" cy="242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74" b="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50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84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74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74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ca5534ae84c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5999" y="6319870"/>
            <a:ext cx="1269075" cy="271153"/>
          </a:xfrm>
          <a:prstGeom xmlns:a="http://schemas.openxmlformats.org/drawingml/2006/main" prst="rect">
            <a:avLst/>
          </a:prstGeom>
        </p:spPr>
      </p:pic>
      <p:sp>
        <p:nvSpPr>
          <p:cNvPr id="44" name="矩形 5">
            <a:extLst xmlns:a="http://schemas.openxmlformats.org/drawingml/2006/main">
              <a:ext uri="{FF2B5EF4-FFF2-40B4-BE49-F238E27FC236}">
                <a16:creationId xmlns:a16="http://schemas.microsoft.com/office/drawing/2014/main" id="{3B0B5EC2-EA55-CC45-A9D0-D5EA5D76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186C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200/16/46</a:t>
            </a:r>
          </a:p>
        </p:txBody>
      </p:sp>
      <p:sp>
        <p:nvSpPr>
          <p:cNvPr id="45" name="矩形 9">
            <a:extLst xmlns:a="http://schemas.openxmlformats.org/drawingml/2006/main">
              <a:ext uri="{FF2B5EF4-FFF2-40B4-BE49-F238E27FC236}">
                <a16:creationId xmlns:a16="http://schemas.microsoft.com/office/drawing/2014/main" id="{992224C5-04A6-C041-B257-13137945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185C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199/0/11</a:t>
            </a:r>
          </a:p>
        </p:txBody>
      </p:sp>
      <p:sp>
        <p:nvSpPr>
          <p:cNvPr id="46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58918196-0639-EE4B-AFC2-315BE045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26898" y="2931937"/>
            <a:ext cx="384721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品牌色</a:t>
            </a:r>
          </a:p>
        </p:txBody>
      </p:sp>
      <p:sp>
        <p:nvSpPr>
          <p:cNvPr id="28" name="矩形 12">
            <a:extLst xmlns:a="http://schemas.openxmlformats.org/drawingml/2006/main">
              <a:ext uri="{FF2B5EF4-FFF2-40B4-BE49-F238E27FC236}">
                <a16:creationId xmlns:a16="http://schemas.microsoft.com/office/drawing/2014/main" id="{DCA8B73C-0B87-284F-805F-752EBF20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A4F"/>
          </a:solidFill>
          <a:ln xmlns:a="http://schemas.openxmlformats.org/drawingml/2006/main">
            <a:solidFill>
              <a:srgbClr val="EA5A4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234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90/79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矩形 13">
            <a:extLst xmlns:a="http://schemas.openxmlformats.org/drawingml/2006/main">
              <a:ext uri="{FF2B5EF4-FFF2-40B4-BE49-F238E27FC236}">
                <a16:creationId xmlns:a16="http://schemas.microsoft.com/office/drawing/2014/main" id="{138A39A8-BB4E-CD4E-9201-F1785C87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120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0/15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F53C07A-1022-C740-8F8D-97538E17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16278" y="3631294"/>
            <a:ext cx="569387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辅助色</a:t>
            </a:r>
          </a:p>
        </p:txBody>
      </p:sp>
      <p:sp>
        <p:nvSpPr>
          <p:cNvPr id="31" name="矩形 16">
            <a:extLst xmlns:a="http://schemas.openxmlformats.org/drawingml/2006/main">
              <a:ext uri="{FF2B5EF4-FFF2-40B4-BE49-F238E27FC236}">
                <a16:creationId xmlns:a16="http://schemas.microsoft.com/office/drawing/2014/main" id="{306A7598-C00D-994F-82DA-B39F3C2E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248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181/60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矩形 17">
            <a:extLst xmlns:a="http://schemas.openxmlformats.org/drawingml/2006/main">
              <a:ext uri="{FF2B5EF4-FFF2-40B4-BE49-F238E27FC236}">
                <a16:creationId xmlns:a16="http://schemas.microsoft.com/office/drawing/2014/main" id="{C1423292-FF2F-A74C-943E-1C3C4753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235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92/1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矩形 18">
            <a:extLst xmlns:a="http://schemas.openxmlformats.org/drawingml/2006/main">
              <a:ext uri="{FF2B5EF4-FFF2-40B4-BE49-F238E27FC236}">
                <a16:creationId xmlns:a16="http://schemas.microsoft.com/office/drawing/2014/main" id="{2A29AF15-F5C4-A842-A63B-5DBA549C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137/137/137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矩形 19">
            <a:extLst xmlns:a="http://schemas.openxmlformats.org/drawingml/2006/main">
              <a:ext uri="{FF2B5EF4-FFF2-40B4-BE49-F238E27FC236}">
                <a16:creationId xmlns:a16="http://schemas.microsoft.com/office/drawing/2014/main" id="{E9EA970A-4D36-BC41-B8BE-40DF5533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35/24/21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矩形 22">
            <a:extLst xmlns:a="http://schemas.openxmlformats.org/drawingml/2006/main">
              <a:ext uri="{FF2B5EF4-FFF2-40B4-BE49-F238E27FC236}">
                <a16:creationId xmlns:a16="http://schemas.microsoft.com/office/drawing/2014/main" id="{14EE21FB-1D92-0241-ABA5-5E9A6AEE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221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221/221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矩形 12">
            <a:extLst xmlns:a="http://schemas.openxmlformats.org/drawingml/2006/main">
              <a:ext uri="{FF2B5EF4-FFF2-40B4-BE49-F238E27FC236}">
                <a16:creationId xmlns:a16="http://schemas.microsoft.com/office/drawing/2014/main" id="{883734A3-2645-434A-9DCC-1416B6C6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C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233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140/128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矩形 13">
            <a:extLst xmlns:a="http://schemas.openxmlformats.org/drawingml/2006/main">
              <a:ext uri="{FF2B5EF4-FFF2-40B4-BE49-F238E27FC236}">
                <a16:creationId xmlns:a16="http://schemas.microsoft.com/office/drawing/2014/main" id="{1FF13552-FB3D-134A-A80A-6CFB35DF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2126"/>
          </a:solidFill>
          <a:ln xmlns:a="http://schemas.openxmlformats.org/drawingml/2006/main">
            <a:solidFill>
              <a:srgbClr val="9F000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159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0/1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矩形 16">
            <a:extLst xmlns:a="http://schemas.openxmlformats.org/drawingml/2006/main">
              <a:ext uri="{FF2B5EF4-FFF2-40B4-BE49-F238E27FC236}">
                <a16:creationId xmlns:a16="http://schemas.microsoft.com/office/drawing/2014/main" id="{0A96471B-CB12-1443-B01F-C14C9112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C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245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220/87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矩形 17">
            <a:extLst xmlns:a="http://schemas.openxmlformats.org/drawingml/2006/main">
              <a:ext uri="{FF2B5EF4-FFF2-40B4-BE49-F238E27FC236}">
                <a16:creationId xmlns:a16="http://schemas.microsoft.com/office/drawing/2014/main" id="{61890D59-CF8B-1449-A836-3A304EC9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240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133/0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矩形 18">
            <a:extLst xmlns:a="http://schemas.openxmlformats.org/drawingml/2006/main">
              <a:ext uri="{FF2B5EF4-FFF2-40B4-BE49-F238E27FC236}">
                <a16:creationId xmlns:a16="http://schemas.microsoft.com/office/drawing/2014/main" id="{0466A1E1-E7C7-FD49-9880-9E44BED1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181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181/181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矩形 19">
            <a:extLst xmlns:a="http://schemas.openxmlformats.org/drawingml/2006/main">
              <a:ext uri="{FF2B5EF4-FFF2-40B4-BE49-F238E27FC236}">
                <a16:creationId xmlns:a16="http://schemas.microsoft.com/office/drawing/2014/main" id="{B21AD6AC-1275-0142-A9EA-D77B26CB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89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87/87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矩形 22">
            <a:extLst xmlns:a="http://schemas.openxmlformats.org/drawingml/2006/main">
              <a:ext uri="{FF2B5EF4-FFF2-40B4-BE49-F238E27FC236}">
                <a16:creationId xmlns:a16="http://schemas.microsoft.com/office/drawing/2014/main" id="{238BAC2A-AE09-A84D-875D-8472236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chemeClr val="bg1">
                <a:lumMod val="10000"/>
                <a:lumOff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255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255/255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72cf7710eb944106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950" indent="-296950" algn="l" defTabSz="1187798">
        <a:lnSpc>
          <a:spcPct val="90000"/>
        </a:lnSpc>
        <a:spcBef>
          <a:spcPts val="1299"/>
        </a:spcBef>
        <a:buFont typeface="Arial"/>
        <a:buChar char="•"/>
        <a:defRPr sz="3636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849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7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6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5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25" userDrawn="1">
          <p15:clr>
            <a:srgbClr xmlns:a="http://schemas.openxmlformats.org/drawingml/2006/main" val="F26B43"/>
          </p15:clr>
        </p15:guide>
        <p15:guide id="5" orient="horz" pos="410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6573" y="1474269"/>
            <a:ext cx="3984232" cy="2816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357" y="2794960"/>
            <a:ext cx="3225168" cy="2029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065"/>
              </a:lnSpc>
              <a:buNone/>
            </a:pP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Copyright©2021 </a:t>
            </a: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Huawei Technologies Co., Ltd.</a:t>
            </a:r>
            <a:br/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All Rights Reserved.</a:t>
            </a:r>
            <a:r>
              <a:rPr sz="779">
                <a:solidFill>
                  <a:srgbClr val="1D1D1B"/>
                </a:solidFill>
                <a:latin typeface="+mn-lt"/>
                <a:ea typeface="+mn-lt"/>
                <a:cs typeface="+mn-lt"/>
              </a:rPr>
              <a:t/>
            </a:r>
            <a:br/>
            <a:r>
              <a:rPr sz="779">
                <a:solidFill>
                  <a:srgbClr val="1D1D1B"/>
                </a:solidFill>
                <a:latin typeface="+mn-lt"/>
                <a:ea typeface="+mn-lt"/>
                <a:cs typeface="+mn-lt"/>
              </a:rPr>
              <a:t/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information in this document may contain predictive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statements including, without limitation, statements regarding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future financial and operating results, future product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portfolio, new technology, etc. There are a number of factors that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could cause actual results and developments to differ materially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from those expressed or implied in the predictive statements.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Therefore, such information is provided for reference purpose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only and constitutes neither an offer nor an acceptance. Huawei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may change the information at any time without notice. </a:t>
            </a:r>
          </a:p>
          <a:p xmlns:a="http://schemas.openxmlformats.org/drawingml/2006/main">
            <a:pPr>
              <a:lnSpc>
                <a:spcPts val="1065"/>
              </a:lnSpc>
              <a:buNone/>
            </a:pPr>
            <a:endParaRPr sz="779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Subtitle 6">
            <a:extLst xmlns:a="http://schemas.openxmlformats.org/drawingml/2006/main"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276" y="1631849"/>
            <a:ext cx="3477701" cy="491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681"/>
              </a:lnSpc>
              <a:spcBef>
                <a:spcPts val="0"/>
              </a:spcBef>
              <a:buNone/>
            </a:pPr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>把数字世界带入每个人、每个家庭、</a:t>
            </a:r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/>
            </a:r>
            <a:br/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>每个组织，构建万物互联的智能世界。</a:t>
            </a:r>
          </a:p>
        </p:txBody>
      </p:sp>
      <p:sp>
        <p:nvSpPr>
          <p:cNvPr id="7" name="Subtitle 6">
            <a:extLst xmlns:a="http://schemas.openxmlformats.org/drawingml/2006/main"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672" y="2106124"/>
            <a:ext cx="3481833" cy="582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294"/>
              </a:lnSpc>
              <a:buNone/>
            </a:pPr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Bring digital to every person, home, and </a:t>
            </a:r>
            <a:br/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organization for a fully connected, </a:t>
            </a:r>
            <a:br/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intelligent world.</a:t>
            </a:r>
            <a:endParaRPr sz="1200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3" name="图片 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77fb3aece48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5497" y="5251150"/>
            <a:ext cx="1869596" cy="399462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8" r:id="R64ae94b4fcc745de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0" indent="0" algn="l" defTabSz="1187798">
        <a:lnSpc>
          <a:spcPct val="90000"/>
        </a:lnSpc>
        <a:spcBef>
          <a:spcPts val="1299"/>
        </a:spcBef>
        <a:buFont typeface="Arial"/>
        <a:buNone/>
        <a:defRPr sz="1819" kern="1200">
          <a:solidFill>
            <a:srgbClr val="FFFFFF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593900" indent="0" algn="l" defTabSz="1187798">
        <a:lnSpc>
          <a:spcPct val="90000"/>
        </a:lnSpc>
        <a:spcBef>
          <a:spcPts val="650"/>
        </a:spcBef>
        <a:buFont typeface="Arial"/>
        <a:buNone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indent="0" algn="l" defTabSz="1187798">
        <a:lnSpc>
          <a:spcPct val="90000"/>
        </a:lnSpc>
        <a:spcBef>
          <a:spcPts val="650"/>
        </a:spcBef>
        <a:buFont typeface="Arial"/>
        <a:buNone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indent="0" algn="l" defTabSz="1187798">
        <a:lnSpc>
          <a:spcPct val="90000"/>
        </a:lnSpc>
        <a:spcBef>
          <a:spcPts val="650"/>
        </a:spcBef>
        <a:buFont typeface="Arial"/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indent="0" algn="l" defTabSz="1187798">
        <a:lnSpc>
          <a:spcPct val="90000"/>
        </a:lnSpc>
        <a:spcBef>
          <a:spcPts val="650"/>
        </a:spcBef>
        <a:buFont typeface="Arial"/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16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update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ustom 2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e6104439f4a28" /><Relationship Type="http://schemas.openxmlformats.org/officeDocument/2006/relationships/notesSlide" Target="/ppt/notesSlides/notesSlide1.xml" Id="Rcf0bffc2de234a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ba9c78be034ef9" /><Relationship Type="http://schemas.openxmlformats.org/officeDocument/2006/relationships/notesSlide" Target="/ppt/notesSlides/notesSlide2.xml" Id="R5deb505b192d42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bc899c33fa4295" /><Relationship Type="http://schemas.openxmlformats.org/officeDocument/2006/relationships/notesSlide" Target="/ppt/notesSlides/notesSlide3.xml" Id="R25155957ef5e48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8f9f67602645a6" /><Relationship Type="http://schemas.openxmlformats.org/officeDocument/2006/relationships/notesSlide" Target="/ppt/notesSlides/notesSlide4.xml" Id="R94db74729b7045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05755e6a05f4db4" /><Relationship Type="http://schemas.openxmlformats.org/officeDocument/2006/relationships/notesSlide" Target="/ppt/notesSlides/notesSlide5.xml" Id="Rf642d059200545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846071bf674fa5" /><Relationship Type="http://schemas.openxmlformats.org/officeDocument/2006/relationships/notesSlide" Target="/ppt/notesSlides/notesSlide6.xml" Id="R7abcdc4ad67b4b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3d7eb32f454eee" /><Relationship Type="http://schemas.openxmlformats.org/officeDocument/2006/relationships/notesSlide" Target="/ppt/notesSlides/notesSlide7.xml" Id="Rd55ccd1e45df4a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afadf77f64ebd" /><Relationship Type="http://schemas.openxmlformats.org/officeDocument/2006/relationships/notesSlide" Target="/ppt/notesSlides/notesSlide8.xml" Id="R7922cf0b83ba46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84e6e310f46d2" /><Relationship Type="http://schemas.openxmlformats.org/officeDocument/2006/relationships/notesSlide" Target="/ppt/notesSlides/notesSlide9.xml" Id="R7f32990170bc4e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a75b282ef4fb7" /><Relationship Type="http://schemas.openxmlformats.org/officeDocument/2006/relationships/notesSlide" Target="/ppt/notesSlides/notesSlide10.xml" Id="R55335b8f2bb848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ae08cd7ef4a18" /><Relationship Type="http://schemas.openxmlformats.org/officeDocument/2006/relationships/notesSlide" Target="/ppt/notesSlides/notesSlide11.xml" Id="R907e01fd06a34f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441ba229ffb4ac5" /><Relationship Type="http://schemas.openxmlformats.org/officeDocument/2006/relationships/notesSlide" Target="/ppt/notesSlides/notesSlide12.xml" Id="R95695b2446f84c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f245f0d934b6a" /><Relationship Type="http://schemas.openxmlformats.org/officeDocument/2006/relationships/image" Target="/ppt/media/image4.png" Id="R499962a223884048" /><Relationship Type="http://schemas.openxmlformats.org/officeDocument/2006/relationships/notesSlide" Target="/ppt/notesSlides/notesSlide13.xml" Id="Rf5587605202541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a505259ec47ae" /><Relationship Type="http://schemas.openxmlformats.org/officeDocument/2006/relationships/notesSlide" Target="/ppt/notesSlides/notesSlide14.xml" Id="R38c50622bcf046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d0af799a08471d" /><Relationship Type="http://schemas.openxmlformats.org/officeDocument/2006/relationships/notesSlide" Target="/ppt/notesSlides/notesSlide15.xml" Id="R24498aad945a45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0dc410dfa421e" /><Relationship Type="http://schemas.openxmlformats.org/officeDocument/2006/relationships/notesSlide" Target="/ppt/notesSlides/notesSlide16.xml" Id="R27d8d9ac1da94b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46aad1ec874833" /><Relationship Type="http://schemas.openxmlformats.org/officeDocument/2006/relationships/notesSlide" Target="/ppt/notesSlides/notesSlide17.xml" Id="Rf1690df1f6e54c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94b31eb40a48f6" /><Relationship Type="http://schemas.openxmlformats.org/officeDocument/2006/relationships/image" Target="/ppt/media/image5.png" Id="R468168a39533465a" /><Relationship Type="http://schemas.openxmlformats.org/officeDocument/2006/relationships/notesSlide" Target="/ppt/notesSlides/notesSlide18.xml" Id="Red24ebddcbdf46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2ca4d53bb449aa" /><Relationship Type="http://schemas.openxmlformats.org/officeDocument/2006/relationships/notesSlide" Target="/ppt/notesSlides/notesSlide19.xml" Id="Re373395775dd482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a2b0d265c24674" /><Relationship Type="http://schemas.openxmlformats.org/officeDocument/2006/relationships/notesSlide" Target="/ppt/notesSlides/notesSlide20.xml" Id="Rf080b4653a7041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9954A927-FC05-418F-B4BE-6FC3492E75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F19B9EA-773D-FD4C-8380-847E27C6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08" y="6264112"/>
            <a:ext cx="2606870" cy="136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40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78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718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957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196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435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675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913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/>
              <a:t>Security Level: Internal</a:t>
            </a:r>
            <a:endParaRPr sz="1000"/>
          </a:p>
        </p:txBody>
      </p:sp>
      <p:sp>
        <p:nvSpPr>
          <p:cNvPr id="7" name="cover-text-backdrop">
            <a:extLst xmlns:a="http://schemas.openxmlformats.org/drawingml/2006/main">
              <a:ext uri="{FF2B5EF4-FFF2-40B4-BE49-F238E27FC236}">
                <a16:creationId xmlns:a16="http://schemas.microsoft.com/office/drawing/2014/main" id="{B8C757A3-376B-446E-A98A-79307085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"/>
            <a:ext cx="6953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EAB6F-7532-41FF-AAED-3F4A1A90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从“会聊天”到“能承担决策”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273F6-DB90-4BF4-A481-3B7FC3AF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636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我的 AI 产品经理工作系统：Prompt → Context → Agent → 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9627D-2DF3-4CE8-BD6D-8421545F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636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用研 × 竞品 × PRD × 原型｜两个真实工作案例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98444-EE34-4E24-98E7-57614A0B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产品经理团队分享  /  45 min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C700543-3AF0-4433-8043-03A98F1F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0BA33D-2596-4F20-99DB-1CED4B0A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AI 工作流的收益来自四类风险被前置控制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D3186213-7DC7-40CC-90FE-8E8260C9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不是更快生成四份文档，而是更早阻止四次错误决策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B5B7F-333E-4034-9754-C757A96E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0FA43-E40A-43AD-AC8D-226F63F9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085C8-595C-4F48-B05D-5E75D377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事实风险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44039-E2D3-4776-881F-B3CE04D4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证据与版本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0D9A6-1A6B-4E6E-8B30-638973FC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不再把“没搜到”写成“不支持”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E8DB0-2A44-4B84-AFA5-FFEBFF4F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65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255FE-DCDA-4065-881D-BF4B49E0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19300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AC8D4-5768-4FA7-A624-C9D13EEF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717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决策风险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08310-5275-4728-A225-82BEB679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47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规则与取舍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131C9-E87F-4AAB-8B9F-D6161FE4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480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每个结论必须回答做不做、先做什么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1715A-BCEE-44FF-82CF-CED91CAC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D38F8-C2C1-4298-AD30-8A80A794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CDCA7-2A28-4297-A1B8-5AA8E7EB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交接风险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119D1C-87F7-4825-90C6-CB983C45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文件与状态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6DD702-DFD4-42B3-81E1-06932B09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下游读取确定产物，不依赖上轮聊天记忆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D67AF0-6414-474B-9BA9-4C973BE4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65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081DCB-94DB-4EC9-8CA5-37586BC4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19300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5B8B7F-81B6-4FA0-BC24-60375541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717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上线风险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154E0B-BCA1-4441-96BA-07C86077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47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门禁与退出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0BF8F4-C4C5-4CEA-96CC-CB8911F1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480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先验证误选、理解、性能、隐私，再立项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F516A2-66EE-4AA0-A327-689569F2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629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2580EB-726D-4740-ABF5-8D5318C5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产品经理的核心产出，从“文档”升级为“可验证的决策系统”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7AA230-827D-4C2A-9745-44820872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证据可追溯  ·  范围可解释  ·  异常可恢复  ·  失败可停损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1E21193-62C2-4B46-BA0B-BAB07A03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3FDB5B-ABD8-4A00-BD77-6FA4ECF8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四次演变，本质是把控制权逐层移出聊天框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CA95675A-19BA-4456-BE45-D16C1A5B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每一层保留上一层能力，同时补上新的交付契约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6BFA4-DEA4-4E42-8F55-63FBECD5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B21C7-C325-4165-A7FB-22F4131A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7EEAF-518C-4356-B3EE-B5122799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回答契约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A33CB-584D-4A75-8AD4-7552029B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D86A2-8DDC-4251-8967-168A9577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意图、角色、格式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3095E-6BD2-488E-9B2F-15EB08A6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仍依赖模型临场记忆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888DF6-E215-4894-9FEF-450A98F1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PM：会提问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5E3EC-CF16-47D1-A904-3A42F551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26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68363-B312-4DE1-8C35-37798504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907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BC7BF-1332-4B7F-A392-838BDA5B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943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268F6-477D-4F0B-BF55-E8E2A2D9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81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证据契约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891D2-46F4-4F7A-B8FC-D67E6BE1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033F2A-7087-416E-A342-199569A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575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资料、版本、状态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E7A21-DBD5-45C0-99AE-93571535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24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知道事实但不能行动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BF9ED1-036E-43B1-BBDD-AB9BF280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PM：会组织证据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FBD52E-3B36-4943-A3C5-D3F57FC8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952750"/>
            <a:ext cx="26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899C26-B883-42F3-AEF8-25718F55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AFE64B-7114-4DA9-BC18-C67DE468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43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17137A-99A5-467E-918F-20379F19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行动契约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273423-DCA0-4BDD-809C-A4769307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095ED2-6637-4004-9687-F868FCAB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工具选择与循环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C097EC-26BB-46CD-AF95-FCED632C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能行动但可能失控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AF0110-7262-4991-BD0C-51912E1D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PM：会委派与验收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96C161-236B-45BB-A14F-1CAA3F86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6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328279-26C9-4742-B5D6-8031E7C9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907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9C12B3-45FC-459C-BEC9-5D5B6EF3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43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D2CBB4-8F2A-46C5-8451-C338A512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81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交付契约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104879-C22E-477A-819F-96C6176F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4320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73A24D-A427-4AEB-970B-CAD2ACD6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575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权限、门禁、恢复、审计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1DB92A-50BE-448D-8C39-90983C46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24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需要持续治理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971322-A2BA-4E31-8847-9DAB128D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PM：会设计工作系统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5CB135-9A13-4875-8D76-7738FCF0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关键变化：上下文不再只是“喂资料”，而是把证据、任务状态和质量标准变成可被工具读取的外部对象。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C6DCC18-22C8-476C-88B0-49A12D41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14708C-BFB8-4D55-BA76-1773E8B8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Agent 工具从回答器演变为有门禁的执行环境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D99AC7BB-4E91-47EE-9019-F674FDC3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真正的分水岭不是能否调用工具，而是任务是否可恢复、可验证、可审计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09174-9AD7-4CA1-8289-46B246A3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5AF5A-F7F7-47BD-A0C4-792F1DE3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919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801B5-88FC-4D4A-8530-E54F4D1D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对话助手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64DB5-C1DE-4849-BCCE-C8F36B82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生成回答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D10DE-B522-4FD3-BE9D-7CD45C37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8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2AAC0-8A77-4606-94D3-CD8408A8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知识助手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E37B5-5798-4075-8EC5-18A203BC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813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检索资料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37FF2-61BF-4DCD-8755-015DEB16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B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97789-0E3E-422F-9B90-C61BCBB5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5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工具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004E5-8FD9-4A28-BFD9-78F753A9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搜索/计算/写文件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74EA6-F2D9-4838-B33E-49C90A4C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A5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3B609-F1E1-45E7-91EF-8DCFA47C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38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工作区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C9453-2557-4B6E-863F-8FFB4037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跨文件执行与交接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EEE0C-015D-446D-80FA-826ABF40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AB44F8-BED7-41DC-A76A-BE74F338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276F0-AE11-4D3A-A5C6-E3BFA536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240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权限/状态/门禁/恢复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3791F1-BF85-405A-BB2F-67C169AF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95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自动化程度 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30EAD7-2CA9-4711-BD07-1E1235B1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PM 的价值变化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F326BC-35F8-471E-A80A-8F17977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写提示词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4535ED-6215-4CE3-9BED-B579B394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72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组织证据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15B74C-A658-41DD-B69C-8AE47A0C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72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定义动作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EE5DA6-BCE9-43F4-ADD6-72F9362A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设计门禁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3D0D33-A0A9-4CD6-9FC3-34299A99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29250"/>
            <a:ext cx="687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← 单次内容质量                                      端到端任务可靠性 →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2D83681D-12EE-844E-8C09-E767231D897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033620" y="1843088"/>
            <a:ext cx="10045712" cy="30137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section-number-backdrop">
            <a:extLst xmlns:a="http://schemas.openxmlformats.org/drawingml/2006/main">
              <a:ext uri="{FF2B5EF4-FFF2-40B4-BE49-F238E27FC236}">
                <a16:creationId xmlns:a16="http://schemas.microsoft.com/office/drawing/2014/main" id="{5993A6F3-BB0F-4D4C-934E-E1B24B98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71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E3A9A-09DD-498D-8CE0-FDA46DB8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71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E684C-453C-4FF4-B4A8-68AEB7DE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170E1-52C5-4110-B275-38DEE3E3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用户研究：把意见收集改造成决策证据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2D24C-CB4A-45A4-9CAD-BC618C8E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真实案例：手机图库 AI 功能使用与需求调研｜12 题｜原始需求洞察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60F54-0494-490C-863C-C40DA31C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05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CASE 01 / USER RESEARCH</a:t>
            </a:r>
          </a:p>
        </p:txBody>
      </p:sp>
    </p:spTree>
    <p:extLst>
      <p:ext uri="{BB962C8B-B14F-4D97-AF65-F5344CB8AC3E}">
        <p14:creationId xmlns:p14="http://schemas.microsoft.com/office/powerpoint/2010/main" val="8022236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3A3710B-36CB-4D56-A98A-3EC45E07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F1B427-1DAD-4C8D-A928-6EEB12DB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功能意愿不能直接支持图库 AI 的优先级决策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7AE9E32E-C153-4DAB-94F7-53C23F61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“你想要什么”只能得到愿望清单；优先级需要行为、问题、后果与强制取舍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4EA35-BAA7-433D-92B7-DA3BD5C1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表面提问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4FC3F-026B-48D6-B87D-09E99BD6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用户最想要哪些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图库 AI 功能？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FA43C-912D-4550-A68A-7642D743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622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77B49-F6AE-4918-BCA5-841819FC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14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真正要支持的 4 个决策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A9A4B-134C-4635-B4A4-A5C92656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AA6C7-89CB-45B4-9C23-E619C3EB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有没有真实发生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7F015-AB65-4934-9C8F-49025EFE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过去 3 个月是否使用，最近一次完成什么任务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5909F-FC46-4568-90F5-5B440FA2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35FE1-B13B-407A-A3B8-DC1B1A42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2A053-9A95-4798-883B-61031EF4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81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问题是否足够痛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B31BC3-CF6F-41C8-AE90-DEDBD7D7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813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遇到什么问题，造成返工、换工具还是放弃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64651-96E5-4B8A-8366-B9A4DEFE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956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C35BEB-3E64-4F6D-827C-567A29BA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23E0F-5E47-4B3F-B322-B8C80A52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671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只能做一个时选谁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3D0A9-0FE4-41D3-A469-DB7F62F8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67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功能广度之后强制 Top 1，并追问原因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09DE7E-9428-4EE7-BD12-3BDC348D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659C93-7E2E-4206-A7C1-F2D8080E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52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5CD868-269F-4A5B-8BDD-65431EE0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方案要加什么边界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A32EC1-230B-45B2-BF39-C9789FBB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52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误删、隐私、时延等问题怎样改变交互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D87B80-3E17-4FB9-AECF-4DFE26EA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A13C04-EE20-451D-8B19-6A2E40BC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普通提示词最容易漏掉：非用户分流、互斥选项、题间关联、分析用途和“若结果出现 X，产品做什么”。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BC664A0-4E08-4D1A-A700-D1AC8CCF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AB2D5D-F3BB-4239-8E74-91790AFE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Skill 先建立决策—证据—题目映射，再允许写题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B300BE6B-79C6-4A88-B7CE-F28D674E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每道题都必须说明分析用途和可能触发的产品动作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0E857-0A50-4C58-99B7-0574AD8F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产品决策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CE308-48F4-4288-A6A3-9585AC40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所需证据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9AB7D-337B-4923-BC12-C7089970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76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4DFA0-530A-4E5E-8DB2-9BAC5468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76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决策用途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F2AB2-2F12-416E-96A3-AA18B403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34708-808B-4116-B89C-07B26F09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是否存在真实需求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C7A42-B072-4176-A646-428C5F03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近期使用频率 + 最近一次任务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81003-1E2D-4963-B6E1-E1F3F4B7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Q4 / Q6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852D9-581A-497D-9C40-D6720237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717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区分真实行为与概念兴趣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9A9B2-6CD5-42A1-9F7A-B6C89F28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2266B-0919-417B-8D93-2920A79A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问题是否值得解决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DA0FC2-1E04-4533-BF12-1126B18C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问题类型 + 后果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5C109-AF61-43C6-BF57-9EADA481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908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Q7 / Q8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247797-48AD-4D7C-81F5-5D6C02B8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90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识别效果问题还是信任问题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6DDA89-A1FD-4564-B590-22C2E031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141D5-CB4D-482E-93F5-07C11BD4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优先做哪个功能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178461-C4A2-47B8-B765-6D09601F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需求广度 + 强制 Top 1 + 原因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A5A228-367C-4BE7-AEC8-11139A10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100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Q9 / Q10 / Q11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EC856E-0D3B-4848-B36C-D6B2D079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10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形成可解释的优先级假设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D9135B-557E-44F7-87C8-94CB7D37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2159D2-132E-4FBA-94E0-17C96D0C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在哪个场景切入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1CE1FC-76B3-468B-B277-1843F482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29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任务发生的具体情境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DEF062-FD8F-4009-86B9-AB9B2B15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29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B67E29-E1CF-4405-8837-791F1AED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29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确定入口、触发和 MVP 场景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D822AE-CA9C-4EC6-92DB-5D328555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删除规则：无法说明决策用途的题目，不进入问卷。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E535849-E0D8-4317-8064-84ECAA1F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41CC60-DA24-4113-9880-DB7E17AC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行为先于概念，使用者分流避免把想象当经历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C1F149D5-B6B6-405B-9575-E9A65BA6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Q4 是关键路由：有经历的人谈最近任务，无经历的人直接进入未来诉求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EC8BC-EA50-40A2-AFC4-E3A0E670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500A8-3631-42FE-991D-F7DCC51B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Q1–Q3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FFA7B-A746-4B13-989B-54EE9FD0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基本分层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00E62-44BA-475C-9169-062A2D19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C5EFF-498D-4C95-9101-7F118E11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5260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3AAD6-9F56-4AE3-B6A1-A874228E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85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850EC-D60B-4ECA-8F80-1AA710B1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71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近 3 月使用频率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845EE-F8E2-4A5E-B74C-3CB35A5D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02127-2A5B-4724-AB9F-9F04EA74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119871-56A8-4109-AEFC-01DB119F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00400"/>
            <a:ext cx="34861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315C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115BB-95CD-4234-827B-B930718B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有近期使用经历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69BDF-66A6-45A7-A999-E91B1502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Q5 用过哪些功能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Q6 最近一次任务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Q7 遇到什么问题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Q8 问题造成什么后果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C6072E-1F84-4095-A8CA-EEB9BBC3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0400"/>
            <a:ext cx="34861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C47B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679945-6939-47E4-A997-592BB925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33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无近期经历 / 从未使用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3189D-E0E6-49A4-9120-BB4B6F76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909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不要求评价实际体验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直接进入 Q9–Q12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只收集未来需求与发生场景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F19BB8-2E2E-4A8F-8B7C-1F0ADDA4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43500"/>
            <a:ext cx="680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↓ 两条路径最终汇合到需求广度、强制优先级、原因与场景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ADA664-7BCB-406F-8829-8182BDF0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PM 价值：避免让从未用过的人评价准确性、速度或撤销体验。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2981BF1-17BD-42CB-880E-FF1975A7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2E9F27-07F2-42FF-A54F-821D4916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四连问把“想要”转成可执行的优先级假设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F562C5C6-FE66-465A-921E-F4DC8556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这里展示的是预注册分析规则，不是尚未采集的用户结论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C1648-FBE3-4FD9-A7BB-B6B619B0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Q9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95FAF-84DC-4757-8607-7C8812D0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需求广度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F0D64-B6A5-46E1-894B-92EE5511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最多选 3 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4CFB2-4DAC-4D41-A9CB-D78B36EC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14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08DE9-6F5B-4FA5-B254-08E57DF3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33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5BDBB-FFAA-40DC-B689-C120EE06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57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强制取舍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A76D2-ED51-4E37-AD6E-C6E76FC5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574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只能优先 1 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67481-0218-47DC-90E0-0074E91E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14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456F3-C815-4FDF-9823-6AC2D318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Q11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6539A-733A-4C20-8DBA-198DA87A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选择原因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EF9D1-FCE0-4E2B-9E92-AD787505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频率 / 耗时 / 复杂 / 无工具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AE23B-C09A-4696-A25B-6A38DB7B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14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F24E7-9F96-4B6E-B52E-4C0DE83C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33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Q12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7DAAB9-4EE2-4926-920A-282329EC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57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发生场景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283264-FD1B-467F-8323-54DAA4A6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574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空间不足 / 大量整理 / 快速选片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98DC6A-4A7C-4BBB-A8F1-502A8C31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F0829C-500F-4E59-9467-CD94DEC8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若结果组合出现……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5A71F3-216A-46D6-95D9-DC3318D3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IF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057E77-C9FB-42A2-9642-65CFFDF0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清理无用照片 + 步骤复杂 + 存储不足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5CC362-5344-4C50-B4D8-86C31713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THEN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BF0434-0674-49BF-ADEE-2DA1AF68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766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优先验证低步骤清理入口，而不是扩充 AI 效果库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0B90C5-638B-451F-8DED-6A2F2FA9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IF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3C5CDA-880D-46CE-9C3B-7B4B4A8A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误删/无法撤销 + 信任下降/放弃使用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F20D61-BE72-43F6-8729-BF3821E1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0530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THEN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3C8860-79E0-403F-B126-B80B3D68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PRD 必须增加候选预览、显式确认、回收站与恢复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FEBCBE-925A-4CE8-A5B5-AC665B30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IF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B7133F-56BB-4BB1-876F-B891C666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339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识别不准 + 反复调整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7F7C8C-328B-41F6-A9E0-A30616EA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339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THEN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7EFB9C-A510-4D0F-9AC8-3E086B4F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339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先定义候选误选率与可解释理由，再谈一键执行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55288B3-5468-4176-8CE0-26987C6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0D21D0-849F-479E-B9C2-03748AFE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三份交付物和结构门禁让问卷成为协作资产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5343973C-A86C-47B1-B22C-8FEF3AE3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同一 Markdown 事实源派生评审、平台配置和校验结果，减少版本漂移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88B24-1851-4571-9FD8-74D3393B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9BC64-7391-45F9-8703-CCE1BCBE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questionnaire.md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EAF14-7B63-47CB-9A10-32838BD5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事实源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52FD1-0C06-4119-A719-3235EB72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题目、选项、分支和配置注记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9F9B3-456F-4390-A2EF-F5443BD2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9B20B-1667-4AA4-8C7D-941A5729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52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7B885-5713-4CD2-BE36-AE90BF58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questionnaire-design.html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68465-B2E1-4CC4-8B98-810967A4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评审版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13CF8-4BC9-4BB3-A6EF-32F37FF8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003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研究目标、题目逻辑与可视化浏览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CCB63-FEE9-4A79-8B86-9B23B68E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959ED-5EE4-47FD-BFDC-E788CB15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52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BEC3D7-8481-4FEB-90AF-F8C642CD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7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questionnaire_for_userclub.txt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725D0F-2FED-49AC-96EA-2A6BEDE8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配置版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531EF7-E34F-47DF-BCE9-BCE867F5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03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可直接交给问卷平台录入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787610-2F35-416B-8A12-A8D83D75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F71663-365B-44D2-BD1B-019B1B6E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真实结构检查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9EC8E1-E5E6-4E11-92E0-985EDE0F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7FF118-410C-4B5C-A8AD-B1309C60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33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2C0987-BABF-48BB-9DF1-A9AED10C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6245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0355E4-21CB-49F3-8E2D-C2501E47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33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结构风险信号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645B4E-D43F-45F7-B5ED-0F946097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FD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FD18A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45C990-764D-4AA2-B250-8C9E5A7A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通过结构门禁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CFD696-AE9B-46C2-89E1-19387A80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937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rPr>
              <a:t>注意：通过结构检查 ≠ 问卷已证明效度；仍需研究员复核、认知访谈和小样本试填。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FF809A5-D160-4151-A2E5-455E4E4F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8B85E0-05F0-4350-9BE0-F2F845E9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Harness 在假洞察产生前暴露真实契约错误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2802A68A-490F-4C66-9021-2AAFE4C2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合成调研的正确用途是试跑逻辑与管线，而不是制造看似精确的市场比例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CA5FE-B9B6-4809-8F7D-55586D3A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9CF9C-1F2C-497B-B8A1-08F01D86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764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项测试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17E41-A600-4FB8-80F5-5ED9F0C9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5C671-71AE-4989-9753-9B5F18E1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76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A70D2-3C32-44AE-9001-B64A79FA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3355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6E53B-532E-42CD-B143-E930A863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10C12-BB7D-463B-B9C2-8A6B3883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不是模型答错，而是接口契约错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4141A-4588-42A8-819D-D185C422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3E3A7-7030-49B5-9225-4A2D525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测试要求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3784D-C42C-411F-8AA6-BAEE4126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908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画像生成命令支持 sample-size / seed / group-quota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8E568F-909B-4309-B5A6-7DDC307C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4F9215-318D-44FD-B9C7-37CC1081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19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generate_personas.py 未接受这些参数；Windows 中文错误输出还出现乱码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AD1D7D-B555-4BA5-9C37-BF3BBAD9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若无门禁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F1E7B-4E15-44FD-91B9-948927B0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481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样本配额不可复现，仍可能继续生成答卷和报告，形成“假稳定”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960B6A-CD26-4BAD-9059-DB247B0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修复顺序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FADAD7-2832-4EBF-BC28-966CAE3E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先统一 CLI 与文件契约 → 再重跑画像 → 再允许模拟与报告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93966E-FAEA-4ABE-BB4E-79767DF6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A5DCA1-70C8-4123-B20C-BEBE1A8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PM 价值：阻断错误样本进入“漂亮报告”，把返工从结论阶段提前到接口阶段。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2D83681D-12EE-844E-8C09-E767231D897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033620" y="1843088"/>
            <a:ext cx="10045712" cy="30137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section-number-backdrop">
            <a:extLst xmlns:a="http://schemas.openxmlformats.org/drawingml/2006/main">
              <a:ext uri="{FF2B5EF4-FFF2-40B4-BE49-F238E27FC236}">
                <a16:creationId xmlns:a16="http://schemas.microsoft.com/office/drawing/2014/main" id="{DC7624E9-D3F6-44DF-8FFA-AC2AF994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71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16FAA-C328-45DB-AD13-EE17BA46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71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30BF8-F6D8-4032-AAA6-7203E789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753EE-5DBA-457B-9FE4-607BCFC3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产品方案：把自然语言能力收敛成可控决策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26155-B77B-409B-8C1D-F35A01D5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真实案例：鸿蒙图库“一句话清理图片”｜竞品证据 × PRD × 原型 × 阶段门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C4859-76D2-4CA3-A16D-03E32121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05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CASE 02 / PRODUCT DECISION</a:t>
            </a:r>
          </a:p>
        </p:txBody>
      </p:sp>
    </p:spTree>
    <p:extLst>
      <p:ext uri="{BB962C8B-B14F-4D97-AF65-F5344CB8AC3E}">
        <p14:creationId xmlns:p14="http://schemas.microsoft.com/office/powerpoint/2010/main" val="8022236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94A7213-AD7F-4D84-85DF-2E03847A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A54D13-CC8E-44D2-A7FC-9ACF23B0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一句话删除被重构为责任可控的自动化决策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9158D43C-999E-4B07-A9FC-84096D43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系统负责生成可解释候选，用户保留最终删除责任，并获得恢复兜底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9EB6A-9B72-4A9D-8484-DF2EB13B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原始卖点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49A7C-4E28-47F6-9752-31344D63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“说完即完成”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190F8-D068-4DBE-A350-EEBC80AC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自然语言一旦缺少对象、条件或范围，效率优势就会放大成误删责任。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512C2-4AC7-43B5-8C52-D4D42611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产品决策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B1DDE-4308-4143-B8C7-315198C3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搜索 → 解释预览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 显式确认 → 可撤销执行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31377-DFE6-4EF4-B72E-51426A58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4E2AB-300D-450B-AC35-4B5E8B3D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只批准方向与验证资源，不批准工程立项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1E43F-E1A8-4B4E-8A7C-A92B2A17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6953250" cy="400050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962a223884048"/>
          <a:stretch xmlns:a="http://schemas.openxmlformats.org/drawingml/2006/main"/>
        </p:blipFill>
        <p:spPr>
          <a:xfrm xmlns:a="http://schemas.openxmlformats.org/drawingml/2006/main">
            <a:off x="4581525" y="1790700"/>
            <a:ext cx="6705600" cy="3771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722665C-CC93-4A90-90FD-584991C9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170822-380E-4029-B08B-E5022DFF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竞品结论必须先成为证据记录，才能进入 PRD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D9B8A8D5-8FB8-4099-AA14-82C881D0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“没找到”不等于“不支持”；未知与冲突也必须作为正式结果交付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18AE0-991F-4CC2-909D-1641435F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BCD72-F201-41CD-9CEC-FF7AD9E7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ResearchUnit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01C4E-DF63-41D3-9A3A-3F2A54AF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竞品 × Feature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DDD1B-E4A9-422D-86B0-CE4F641D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例：某图库 × 重复照片清理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F15C8-57FC-4420-ADCC-6EEDD761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EE3D2-5918-455B-A49E-859B634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B857D-6752-491D-A394-88773C3F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EvidenceRecord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6281C-2880-4BB5-B8D9-AD467BEC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主张 + 来源 + 版本 + 地区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41624-F369-4AA3-A450-38D5619B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记录支持/反对方向与原文事实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5DB2EA-0DE4-46C5-8D78-26FDFF0B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930EB-C9DC-488E-BA82-33677931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63D1B-240F-4CE0-BAE3-B1FE389D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9867DF-0A85-49BD-A59C-08C66947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A / B / 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F21061-1968-4CC9-8007-6342DF54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官方直接证据优先；间接证据降级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F769E5-7A70-4010-9E63-E873C24A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A5C980-C7A8-486A-803C-F6FEBCA3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A712E6-13C5-4D61-AACA-A086DCA3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Decision Input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E4B9C-FD3C-4382-A3C2-D567B627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事实 / 推断 / 建议分栏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226716-2E17-45A1-BC6F-38E3000F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7813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只有可追溯事实进入 PRD 基线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4BE9E7-364B-4770-A0B0-7FDDC143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B850E6-47EB-4CCE-AD6B-9A1E215A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检索停止规则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804CEF-1B64-4801-971F-D11D99C7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67A5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234180-9D8E-4082-9224-6F9F3798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Tier 1 当前版本直接证据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5B5651-A6CA-4BE7-B3D0-312FD61B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00550"/>
            <a:ext cx="3181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315C8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0C3646-3BCD-4554-9F60-5AA11E74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29125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两条独立 Tier 2/3 证据一致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733429-8BAA-421B-B7D9-65D7024B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FF8157-8E00-4806-8A69-77983839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29125"/>
            <a:ext cx="327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达到上限仍冲突 → UNKNOWN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D9F6D5-E860-4E26-B494-C443B815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案例中的价值：若竞品撤销期限、端侧处理或人物语义没有直接证据，就不能被写成行业基线；它只能进入待核验清单。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759271E-AA62-48EF-A756-5B4D5F53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766DC2-B8B9-4FE8-9911-AB50E3DF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风险分层让六类请求收敛为低歧义 MVP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84530A17-841F-43C1-AF73-9880A28F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功能范围不按“能不能识别”划分，而按误删后果、可解释性和可恢复性划分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98D0E-B0DC-4380-B8BD-437E13C4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06299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6C716-2835-4D81-B548-9AD0265C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低风险：进入确认执行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ACF9D-8155-42F2-BE88-5D27882F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85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时间 / 明确类型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4BA74-DB91-4285-B1F0-B0662236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461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删除上个月截图｜清理明确重复组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3A9F0-15A5-4D07-8154-E46BB646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6299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544EB-1984-405D-A60B-B5599DDD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中风险：解释后确认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72498-8EF1-4A17-B0DF-6726F701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质量 / 组合条件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C79C1-CB93-46EB-9D5E-44747F80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461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模糊判定需说明理由｜候选集过大需二次缩小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1E650-5239-4147-8039-35522984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27F77-ABEE-4881-9ACE-4BBC4E88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高风险：仅筛选不删除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CA40D-1DF7-442C-BFF7-A1A56F1E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33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人物 / 票据 / 私密 / 事件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3F2FF-3900-4632-9545-2F8190C0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61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不提供一句话直接执行；提示降级原因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9052AA-08AD-4B14-8703-B853D36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砍掉的不是能力，而是未经验证的执行权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DC90C-A871-4BF4-8D90-C2CC5921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53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MVP 先验证用户能否理解候选范围，再决定是否扩大自动化。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8A3861D-CA06-4D06-A170-40EC8050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8FAA07-5A1B-4071-B01F-8737009F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PRD 是证据、规则、状态与验收的决策账本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365D3151-0902-47A8-8561-9E3E8C09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每条需求都能追溯到风险假设，并明确异常状态与可观察验收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AB8A7-C90C-4D25-86C1-E2AA8B44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8C223-B872-48C3-B181-B6C1F942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 / 假设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0422B-3238-4E2B-8875-596198A6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764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7C02F-3B6E-4A99-9A7A-FEEC2D24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526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D63DB-1B05-4D30-AB64-DCBFC97F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764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F01D3-342E-4497-A5D5-949D5A25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状态与异常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EB02B-8967-4DE5-A236-FEF4B6C7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2D413-192D-4686-83C9-A961D4BF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验收口径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C5935-261A-4D20-9DBD-AFCE2C1D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B953C-B595-4763-93E4-816F6AAB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自然语言缺少对象/条件/范围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826C7-F345-4E1E-AA7B-BA92E552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95500"/>
            <a:ext cx="2724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6472A2-5740-4852-9D09-8D08B685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缺失项必须追问，不自动补全删除范围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F33FF-37E7-4832-ABBA-056EB06D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955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DCD95B-4F55-4CD8-AC70-974AED4B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解析不完整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8E179-7687-4934-B368-8DFBA4B2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FD1EB4-CC1C-4152-8384-567EF607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任何异常分支不绕过确认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CE64B8-8697-4635-99BA-92CB126F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3AFDF7-FD32-48D3-B2F3-75CF2831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用户难以核对系统选择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CEE7C7-22E1-4331-9844-7AD618C5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95600"/>
            <a:ext cx="2724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517E7C-17CA-4453-A37F-8FC5DC5D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908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预览展示原词、条件、数量、分组与命中理由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4D12F9-D7F1-42AB-95A3-4F82DD2B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956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B39255-FDAF-4E22-97ED-E4C2FF3F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908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正常 / 候选过大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BBF10E-DDFE-43EA-9611-904A3A3E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956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56F79D-9E59-4192-B536-3DA77F93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执行前用户可复述选择范围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080DD3-5D4B-44F4-AEB6-F9A7F350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37BFCD-E01D-4806-8A86-9EEB0F6B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删除后果高且可能误选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C4DF99-5470-4A8F-9325-4B48E0E8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95700"/>
            <a:ext cx="2724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26139C-975D-45AE-9F0B-056B5FBA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显式确认；默认进入回收站；保留稳定恢复入口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B7A6F2-E814-4A3A-9EAE-ACC73BCD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957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F91C6E-5126-4BE3-834E-1E57D0FB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确认 / 执行 / 撤销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DFF8CB-B55E-40A8-A650-399FFF56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604EC3-1611-43E9-A824-74E07A70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执行后可在稳定入口恢复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BB2A53-8574-4964-B25D-C0106016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2BB8F8-5E8A-4F46-A504-E384F744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人物、票据等敏感对象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CD7380-D88C-4911-BF91-C9993073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95800"/>
            <a:ext cx="2724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F2A02D-74BE-4749-B96C-7B6A8A6E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910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高风险请求降级为筛选，不出现执行按钮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C0F90C-9A17-4954-A857-9BBD4C4C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958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103888-AA8D-4F02-87B1-7ECE286D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高风险降级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B684BA-5BF2-4C66-9368-F0F126A2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958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B84998-CC9C-414A-BDF5-77605B32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910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不得以高置信度跳过确认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F0E2BD-A0D1-4F3E-834D-9C9B58CB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这张账本让用研、体验、算法、工程和隐私评审讨论同一条可验证链路。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CCDF5D3-B23A-4C25-A1EC-8E6687BC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822F25-B60D-4989-BDFE-EF8ED9D5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原型必须覆盖系统理解、执行后果与恢复入口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C7AC280B-7008-4EE7-B058-6949AC5A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正常主链路只是 1 个状态；真正决定可信度的是异常如何降级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F0530-48D7-4867-A082-7C8181F7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79A5B-81DC-478C-AD83-247E3D23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51836-378A-42D1-8223-017DC0BB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输入意图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03084-A11F-469B-A5A1-D511809C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07DAA-E9A8-49A4-8283-17487B25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DBA8B-F036-400A-971A-D82C62CF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E9330-335C-4F11-AC26-BC59E156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结构化解析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D805F-DC9A-4CDB-BAEC-568D031D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F75EA7-F339-4D7E-8E98-FF3DB414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CD678-9E52-4F42-8838-19CE0EDF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FDBCA-AFDD-4EF0-8166-83E6C8EB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检索候选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08634D-9C2C-4967-ACB3-067B5337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A79D7-9AC0-473A-8C06-D08E5D0A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84D15A-6C6E-4700-8606-1404ADE6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6B665B-452F-4636-AB64-5A061403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解释预览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3259C1-2A7B-4DDF-8261-5CDA320B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C0F346-812E-43C1-927F-4D992180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177683-93F8-413D-B0BE-9BBD881A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B0D667-46F3-4CF4-AA8E-65342050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显式确认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ADCFB6-951B-4389-938B-18FF0151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A58B86-84CC-4CAA-8472-E282EFB9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A6678-7FFD-42F6-A088-4C500B6C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D7EBEE-4025-43AE-9640-97DF3FC3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执行与撤销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792E1B-43C9-4E05-93C4-1DF3E0A4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原型必须单独画出的 4 类状态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2564B0-E750-4AA8-B5D0-2596F830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50482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7C699A-BBA3-4328-8952-517E1AB8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解析不完整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14B1E1-F640-4F36-ADF5-A8FF7982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19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返回可选条件，不擅自补全范围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F86F14-2D8E-43C5-A6BA-66B2482D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50482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2216D6-4C67-41C0-AFD8-411229FF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候选集过大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E4ED46-F09C-4F69-A8F0-6FC46CE2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19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按时间/来源/类型分组，要求二次缩小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11971F-BB7B-4527-925A-0EA35494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50482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FC79C1-ABE3-48DC-B655-D78FA6DC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高风险对象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C27FCF-5B03-4791-B02A-C27E2235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577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仅提供筛选，并解释为什么不能直接执行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431AA2-3CFF-485A-B71F-6A2CA5BD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50482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FB7A17-F2E6-4E79-8A11-5764E313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执行失败/需恢复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57D9A3-BAD2-4B61-9302-23358FB3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展示结果、回收站期限和稳定恢复入口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F2092E-C61C-40F5-A172-B964711A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原型测试的不是“看起来顺不顺”，而是用户能否解释范围、排除误选、理解降级并找到恢复。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1B4F617-71A5-42F1-9979-937FA409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FDDF18-D413-4BEC-B37C-BFA3028C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阶段门只批准下一步，阻止过早工程承诺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5EED8D0C-5959-46F4-8214-F8E4AD23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方向、可用性、技术与隐私分别过门；任一红线失败即停止立项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CE036-0230-4344-B8F5-61F20C70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572250" cy="371475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168a39533465a"/>
          <a:stretch xmlns:a="http://schemas.openxmlformats.org/drawingml/2006/main"/>
        </p:blipFill>
        <p:spPr>
          <a:xfrm xmlns:a="http://schemas.openxmlformats.org/drawingml/2006/main">
            <a:off x="968375" y="1809750"/>
            <a:ext cx="6197600" cy="3486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5026C-68C6-4828-884C-71C99A87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526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P0 方案冻结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FF7CD-7666-4D1D-8FAF-92FE8531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57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交互原型 / 意图词表 / 风险分级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E417C-7149-4CDF-B1B6-9F5DC49E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336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P1 可用性验证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74210-B69E-4A30-A426-AA95BD3F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384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任务脚本 / 理解偏差 / 口径达标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B39D8-80DF-4B9D-9411-7334C1E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147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P2 技术预研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D12A8-779F-4932-AE89-1C6B3B4A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195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端侧样机 / 索引能力 / 隐私红线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E67C5-02A8-4817-AE5A-098139AF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957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P3 工程立项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D1C63-8B4E-4375-A40D-E099734F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00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MVP / 灰度 / 监控 / 回滚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98D6B-76C2-4347-B040-EBBFA717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10150"/>
            <a:ext cx="3390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4A752-508D-48E3-BC60-A95BDE1E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054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退出条件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B20509-D79B-439D-A5E8-961F54A1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530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误选不可控 / 不可理解 / 性能不达标 / 隐私不过线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49A1C23-B24B-48EF-B0EC-7EB76949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310989-F8F7-4F63-884A-919382BD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Skill 要通过契约、资源、校验与评估才可复用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CBA9A99B-8C40-4EF6-9F5D-923DB2CF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不是把长提示词保存起来，而是把判断方法拆成可维护的系统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89D54-3421-46F7-AB7C-96E617E9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66C90-93AD-449B-839D-58CB1871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一次性提示词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665AE-23E9-44EA-BD6A-A45BE88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F5433-076E-4462-9ED2-9C98930A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C4D5C-EB90-41EC-B9FA-B7054852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触发与输入契约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3BA13-F255-4CEF-91BA-B6D2A0B9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73A65-9605-431F-BF27-A016003D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7CE44-C2B1-4410-8E21-F203B3E4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步骤与停止条件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F975D-2340-4A5B-927C-82C8F91B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634A1-728D-4CA1-8349-3FDDD432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213D2-374A-4BAC-84F6-4F015BD7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references / templates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F62C4-EA41-46DA-955C-8D961A3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C27927-A4B8-47E5-98C2-987374A5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8CAE46-F51C-4483-A398-4244023B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scripts 门禁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8E6716-96C0-4E6C-8C85-DBC287C9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D21C67-5DB3-4056-B4D6-95572FD4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FEC922-A8F2-4739-B085-3AF26E6B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真实案例 eval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78CA82-AF7E-4F02-BABD-CAFAB93C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515FF1-6E28-4063-85CE-48C41CB0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C51389-7DCA-496B-860C-D9214CD1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版本与复盘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F515C8-1E3F-49BE-AB86-09B8D02D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B0E731-B327-4C84-A519-7438EF6C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$ur-design-survey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3FDFFB-CA76-4040-9AA9-0224A202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输入：课题 / 目标 / 场景 / 约束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F8AAD2-2384-4EC9-8DFB-E91EEE2B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方法：目标—证据—题目、分支与互斥规则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C8BBB1-186C-419B-AE66-1629E093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门禁：12 题、0 风险信号；效度仍需人工验证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D43AC9-B5B7-4127-B83D-BF5DE1B2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$pm-system-app-competitor-matrix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584A3A-1FD9-4E80-AD8D-0BA60191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62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输入：研究问题 / 竞品 / FeatureSchema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B69500-340E-452F-BF2C-465AC004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86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方法：ResearchUnit、EvidenceRecord、停止规则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B3808B-4641-4C74-A7E1-837E9BBF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门禁：事实、冲突、未知分栏；证据等级保留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9BA017-0EAB-452A-B043-2F5C5266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062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3369F4-4B0A-43B8-9899-AC826C89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Command 不是“魔法咒语”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34B6B2-ADC7-415F-AC55-EEBD939B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76750"/>
            <a:ext cx="739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$ur-design-survey 课题：手机图库 AI；目标：识别高频任务、问题与 Top 1；场景：原始需求洞察；≤12 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DF0078-FAA4-43E6-B0F9-63C8BBC3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62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组合方式：机会洞察/竞品追踪 → 用户研究/竞品矩阵 → 产品方案/PRD/原型 → 功能命名/微文案 → 指标与反馈复盘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F9300-FA5B-4C5D-9B5E-E9006315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 AI 当同事之前，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先把自己的判断系统写出来。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00023-3548-41CF-B4AF-137ABEC9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1  先选一个高频、返工昂贵、质量可检查的任务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2  把输入、证据、状态、输出和停止条件写成契约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3  让脚本检查可确定的错误，让产品经理保留价值判断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9C0C2-9D91-4CEA-987B-44A3BC66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52022315"/>
      </p:ext>
    </p:extLst>
  </p:cSld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2026-09-14T14:20:08.3240000Z</dcterms:created>
  <dcterms:modified xsi:type="dcterms:W3CDTF">2026-09-14T14:20:08.3240000Z</dcterms:modified>
</coreProperties>
</file>